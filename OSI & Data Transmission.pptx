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188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8FC440-3CD8-8242-8BC7-FC2E9F327AB8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6B0789-D9BF-BB46-9C9D-22F749D2A0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36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095850-E95D-48FE-BF9B-79A1503603BD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64595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5F040F-468C-45A2-8D39-0BB749B0DFA4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31874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0C1E4A9-882A-4C9B-8FC4-E0A475C5E17F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4855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6BAC36-8F8F-4B55-8C7D-4AE205B7D4D8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815032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9A567D-856E-43DF-95B6-5855FC07FDEE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7546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387363F-8262-4ACF-94B4-97C6D3548252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5303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F09549C-7EBF-45FC-8464-31195E21F62F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8284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99C1B8-3E11-43C5-AACC-40B68F918C48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52561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CCBB859-8203-40C9-9F4A-B9AA98A0352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29398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ABB598-CDFA-4963-8D24-B23DCEC98443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23063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3C4DB1D-DF21-4968-ABBA-87E713864830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6913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38CF48-D34C-4B1A-9ACD-9A0B0D4D695E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56445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2A7A28F-DA58-4B92-9EEF-B29008C38679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96584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8AD379-DF3F-4BDF-8A15-33C0172F2D4E}" type="slidenum">
              <a:rPr lang="en-US" altLang="en-US"/>
              <a:pPr/>
              <a:t>19</a:t>
            </a:fld>
            <a:endParaRPr lang="en-US" altLang="en-US"/>
          </a:p>
        </p:txBody>
      </p:sp>
      <p:sp>
        <p:nvSpPr>
          <p:cNvPr id="542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3678583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FD445BD-A8A4-4ADC-A504-0BAF80EBCE45}" type="slidenum">
              <a:rPr lang="en-US" altLang="en-US"/>
              <a:pPr/>
              <a:t>20</a:t>
            </a:fld>
            <a:endParaRPr lang="en-US" altLang="en-US"/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516648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3CA5BA7-4E1D-43FF-92E5-199D0237428A}" type="slidenum">
              <a:rPr lang="en-US" altLang="en-US"/>
              <a:pPr/>
              <a:t>21</a:t>
            </a:fld>
            <a:endParaRPr lang="en-US" altLang="en-US"/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39163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80253E-4A78-4182-989F-8E95B23478CB}" type="slidenum">
              <a:rPr lang="en-US" altLang="en-US"/>
              <a:pPr/>
              <a:t>24</a:t>
            </a:fld>
            <a:endParaRPr lang="en-US" altLang="en-US"/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582870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7C6019-8DB7-445A-84FB-7FAF7954E19D}" type="slidenum">
              <a:rPr lang="en-US" altLang="en-US"/>
              <a:pPr/>
              <a:t>25</a:t>
            </a:fld>
            <a:endParaRPr lang="en-US" altLang="en-US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03198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731C69-2800-4305-ACC5-D8BF1D9FF4E2}" type="slidenum">
              <a:rPr lang="en-US" altLang="en-US"/>
              <a:pPr/>
              <a:t>26</a:t>
            </a:fld>
            <a:endParaRPr lang="en-US" altLang="en-US"/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98179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6C810EA-443C-422D-89B9-2B3D07A51B8A}" type="slidenum">
              <a:rPr lang="en-US" altLang="en-US"/>
              <a:pPr/>
              <a:t>27</a:t>
            </a:fld>
            <a:endParaRPr lang="en-US" altLang="en-US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5980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328166" y="1295400"/>
            <a:ext cx="6487668" cy="3152887"/>
          </a:xfrm>
          <a:prstGeom prst="rect">
            <a:avLst/>
          </a:prstGeo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</a:pPr>
            <a:endParaRPr sz="3200" kern="120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22921" y="1523999"/>
            <a:ext cx="6498158" cy="1724867"/>
          </a:xfrm>
        </p:spPr>
        <p:txBody>
          <a:bodyPr vert="horz" lIns="91440" tIns="45720" rIns="91440" bIns="45720" rtlCol="0" anchor="b" anchorCtr="0">
            <a:noAutofit/>
          </a:bodyPr>
          <a:lstStyle>
            <a:lvl1pPr marL="0" indent="0" algn="ctr" defTabSz="914400" rtl="0" eaLnBrk="1" latinLnBrk="0" hangingPunct="1">
              <a:spcBef>
                <a:spcPct val="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4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2921" y="3299012"/>
            <a:ext cx="6498159" cy="91664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ts val="3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3538" y="3352801"/>
            <a:ext cx="8416925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3538" y="4771029"/>
            <a:ext cx="8416925" cy="972671"/>
          </a:xfrm>
        </p:spPr>
        <p:txBody>
          <a:bodyPr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/>
          </p:nvPr>
        </p:nvSpPr>
        <p:spPr>
          <a:xfrm>
            <a:off x="370980" y="363538"/>
            <a:ext cx="8402040" cy="2836862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2403144"/>
            <a:ext cx="8056563" cy="1362075"/>
          </a:xfrm>
        </p:spPr>
        <p:txBody>
          <a:bodyPr anchor="b" anchorCtr="0"/>
          <a:lstStyle>
            <a:lvl1pPr algn="ctr">
              <a:defRPr sz="4600" b="0" cap="none" baseline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3736005"/>
            <a:ext cx="8056563" cy="1500187"/>
          </a:xfrm>
        </p:spPr>
        <p:txBody>
          <a:bodyPr anchor="t" anchorCtr="0">
            <a:normAutofit/>
          </a:bodyPr>
          <a:lstStyle>
            <a:lvl1pPr marL="0" indent="0" algn="ctr">
              <a:spcBef>
                <a:spcPts val="300"/>
              </a:spcBef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9275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1071" y="1600201"/>
            <a:ext cx="3840480" cy="4343400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9274" y="107576"/>
            <a:ext cx="8042276" cy="1336956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4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9274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1070" y="1453224"/>
            <a:ext cx="3840480" cy="750887"/>
          </a:xfrm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1070" y="2347415"/>
            <a:ext cx="3840480" cy="3596185"/>
          </a:xfrm>
        </p:spPr>
        <p:txBody>
          <a:bodyPr>
            <a:normAutofit/>
          </a:bodyPr>
          <a:lstStyle>
            <a:lvl1pPr>
              <a:spcBef>
                <a:spcPts val="1600"/>
              </a:spcBef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9" y="611872"/>
            <a:ext cx="3840480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824" y="368300"/>
            <a:ext cx="3840480" cy="5575300"/>
          </a:xfrm>
        </p:spPr>
        <p:txBody>
          <a:bodyPr>
            <a:normAutofit/>
          </a:bodyPr>
          <a:lstStyle>
            <a:lvl1pPr>
              <a:spcBef>
                <a:spcPts val="2000"/>
              </a:spcBef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9" y="1787856"/>
            <a:ext cx="3840480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398" y="611872"/>
            <a:ext cx="4079545" cy="1162050"/>
          </a:xfrm>
        </p:spPr>
        <p:txBody>
          <a:bodyPr anchor="b"/>
          <a:lstStyle>
            <a:lvl1pPr algn="ctr">
              <a:defRPr sz="3600" b="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398" y="1787856"/>
            <a:ext cx="4079545" cy="372015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>
            <a:off x="5090617" y="359392"/>
            <a:ext cx="3657600" cy="5318077"/>
          </a:xfrm>
          <a:ln w="3175">
            <a:solidFill>
              <a:schemeClr val="bg1"/>
            </a:solidFill>
          </a:ln>
          <a:effectLst>
            <a:outerShdw blurRad="63500" sx="100500" sy="100500" algn="ctr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>
                  <a:lumMod val="60000"/>
                  <a:lumOff val="40000"/>
                </a:schemeClr>
              </a:buClr>
              <a:buSzPct val="110000"/>
              <a:buFont typeface="Wingdings 2" pitchFamily="18" charset="2"/>
              <a:buNone/>
              <a:defRPr sz="32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69792" y="368301"/>
            <a:ext cx="1524000" cy="5575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9274" y="368301"/>
            <a:ext cx="6689726" cy="55753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0"/>
            <a:ext cx="7924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Online Image Placeholder 2"/>
          <p:cNvSpPr>
            <a:spLocks noGrp="1"/>
          </p:cNvSpPr>
          <p:nvPr>
            <p:ph type="clipArt" sz="half" idx="1"/>
          </p:nvPr>
        </p:nvSpPr>
        <p:spPr>
          <a:xfrm>
            <a:off x="838200" y="2362200"/>
            <a:ext cx="3770313" cy="372427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60913" y="2362200"/>
            <a:ext cx="3770312" cy="37242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438400" y="6248400"/>
            <a:ext cx="2130425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91200" y="6248400"/>
            <a:ext cx="2897188" cy="474663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38" y="6242050"/>
            <a:ext cx="587375" cy="488950"/>
          </a:xfrm>
        </p:spPr>
        <p:txBody>
          <a:bodyPr/>
          <a:lstStyle>
            <a:lvl1pPr>
              <a:defRPr/>
            </a:lvl1pPr>
          </a:lstStyle>
          <a:p>
            <a:fld id="{BDAB1E83-AC0F-4E9D-809C-52BAF0F22D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93388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9275" y="107576"/>
            <a:ext cx="8042276" cy="133695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9275" y="1600201"/>
            <a:ext cx="8042276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29835" y="627566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708FAF0-55EE-F14A-ADD5-A797E116EE5B}" type="datetimeFigureOut">
              <a:rPr lang="en-US" smtClean="0"/>
              <a:t>9/6/2018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458" y="6275668"/>
            <a:ext cx="48409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97906" y="6275668"/>
            <a:ext cx="990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fld id="{4D7988B4-A7F2-174D-8461-7FB5D335A20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9250" indent="-349250" algn="l" defTabSz="914400" rtl="0" eaLnBrk="1" latinLnBrk="0" hangingPunct="1">
        <a:spcBef>
          <a:spcPts val="2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22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96837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63650" indent="-295275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6225" indent="-282575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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28800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1177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2398713" indent="-282575" algn="l" defTabSz="914400" rtl="0" eaLnBrk="1" latinLnBrk="0" hangingPunct="1">
        <a:spcBef>
          <a:spcPct val="20000"/>
        </a:spcBef>
        <a:buClr>
          <a:schemeClr val="accent2"/>
        </a:buClr>
        <a:buSzPct val="110000"/>
        <a:buFont typeface="Wingdings 2" pitchFamily="18" charset="2"/>
        <a:buChar char=""/>
        <a:defRPr lang="en-US" sz="1800" kern="1200" dirty="0" smtClean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2689225" indent="-282575" algn="l" defTabSz="914400" rtl="0" eaLnBrk="1" latinLnBrk="0" hangingPunct="1">
        <a:spcBef>
          <a:spcPct val="20000"/>
        </a:spcBef>
        <a:buClr>
          <a:schemeClr val="accent1">
            <a:lumMod val="60000"/>
            <a:lumOff val="40000"/>
          </a:schemeClr>
        </a:buClr>
        <a:buSzPct val="110000"/>
        <a:buFont typeface="Wingdings 2" pitchFamily="18" charset="2"/>
        <a:buChar char=""/>
        <a:defRPr lang="en-US" sz="1800" kern="1200" dirty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OSI &amp; Data Transmission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85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Packets (Frames)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447800"/>
            <a:ext cx="7924800" cy="4876800"/>
          </a:xfrm>
        </p:spPr>
        <p:txBody>
          <a:bodyPr/>
          <a:lstStyle/>
          <a:p>
            <a:r>
              <a:rPr lang="en-US" altLang="en-US" dirty="0"/>
              <a:t>Transmissions are broken up into smaller units or data transmissions called packets</a:t>
            </a:r>
          </a:p>
          <a:p>
            <a:r>
              <a:rPr lang="en-US" altLang="en-US" dirty="0" smtClean="0"/>
              <a:t>These are small </a:t>
            </a:r>
            <a:r>
              <a:rPr lang="en-US" altLang="en-US" dirty="0"/>
              <a:t>chunks of data and other information </a:t>
            </a:r>
          </a:p>
        </p:txBody>
      </p:sp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685800" y="3166268"/>
            <a:ext cx="8064500" cy="1439863"/>
          </a:xfrm>
          <a:prstGeom prst="rect">
            <a:avLst/>
          </a:prstGeom>
          <a:solidFill>
            <a:srgbClr val="339966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</a:rPr>
              <a:t>Example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</a:rPr>
              <a:t>A file (might be an mp3 sound file) is divided into packets.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</a:rPr>
              <a:t>It does not matter what the transmission is. It could be Word 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</a:rPr>
              <a:t>document, a PowerPoint or an MP3</a:t>
            </a:r>
          </a:p>
        </p:txBody>
      </p:sp>
    </p:spTree>
    <p:extLst>
      <p:ext uri="{BB962C8B-B14F-4D97-AF65-F5344CB8AC3E}">
        <p14:creationId xmlns:p14="http://schemas.microsoft.com/office/powerpoint/2010/main" val="239297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afterEffect">
                                  <p:stCondLst>
                                    <p:cond delay="500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544513"/>
            <a:ext cx="8229600" cy="606425"/>
          </a:xfrm>
        </p:spPr>
        <p:txBody>
          <a:bodyPr>
            <a:normAutofit fontScale="90000"/>
          </a:bodyPr>
          <a:lstStyle/>
          <a:p>
            <a:r>
              <a:rPr lang="en-US" altLang="en-US" dirty="0" smtClean="0"/>
              <a:t>Packet Structure</a:t>
            </a:r>
            <a:endParaRPr lang="en-US" altLang="en-US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457200" y="1905000"/>
            <a:ext cx="7847013" cy="4191000"/>
          </a:xfrm>
        </p:spPr>
        <p:txBody>
          <a:bodyPr>
            <a:normAutofit/>
          </a:bodyPr>
          <a:lstStyle/>
          <a:p>
            <a:r>
              <a:rPr lang="en-US" altLang="en-US" dirty="0"/>
              <a:t>Packet Structure</a:t>
            </a:r>
          </a:p>
          <a:p>
            <a:pPr lvl="1"/>
            <a:r>
              <a:rPr lang="en-US" altLang="en-US" dirty="0"/>
              <a:t>Header</a:t>
            </a:r>
          </a:p>
          <a:p>
            <a:pPr lvl="2"/>
            <a:r>
              <a:rPr lang="en-US" altLang="en-US" dirty="0"/>
              <a:t>Source address</a:t>
            </a:r>
          </a:p>
          <a:p>
            <a:pPr lvl="2"/>
            <a:r>
              <a:rPr lang="en-US" altLang="en-US" dirty="0"/>
              <a:t>Destination address</a:t>
            </a:r>
          </a:p>
          <a:p>
            <a:pPr lvl="2"/>
            <a:r>
              <a:rPr lang="en-US" altLang="en-US" dirty="0"/>
              <a:t>Instructions that tell the computer how to pass the data along (routing)</a:t>
            </a:r>
          </a:p>
          <a:p>
            <a:pPr lvl="2"/>
            <a:r>
              <a:rPr lang="en-US" altLang="en-US" dirty="0"/>
              <a:t>Reassemble information</a:t>
            </a:r>
          </a:p>
          <a:p>
            <a:pPr lvl="1"/>
            <a:r>
              <a:rPr lang="en-US" altLang="en-US" dirty="0"/>
              <a:t>Data</a:t>
            </a:r>
          </a:p>
          <a:p>
            <a:pPr lvl="1"/>
            <a:r>
              <a:rPr lang="en-US" altLang="en-US" dirty="0"/>
              <a:t>Trailer containing error-check information</a:t>
            </a:r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663493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r>
              <a:rPr lang="en-US" altLang="en-US"/>
              <a:t>A simple data packet</a:t>
            </a:r>
          </a:p>
        </p:txBody>
      </p:sp>
      <p:pic>
        <p:nvPicPr>
          <p:cNvPr id="7171" name="Picture 3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2686050"/>
            <a:ext cx="6934200" cy="2652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595313" y="2263775"/>
            <a:ext cx="17176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1800" b="1">
                <a:latin typeface="Arial" panose="020B0604020202020204" pitchFamily="34" charset="0"/>
              </a:rPr>
              <a:t>Destination ID</a:t>
            </a:r>
          </a:p>
        </p:txBody>
      </p:sp>
      <p:sp>
        <p:nvSpPr>
          <p:cNvPr id="7173" name="Rectangle 5"/>
          <p:cNvSpPr>
            <a:spLocks noChangeArrowheads="1"/>
          </p:cNvSpPr>
          <p:nvPr/>
        </p:nvSpPr>
        <p:spPr bwMode="auto">
          <a:xfrm>
            <a:off x="2424113" y="2263775"/>
            <a:ext cx="993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1800" b="1">
                <a:latin typeface="Arial" panose="020B0604020202020204" pitchFamily="34" charset="0"/>
              </a:rPr>
              <a:t>Control</a:t>
            </a:r>
          </a:p>
        </p:txBody>
      </p:sp>
      <p:sp>
        <p:nvSpPr>
          <p:cNvPr id="7174" name="Rectangle 6"/>
          <p:cNvSpPr>
            <a:spLocks noChangeArrowheads="1"/>
          </p:cNvSpPr>
          <p:nvPr/>
        </p:nvSpPr>
        <p:spPr bwMode="auto">
          <a:xfrm>
            <a:off x="7224713" y="2263775"/>
            <a:ext cx="6762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1800" b="1">
                <a:latin typeface="Arial" panose="020B0604020202020204" pitchFamily="34" charset="0"/>
              </a:rPr>
              <a:t>CRC</a:t>
            </a:r>
          </a:p>
        </p:txBody>
      </p:sp>
      <p:sp>
        <p:nvSpPr>
          <p:cNvPr id="7175" name="Rectangle 7"/>
          <p:cNvSpPr>
            <a:spLocks noChangeArrowheads="1"/>
          </p:cNvSpPr>
          <p:nvPr/>
        </p:nvSpPr>
        <p:spPr bwMode="auto">
          <a:xfrm>
            <a:off x="1509713" y="5273675"/>
            <a:ext cx="1247775" cy="36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sz="1800" b="1">
                <a:latin typeface="Arial" panose="020B0604020202020204" pitchFamily="34" charset="0"/>
              </a:rPr>
              <a:t>Sender ID</a:t>
            </a:r>
          </a:p>
        </p:txBody>
      </p:sp>
      <p:sp>
        <p:nvSpPr>
          <p:cNvPr id="7176" name="Rectangle 8"/>
          <p:cNvSpPr>
            <a:spLocks noChangeArrowheads="1"/>
          </p:cNvSpPr>
          <p:nvPr/>
        </p:nvSpPr>
        <p:spPr bwMode="auto">
          <a:xfrm>
            <a:off x="4481513" y="5387975"/>
            <a:ext cx="84296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488" tIns="44450" rIns="90488" bIns="44450">
            <a:spAutoFit/>
          </a:bodyPr>
          <a:lstStyle/>
          <a:p>
            <a:r>
              <a:rPr lang="en-US" altLang="en-US" b="1">
                <a:solidFill>
                  <a:schemeClr val="accent1"/>
                </a:solidFill>
                <a:latin typeface="Arial" panose="020B0604020202020204" pitchFamily="34" charset="0"/>
              </a:rPr>
              <a:t>Data</a:t>
            </a:r>
          </a:p>
        </p:txBody>
      </p:sp>
      <p:sp>
        <p:nvSpPr>
          <p:cNvPr id="7185" name="Line 17"/>
          <p:cNvSpPr>
            <a:spLocks noChangeShapeType="1"/>
          </p:cNvSpPr>
          <p:nvPr/>
        </p:nvSpPr>
        <p:spPr bwMode="auto">
          <a:xfrm>
            <a:off x="1333500" y="5532438"/>
            <a:ext cx="0" cy="4492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6" name="Line 18"/>
          <p:cNvSpPr>
            <a:spLocks noChangeShapeType="1"/>
          </p:cNvSpPr>
          <p:nvPr/>
        </p:nvSpPr>
        <p:spPr bwMode="auto">
          <a:xfrm>
            <a:off x="1333500" y="5981700"/>
            <a:ext cx="16938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7" name="Line 19"/>
          <p:cNvSpPr>
            <a:spLocks noChangeShapeType="1"/>
          </p:cNvSpPr>
          <p:nvPr/>
        </p:nvSpPr>
        <p:spPr bwMode="auto">
          <a:xfrm flipV="1">
            <a:off x="3027363" y="5516563"/>
            <a:ext cx="0" cy="4651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8" name="Text Box 20"/>
          <p:cNvSpPr txBox="1">
            <a:spLocks noChangeArrowheads="1"/>
          </p:cNvSpPr>
          <p:nvPr/>
        </p:nvSpPr>
        <p:spPr bwMode="auto">
          <a:xfrm>
            <a:off x="1290638" y="6010275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accent1"/>
                </a:solidFill>
                <a:latin typeface="Arial" panose="020B0604020202020204" pitchFamily="34" charset="0"/>
              </a:rPr>
              <a:t>Header</a:t>
            </a:r>
          </a:p>
        </p:txBody>
      </p:sp>
      <p:sp>
        <p:nvSpPr>
          <p:cNvPr id="7189" name="Line 21"/>
          <p:cNvSpPr>
            <a:spLocks noChangeShapeType="1"/>
          </p:cNvSpPr>
          <p:nvPr/>
        </p:nvSpPr>
        <p:spPr bwMode="auto">
          <a:xfrm>
            <a:off x="7524750" y="4932363"/>
            <a:ext cx="0" cy="644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90" name="Text Box 22"/>
          <p:cNvSpPr txBox="1">
            <a:spLocks noChangeArrowheads="1"/>
          </p:cNvSpPr>
          <p:nvPr/>
        </p:nvSpPr>
        <p:spPr bwMode="auto">
          <a:xfrm>
            <a:off x="6540500" y="5697538"/>
            <a:ext cx="1828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>
                <a:solidFill>
                  <a:schemeClr val="accent1"/>
                </a:solidFill>
                <a:latin typeface="Arial" panose="020B0604020202020204" pitchFamily="34" charset="0"/>
              </a:rPr>
              <a:t>Trailer</a:t>
            </a:r>
          </a:p>
        </p:txBody>
      </p:sp>
    </p:spTree>
    <p:extLst>
      <p:ext uri="{BB962C8B-B14F-4D97-AF65-F5344CB8AC3E}">
        <p14:creationId xmlns:p14="http://schemas.microsoft.com/office/powerpoint/2010/main" val="3244803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544513"/>
            <a:ext cx="8229600" cy="1055687"/>
          </a:xfrm>
        </p:spPr>
        <p:txBody>
          <a:bodyPr>
            <a:normAutofit/>
          </a:bodyPr>
          <a:lstStyle/>
          <a:p>
            <a:r>
              <a:rPr lang="en-US" altLang="en-US" dirty="0"/>
              <a:t>Packets and OSI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After transmission is divided into packets extra information required to make sure it all goes back together correctly. The OSI model helps to look after this.</a:t>
            </a:r>
          </a:p>
          <a:p>
            <a:r>
              <a:rPr lang="en-US" altLang="en-US" dirty="0"/>
              <a:t>The OSI model also provides much more information which is included with each package. </a:t>
            </a:r>
            <a:endParaRPr lang="en-US" altLang="en-US" dirty="0" smtClean="0"/>
          </a:p>
          <a:p>
            <a:r>
              <a:rPr lang="en-US" dirty="0"/>
              <a:t>Transmission of data packets occurs in both directions. Peer layers communicate back and forth when a data packet is being sent.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3480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Transmission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Data transfer begins at the application layer of the source device and each OSI layer adds header and/or trailer information to help ensure efficient, error free transfer of </a:t>
            </a:r>
            <a:r>
              <a:rPr lang="en-US" dirty="0" smtClean="0"/>
              <a:t>data</a:t>
            </a:r>
          </a:p>
          <a:p>
            <a:r>
              <a:rPr lang="en-US" dirty="0"/>
              <a:t>The destination device receives the data and the data is transferred up through the layers.	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strips the information added by its peer layer and moves the remaining data to the next layer. </a:t>
            </a:r>
            <a:endParaRPr lang="en-US" dirty="0" smtClean="0"/>
          </a:p>
          <a:p>
            <a:r>
              <a:rPr lang="en-US" dirty="0" smtClean="0"/>
              <a:t>Eventually</a:t>
            </a:r>
            <a:r>
              <a:rPr lang="en-US" dirty="0"/>
              <a:t>, the data is returned to its original form at the application layer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741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Application Layer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serves as an interface between user applications and network services, such as electronic mail. </a:t>
            </a:r>
            <a:endParaRPr lang="en-US" dirty="0" smtClean="0"/>
          </a:p>
          <a:p>
            <a:r>
              <a:rPr lang="en-US" altLang="en-US" dirty="0"/>
              <a:t>Provides services to support user applications, such as file transfer, database access, and e-mail</a:t>
            </a:r>
          </a:p>
          <a:p>
            <a:pPr lvl="1"/>
            <a:r>
              <a:rPr lang="en-US" altLang="en-US" dirty="0"/>
              <a:t>Not a particular application—but services that are provided to applications</a:t>
            </a:r>
          </a:p>
          <a:p>
            <a:r>
              <a:rPr lang="en-US" dirty="0" smtClean="0"/>
              <a:t>Data </a:t>
            </a:r>
            <a:r>
              <a:rPr lang="en-US" dirty="0"/>
              <a:t>input by the user is then sent to the next layer, the presentation </a:t>
            </a:r>
            <a:r>
              <a:rPr lang="en-US" dirty="0" smtClean="0"/>
              <a:t>layer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038479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0" y="2708275"/>
            <a:ext cx="4230688" cy="2359025"/>
          </a:xfrm>
        </p:spPr>
        <p:txBody>
          <a:bodyPr/>
          <a:lstStyle/>
          <a:p>
            <a:r>
              <a:rPr lang="en-US" altLang="en-US" sz="1800"/>
              <a:t>Gives end-user applications access to network resources</a:t>
            </a:r>
          </a:p>
          <a:p>
            <a:endParaRPr lang="en-US" altLang="en-US" sz="1800"/>
          </a:p>
          <a:p>
            <a:r>
              <a:rPr lang="en-US" altLang="en-US" sz="1800"/>
              <a:t>Where is it on my computer?</a:t>
            </a:r>
          </a:p>
          <a:p>
            <a:pPr lvl="1"/>
            <a:r>
              <a:rPr lang="en-US" altLang="en-US" sz="1800"/>
              <a:t>Workstation or Server Service in MS Windows</a:t>
            </a:r>
          </a:p>
        </p:txBody>
      </p:sp>
      <p:sp>
        <p:nvSpPr>
          <p:cNvPr id="31748" name="AutoShape 4" descr="layer7"/>
          <p:cNvSpPr>
            <a:spLocks noChangeAspect="1" noChangeArrowheads="1"/>
          </p:cNvSpPr>
          <p:nvPr/>
        </p:nvSpPr>
        <p:spPr bwMode="auto">
          <a:xfrm>
            <a:off x="2714625" y="1989138"/>
            <a:ext cx="3714750" cy="287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1749" name="AutoShape 5" descr="layer7"/>
          <p:cNvSpPr>
            <a:spLocks noChangeAspect="1" noChangeArrowheads="1"/>
          </p:cNvSpPr>
          <p:nvPr/>
        </p:nvSpPr>
        <p:spPr bwMode="auto">
          <a:xfrm>
            <a:off x="2714625" y="1989138"/>
            <a:ext cx="3714750" cy="2879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 eaLnBrk="1" hangingPunct="1"/>
            <a:r>
              <a:rPr lang="en-US" altLang="en-US" sz="2400">
                <a:latin typeface="Times New Roman" panose="02020603050405020304" pitchFamily="18" charset="0"/>
              </a:rPr>
              <a:t> </a:t>
            </a:r>
          </a:p>
        </p:txBody>
      </p:sp>
      <p:pic>
        <p:nvPicPr>
          <p:cNvPr id="31750" name="Picture 6" descr="layer7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21150" y="1371599"/>
            <a:ext cx="5022850" cy="5730875"/>
          </a:xfrm>
        </p:spPr>
      </p:pic>
      <p:sp>
        <p:nvSpPr>
          <p:cNvPr id="31751" name="Text Box 7"/>
          <p:cNvSpPr txBox="1">
            <a:spLocks noChangeArrowheads="1"/>
          </p:cNvSpPr>
          <p:nvPr/>
        </p:nvSpPr>
        <p:spPr bwMode="auto">
          <a:xfrm>
            <a:off x="6172200" y="54864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solidFill>
                  <a:srgbClr val="3333CC"/>
                </a:solidFill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1752" name="Rectangle 8"/>
          <p:cNvSpPr>
            <a:spLocks noGrp="1" noChangeArrowheads="1"/>
          </p:cNvSpPr>
          <p:nvPr>
            <p:ph type="title"/>
          </p:nvPr>
        </p:nvSpPr>
        <p:spPr>
          <a:xfrm>
            <a:off x="457200" y="486570"/>
            <a:ext cx="7924800" cy="1143000"/>
          </a:xfrm>
        </p:spPr>
        <p:txBody>
          <a:bodyPr/>
          <a:lstStyle/>
          <a:p>
            <a:r>
              <a:rPr lang="en-US" altLang="en-US" dirty="0" smtClean="0"/>
              <a:t>The Application Layer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34206412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Presentation Layer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6324600" cy="4648200"/>
          </a:xfrm>
        </p:spPr>
        <p:txBody>
          <a:bodyPr>
            <a:normAutofit lnSpcReduction="10000"/>
          </a:bodyPr>
          <a:lstStyle/>
          <a:p>
            <a:pPr>
              <a:spcBef>
                <a:spcPct val="15000"/>
              </a:spcBef>
            </a:pPr>
            <a:r>
              <a:rPr lang="en-US" altLang="en-US" dirty="0"/>
              <a:t>Translates data between the format the network requires and the format the application expects</a:t>
            </a:r>
          </a:p>
          <a:p>
            <a:pPr>
              <a:spcBef>
                <a:spcPct val="15000"/>
              </a:spcBef>
            </a:pPr>
            <a:r>
              <a:rPr lang="en-US" altLang="en-US" dirty="0"/>
              <a:t>Responsible for encrypting data, changing or converting the character set and interpreting graphic commands</a:t>
            </a:r>
          </a:p>
          <a:p>
            <a:pPr>
              <a:spcBef>
                <a:spcPct val="15000"/>
              </a:spcBef>
            </a:pPr>
            <a:r>
              <a:rPr lang="en-US" altLang="en-US" dirty="0"/>
              <a:t>Manages data compression to reduce number of bits to be </a:t>
            </a:r>
            <a:r>
              <a:rPr lang="en-US" altLang="en-US" dirty="0" smtClean="0"/>
              <a:t>transmitted</a:t>
            </a:r>
          </a:p>
          <a:p>
            <a:pPr>
              <a:spcBef>
                <a:spcPct val="15000"/>
              </a:spcBef>
            </a:pPr>
            <a:endParaRPr lang="en-US" altLang="en-US" dirty="0"/>
          </a:p>
          <a:p>
            <a:pPr>
              <a:spcBef>
                <a:spcPct val="15000"/>
              </a:spcBef>
            </a:pPr>
            <a:endParaRPr lang="en-US" altLang="en-US" dirty="0" smtClean="0"/>
          </a:p>
          <a:p>
            <a:pPr>
              <a:spcBef>
                <a:spcPct val="15000"/>
              </a:spcBef>
            </a:pPr>
            <a:r>
              <a:rPr lang="en-US" b="1" dirty="0"/>
              <a:t>Header information is added by presentation layer protocols.</a:t>
            </a:r>
            <a:endParaRPr lang="en-US" altLang="en-US" b="1" dirty="0" smtClean="0"/>
          </a:p>
          <a:p>
            <a:pPr>
              <a:spcBef>
                <a:spcPct val="15000"/>
              </a:spcBef>
            </a:pPr>
            <a:endParaRPr lang="en-US" altLang="en-US" sz="3400" dirty="0"/>
          </a:p>
        </p:txBody>
      </p:sp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6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AutoShape 2"/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7924800" cy="912813"/>
          </a:xfrm>
        </p:spPr>
        <p:txBody>
          <a:bodyPr/>
          <a:lstStyle/>
          <a:p>
            <a:r>
              <a:rPr lang="en-US" altLang="en-US" dirty="0"/>
              <a:t>Presentation Layer</a:t>
            </a:r>
          </a:p>
        </p:txBody>
      </p:sp>
      <p:pic>
        <p:nvPicPr>
          <p:cNvPr id="33796" name="Picture 4" descr="layer6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71800" y="1524000"/>
            <a:ext cx="5076825" cy="5181600"/>
          </a:xfrm>
        </p:spPr>
      </p:pic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6172200" y="54102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solidFill>
                  <a:srgbClr val="33CCFF"/>
                </a:solidFill>
                <a:latin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6534438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Session Layer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600200"/>
            <a:ext cx="7772400" cy="4724400"/>
          </a:xfrm>
        </p:spPr>
        <p:txBody>
          <a:bodyPr>
            <a:normAutofit fontScale="92500" lnSpcReduction="10000"/>
          </a:bodyPr>
          <a:lstStyle/>
          <a:p>
            <a:r>
              <a:rPr lang="en-US" altLang="en-US" sz="2800"/>
              <a:t>Responsible for establishing and maintaining communications between two nodes on the network</a:t>
            </a:r>
          </a:p>
          <a:p>
            <a:r>
              <a:rPr lang="en-US" altLang="en-US" sz="2800"/>
              <a:t>Allows applications on separate computers to share a connection (called a session)</a:t>
            </a:r>
          </a:p>
          <a:p>
            <a:r>
              <a:rPr lang="en-US" altLang="en-US" sz="2800"/>
              <a:t>Provides data synchronization and checkpointing so that if there is a network failure only the data sent after the checkpoint must be resent</a:t>
            </a:r>
          </a:p>
          <a:p>
            <a:r>
              <a:rPr lang="en-US" altLang="en-US" sz="2800"/>
              <a:t>Provides name recognition and security needed to allow two applications to communicate</a:t>
            </a:r>
          </a:p>
        </p:txBody>
      </p:sp>
    </p:spTree>
    <p:extLst>
      <p:ext uri="{BB962C8B-B14F-4D97-AF65-F5344CB8AC3E}">
        <p14:creationId xmlns:p14="http://schemas.microsoft.com/office/powerpoint/2010/main" val="3217010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908050"/>
            <a:ext cx="7772400" cy="838200"/>
          </a:xfrm>
        </p:spPr>
        <p:txBody>
          <a:bodyPr/>
          <a:lstStyle/>
          <a:p>
            <a:r>
              <a:rPr lang="en-US" altLang="en-US"/>
              <a:t>Session Layer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311275" y="2443163"/>
            <a:ext cx="3432175" cy="26035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</a:pPr>
            <a:r>
              <a:rPr lang="en-US" altLang="en-US" sz="1800"/>
              <a:t>Allows applications to maintain an ongoing session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US" sz="1800"/>
          </a:p>
          <a:p>
            <a:pPr>
              <a:lnSpc>
                <a:spcPct val="90000"/>
              </a:lnSpc>
            </a:pPr>
            <a:r>
              <a:rPr lang="en-US" altLang="en-US" sz="1800"/>
              <a:t>Where is it on my computer?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Workstation and Server Service (MS)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Windows Client for NetWare (NetWare)</a:t>
            </a:r>
          </a:p>
        </p:txBody>
      </p:sp>
      <p:pic>
        <p:nvPicPr>
          <p:cNvPr id="35844" name="Picture 4" descr="layer5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33351" y="1327150"/>
            <a:ext cx="4284662" cy="4953000"/>
          </a:xfrm>
        </p:spPr>
      </p:pic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6172200" y="52578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solidFill>
                  <a:srgbClr val="33CCFF"/>
                </a:solidFill>
                <a:latin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567321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Transport Layer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sz="2800"/>
              <a:t>Ensures data is delivered error-free in sequence and without duplication or loss</a:t>
            </a:r>
          </a:p>
          <a:p>
            <a:r>
              <a:rPr lang="en-US" altLang="en-US" sz="2800"/>
              <a:t>Breaks large packets from the Session layer into segments to be sent to the receiving computer</a:t>
            </a:r>
          </a:p>
          <a:p>
            <a:r>
              <a:rPr lang="en-US" altLang="en-US" sz="2800"/>
              <a:t>Adds sequencing information to segments</a:t>
            </a:r>
          </a:p>
          <a:p>
            <a:r>
              <a:rPr lang="en-US" altLang="en-US" sz="2800"/>
              <a:t>Reassembles the segments into messages</a:t>
            </a:r>
          </a:p>
          <a:p>
            <a:r>
              <a:rPr lang="en-US" altLang="en-US" sz="2800"/>
              <a:t>Sends acknowledgement to sending computer</a:t>
            </a:r>
          </a:p>
        </p:txBody>
      </p:sp>
    </p:spTree>
    <p:extLst>
      <p:ext uri="{BB962C8B-B14F-4D97-AF65-F5344CB8AC3E}">
        <p14:creationId xmlns:p14="http://schemas.microsoft.com/office/powerpoint/2010/main" val="2506181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AutoShape 2"/>
          <p:cNvSpPr>
            <a:spLocks noGrp="1" noChangeArrowheads="1"/>
          </p:cNvSpPr>
          <p:nvPr>
            <p:ph type="title"/>
          </p:nvPr>
        </p:nvSpPr>
        <p:spPr>
          <a:xfrm>
            <a:off x="468313" y="908050"/>
            <a:ext cx="7772400" cy="838200"/>
          </a:xfrm>
        </p:spPr>
        <p:txBody>
          <a:bodyPr/>
          <a:lstStyle/>
          <a:p>
            <a:r>
              <a:rPr lang="en-US" altLang="en-US"/>
              <a:t>Transport Layer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054100" y="2505075"/>
            <a:ext cx="3373438" cy="3371850"/>
          </a:xfrm>
        </p:spPr>
        <p:txBody>
          <a:bodyPr>
            <a:normAutofit fontScale="85000" lnSpcReduction="10000"/>
          </a:bodyPr>
          <a:lstStyle/>
          <a:p>
            <a:r>
              <a:rPr lang="en-US" altLang="en-US" sz="1800"/>
              <a:t>Provides reliable data delivery</a:t>
            </a:r>
          </a:p>
          <a:p>
            <a:r>
              <a:rPr lang="en-US" altLang="en-US" sz="1800"/>
              <a:t>It’s the TCP in TCP/IP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/>
          </a:p>
          <a:p>
            <a:r>
              <a:rPr lang="en-US" altLang="en-US" sz="1800"/>
              <a:t>Receives info from upper layers and segments it into packets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/>
          </a:p>
          <a:p>
            <a:r>
              <a:rPr lang="en-US" altLang="en-US" sz="1800"/>
              <a:t>Can provide error detection and correction</a:t>
            </a:r>
          </a:p>
        </p:txBody>
      </p:sp>
      <p:pic>
        <p:nvPicPr>
          <p:cNvPr id="37892" name="Picture 4" descr="layer4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16463" y="1052513"/>
            <a:ext cx="4427537" cy="5029200"/>
          </a:xfrm>
        </p:spPr>
      </p:pic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6096000" y="54102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solidFill>
                  <a:srgbClr val="33CCFF"/>
                </a:solidFill>
                <a:latin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1081140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Layer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8077200" cy="46482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3000"/>
              <a:t>Responsible for addressing messages across networks</a:t>
            </a:r>
          </a:p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3000"/>
              <a:t>Translates network logical addresses into physical machine addresses</a:t>
            </a:r>
          </a:p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3000"/>
              <a:t>Breaks large segments into smaller packets</a:t>
            </a:r>
          </a:p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3000"/>
              <a:t>Determines routing across networks</a:t>
            </a:r>
          </a:p>
          <a:p>
            <a:pPr>
              <a:lnSpc>
                <a:spcPct val="90000"/>
              </a:lnSpc>
              <a:spcBef>
                <a:spcPct val="15000"/>
              </a:spcBef>
            </a:pPr>
            <a:r>
              <a:rPr lang="en-US" altLang="en-US" sz="3000"/>
              <a:t>Supports communications between logically separate networks</a:t>
            </a:r>
          </a:p>
          <a:p>
            <a:pPr lvl="1">
              <a:lnSpc>
                <a:spcPct val="90000"/>
              </a:lnSpc>
              <a:spcBef>
                <a:spcPct val="15000"/>
              </a:spcBef>
            </a:pPr>
            <a:r>
              <a:rPr lang="en-US" altLang="en-US" sz="2600"/>
              <a:t>Routers and gateways (devices that pass data from one network to another) operate in the Network layer</a:t>
            </a:r>
          </a:p>
        </p:txBody>
      </p:sp>
    </p:spTree>
    <p:extLst>
      <p:ext uri="{BB962C8B-B14F-4D97-AF65-F5344CB8AC3E}">
        <p14:creationId xmlns:p14="http://schemas.microsoft.com/office/powerpoint/2010/main" val="267005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620713"/>
            <a:ext cx="7772400" cy="914400"/>
          </a:xfrm>
        </p:spPr>
        <p:txBody>
          <a:bodyPr/>
          <a:lstStyle/>
          <a:p>
            <a:r>
              <a:rPr lang="en-US" altLang="en-US"/>
              <a:t>Network Layer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95288" y="2471738"/>
            <a:ext cx="4335462" cy="3836987"/>
          </a:xfrm>
        </p:spPr>
        <p:txBody>
          <a:bodyPr>
            <a:normAutofit lnSpcReduction="10000"/>
          </a:bodyPr>
          <a:lstStyle/>
          <a:p>
            <a:r>
              <a:rPr lang="en-US" altLang="en-US" sz="1800"/>
              <a:t>Provides network-wide addressing and a mechanism to move packets between networks (routing)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1800"/>
          </a:p>
          <a:p>
            <a:r>
              <a:rPr lang="en-US" altLang="en-US" sz="1800"/>
              <a:t>Responsibilities:</a:t>
            </a:r>
          </a:p>
          <a:p>
            <a:pPr lvl="1"/>
            <a:r>
              <a:rPr lang="en-US" altLang="en-US" sz="1800"/>
              <a:t>Network addressing</a:t>
            </a:r>
          </a:p>
          <a:p>
            <a:pPr lvl="1"/>
            <a:r>
              <a:rPr lang="en-US" altLang="en-US" sz="1800"/>
              <a:t>Routing</a:t>
            </a:r>
          </a:p>
          <a:p>
            <a:pPr lvl="1"/>
            <a:endParaRPr lang="en-US" altLang="en-US" sz="1800"/>
          </a:p>
          <a:p>
            <a:r>
              <a:rPr lang="en-US" altLang="en-US" sz="1800"/>
              <a:t>Example:</a:t>
            </a:r>
          </a:p>
          <a:p>
            <a:pPr lvl="1"/>
            <a:r>
              <a:rPr lang="en-US" altLang="en-US" sz="1800"/>
              <a:t>IP from TCP/IP</a:t>
            </a:r>
          </a:p>
        </p:txBody>
      </p:sp>
      <p:pic>
        <p:nvPicPr>
          <p:cNvPr id="39940" name="Picture 4" descr="layer3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338" y="908050"/>
            <a:ext cx="3810000" cy="5105400"/>
          </a:xfrm>
        </p:spPr>
      </p:pic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304800" y="6400800"/>
            <a:ext cx="4267200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6096000" y="54102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latin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057837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Link Layer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Media Access Control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Controls the way multiple devices share the same media channel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Defines the method the NAC will use to determine when to send data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Communicates directly with the network adapter card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MAC (physical) address for network adapter cards provide unique identifier for each NAC</a:t>
            </a:r>
          </a:p>
        </p:txBody>
      </p:sp>
    </p:spTree>
    <p:extLst>
      <p:ext uri="{BB962C8B-B14F-4D97-AF65-F5344CB8AC3E}">
        <p14:creationId xmlns:p14="http://schemas.microsoft.com/office/powerpoint/2010/main" val="415040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AutoShape 2"/>
          <p:cNvSpPr>
            <a:spLocks noGrp="1" noChangeArrowheads="1"/>
          </p:cNvSpPr>
          <p:nvPr>
            <p:ph type="title"/>
          </p:nvPr>
        </p:nvSpPr>
        <p:spPr>
          <a:xfrm>
            <a:off x="684213" y="908050"/>
            <a:ext cx="7772400" cy="838200"/>
          </a:xfrm>
        </p:spPr>
        <p:txBody>
          <a:bodyPr/>
          <a:lstStyle/>
          <a:p>
            <a:r>
              <a:rPr lang="en-US" altLang="en-US"/>
              <a:t>Data Link Layer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1054100" y="2928938"/>
            <a:ext cx="3430588" cy="1631950"/>
          </a:xfrm>
        </p:spPr>
        <p:txBody>
          <a:bodyPr/>
          <a:lstStyle/>
          <a:p>
            <a:r>
              <a:rPr lang="en-US" altLang="en-US" sz="1800"/>
              <a:t>Places data and retrieves it from the physical layer and provides error detection capabilities</a:t>
            </a:r>
          </a:p>
        </p:txBody>
      </p:sp>
      <p:pic>
        <p:nvPicPr>
          <p:cNvPr id="44036" name="Picture 4" descr="layer2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0" y="1196975"/>
            <a:ext cx="4243388" cy="4800600"/>
          </a:xfrm>
        </p:spPr>
      </p:pic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6019800" y="53340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latin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6892360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Link Layer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76400"/>
            <a:ext cx="7696200" cy="4800600"/>
          </a:xfrm>
        </p:spPr>
        <p:txBody>
          <a:bodyPr/>
          <a:lstStyle/>
          <a:p>
            <a:r>
              <a:rPr lang="en-US" altLang="en-US"/>
              <a:t>Logical Link Control</a:t>
            </a:r>
          </a:p>
          <a:p>
            <a:pPr lvl="1">
              <a:lnSpc>
                <a:spcPct val="95000"/>
              </a:lnSpc>
              <a:spcBef>
                <a:spcPct val="10000"/>
              </a:spcBef>
            </a:pPr>
            <a:r>
              <a:rPr lang="en-US" altLang="en-US" sz="2600"/>
              <a:t>Uses error check algorithm (FCS) to verify that data is received correctly</a:t>
            </a:r>
          </a:p>
          <a:p>
            <a:pPr lvl="1">
              <a:lnSpc>
                <a:spcPct val="95000"/>
              </a:lnSpc>
              <a:spcBef>
                <a:spcPct val="10000"/>
              </a:spcBef>
            </a:pPr>
            <a:r>
              <a:rPr lang="en-US" altLang="en-US" sz="2600"/>
              <a:t>Ensures that the rate of transmission is appropriate for the receiving computer    </a:t>
            </a:r>
          </a:p>
          <a:p>
            <a:pPr lvl="1">
              <a:lnSpc>
                <a:spcPct val="95000"/>
              </a:lnSpc>
              <a:spcBef>
                <a:spcPct val="10000"/>
              </a:spcBef>
            </a:pPr>
            <a:r>
              <a:rPr lang="en-US" altLang="en-US" sz="2600"/>
              <a:t>Provides the link between the Data Link layer and the Network layer</a:t>
            </a:r>
            <a:r>
              <a:rPr lang="en-US" altLang="en-US" sz="3000"/>
              <a:t>          </a:t>
            </a:r>
          </a:p>
        </p:txBody>
      </p:sp>
    </p:spTree>
    <p:extLst>
      <p:ext uri="{BB962C8B-B14F-4D97-AF65-F5344CB8AC3E}">
        <p14:creationId xmlns:p14="http://schemas.microsoft.com/office/powerpoint/2010/main" val="86420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AutoShape 2"/>
          <p:cNvSpPr>
            <a:spLocks noGrp="1" noChangeArrowheads="1"/>
          </p:cNvSpPr>
          <p:nvPr>
            <p:ph type="title"/>
          </p:nvPr>
        </p:nvSpPr>
        <p:spPr>
          <a:xfrm>
            <a:off x="468313" y="908050"/>
            <a:ext cx="7772400" cy="914400"/>
          </a:xfrm>
        </p:spPr>
        <p:txBody>
          <a:bodyPr/>
          <a:lstStyle/>
          <a:p>
            <a:r>
              <a:rPr lang="en-US" altLang="en-US"/>
              <a:t>Physical Layer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sz="half" idx="2"/>
          </p:nvPr>
        </p:nvSpPr>
        <p:spPr>
          <a:xfrm>
            <a:off x="395288" y="2420938"/>
            <a:ext cx="4191000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Determines the specs for all physical components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Cabling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Interconnect methods (topology / devices)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Data encoding (bits to waves)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Electrical properties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Examples: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Ethernet (IEEE 802.3)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Token Ring (IEEE 802.5)</a:t>
            </a:r>
          </a:p>
          <a:p>
            <a:pPr lvl="1">
              <a:lnSpc>
                <a:spcPct val="90000"/>
              </a:lnSpc>
            </a:pPr>
            <a:r>
              <a:rPr lang="en-US" altLang="en-US" sz="1800"/>
              <a:t>Wireless (IEEE 802.11b)</a:t>
            </a:r>
          </a:p>
        </p:txBody>
      </p:sp>
      <p:pic>
        <p:nvPicPr>
          <p:cNvPr id="48132" name="Picture 4" descr="layer1"/>
          <p:cNvPicPr>
            <a:picLocks noGrp="1" noChangeAspect="1" noChangeArrowheads="1"/>
          </p:cNvPicPr>
          <p:nvPr>
            <p:ph type="clipArt"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87900" y="1196975"/>
            <a:ext cx="3810000" cy="5029200"/>
          </a:xfrm>
        </p:spPr>
      </p:pic>
      <p:sp>
        <p:nvSpPr>
          <p:cNvPr id="48133" name="Text Box 5"/>
          <p:cNvSpPr txBox="1">
            <a:spLocks noChangeArrowheads="1"/>
          </p:cNvSpPr>
          <p:nvPr/>
        </p:nvSpPr>
        <p:spPr bwMode="auto">
          <a:xfrm>
            <a:off x="6096000" y="54102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latin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347603530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AutoShape 2"/>
          <p:cNvSpPr>
            <a:spLocks noGrp="1" noChangeArrowheads="1"/>
          </p:cNvSpPr>
          <p:nvPr>
            <p:ph type="title"/>
          </p:nvPr>
        </p:nvSpPr>
        <p:spPr>
          <a:xfrm>
            <a:off x="302964" y="228600"/>
            <a:ext cx="8839200" cy="1295400"/>
          </a:xfrm>
        </p:spPr>
        <p:txBody>
          <a:bodyPr/>
          <a:lstStyle/>
          <a:p>
            <a:r>
              <a:rPr lang="en-US" altLang="en-US" dirty="0"/>
              <a:t>How Does It All Work Together</a:t>
            </a:r>
          </a:p>
        </p:txBody>
      </p:sp>
      <p:pic>
        <p:nvPicPr>
          <p:cNvPr id="52227" name="Picture 3" descr="peer2peer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1916113"/>
            <a:ext cx="3581400" cy="472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22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462088"/>
            <a:ext cx="5181600" cy="5178425"/>
          </a:xfrm>
          <a:noFill/>
          <a:ln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GB" altLang="en-US" sz="1800" dirty="0"/>
              <a:t>Each layer contains a Protocol Data Unit (PDU)</a:t>
            </a:r>
          </a:p>
          <a:p>
            <a:pPr lvl="1">
              <a:lnSpc>
                <a:spcPct val="90000"/>
              </a:lnSpc>
            </a:pPr>
            <a:r>
              <a:rPr lang="en-GB" altLang="en-US" sz="1600" dirty="0"/>
              <a:t>PDU</a:t>
            </a:r>
            <a:r>
              <a:rPr lang="en-IE" altLang="en-US" sz="1600" dirty="0"/>
              <a:t>’</a:t>
            </a:r>
            <a:r>
              <a:rPr lang="en-GB" altLang="en-US" sz="1600" dirty="0"/>
              <a:t>s are used for peer-to-peer contact between corresponding layers.</a:t>
            </a:r>
          </a:p>
          <a:p>
            <a:pPr lvl="1">
              <a:lnSpc>
                <a:spcPct val="90000"/>
              </a:lnSpc>
            </a:pPr>
            <a:endParaRPr lang="en-GB" altLang="en-US" sz="1600" dirty="0"/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Data is handled by the top three layers, then Segmented by the Transport layer.</a:t>
            </a:r>
          </a:p>
          <a:p>
            <a:pPr lvl="1">
              <a:lnSpc>
                <a:spcPct val="90000"/>
              </a:lnSpc>
            </a:pPr>
            <a:endParaRPr lang="en-US" altLang="en-US" sz="1600" dirty="0"/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The Network layer places it into packets and the Data Link frames the packets for transmission.</a:t>
            </a:r>
          </a:p>
          <a:p>
            <a:pPr lvl="1">
              <a:lnSpc>
                <a:spcPct val="90000"/>
              </a:lnSpc>
            </a:pPr>
            <a:endParaRPr lang="en-US" altLang="en-US" sz="1600" dirty="0"/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Physical layer converts it to bits and sends it out over the media.</a:t>
            </a:r>
          </a:p>
          <a:p>
            <a:pPr lvl="1">
              <a:lnSpc>
                <a:spcPct val="90000"/>
              </a:lnSpc>
              <a:buFontTx/>
              <a:buNone/>
            </a:pPr>
            <a:endParaRPr lang="en-US" altLang="en-US" sz="1600" dirty="0"/>
          </a:p>
          <a:p>
            <a:pPr lvl="1">
              <a:lnSpc>
                <a:spcPct val="90000"/>
              </a:lnSpc>
            </a:pPr>
            <a:r>
              <a:rPr lang="en-US" altLang="en-US" sz="1600" dirty="0"/>
              <a:t>The receiving computer reverses the process using the information contained in the PDU</a:t>
            </a:r>
            <a:r>
              <a:rPr lang="en-US" altLang="en-US" sz="1600" b="1" dirty="0"/>
              <a:t>.</a:t>
            </a:r>
          </a:p>
        </p:txBody>
      </p:sp>
      <p:sp>
        <p:nvSpPr>
          <p:cNvPr id="52229" name="Text Box 5"/>
          <p:cNvSpPr txBox="1">
            <a:spLocks noChangeArrowheads="1"/>
          </p:cNvSpPr>
          <p:nvPr/>
        </p:nvSpPr>
        <p:spPr bwMode="auto">
          <a:xfrm>
            <a:off x="8594725" y="5867400"/>
            <a:ext cx="549275" cy="290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altLang="en-US" sz="2000" baseline="30000">
                <a:solidFill>
                  <a:srgbClr val="FFFF00"/>
                </a:solidFill>
                <a:latin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02709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Packet Creation </a:t>
            </a:r>
            <a:r>
              <a:rPr lang="en-US" altLang="en-US" dirty="0" smtClean="0"/>
              <a:t>Process I</a:t>
            </a:r>
            <a:endParaRPr lang="en-US" dirty="0"/>
          </a:p>
        </p:txBody>
      </p:sp>
      <p:pic>
        <p:nvPicPr>
          <p:cNvPr id="47106" name="Picture 2" descr="http://www4.ncsu.edu/%7Echou/course/Images-new/Fazeel2/Comp%20Arc/osi2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599" y="2286000"/>
            <a:ext cx="7391401" cy="426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19251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599" y="609600"/>
            <a:ext cx="6347714" cy="985964"/>
          </a:xfrm>
        </p:spPr>
        <p:txBody>
          <a:bodyPr/>
          <a:lstStyle/>
          <a:p>
            <a:r>
              <a:rPr lang="en-US" altLang="en-US" dirty="0"/>
              <a:t>Packet Creation </a:t>
            </a:r>
            <a:r>
              <a:rPr lang="en-US" altLang="en-US" dirty="0" smtClean="0"/>
              <a:t>Process II</a:t>
            </a:r>
            <a:endParaRPr lang="en-US" altLang="en-US" dirty="0"/>
          </a:p>
        </p:txBody>
      </p:sp>
      <p:grpSp>
        <p:nvGrpSpPr>
          <p:cNvPr id="141315" name="Group 3"/>
          <p:cNvGrpSpPr>
            <a:grpSpLocks/>
          </p:cNvGrpSpPr>
          <p:nvPr/>
        </p:nvGrpSpPr>
        <p:grpSpPr bwMode="auto">
          <a:xfrm>
            <a:off x="1219200" y="1752600"/>
            <a:ext cx="6727825" cy="4610100"/>
            <a:chOff x="754" y="726"/>
            <a:chExt cx="4238" cy="3288"/>
          </a:xfrm>
        </p:grpSpPr>
        <p:grpSp>
          <p:nvGrpSpPr>
            <p:cNvPr id="141316" name="Group 4"/>
            <p:cNvGrpSpPr>
              <a:grpSpLocks/>
            </p:cNvGrpSpPr>
            <p:nvPr/>
          </p:nvGrpSpPr>
          <p:grpSpPr bwMode="auto">
            <a:xfrm>
              <a:off x="1040" y="1008"/>
              <a:ext cx="1368" cy="700"/>
              <a:chOff x="1040" y="1008"/>
              <a:chExt cx="1368" cy="700"/>
            </a:xfrm>
          </p:grpSpPr>
          <p:sp>
            <p:nvSpPr>
              <p:cNvPr id="141317" name="Rectangle 5"/>
              <p:cNvSpPr>
                <a:spLocks noChangeArrowheads="1"/>
              </p:cNvSpPr>
              <p:nvPr/>
            </p:nvSpPr>
            <p:spPr bwMode="auto">
              <a:xfrm>
                <a:off x="1041" y="1011"/>
                <a:ext cx="69" cy="255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18" name="Rectangle 6"/>
              <p:cNvSpPr>
                <a:spLocks noChangeArrowheads="1"/>
              </p:cNvSpPr>
              <p:nvPr/>
            </p:nvSpPr>
            <p:spPr bwMode="auto">
              <a:xfrm>
                <a:off x="1110" y="1011"/>
                <a:ext cx="68" cy="255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19" name="Rectangle 7"/>
              <p:cNvSpPr>
                <a:spLocks noChangeArrowheads="1"/>
              </p:cNvSpPr>
              <p:nvPr/>
            </p:nvSpPr>
            <p:spPr bwMode="auto">
              <a:xfrm>
                <a:off x="1178" y="1011"/>
                <a:ext cx="68" cy="255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0" name="Rectangle 8"/>
              <p:cNvSpPr>
                <a:spLocks noChangeArrowheads="1"/>
              </p:cNvSpPr>
              <p:nvPr/>
            </p:nvSpPr>
            <p:spPr bwMode="auto">
              <a:xfrm>
                <a:off x="1246" y="1011"/>
                <a:ext cx="68" cy="255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1" name="Rectangle 9"/>
              <p:cNvSpPr>
                <a:spLocks noChangeArrowheads="1"/>
              </p:cNvSpPr>
              <p:nvPr/>
            </p:nvSpPr>
            <p:spPr bwMode="auto">
              <a:xfrm>
                <a:off x="1314" y="1011"/>
                <a:ext cx="68" cy="255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2" name="Rectangle 10"/>
              <p:cNvSpPr>
                <a:spLocks noChangeArrowheads="1"/>
              </p:cNvSpPr>
              <p:nvPr/>
            </p:nvSpPr>
            <p:spPr bwMode="auto">
              <a:xfrm>
                <a:off x="1382" y="1011"/>
                <a:ext cx="69" cy="255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3" name="Rectangle 11"/>
              <p:cNvSpPr>
                <a:spLocks noChangeArrowheads="1"/>
              </p:cNvSpPr>
              <p:nvPr/>
            </p:nvSpPr>
            <p:spPr bwMode="auto">
              <a:xfrm>
                <a:off x="1451" y="1011"/>
                <a:ext cx="68" cy="255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4" name="Rectangle 12"/>
              <p:cNvSpPr>
                <a:spLocks noChangeArrowheads="1"/>
              </p:cNvSpPr>
              <p:nvPr/>
            </p:nvSpPr>
            <p:spPr bwMode="auto">
              <a:xfrm>
                <a:off x="1519" y="1011"/>
                <a:ext cx="68" cy="255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5" name="Rectangle 13"/>
              <p:cNvSpPr>
                <a:spLocks noChangeArrowheads="1"/>
              </p:cNvSpPr>
              <p:nvPr/>
            </p:nvSpPr>
            <p:spPr bwMode="auto">
              <a:xfrm>
                <a:off x="1587" y="1011"/>
                <a:ext cx="68" cy="255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6" name="Rectangle 14"/>
              <p:cNvSpPr>
                <a:spLocks noChangeArrowheads="1"/>
              </p:cNvSpPr>
              <p:nvPr/>
            </p:nvSpPr>
            <p:spPr bwMode="auto">
              <a:xfrm>
                <a:off x="1655" y="1011"/>
                <a:ext cx="69" cy="255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7" name="Rectangle 15"/>
              <p:cNvSpPr>
                <a:spLocks noChangeArrowheads="1"/>
              </p:cNvSpPr>
              <p:nvPr/>
            </p:nvSpPr>
            <p:spPr bwMode="auto">
              <a:xfrm>
                <a:off x="1724" y="1011"/>
                <a:ext cx="68" cy="255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8" name="Rectangle 16"/>
              <p:cNvSpPr>
                <a:spLocks noChangeArrowheads="1"/>
              </p:cNvSpPr>
              <p:nvPr/>
            </p:nvSpPr>
            <p:spPr bwMode="auto">
              <a:xfrm>
                <a:off x="1792" y="1011"/>
                <a:ext cx="69" cy="255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29" name="Rectangle 17"/>
              <p:cNvSpPr>
                <a:spLocks noChangeArrowheads="1"/>
              </p:cNvSpPr>
              <p:nvPr/>
            </p:nvSpPr>
            <p:spPr bwMode="auto">
              <a:xfrm>
                <a:off x="1861" y="1011"/>
                <a:ext cx="68" cy="255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0" name="Rectangle 18"/>
              <p:cNvSpPr>
                <a:spLocks noChangeArrowheads="1"/>
              </p:cNvSpPr>
              <p:nvPr/>
            </p:nvSpPr>
            <p:spPr bwMode="auto">
              <a:xfrm>
                <a:off x="1929" y="1011"/>
                <a:ext cx="68" cy="255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1" name="Rectangle 19"/>
              <p:cNvSpPr>
                <a:spLocks noChangeArrowheads="1"/>
              </p:cNvSpPr>
              <p:nvPr/>
            </p:nvSpPr>
            <p:spPr bwMode="auto">
              <a:xfrm>
                <a:off x="1997" y="1011"/>
                <a:ext cx="68" cy="255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2" name="Rectangle 20"/>
              <p:cNvSpPr>
                <a:spLocks noChangeArrowheads="1"/>
              </p:cNvSpPr>
              <p:nvPr/>
            </p:nvSpPr>
            <p:spPr bwMode="auto">
              <a:xfrm>
                <a:off x="2065" y="1011"/>
                <a:ext cx="68" cy="255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3" name="Rectangle 21"/>
              <p:cNvSpPr>
                <a:spLocks noChangeArrowheads="1"/>
              </p:cNvSpPr>
              <p:nvPr/>
            </p:nvSpPr>
            <p:spPr bwMode="auto">
              <a:xfrm>
                <a:off x="2133" y="1011"/>
                <a:ext cx="68" cy="255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4" name="Rectangle 22"/>
              <p:cNvSpPr>
                <a:spLocks noChangeArrowheads="1"/>
              </p:cNvSpPr>
              <p:nvPr/>
            </p:nvSpPr>
            <p:spPr bwMode="auto">
              <a:xfrm>
                <a:off x="2201" y="1011"/>
                <a:ext cx="69" cy="255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5" name="Rectangle 23"/>
              <p:cNvSpPr>
                <a:spLocks noChangeArrowheads="1"/>
              </p:cNvSpPr>
              <p:nvPr/>
            </p:nvSpPr>
            <p:spPr bwMode="auto">
              <a:xfrm>
                <a:off x="2270" y="1011"/>
                <a:ext cx="69" cy="255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6" name="Rectangle 24"/>
              <p:cNvSpPr>
                <a:spLocks noChangeArrowheads="1"/>
              </p:cNvSpPr>
              <p:nvPr/>
            </p:nvSpPr>
            <p:spPr bwMode="auto">
              <a:xfrm>
                <a:off x="2339" y="1011"/>
                <a:ext cx="68" cy="2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7" name="Rectangle 25"/>
              <p:cNvSpPr>
                <a:spLocks noChangeArrowheads="1"/>
              </p:cNvSpPr>
              <p:nvPr/>
            </p:nvSpPr>
            <p:spPr bwMode="auto">
              <a:xfrm>
                <a:off x="1041" y="1011"/>
                <a:ext cx="1366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8" name="Rectangle 26"/>
              <p:cNvSpPr>
                <a:spLocks noChangeArrowheads="1"/>
              </p:cNvSpPr>
              <p:nvPr/>
            </p:nvSpPr>
            <p:spPr bwMode="auto">
              <a:xfrm>
                <a:off x="1041" y="1009"/>
                <a:ext cx="69" cy="2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39" name="Rectangle 27"/>
              <p:cNvSpPr>
                <a:spLocks noChangeArrowheads="1"/>
              </p:cNvSpPr>
              <p:nvPr/>
            </p:nvSpPr>
            <p:spPr bwMode="auto">
              <a:xfrm>
                <a:off x="1110" y="1009"/>
                <a:ext cx="68" cy="25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0" name="Rectangle 28"/>
              <p:cNvSpPr>
                <a:spLocks noChangeArrowheads="1"/>
              </p:cNvSpPr>
              <p:nvPr/>
            </p:nvSpPr>
            <p:spPr bwMode="auto">
              <a:xfrm>
                <a:off x="1178" y="1009"/>
                <a:ext cx="68" cy="25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1" name="Rectangle 29"/>
              <p:cNvSpPr>
                <a:spLocks noChangeArrowheads="1"/>
              </p:cNvSpPr>
              <p:nvPr/>
            </p:nvSpPr>
            <p:spPr bwMode="auto">
              <a:xfrm>
                <a:off x="1246" y="1009"/>
                <a:ext cx="68" cy="25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2" name="Rectangle 30"/>
              <p:cNvSpPr>
                <a:spLocks noChangeArrowheads="1"/>
              </p:cNvSpPr>
              <p:nvPr/>
            </p:nvSpPr>
            <p:spPr bwMode="auto">
              <a:xfrm>
                <a:off x="1314" y="1009"/>
                <a:ext cx="68" cy="25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3" name="Rectangle 31"/>
              <p:cNvSpPr>
                <a:spLocks noChangeArrowheads="1"/>
              </p:cNvSpPr>
              <p:nvPr/>
            </p:nvSpPr>
            <p:spPr bwMode="auto">
              <a:xfrm>
                <a:off x="1382" y="1009"/>
                <a:ext cx="69" cy="25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4" name="Rectangle 32"/>
              <p:cNvSpPr>
                <a:spLocks noChangeArrowheads="1"/>
              </p:cNvSpPr>
              <p:nvPr/>
            </p:nvSpPr>
            <p:spPr bwMode="auto">
              <a:xfrm>
                <a:off x="1451" y="1009"/>
                <a:ext cx="68" cy="25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5" name="Rectangle 33"/>
              <p:cNvSpPr>
                <a:spLocks noChangeArrowheads="1"/>
              </p:cNvSpPr>
              <p:nvPr/>
            </p:nvSpPr>
            <p:spPr bwMode="auto">
              <a:xfrm>
                <a:off x="1519" y="1009"/>
                <a:ext cx="68" cy="25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6" name="Rectangle 34"/>
              <p:cNvSpPr>
                <a:spLocks noChangeArrowheads="1"/>
              </p:cNvSpPr>
              <p:nvPr/>
            </p:nvSpPr>
            <p:spPr bwMode="auto">
              <a:xfrm>
                <a:off x="1587" y="1009"/>
                <a:ext cx="68" cy="25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7" name="Rectangle 35"/>
              <p:cNvSpPr>
                <a:spLocks noChangeArrowheads="1"/>
              </p:cNvSpPr>
              <p:nvPr/>
            </p:nvSpPr>
            <p:spPr bwMode="auto">
              <a:xfrm>
                <a:off x="1655" y="1009"/>
                <a:ext cx="69" cy="25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8" name="Rectangle 36"/>
              <p:cNvSpPr>
                <a:spLocks noChangeArrowheads="1"/>
              </p:cNvSpPr>
              <p:nvPr/>
            </p:nvSpPr>
            <p:spPr bwMode="auto">
              <a:xfrm>
                <a:off x="1724" y="1009"/>
                <a:ext cx="68" cy="25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49" name="Rectangle 37"/>
              <p:cNvSpPr>
                <a:spLocks noChangeArrowheads="1"/>
              </p:cNvSpPr>
              <p:nvPr/>
            </p:nvSpPr>
            <p:spPr bwMode="auto">
              <a:xfrm>
                <a:off x="1792" y="1009"/>
                <a:ext cx="69" cy="25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0" name="Rectangle 38"/>
              <p:cNvSpPr>
                <a:spLocks noChangeArrowheads="1"/>
              </p:cNvSpPr>
              <p:nvPr/>
            </p:nvSpPr>
            <p:spPr bwMode="auto">
              <a:xfrm>
                <a:off x="1861" y="1009"/>
                <a:ext cx="68" cy="25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1" name="Rectangle 39"/>
              <p:cNvSpPr>
                <a:spLocks noChangeArrowheads="1"/>
              </p:cNvSpPr>
              <p:nvPr/>
            </p:nvSpPr>
            <p:spPr bwMode="auto">
              <a:xfrm>
                <a:off x="1929" y="1009"/>
                <a:ext cx="68" cy="25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2" name="Rectangle 40"/>
              <p:cNvSpPr>
                <a:spLocks noChangeArrowheads="1"/>
              </p:cNvSpPr>
              <p:nvPr/>
            </p:nvSpPr>
            <p:spPr bwMode="auto">
              <a:xfrm>
                <a:off x="1997" y="1009"/>
                <a:ext cx="68" cy="25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3" name="Rectangle 41"/>
              <p:cNvSpPr>
                <a:spLocks noChangeArrowheads="1"/>
              </p:cNvSpPr>
              <p:nvPr/>
            </p:nvSpPr>
            <p:spPr bwMode="auto">
              <a:xfrm>
                <a:off x="2065" y="1009"/>
                <a:ext cx="68" cy="25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4" name="Rectangle 42"/>
              <p:cNvSpPr>
                <a:spLocks noChangeArrowheads="1"/>
              </p:cNvSpPr>
              <p:nvPr/>
            </p:nvSpPr>
            <p:spPr bwMode="auto">
              <a:xfrm>
                <a:off x="2133" y="1009"/>
                <a:ext cx="68" cy="25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5" name="Rectangle 43"/>
              <p:cNvSpPr>
                <a:spLocks noChangeArrowheads="1"/>
              </p:cNvSpPr>
              <p:nvPr/>
            </p:nvSpPr>
            <p:spPr bwMode="auto">
              <a:xfrm>
                <a:off x="2201" y="1009"/>
                <a:ext cx="69" cy="25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6" name="Rectangle 44"/>
              <p:cNvSpPr>
                <a:spLocks noChangeArrowheads="1"/>
              </p:cNvSpPr>
              <p:nvPr/>
            </p:nvSpPr>
            <p:spPr bwMode="auto">
              <a:xfrm>
                <a:off x="2270" y="1009"/>
                <a:ext cx="69" cy="25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7" name="Rectangle 45"/>
              <p:cNvSpPr>
                <a:spLocks noChangeArrowheads="1"/>
              </p:cNvSpPr>
              <p:nvPr/>
            </p:nvSpPr>
            <p:spPr bwMode="auto">
              <a:xfrm>
                <a:off x="2339" y="1009"/>
                <a:ext cx="68" cy="25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8" name="Rectangle 46"/>
              <p:cNvSpPr>
                <a:spLocks noChangeArrowheads="1"/>
              </p:cNvSpPr>
              <p:nvPr/>
            </p:nvSpPr>
            <p:spPr bwMode="auto">
              <a:xfrm>
                <a:off x="1041" y="1009"/>
                <a:ext cx="1366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59" name="Freeform 47"/>
              <p:cNvSpPr>
                <a:spLocks/>
              </p:cNvSpPr>
              <p:nvPr/>
            </p:nvSpPr>
            <p:spPr bwMode="auto">
              <a:xfrm>
                <a:off x="2392" y="1010"/>
                <a:ext cx="10" cy="7"/>
              </a:xfrm>
              <a:custGeom>
                <a:avLst/>
                <a:gdLst>
                  <a:gd name="T0" fmla="*/ 19 w 19"/>
                  <a:gd name="T1" fmla="*/ 12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2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0" name="Freeform 48"/>
              <p:cNvSpPr>
                <a:spLocks/>
              </p:cNvSpPr>
              <p:nvPr/>
            </p:nvSpPr>
            <p:spPr bwMode="auto">
              <a:xfrm>
                <a:off x="2374" y="1016"/>
                <a:ext cx="28" cy="16"/>
              </a:xfrm>
              <a:custGeom>
                <a:avLst/>
                <a:gdLst>
                  <a:gd name="T0" fmla="*/ 55 w 55"/>
                  <a:gd name="T1" fmla="*/ 0 h 31"/>
                  <a:gd name="T2" fmla="*/ 55 w 55"/>
                  <a:gd name="T3" fmla="*/ 24 h 31"/>
                  <a:gd name="T4" fmla="*/ 0 w 55"/>
                  <a:gd name="T5" fmla="*/ 31 h 31"/>
                  <a:gd name="T6" fmla="*/ 36 w 55"/>
                  <a:gd name="T7" fmla="*/ 2 h 31"/>
                  <a:gd name="T8" fmla="*/ 55 w 5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1">
                    <a:moveTo>
                      <a:pt x="55" y="0"/>
                    </a:moveTo>
                    <a:lnTo>
                      <a:pt x="55" y="24"/>
                    </a:lnTo>
                    <a:lnTo>
                      <a:pt x="0" y="31"/>
                    </a:lnTo>
                    <a:lnTo>
                      <a:pt x="36" y="2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1" name="Freeform 49"/>
              <p:cNvSpPr>
                <a:spLocks/>
              </p:cNvSpPr>
              <p:nvPr/>
            </p:nvSpPr>
            <p:spPr bwMode="auto">
              <a:xfrm>
                <a:off x="2355" y="1029"/>
                <a:ext cx="47" cy="19"/>
              </a:xfrm>
              <a:custGeom>
                <a:avLst/>
                <a:gdLst>
                  <a:gd name="T0" fmla="*/ 93 w 93"/>
                  <a:gd name="T1" fmla="*/ 0 h 38"/>
                  <a:gd name="T2" fmla="*/ 93 w 93"/>
                  <a:gd name="T3" fmla="*/ 26 h 38"/>
                  <a:gd name="T4" fmla="*/ 0 w 93"/>
                  <a:gd name="T5" fmla="*/ 38 h 38"/>
                  <a:gd name="T6" fmla="*/ 38 w 93"/>
                  <a:gd name="T7" fmla="*/ 7 h 38"/>
                  <a:gd name="T8" fmla="*/ 93 w 9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93" y="0"/>
                    </a:moveTo>
                    <a:lnTo>
                      <a:pt x="93" y="26"/>
                    </a:lnTo>
                    <a:lnTo>
                      <a:pt x="0" y="38"/>
                    </a:lnTo>
                    <a:lnTo>
                      <a:pt x="38" y="7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2" name="Freeform 50"/>
              <p:cNvSpPr>
                <a:spLocks/>
              </p:cNvSpPr>
              <p:nvPr/>
            </p:nvSpPr>
            <p:spPr bwMode="auto">
              <a:xfrm>
                <a:off x="2346" y="1042"/>
                <a:ext cx="56" cy="19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26 h 40"/>
                  <a:gd name="T8" fmla="*/ 19 w 112"/>
                  <a:gd name="T9" fmla="*/ 12 h 40"/>
                  <a:gd name="T10" fmla="*/ 112 w 112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26"/>
                    </a:lnTo>
                    <a:lnTo>
                      <a:pt x="19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3" name="Freeform 51"/>
              <p:cNvSpPr>
                <a:spLocks/>
              </p:cNvSpPr>
              <p:nvPr/>
            </p:nvSpPr>
            <p:spPr bwMode="auto">
              <a:xfrm>
                <a:off x="2346" y="1054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4" name="Freeform 52"/>
              <p:cNvSpPr>
                <a:spLocks/>
              </p:cNvSpPr>
              <p:nvPr/>
            </p:nvSpPr>
            <p:spPr bwMode="auto">
              <a:xfrm>
                <a:off x="2346" y="1067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7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5" name="Freeform 53"/>
              <p:cNvSpPr>
                <a:spLocks/>
              </p:cNvSpPr>
              <p:nvPr/>
            </p:nvSpPr>
            <p:spPr bwMode="auto">
              <a:xfrm>
                <a:off x="2346" y="108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6" name="Freeform 54"/>
              <p:cNvSpPr>
                <a:spLocks/>
              </p:cNvSpPr>
              <p:nvPr/>
            </p:nvSpPr>
            <p:spPr bwMode="auto">
              <a:xfrm>
                <a:off x="2346" y="109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7" name="Freeform 55"/>
              <p:cNvSpPr>
                <a:spLocks/>
              </p:cNvSpPr>
              <p:nvPr/>
            </p:nvSpPr>
            <p:spPr bwMode="auto">
              <a:xfrm>
                <a:off x="2346" y="110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8" name="Freeform 56"/>
              <p:cNvSpPr>
                <a:spLocks/>
              </p:cNvSpPr>
              <p:nvPr/>
            </p:nvSpPr>
            <p:spPr bwMode="auto">
              <a:xfrm>
                <a:off x="2346" y="1120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2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69" name="Freeform 57"/>
              <p:cNvSpPr>
                <a:spLocks/>
              </p:cNvSpPr>
              <p:nvPr/>
            </p:nvSpPr>
            <p:spPr bwMode="auto">
              <a:xfrm>
                <a:off x="2346" y="1133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0" name="Freeform 58"/>
              <p:cNvSpPr>
                <a:spLocks/>
              </p:cNvSpPr>
              <p:nvPr/>
            </p:nvSpPr>
            <p:spPr bwMode="auto">
              <a:xfrm>
                <a:off x="2346" y="1146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1" name="Freeform 59"/>
              <p:cNvSpPr>
                <a:spLocks/>
              </p:cNvSpPr>
              <p:nvPr/>
            </p:nvSpPr>
            <p:spPr bwMode="auto">
              <a:xfrm>
                <a:off x="2346" y="1159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2" name="Freeform 60"/>
              <p:cNvSpPr>
                <a:spLocks/>
              </p:cNvSpPr>
              <p:nvPr/>
            </p:nvSpPr>
            <p:spPr bwMode="auto">
              <a:xfrm>
                <a:off x="2346" y="1172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5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3" name="Freeform 61"/>
              <p:cNvSpPr>
                <a:spLocks/>
              </p:cNvSpPr>
              <p:nvPr/>
            </p:nvSpPr>
            <p:spPr bwMode="auto">
              <a:xfrm>
                <a:off x="2346" y="1185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4" name="Freeform 62"/>
              <p:cNvSpPr>
                <a:spLocks/>
              </p:cNvSpPr>
              <p:nvPr/>
            </p:nvSpPr>
            <p:spPr bwMode="auto">
              <a:xfrm>
                <a:off x="2346" y="1198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8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5" name="Freeform 63"/>
              <p:cNvSpPr>
                <a:spLocks/>
              </p:cNvSpPr>
              <p:nvPr/>
            </p:nvSpPr>
            <p:spPr bwMode="auto">
              <a:xfrm>
                <a:off x="2346" y="1211"/>
                <a:ext cx="56" cy="18"/>
              </a:xfrm>
              <a:custGeom>
                <a:avLst/>
                <a:gdLst>
                  <a:gd name="T0" fmla="*/ 112 w 112"/>
                  <a:gd name="T1" fmla="*/ 0 h 34"/>
                  <a:gd name="T2" fmla="*/ 112 w 112"/>
                  <a:gd name="T3" fmla="*/ 26 h 34"/>
                  <a:gd name="T4" fmla="*/ 26 w 112"/>
                  <a:gd name="T5" fmla="*/ 34 h 34"/>
                  <a:gd name="T6" fmla="*/ 0 w 112"/>
                  <a:gd name="T7" fmla="*/ 15 h 34"/>
                  <a:gd name="T8" fmla="*/ 0 w 112"/>
                  <a:gd name="T9" fmla="*/ 12 h 34"/>
                  <a:gd name="T10" fmla="*/ 112 w 112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4">
                    <a:moveTo>
                      <a:pt x="112" y="0"/>
                    </a:moveTo>
                    <a:lnTo>
                      <a:pt x="112" y="26"/>
                    </a:lnTo>
                    <a:lnTo>
                      <a:pt x="26" y="34"/>
                    </a:lnTo>
                    <a:lnTo>
                      <a:pt x="0" y="15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6" name="Freeform 64"/>
              <p:cNvSpPr>
                <a:spLocks/>
              </p:cNvSpPr>
              <p:nvPr/>
            </p:nvSpPr>
            <p:spPr bwMode="auto">
              <a:xfrm>
                <a:off x="2359" y="1224"/>
                <a:ext cx="43" cy="17"/>
              </a:xfrm>
              <a:custGeom>
                <a:avLst/>
                <a:gdLst>
                  <a:gd name="T0" fmla="*/ 86 w 86"/>
                  <a:gd name="T1" fmla="*/ 0 h 33"/>
                  <a:gd name="T2" fmla="*/ 86 w 86"/>
                  <a:gd name="T3" fmla="*/ 26 h 33"/>
                  <a:gd name="T4" fmla="*/ 29 w 86"/>
                  <a:gd name="T5" fmla="*/ 33 h 33"/>
                  <a:gd name="T6" fmla="*/ 0 w 86"/>
                  <a:gd name="T7" fmla="*/ 8 h 33"/>
                  <a:gd name="T8" fmla="*/ 86 w 8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3">
                    <a:moveTo>
                      <a:pt x="86" y="0"/>
                    </a:moveTo>
                    <a:lnTo>
                      <a:pt x="86" y="26"/>
                    </a:lnTo>
                    <a:lnTo>
                      <a:pt x="29" y="33"/>
                    </a:lnTo>
                    <a:lnTo>
                      <a:pt x="0" y="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7" name="Freeform 65"/>
              <p:cNvSpPr>
                <a:spLocks/>
              </p:cNvSpPr>
              <p:nvPr/>
            </p:nvSpPr>
            <p:spPr bwMode="auto">
              <a:xfrm>
                <a:off x="2373" y="1237"/>
                <a:ext cx="29" cy="15"/>
              </a:xfrm>
              <a:custGeom>
                <a:avLst/>
                <a:gdLst>
                  <a:gd name="T0" fmla="*/ 57 w 57"/>
                  <a:gd name="T1" fmla="*/ 0 h 29"/>
                  <a:gd name="T2" fmla="*/ 57 w 57"/>
                  <a:gd name="T3" fmla="*/ 26 h 29"/>
                  <a:gd name="T4" fmla="*/ 30 w 57"/>
                  <a:gd name="T5" fmla="*/ 29 h 29"/>
                  <a:gd name="T6" fmla="*/ 0 w 57"/>
                  <a:gd name="T7" fmla="*/ 7 h 29"/>
                  <a:gd name="T8" fmla="*/ 57 w 57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29">
                    <a:moveTo>
                      <a:pt x="57" y="0"/>
                    </a:moveTo>
                    <a:lnTo>
                      <a:pt x="57" y="26"/>
                    </a:lnTo>
                    <a:lnTo>
                      <a:pt x="30" y="29"/>
                    </a:lnTo>
                    <a:lnTo>
                      <a:pt x="0" y="7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8" name="Freeform 66"/>
              <p:cNvSpPr>
                <a:spLocks/>
              </p:cNvSpPr>
              <p:nvPr/>
            </p:nvSpPr>
            <p:spPr bwMode="auto">
              <a:xfrm>
                <a:off x="2388" y="1250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3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3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79" name="Freeform 67"/>
              <p:cNvSpPr>
                <a:spLocks/>
              </p:cNvSpPr>
              <p:nvPr/>
            </p:nvSpPr>
            <p:spPr bwMode="auto">
              <a:xfrm>
                <a:off x="2346" y="1010"/>
                <a:ext cx="56" cy="252"/>
              </a:xfrm>
              <a:custGeom>
                <a:avLst/>
                <a:gdLst>
                  <a:gd name="T0" fmla="*/ 0 w 112"/>
                  <a:gd name="T1" fmla="*/ 88 h 504"/>
                  <a:gd name="T2" fmla="*/ 112 w 112"/>
                  <a:gd name="T3" fmla="*/ 0 h 504"/>
                  <a:gd name="T4" fmla="*/ 112 w 112"/>
                  <a:gd name="T5" fmla="*/ 504 h 504"/>
                  <a:gd name="T6" fmla="*/ 0 w 112"/>
                  <a:gd name="T7" fmla="*/ 417 h 504"/>
                  <a:gd name="T8" fmla="*/ 0 w 112"/>
                  <a:gd name="T9" fmla="*/ 88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4">
                    <a:moveTo>
                      <a:pt x="0" y="88"/>
                    </a:moveTo>
                    <a:lnTo>
                      <a:pt x="112" y="0"/>
                    </a:lnTo>
                    <a:lnTo>
                      <a:pt x="112" y="504"/>
                    </a:lnTo>
                    <a:lnTo>
                      <a:pt x="0" y="417"/>
                    </a:lnTo>
                    <a:lnTo>
                      <a:pt x="0" y="88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0" name="Freeform 68"/>
              <p:cNvSpPr>
                <a:spLocks/>
              </p:cNvSpPr>
              <p:nvPr/>
            </p:nvSpPr>
            <p:spPr bwMode="auto">
              <a:xfrm>
                <a:off x="2340" y="1218"/>
                <a:ext cx="68" cy="44"/>
              </a:xfrm>
              <a:custGeom>
                <a:avLst/>
                <a:gdLst>
                  <a:gd name="T0" fmla="*/ 0 w 137"/>
                  <a:gd name="T1" fmla="*/ 86 h 86"/>
                  <a:gd name="T2" fmla="*/ 137 w 137"/>
                  <a:gd name="T3" fmla="*/ 86 h 86"/>
                  <a:gd name="T4" fmla="*/ 12 w 137"/>
                  <a:gd name="T5" fmla="*/ 0 h 86"/>
                  <a:gd name="T6" fmla="*/ 9 w 137"/>
                  <a:gd name="T7" fmla="*/ 0 h 86"/>
                  <a:gd name="T8" fmla="*/ 0 w 13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6">
                    <a:moveTo>
                      <a:pt x="0" y="86"/>
                    </a:moveTo>
                    <a:lnTo>
                      <a:pt x="137" y="86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1" name="Freeform 69"/>
              <p:cNvSpPr>
                <a:spLocks/>
              </p:cNvSpPr>
              <p:nvPr/>
            </p:nvSpPr>
            <p:spPr bwMode="auto">
              <a:xfrm>
                <a:off x="2271" y="1218"/>
                <a:ext cx="73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2" name="Freeform 70"/>
              <p:cNvSpPr>
                <a:spLocks/>
              </p:cNvSpPr>
              <p:nvPr/>
            </p:nvSpPr>
            <p:spPr bwMode="auto">
              <a:xfrm>
                <a:off x="2202" y="1218"/>
                <a:ext cx="73" cy="44"/>
              </a:xfrm>
              <a:custGeom>
                <a:avLst/>
                <a:gdLst>
                  <a:gd name="T0" fmla="*/ 136 w 145"/>
                  <a:gd name="T1" fmla="*/ 86 h 86"/>
                  <a:gd name="T2" fmla="*/ 0 w 145"/>
                  <a:gd name="T3" fmla="*/ 86 h 86"/>
                  <a:gd name="T4" fmla="*/ 8 w 145"/>
                  <a:gd name="T5" fmla="*/ 0 h 86"/>
                  <a:gd name="T6" fmla="*/ 145 w 145"/>
                  <a:gd name="T7" fmla="*/ 0 h 86"/>
                  <a:gd name="T8" fmla="*/ 136 w 14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5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3" name="Freeform 71"/>
              <p:cNvSpPr>
                <a:spLocks/>
              </p:cNvSpPr>
              <p:nvPr/>
            </p:nvSpPr>
            <p:spPr bwMode="auto">
              <a:xfrm>
                <a:off x="2133" y="1218"/>
                <a:ext cx="74" cy="44"/>
              </a:xfrm>
              <a:custGeom>
                <a:avLst/>
                <a:gdLst>
                  <a:gd name="T0" fmla="*/ 138 w 146"/>
                  <a:gd name="T1" fmla="*/ 86 h 86"/>
                  <a:gd name="T2" fmla="*/ 0 w 146"/>
                  <a:gd name="T3" fmla="*/ 86 h 86"/>
                  <a:gd name="T4" fmla="*/ 10 w 146"/>
                  <a:gd name="T5" fmla="*/ 0 h 86"/>
                  <a:gd name="T6" fmla="*/ 146 w 146"/>
                  <a:gd name="T7" fmla="*/ 0 h 86"/>
                  <a:gd name="T8" fmla="*/ 138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4" name="Freeform 72"/>
              <p:cNvSpPr>
                <a:spLocks/>
              </p:cNvSpPr>
              <p:nvPr/>
            </p:nvSpPr>
            <p:spPr bwMode="auto">
              <a:xfrm>
                <a:off x="2065" y="1218"/>
                <a:ext cx="73" cy="44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5" name="Freeform 73"/>
              <p:cNvSpPr>
                <a:spLocks/>
              </p:cNvSpPr>
              <p:nvPr/>
            </p:nvSpPr>
            <p:spPr bwMode="auto">
              <a:xfrm>
                <a:off x="1996" y="1218"/>
                <a:ext cx="73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6" name="Freeform 74"/>
              <p:cNvSpPr>
                <a:spLocks/>
              </p:cNvSpPr>
              <p:nvPr/>
            </p:nvSpPr>
            <p:spPr bwMode="auto">
              <a:xfrm>
                <a:off x="1928" y="1218"/>
                <a:ext cx="73" cy="44"/>
              </a:xfrm>
              <a:custGeom>
                <a:avLst/>
                <a:gdLst>
                  <a:gd name="T0" fmla="*/ 136 w 146"/>
                  <a:gd name="T1" fmla="*/ 86 h 86"/>
                  <a:gd name="T2" fmla="*/ 0 w 146"/>
                  <a:gd name="T3" fmla="*/ 86 h 86"/>
                  <a:gd name="T4" fmla="*/ 8 w 146"/>
                  <a:gd name="T5" fmla="*/ 0 h 86"/>
                  <a:gd name="T6" fmla="*/ 146 w 146"/>
                  <a:gd name="T7" fmla="*/ 0 h 86"/>
                  <a:gd name="T8" fmla="*/ 136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7" name="Freeform 75"/>
              <p:cNvSpPr>
                <a:spLocks/>
              </p:cNvSpPr>
              <p:nvPr/>
            </p:nvSpPr>
            <p:spPr bwMode="auto">
              <a:xfrm>
                <a:off x="1859" y="1218"/>
                <a:ext cx="73" cy="44"/>
              </a:xfrm>
              <a:custGeom>
                <a:avLst/>
                <a:gdLst>
                  <a:gd name="T0" fmla="*/ 138 w 146"/>
                  <a:gd name="T1" fmla="*/ 86 h 86"/>
                  <a:gd name="T2" fmla="*/ 0 w 146"/>
                  <a:gd name="T3" fmla="*/ 86 h 86"/>
                  <a:gd name="T4" fmla="*/ 10 w 146"/>
                  <a:gd name="T5" fmla="*/ 0 h 86"/>
                  <a:gd name="T6" fmla="*/ 146 w 146"/>
                  <a:gd name="T7" fmla="*/ 0 h 86"/>
                  <a:gd name="T8" fmla="*/ 138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8" name="Freeform 76"/>
              <p:cNvSpPr>
                <a:spLocks/>
              </p:cNvSpPr>
              <p:nvPr/>
            </p:nvSpPr>
            <p:spPr bwMode="auto">
              <a:xfrm>
                <a:off x="1791" y="1218"/>
                <a:ext cx="73" cy="44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89" name="Freeform 77"/>
              <p:cNvSpPr>
                <a:spLocks/>
              </p:cNvSpPr>
              <p:nvPr/>
            </p:nvSpPr>
            <p:spPr bwMode="auto">
              <a:xfrm>
                <a:off x="1722" y="1218"/>
                <a:ext cx="73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0" name="Freeform 78"/>
              <p:cNvSpPr>
                <a:spLocks/>
              </p:cNvSpPr>
              <p:nvPr/>
            </p:nvSpPr>
            <p:spPr bwMode="auto">
              <a:xfrm>
                <a:off x="1653" y="1218"/>
                <a:ext cx="74" cy="44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8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1" name="Freeform 79"/>
              <p:cNvSpPr>
                <a:spLocks/>
              </p:cNvSpPr>
              <p:nvPr/>
            </p:nvSpPr>
            <p:spPr bwMode="auto">
              <a:xfrm>
                <a:off x="1585" y="1218"/>
                <a:ext cx="73" cy="44"/>
              </a:xfrm>
              <a:custGeom>
                <a:avLst/>
                <a:gdLst>
                  <a:gd name="T0" fmla="*/ 137 w 145"/>
                  <a:gd name="T1" fmla="*/ 86 h 86"/>
                  <a:gd name="T2" fmla="*/ 0 w 145"/>
                  <a:gd name="T3" fmla="*/ 86 h 86"/>
                  <a:gd name="T4" fmla="*/ 9 w 145"/>
                  <a:gd name="T5" fmla="*/ 0 h 86"/>
                  <a:gd name="T6" fmla="*/ 145 w 145"/>
                  <a:gd name="T7" fmla="*/ 0 h 86"/>
                  <a:gd name="T8" fmla="*/ 137 w 14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2" name="Freeform 80"/>
              <p:cNvSpPr>
                <a:spLocks/>
              </p:cNvSpPr>
              <p:nvPr/>
            </p:nvSpPr>
            <p:spPr bwMode="auto">
              <a:xfrm>
                <a:off x="1516" y="1218"/>
                <a:ext cx="74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3" name="Freeform 81"/>
              <p:cNvSpPr>
                <a:spLocks/>
              </p:cNvSpPr>
              <p:nvPr/>
            </p:nvSpPr>
            <p:spPr bwMode="auto">
              <a:xfrm>
                <a:off x="1448" y="1218"/>
                <a:ext cx="72" cy="44"/>
              </a:xfrm>
              <a:custGeom>
                <a:avLst/>
                <a:gdLst>
                  <a:gd name="T0" fmla="*/ 136 w 145"/>
                  <a:gd name="T1" fmla="*/ 86 h 86"/>
                  <a:gd name="T2" fmla="*/ 0 w 145"/>
                  <a:gd name="T3" fmla="*/ 86 h 86"/>
                  <a:gd name="T4" fmla="*/ 9 w 145"/>
                  <a:gd name="T5" fmla="*/ 0 h 86"/>
                  <a:gd name="T6" fmla="*/ 145 w 145"/>
                  <a:gd name="T7" fmla="*/ 0 h 86"/>
                  <a:gd name="T8" fmla="*/ 136 w 14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4" name="Freeform 82"/>
              <p:cNvSpPr>
                <a:spLocks/>
              </p:cNvSpPr>
              <p:nvPr/>
            </p:nvSpPr>
            <p:spPr bwMode="auto">
              <a:xfrm>
                <a:off x="1379" y="1218"/>
                <a:ext cx="73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8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5" name="Freeform 83"/>
              <p:cNvSpPr>
                <a:spLocks/>
              </p:cNvSpPr>
              <p:nvPr/>
            </p:nvSpPr>
            <p:spPr bwMode="auto">
              <a:xfrm>
                <a:off x="1311" y="1218"/>
                <a:ext cx="72" cy="44"/>
              </a:xfrm>
              <a:custGeom>
                <a:avLst/>
                <a:gdLst>
                  <a:gd name="T0" fmla="*/ 137 w 145"/>
                  <a:gd name="T1" fmla="*/ 86 h 86"/>
                  <a:gd name="T2" fmla="*/ 0 w 145"/>
                  <a:gd name="T3" fmla="*/ 86 h 86"/>
                  <a:gd name="T4" fmla="*/ 9 w 145"/>
                  <a:gd name="T5" fmla="*/ 0 h 86"/>
                  <a:gd name="T6" fmla="*/ 145 w 145"/>
                  <a:gd name="T7" fmla="*/ 0 h 86"/>
                  <a:gd name="T8" fmla="*/ 137 w 14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6" name="Freeform 84"/>
              <p:cNvSpPr>
                <a:spLocks/>
              </p:cNvSpPr>
              <p:nvPr/>
            </p:nvSpPr>
            <p:spPr bwMode="auto">
              <a:xfrm>
                <a:off x="1242" y="1218"/>
                <a:ext cx="73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7" name="Freeform 85"/>
              <p:cNvSpPr>
                <a:spLocks/>
              </p:cNvSpPr>
              <p:nvPr/>
            </p:nvSpPr>
            <p:spPr bwMode="auto">
              <a:xfrm>
                <a:off x="1173" y="1218"/>
                <a:ext cx="73" cy="44"/>
              </a:xfrm>
              <a:custGeom>
                <a:avLst/>
                <a:gdLst>
                  <a:gd name="T0" fmla="*/ 136 w 145"/>
                  <a:gd name="T1" fmla="*/ 86 h 86"/>
                  <a:gd name="T2" fmla="*/ 0 w 145"/>
                  <a:gd name="T3" fmla="*/ 86 h 86"/>
                  <a:gd name="T4" fmla="*/ 9 w 145"/>
                  <a:gd name="T5" fmla="*/ 0 h 86"/>
                  <a:gd name="T6" fmla="*/ 145 w 145"/>
                  <a:gd name="T7" fmla="*/ 0 h 86"/>
                  <a:gd name="T8" fmla="*/ 136 w 145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8" name="Freeform 86"/>
              <p:cNvSpPr>
                <a:spLocks/>
              </p:cNvSpPr>
              <p:nvPr/>
            </p:nvSpPr>
            <p:spPr bwMode="auto">
              <a:xfrm>
                <a:off x="1104" y="1218"/>
                <a:ext cx="74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8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399" name="Freeform 87"/>
              <p:cNvSpPr>
                <a:spLocks/>
              </p:cNvSpPr>
              <p:nvPr/>
            </p:nvSpPr>
            <p:spPr bwMode="auto">
              <a:xfrm>
                <a:off x="1041" y="1218"/>
                <a:ext cx="68" cy="44"/>
              </a:xfrm>
              <a:custGeom>
                <a:avLst/>
                <a:gdLst>
                  <a:gd name="T0" fmla="*/ 128 w 136"/>
                  <a:gd name="T1" fmla="*/ 86 h 86"/>
                  <a:gd name="T2" fmla="*/ 0 w 136"/>
                  <a:gd name="T3" fmla="*/ 86 h 86"/>
                  <a:gd name="T4" fmla="*/ 112 w 136"/>
                  <a:gd name="T5" fmla="*/ 0 h 86"/>
                  <a:gd name="T6" fmla="*/ 136 w 136"/>
                  <a:gd name="T7" fmla="*/ 0 h 86"/>
                  <a:gd name="T8" fmla="*/ 128 w 13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28" y="86"/>
                    </a:moveTo>
                    <a:lnTo>
                      <a:pt x="0" y="86"/>
                    </a:lnTo>
                    <a:lnTo>
                      <a:pt x="112" y="0"/>
                    </a:lnTo>
                    <a:lnTo>
                      <a:pt x="136" y="0"/>
                    </a:lnTo>
                    <a:lnTo>
                      <a:pt x="128" y="86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0" name="Freeform 88"/>
              <p:cNvSpPr>
                <a:spLocks/>
              </p:cNvSpPr>
              <p:nvPr/>
            </p:nvSpPr>
            <p:spPr bwMode="auto">
              <a:xfrm>
                <a:off x="1041" y="1218"/>
                <a:ext cx="1367" cy="44"/>
              </a:xfrm>
              <a:custGeom>
                <a:avLst/>
                <a:gdLst>
                  <a:gd name="T0" fmla="*/ 112 w 2735"/>
                  <a:gd name="T1" fmla="*/ 0 h 86"/>
                  <a:gd name="T2" fmla="*/ 0 w 2735"/>
                  <a:gd name="T3" fmla="*/ 86 h 86"/>
                  <a:gd name="T4" fmla="*/ 2735 w 2735"/>
                  <a:gd name="T5" fmla="*/ 86 h 86"/>
                  <a:gd name="T6" fmla="*/ 2610 w 2735"/>
                  <a:gd name="T7" fmla="*/ 0 h 86"/>
                  <a:gd name="T8" fmla="*/ 112 w 2735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6">
                    <a:moveTo>
                      <a:pt x="112" y="0"/>
                    </a:moveTo>
                    <a:lnTo>
                      <a:pt x="0" y="86"/>
                    </a:lnTo>
                    <a:lnTo>
                      <a:pt x="2735" y="86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1" name="Freeform 89"/>
              <p:cNvSpPr>
                <a:spLocks/>
              </p:cNvSpPr>
              <p:nvPr/>
            </p:nvSpPr>
            <p:spPr bwMode="auto">
              <a:xfrm>
                <a:off x="1041" y="1010"/>
                <a:ext cx="68" cy="44"/>
              </a:xfrm>
              <a:custGeom>
                <a:avLst/>
                <a:gdLst>
                  <a:gd name="T0" fmla="*/ 136 w 136"/>
                  <a:gd name="T1" fmla="*/ 0 h 86"/>
                  <a:gd name="T2" fmla="*/ 0 w 136"/>
                  <a:gd name="T3" fmla="*/ 0 h 86"/>
                  <a:gd name="T4" fmla="*/ 118 w 136"/>
                  <a:gd name="T5" fmla="*/ 86 h 86"/>
                  <a:gd name="T6" fmla="*/ 136 w 136"/>
                  <a:gd name="T7" fmla="*/ 86 h 86"/>
                  <a:gd name="T8" fmla="*/ 136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6"/>
                    </a:lnTo>
                    <a:lnTo>
                      <a:pt x="136" y="86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2" name="Rectangle 90"/>
              <p:cNvSpPr>
                <a:spLocks noChangeArrowheads="1"/>
              </p:cNvSpPr>
              <p:nvPr/>
            </p:nvSpPr>
            <p:spPr bwMode="auto">
              <a:xfrm>
                <a:off x="1109" y="1010"/>
                <a:ext cx="68" cy="4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3" name="Rectangle 91"/>
              <p:cNvSpPr>
                <a:spLocks noChangeArrowheads="1"/>
              </p:cNvSpPr>
              <p:nvPr/>
            </p:nvSpPr>
            <p:spPr bwMode="auto">
              <a:xfrm>
                <a:off x="1177" y="1010"/>
                <a:ext cx="68" cy="4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4" name="Rectangle 92"/>
              <p:cNvSpPr>
                <a:spLocks noChangeArrowheads="1"/>
              </p:cNvSpPr>
              <p:nvPr/>
            </p:nvSpPr>
            <p:spPr bwMode="auto">
              <a:xfrm>
                <a:off x="1245" y="1010"/>
                <a:ext cx="68" cy="4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5" name="Rectangle 93"/>
              <p:cNvSpPr>
                <a:spLocks noChangeArrowheads="1"/>
              </p:cNvSpPr>
              <p:nvPr/>
            </p:nvSpPr>
            <p:spPr bwMode="auto">
              <a:xfrm>
                <a:off x="1313" y="1010"/>
                <a:ext cx="69" cy="4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6" name="Rectangle 94"/>
              <p:cNvSpPr>
                <a:spLocks noChangeArrowheads="1"/>
              </p:cNvSpPr>
              <p:nvPr/>
            </p:nvSpPr>
            <p:spPr bwMode="auto">
              <a:xfrm>
                <a:off x="1382" y="1010"/>
                <a:ext cx="68" cy="4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7" name="Rectangle 95"/>
              <p:cNvSpPr>
                <a:spLocks noChangeArrowheads="1"/>
              </p:cNvSpPr>
              <p:nvPr/>
            </p:nvSpPr>
            <p:spPr bwMode="auto">
              <a:xfrm>
                <a:off x="1450" y="1010"/>
                <a:ext cx="68" cy="4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8" name="Rectangle 96"/>
              <p:cNvSpPr>
                <a:spLocks noChangeArrowheads="1"/>
              </p:cNvSpPr>
              <p:nvPr/>
            </p:nvSpPr>
            <p:spPr bwMode="auto">
              <a:xfrm>
                <a:off x="1518" y="1010"/>
                <a:ext cx="68" cy="4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09" name="Rectangle 97"/>
              <p:cNvSpPr>
                <a:spLocks noChangeArrowheads="1"/>
              </p:cNvSpPr>
              <p:nvPr/>
            </p:nvSpPr>
            <p:spPr bwMode="auto">
              <a:xfrm>
                <a:off x="1586" y="1010"/>
                <a:ext cx="68" cy="4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0" name="Rectangle 98"/>
              <p:cNvSpPr>
                <a:spLocks noChangeArrowheads="1"/>
              </p:cNvSpPr>
              <p:nvPr/>
            </p:nvSpPr>
            <p:spPr bwMode="auto">
              <a:xfrm>
                <a:off x="1654" y="1010"/>
                <a:ext cx="68" cy="4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1" name="Rectangle 99"/>
              <p:cNvSpPr>
                <a:spLocks noChangeArrowheads="1"/>
              </p:cNvSpPr>
              <p:nvPr/>
            </p:nvSpPr>
            <p:spPr bwMode="auto">
              <a:xfrm>
                <a:off x="1722" y="1010"/>
                <a:ext cx="69" cy="4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2" name="Rectangle 100"/>
              <p:cNvSpPr>
                <a:spLocks noChangeArrowheads="1"/>
              </p:cNvSpPr>
              <p:nvPr/>
            </p:nvSpPr>
            <p:spPr bwMode="auto">
              <a:xfrm>
                <a:off x="1791" y="1010"/>
                <a:ext cx="68" cy="4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3" name="Rectangle 101"/>
              <p:cNvSpPr>
                <a:spLocks noChangeArrowheads="1"/>
              </p:cNvSpPr>
              <p:nvPr/>
            </p:nvSpPr>
            <p:spPr bwMode="auto">
              <a:xfrm>
                <a:off x="1859" y="1010"/>
                <a:ext cx="68" cy="4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4" name="Rectangle 102"/>
              <p:cNvSpPr>
                <a:spLocks noChangeArrowheads="1"/>
              </p:cNvSpPr>
              <p:nvPr/>
            </p:nvSpPr>
            <p:spPr bwMode="auto">
              <a:xfrm>
                <a:off x="1927" y="1010"/>
                <a:ext cx="68" cy="4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5" name="Rectangle 103"/>
              <p:cNvSpPr>
                <a:spLocks noChangeArrowheads="1"/>
              </p:cNvSpPr>
              <p:nvPr/>
            </p:nvSpPr>
            <p:spPr bwMode="auto">
              <a:xfrm>
                <a:off x="1995" y="1010"/>
                <a:ext cx="68" cy="4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6" name="Rectangle 104"/>
              <p:cNvSpPr>
                <a:spLocks noChangeArrowheads="1"/>
              </p:cNvSpPr>
              <p:nvPr/>
            </p:nvSpPr>
            <p:spPr bwMode="auto">
              <a:xfrm>
                <a:off x="2063" y="1010"/>
                <a:ext cx="69" cy="4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7" name="Rectangle 105"/>
              <p:cNvSpPr>
                <a:spLocks noChangeArrowheads="1"/>
              </p:cNvSpPr>
              <p:nvPr/>
            </p:nvSpPr>
            <p:spPr bwMode="auto">
              <a:xfrm>
                <a:off x="2132" y="1010"/>
                <a:ext cx="68" cy="4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8" name="Rectangle 106"/>
              <p:cNvSpPr>
                <a:spLocks noChangeArrowheads="1"/>
              </p:cNvSpPr>
              <p:nvPr/>
            </p:nvSpPr>
            <p:spPr bwMode="auto">
              <a:xfrm>
                <a:off x="2200" y="1010"/>
                <a:ext cx="68" cy="4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19" name="Rectangle 107"/>
              <p:cNvSpPr>
                <a:spLocks noChangeArrowheads="1"/>
              </p:cNvSpPr>
              <p:nvPr/>
            </p:nvSpPr>
            <p:spPr bwMode="auto">
              <a:xfrm>
                <a:off x="2268" y="1010"/>
                <a:ext cx="69" cy="4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0" name="Freeform 108"/>
              <p:cNvSpPr>
                <a:spLocks/>
              </p:cNvSpPr>
              <p:nvPr/>
            </p:nvSpPr>
            <p:spPr bwMode="auto">
              <a:xfrm>
                <a:off x="2337" y="1010"/>
                <a:ext cx="68" cy="44"/>
              </a:xfrm>
              <a:custGeom>
                <a:avLst/>
                <a:gdLst>
                  <a:gd name="T0" fmla="*/ 0 w 136"/>
                  <a:gd name="T1" fmla="*/ 0 h 86"/>
                  <a:gd name="T2" fmla="*/ 136 w 136"/>
                  <a:gd name="T3" fmla="*/ 0 h 86"/>
                  <a:gd name="T4" fmla="*/ 24 w 136"/>
                  <a:gd name="T5" fmla="*/ 86 h 86"/>
                  <a:gd name="T6" fmla="*/ 0 w 136"/>
                  <a:gd name="T7" fmla="*/ 86 h 86"/>
                  <a:gd name="T8" fmla="*/ 0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0" y="0"/>
                    </a:moveTo>
                    <a:lnTo>
                      <a:pt x="136" y="0"/>
                    </a:lnTo>
                    <a:lnTo>
                      <a:pt x="24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1" name="Freeform 109"/>
              <p:cNvSpPr>
                <a:spLocks/>
              </p:cNvSpPr>
              <p:nvPr/>
            </p:nvSpPr>
            <p:spPr bwMode="auto">
              <a:xfrm>
                <a:off x="1041" y="1010"/>
                <a:ext cx="1364" cy="44"/>
              </a:xfrm>
              <a:custGeom>
                <a:avLst/>
                <a:gdLst>
                  <a:gd name="T0" fmla="*/ 118 w 2729"/>
                  <a:gd name="T1" fmla="*/ 86 h 86"/>
                  <a:gd name="T2" fmla="*/ 0 w 2729"/>
                  <a:gd name="T3" fmla="*/ 0 h 86"/>
                  <a:gd name="T4" fmla="*/ 2729 w 2729"/>
                  <a:gd name="T5" fmla="*/ 0 h 86"/>
                  <a:gd name="T6" fmla="*/ 2617 w 2729"/>
                  <a:gd name="T7" fmla="*/ 86 h 86"/>
                  <a:gd name="T8" fmla="*/ 118 w 272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6">
                    <a:moveTo>
                      <a:pt x="118" y="86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6"/>
                    </a:lnTo>
                    <a:lnTo>
                      <a:pt x="118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2" name="Freeform 110"/>
              <p:cNvSpPr>
                <a:spLocks/>
              </p:cNvSpPr>
              <p:nvPr/>
            </p:nvSpPr>
            <p:spPr bwMode="auto">
              <a:xfrm>
                <a:off x="1040" y="1008"/>
                <a:ext cx="16" cy="13"/>
              </a:xfrm>
              <a:custGeom>
                <a:avLst/>
                <a:gdLst>
                  <a:gd name="T0" fmla="*/ 33 w 33"/>
                  <a:gd name="T1" fmla="*/ 22 h 26"/>
                  <a:gd name="T2" fmla="*/ 0 w 33"/>
                  <a:gd name="T3" fmla="*/ 0 h 26"/>
                  <a:gd name="T4" fmla="*/ 0 w 33"/>
                  <a:gd name="T5" fmla="*/ 26 h 26"/>
                  <a:gd name="T6" fmla="*/ 33 w 33"/>
                  <a:gd name="T7" fmla="*/ 2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6">
                    <a:moveTo>
                      <a:pt x="33" y="22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3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3" name="Freeform 111"/>
              <p:cNvSpPr>
                <a:spLocks/>
              </p:cNvSpPr>
              <p:nvPr/>
            </p:nvSpPr>
            <p:spPr bwMode="auto">
              <a:xfrm>
                <a:off x="1040" y="1019"/>
                <a:ext cx="32" cy="15"/>
              </a:xfrm>
              <a:custGeom>
                <a:avLst/>
                <a:gdLst>
                  <a:gd name="T0" fmla="*/ 33 w 66"/>
                  <a:gd name="T1" fmla="*/ 0 h 29"/>
                  <a:gd name="T2" fmla="*/ 66 w 66"/>
                  <a:gd name="T3" fmla="*/ 24 h 29"/>
                  <a:gd name="T4" fmla="*/ 0 w 66"/>
                  <a:gd name="T5" fmla="*/ 29 h 29"/>
                  <a:gd name="T6" fmla="*/ 0 w 66"/>
                  <a:gd name="T7" fmla="*/ 4 h 29"/>
                  <a:gd name="T8" fmla="*/ 33 w 66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29">
                    <a:moveTo>
                      <a:pt x="33" y="0"/>
                    </a:moveTo>
                    <a:lnTo>
                      <a:pt x="66" y="24"/>
                    </a:lnTo>
                    <a:lnTo>
                      <a:pt x="0" y="29"/>
                    </a:lnTo>
                    <a:lnTo>
                      <a:pt x="0" y="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4" name="Freeform 112"/>
              <p:cNvSpPr>
                <a:spLocks/>
              </p:cNvSpPr>
              <p:nvPr/>
            </p:nvSpPr>
            <p:spPr bwMode="auto">
              <a:xfrm>
                <a:off x="1040" y="1031"/>
                <a:ext cx="49" cy="16"/>
              </a:xfrm>
              <a:custGeom>
                <a:avLst/>
                <a:gdLst>
                  <a:gd name="T0" fmla="*/ 66 w 99"/>
                  <a:gd name="T1" fmla="*/ 0 h 31"/>
                  <a:gd name="T2" fmla="*/ 99 w 99"/>
                  <a:gd name="T3" fmla="*/ 23 h 31"/>
                  <a:gd name="T4" fmla="*/ 0 w 99"/>
                  <a:gd name="T5" fmla="*/ 31 h 31"/>
                  <a:gd name="T6" fmla="*/ 0 w 99"/>
                  <a:gd name="T7" fmla="*/ 5 h 31"/>
                  <a:gd name="T8" fmla="*/ 66 w 99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" h="31">
                    <a:moveTo>
                      <a:pt x="66" y="0"/>
                    </a:moveTo>
                    <a:lnTo>
                      <a:pt x="99" y="23"/>
                    </a:lnTo>
                    <a:lnTo>
                      <a:pt x="0" y="31"/>
                    </a:lnTo>
                    <a:lnTo>
                      <a:pt x="0" y="5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5" name="Freeform 113"/>
              <p:cNvSpPr>
                <a:spLocks/>
              </p:cNvSpPr>
              <p:nvPr/>
            </p:nvSpPr>
            <p:spPr bwMode="auto">
              <a:xfrm>
                <a:off x="1040" y="1042"/>
                <a:ext cx="61" cy="18"/>
              </a:xfrm>
              <a:custGeom>
                <a:avLst/>
                <a:gdLst>
                  <a:gd name="T0" fmla="*/ 99 w 123"/>
                  <a:gd name="T1" fmla="*/ 0 h 34"/>
                  <a:gd name="T2" fmla="*/ 123 w 123"/>
                  <a:gd name="T3" fmla="*/ 17 h 34"/>
                  <a:gd name="T4" fmla="*/ 123 w 123"/>
                  <a:gd name="T5" fmla="*/ 24 h 34"/>
                  <a:gd name="T6" fmla="*/ 0 w 123"/>
                  <a:gd name="T7" fmla="*/ 34 h 34"/>
                  <a:gd name="T8" fmla="*/ 0 w 123"/>
                  <a:gd name="T9" fmla="*/ 8 h 34"/>
                  <a:gd name="T10" fmla="*/ 99 w 123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4">
                    <a:moveTo>
                      <a:pt x="99" y="0"/>
                    </a:moveTo>
                    <a:lnTo>
                      <a:pt x="123" y="17"/>
                    </a:lnTo>
                    <a:lnTo>
                      <a:pt x="123" y="24"/>
                    </a:lnTo>
                    <a:lnTo>
                      <a:pt x="0" y="34"/>
                    </a:lnTo>
                    <a:lnTo>
                      <a:pt x="0" y="8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6" name="Freeform 114"/>
              <p:cNvSpPr>
                <a:spLocks/>
              </p:cNvSpPr>
              <p:nvPr/>
            </p:nvSpPr>
            <p:spPr bwMode="auto">
              <a:xfrm>
                <a:off x="1040" y="1054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0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7" name="Freeform 115"/>
              <p:cNvSpPr>
                <a:spLocks/>
              </p:cNvSpPr>
              <p:nvPr/>
            </p:nvSpPr>
            <p:spPr bwMode="auto">
              <a:xfrm>
                <a:off x="1040" y="1067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8" name="Freeform 116"/>
              <p:cNvSpPr>
                <a:spLocks/>
              </p:cNvSpPr>
              <p:nvPr/>
            </p:nvSpPr>
            <p:spPr bwMode="auto">
              <a:xfrm>
                <a:off x="1040" y="1080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29" name="Freeform 117"/>
              <p:cNvSpPr>
                <a:spLocks/>
              </p:cNvSpPr>
              <p:nvPr/>
            </p:nvSpPr>
            <p:spPr bwMode="auto">
              <a:xfrm>
                <a:off x="1040" y="1093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5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0" name="Freeform 118"/>
              <p:cNvSpPr>
                <a:spLocks/>
              </p:cNvSpPr>
              <p:nvPr/>
            </p:nvSpPr>
            <p:spPr bwMode="auto">
              <a:xfrm>
                <a:off x="1040" y="1106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3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1" name="Freeform 119"/>
              <p:cNvSpPr>
                <a:spLocks/>
              </p:cNvSpPr>
              <p:nvPr/>
            </p:nvSpPr>
            <p:spPr bwMode="auto">
              <a:xfrm>
                <a:off x="1040" y="1119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2" name="Freeform 120"/>
              <p:cNvSpPr>
                <a:spLocks/>
              </p:cNvSpPr>
              <p:nvPr/>
            </p:nvSpPr>
            <p:spPr bwMode="auto">
              <a:xfrm>
                <a:off x="1040" y="1132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8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3" name="Freeform 121"/>
              <p:cNvSpPr>
                <a:spLocks/>
              </p:cNvSpPr>
              <p:nvPr/>
            </p:nvSpPr>
            <p:spPr bwMode="auto">
              <a:xfrm>
                <a:off x="1040" y="1146"/>
                <a:ext cx="61" cy="18"/>
              </a:xfrm>
              <a:custGeom>
                <a:avLst/>
                <a:gdLst>
                  <a:gd name="T0" fmla="*/ 123 w 123"/>
                  <a:gd name="T1" fmla="*/ 0 h 36"/>
                  <a:gd name="T2" fmla="*/ 123 w 123"/>
                  <a:gd name="T3" fmla="*/ 26 h 36"/>
                  <a:gd name="T4" fmla="*/ 0 w 123"/>
                  <a:gd name="T5" fmla="*/ 36 h 36"/>
                  <a:gd name="T6" fmla="*/ 0 w 123"/>
                  <a:gd name="T7" fmla="*/ 10 h 36"/>
                  <a:gd name="T8" fmla="*/ 123 w 12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6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4" name="Freeform 122"/>
              <p:cNvSpPr>
                <a:spLocks/>
              </p:cNvSpPr>
              <p:nvPr/>
            </p:nvSpPr>
            <p:spPr bwMode="auto">
              <a:xfrm>
                <a:off x="1040" y="1159"/>
                <a:ext cx="61" cy="18"/>
              </a:xfrm>
              <a:custGeom>
                <a:avLst/>
                <a:gdLst>
                  <a:gd name="T0" fmla="*/ 123 w 123"/>
                  <a:gd name="T1" fmla="*/ 0 h 36"/>
                  <a:gd name="T2" fmla="*/ 123 w 123"/>
                  <a:gd name="T3" fmla="*/ 26 h 36"/>
                  <a:gd name="T4" fmla="*/ 0 w 123"/>
                  <a:gd name="T5" fmla="*/ 36 h 36"/>
                  <a:gd name="T6" fmla="*/ 0 w 123"/>
                  <a:gd name="T7" fmla="*/ 10 h 36"/>
                  <a:gd name="T8" fmla="*/ 123 w 12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6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5" name="Freeform 123"/>
              <p:cNvSpPr>
                <a:spLocks/>
              </p:cNvSpPr>
              <p:nvPr/>
            </p:nvSpPr>
            <p:spPr bwMode="auto">
              <a:xfrm>
                <a:off x="1040" y="1172"/>
                <a:ext cx="61" cy="18"/>
              </a:xfrm>
              <a:custGeom>
                <a:avLst/>
                <a:gdLst>
                  <a:gd name="T0" fmla="*/ 123 w 123"/>
                  <a:gd name="T1" fmla="*/ 0 h 36"/>
                  <a:gd name="T2" fmla="*/ 123 w 123"/>
                  <a:gd name="T3" fmla="*/ 25 h 36"/>
                  <a:gd name="T4" fmla="*/ 0 w 123"/>
                  <a:gd name="T5" fmla="*/ 36 h 36"/>
                  <a:gd name="T6" fmla="*/ 0 w 123"/>
                  <a:gd name="T7" fmla="*/ 10 h 36"/>
                  <a:gd name="T8" fmla="*/ 123 w 12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6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6" name="Freeform 124"/>
              <p:cNvSpPr>
                <a:spLocks/>
              </p:cNvSpPr>
              <p:nvPr/>
            </p:nvSpPr>
            <p:spPr bwMode="auto">
              <a:xfrm>
                <a:off x="1040" y="1185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1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1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7" name="Freeform 125"/>
              <p:cNvSpPr>
                <a:spLocks/>
              </p:cNvSpPr>
              <p:nvPr/>
            </p:nvSpPr>
            <p:spPr bwMode="auto">
              <a:xfrm>
                <a:off x="1040" y="1198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8" name="Freeform 126"/>
              <p:cNvSpPr>
                <a:spLocks/>
              </p:cNvSpPr>
              <p:nvPr/>
            </p:nvSpPr>
            <p:spPr bwMode="auto">
              <a:xfrm>
                <a:off x="1040" y="1211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17 h 38"/>
                  <a:gd name="T4" fmla="*/ 109 w 123"/>
                  <a:gd name="T5" fmla="*/ 28 h 38"/>
                  <a:gd name="T6" fmla="*/ 0 w 123"/>
                  <a:gd name="T7" fmla="*/ 38 h 38"/>
                  <a:gd name="T8" fmla="*/ 0 w 123"/>
                  <a:gd name="T9" fmla="*/ 12 h 38"/>
                  <a:gd name="T10" fmla="*/ 123 w 12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17"/>
                    </a:lnTo>
                    <a:lnTo>
                      <a:pt x="109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39" name="Freeform 127"/>
              <p:cNvSpPr>
                <a:spLocks/>
              </p:cNvSpPr>
              <p:nvPr/>
            </p:nvSpPr>
            <p:spPr bwMode="auto">
              <a:xfrm>
                <a:off x="1040" y="1224"/>
                <a:ext cx="54" cy="19"/>
              </a:xfrm>
              <a:custGeom>
                <a:avLst/>
                <a:gdLst>
                  <a:gd name="T0" fmla="*/ 109 w 109"/>
                  <a:gd name="T1" fmla="*/ 0 h 36"/>
                  <a:gd name="T2" fmla="*/ 66 w 109"/>
                  <a:gd name="T3" fmla="*/ 29 h 36"/>
                  <a:gd name="T4" fmla="*/ 0 w 109"/>
                  <a:gd name="T5" fmla="*/ 36 h 36"/>
                  <a:gd name="T6" fmla="*/ 0 w 109"/>
                  <a:gd name="T7" fmla="*/ 10 h 36"/>
                  <a:gd name="T8" fmla="*/ 109 w 10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36">
                    <a:moveTo>
                      <a:pt x="109" y="0"/>
                    </a:moveTo>
                    <a:lnTo>
                      <a:pt x="66" y="29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0" name="Freeform 128"/>
              <p:cNvSpPr>
                <a:spLocks/>
              </p:cNvSpPr>
              <p:nvPr/>
            </p:nvSpPr>
            <p:spPr bwMode="auto">
              <a:xfrm>
                <a:off x="1040" y="1239"/>
                <a:ext cx="32" cy="16"/>
              </a:xfrm>
              <a:custGeom>
                <a:avLst/>
                <a:gdLst>
                  <a:gd name="T0" fmla="*/ 66 w 66"/>
                  <a:gd name="T1" fmla="*/ 0 h 33"/>
                  <a:gd name="T2" fmla="*/ 23 w 66"/>
                  <a:gd name="T3" fmla="*/ 31 h 33"/>
                  <a:gd name="T4" fmla="*/ 0 w 66"/>
                  <a:gd name="T5" fmla="*/ 33 h 33"/>
                  <a:gd name="T6" fmla="*/ 0 w 66"/>
                  <a:gd name="T7" fmla="*/ 7 h 33"/>
                  <a:gd name="T8" fmla="*/ 66 w 6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33">
                    <a:moveTo>
                      <a:pt x="66" y="0"/>
                    </a:moveTo>
                    <a:lnTo>
                      <a:pt x="23" y="31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1" name="Freeform 129"/>
              <p:cNvSpPr>
                <a:spLocks/>
              </p:cNvSpPr>
              <p:nvPr/>
            </p:nvSpPr>
            <p:spPr bwMode="auto">
              <a:xfrm>
                <a:off x="1040" y="1255"/>
                <a:ext cx="11" cy="7"/>
              </a:xfrm>
              <a:custGeom>
                <a:avLst/>
                <a:gdLst>
                  <a:gd name="T0" fmla="*/ 23 w 23"/>
                  <a:gd name="T1" fmla="*/ 0 h 16"/>
                  <a:gd name="T2" fmla="*/ 0 w 23"/>
                  <a:gd name="T3" fmla="*/ 16 h 16"/>
                  <a:gd name="T4" fmla="*/ 0 w 23"/>
                  <a:gd name="T5" fmla="*/ 2 h 16"/>
                  <a:gd name="T6" fmla="*/ 23 w 23"/>
                  <a:gd name="T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16">
                    <a:moveTo>
                      <a:pt x="23" y="0"/>
                    </a:moveTo>
                    <a:lnTo>
                      <a:pt x="0" y="16"/>
                    </a:lnTo>
                    <a:lnTo>
                      <a:pt x="0" y="2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2" name="Freeform 130"/>
              <p:cNvSpPr>
                <a:spLocks/>
              </p:cNvSpPr>
              <p:nvPr/>
            </p:nvSpPr>
            <p:spPr bwMode="auto">
              <a:xfrm>
                <a:off x="1040" y="1008"/>
                <a:ext cx="61" cy="254"/>
              </a:xfrm>
              <a:custGeom>
                <a:avLst/>
                <a:gdLst>
                  <a:gd name="T0" fmla="*/ 123 w 123"/>
                  <a:gd name="T1" fmla="*/ 422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6 h 509"/>
                  <a:gd name="T8" fmla="*/ 123 w 123"/>
                  <a:gd name="T9" fmla="*/ 422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2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6"/>
                    </a:lnTo>
                    <a:lnTo>
                      <a:pt x="123" y="422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3" name="Rectangle 131"/>
              <p:cNvSpPr>
                <a:spLocks noChangeArrowheads="1"/>
              </p:cNvSpPr>
              <p:nvPr/>
            </p:nvSpPr>
            <p:spPr bwMode="auto">
              <a:xfrm>
                <a:off x="1041" y="1454"/>
                <a:ext cx="69" cy="254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4" name="Rectangle 132"/>
              <p:cNvSpPr>
                <a:spLocks noChangeArrowheads="1"/>
              </p:cNvSpPr>
              <p:nvPr/>
            </p:nvSpPr>
            <p:spPr bwMode="auto">
              <a:xfrm>
                <a:off x="1110" y="1454"/>
                <a:ext cx="68" cy="254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5" name="Rectangle 133"/>
              <p:cNvSpPr>
                <a:spLocks noChangeArrowheads="1"/>
              </p:cNvSpPr>
              <p:nvPr/>
            </p:nvSpPr>
            <p:spPr bwMode="auto">
              <a:xfrm>
                <a:off x="1178" y="1454"/>
                <a:ext cx="68" cy="254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6" name="Rectangle 134"/>
              <p:cNvSpPr>
                <a:spLocks noChangeArrowheads="1"/>
              </p:cNvSpPr>
              <p:nvPr/>
            </p:nvSpPr>
            <p:spPr bwMode="auto">
              <a:xfrm>
                <a:off x="1246" y="1454"/>
                <a:ext cx="68" cy="254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7" name="Rectangle 135"/>
              <p:cNvSpPr>
                <a:spLocks noChangeArrowheads="1"/>
              </p:cNvSpPr>
              <p:nvPr/>
            </p:nvSpPr>
            <p:spPr bwMode="auto">
              <a:xfrm>
                <a:off x="1314" y="1454"/>
                <a:ext cx="68" cy="254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8" name="Rectangle 136"/>
              <p:cNvSpPr>
                <a:spLocks noChangeArrowheads="1"/>
              </p:cNvSpPr>
              <p:nvPr/>
            </p:nvSpPr>
            <p:spPr bwMode="auto">
              <a:xfrm>
                <a:off x="1382" y="1454"/>
                <a:ext cx="69" cy="254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49" name="Rectangle 137"/>
              <p:cNvSpPr>
                <a:spLocks noChangeArrowheads="1"/>
              </p:cNvSpPr>
              <p:nvPr/>
            </p:nvSpPr>
            <p:spPr bwMode="auto">
              <a:xfrm>
                <a:off x="1451" y="1454"/>
                <a:ext cx="68" cy="254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0" name="Rectangle 138"/>
              <p:cNvSpPr>
                <a:spLocks noChangeArrowheads="1"/>
              </p:cNvSpPr>
              <p:nvPr/>
            </p:nvSpPr>
            <p:spPr bwMode="auto">
              <a:xfrm>
                <a:off x="1519" y="1454"/>
                <a:ext cx="68" cy="254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1" name="Rectangle 139"/>
              <p:cNvSpPr>
                <a:spLocks noChangeArrowheads="1"/>
              </p:cNvSpPr>
              <p:nvPr/>
            </p:nvSpPr>
            <p:spPr bwMode="auto">
              <a:xfrm>
                <a:off x="1587" y="1454"/>
                <a:ext cx="68" cy="254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2" name="Rectangle 140"/>
              <p:cNvSpPr>
                <a:spLocks noChangeArrowheads="1"/>
              </p:cNvSpPr>
              <p:nvPr/>
            </p:nvSpPr>
            <p:spPr bwMode="auto">
              <a:xfrm>
                <a:off x="1655" y="1454"/>
                <a:ext cx="69" cy="254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3" name="Rectangle 141"/>
              <p:cNvSpPr>
                <a:spLocks noChangeArrowheads="1"/>
              </p:cNvSpPr>
              <p:nvPr/>
            </p:nvSpPr>
            <p:spPr bwMode="auto">
              <a:xfrm>
                <a:off x="1724" y="1454"/>
                <a:ext cx="68" cy="254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4" name="Rectangle 142"/>
              <p:cNvSpPr>
                <a:spLocks noChangeArrowheads="1"/>
              </p:cNvSpPr>
              <p:nvPr/>
            </p:nvSpPr>
            <p:spPr bwMode="auto">
              <a:xfrm>
                <a:off x="1792" y="1454"/>
                <a:ext cx="69" cy="254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5" name="Rectangle 143"/>
              <p:cNvSpPr>
                <a:spLocks noChangeArrowheads="1"/>
              </p:cNvSpPr>
              <p:nvPr/>
            </p:nvSpPr>
            <p:spPr bwMode="auto">
              <a:xfrm>
                <a:off x="1861" y="1454"/>
                <a:ext cx="68" cy="254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6" name="Rectangle 144"/>
              <p:cNvSpPr>
                <a:spLocks noChangeArrowheads="1"/>
              </p:cNvSpPr>
              <p:nvPr/>
            </p:nvSpPr>
            <p:spPr bwMode="auto">
              <a:xfrm>
                <a:off x="1929" y="1454"/>
                <a:ext cx="68" cy="254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7" name="Rectangle 145"/>
              <p:cNvSpPr>
                <a:spLocks noChangeArrowheads="1"/>
              </p:cNvSpPr>
              <p:nvPr/>
            </p:nvSpPr>
            <p:spPr bwMode="auto">
              <a:xfrm>
                <a:off x="1997" y="1454"/>
                <a:ext cx="68" cy="254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8" name="Rectangle 146"/>
              <p:cNvSpPr>
                <a:spLocks noChangeArrowheads="1"/>
              </p:cNvSpPr>
              <p:nvPr/>
            </p:nvSpPr>
            <p:spPr bwMode="auto">
              <a:xfrm>
                <a:off x="2065" y="1454"/>
                <a:ext cx="68" cy="254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59" name="Rectangle 147"/>
              <p:cNvSpPr>
                <a:spLocks noChangeArrowheads="1"/>
              </p:cNvSpPr>
              <p:nvPr/>
            </p:nvSpPr>
            <p:spPr bwMode="auto">
              <a:xfrm>
                <a:off x="2133" y="1454"/>
                <a:ext cx="68" cy="254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0" name="Rectangle 148"/>
              <p:cNvSpPr>
                <a:spLocks noChangeArrowheads="1"/>
              </p:cNvSpPr>
              <p:nvPr/>
            </p:nvSpPr>
            <p:spPr bwMode="auto">
              <a:xfrm>
                <a:off x="2201" y="1454"/>
                <a:ext cx="69" cy="254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1" name="Rectangle 149"/>
              <p:cNvSpPr>
                <a:spLocks noChangeArrowheads="1"/>
              </p:cNvSpPr>
              <p:nvPr/>
            </p:nvSpPr>
            <p:spPr bwMode="auto">
              <a:xfrm>
                <a:off x="2270" y="1454"/>
                <a:ext cx="69" cy="254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2" name="Rectangle 150"/>
              <p:cNvSpPr>
                <a:spLocks noChangeArrowheads="1"/>
              </p:cNvSpPr>
              <p:nvPr/>
            </p:nvSpPr>
            <p:spPr bwMode="auto">
              <a:xfrm>
                <a:off x="2339" y="1454"/>
                <a:ext cx="68" cy="254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3" name="Rectangle 151"/>
              <p:cNvSpPr>
                <a:spLocks noChangeArrowheads="1"/>
              </p:cNvSpPr>
              <p:nvPr/>
            </p:nvSpPr>
            <p:spPr bwMode="auto">
              <a:xfrm>
                <a:off x="1041" y="1454"/>
                <a:ext cx="1366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4" name="Rectangle 152"/>
              <p:cNvSpPr>
                <a:spLocks noChangeArrowheads="1"/>
              </p:cNvSpPr>
              <p:nvPr/>
            </p:nvSpPr>
            <p:spPr bwMode="auto">
              <a:xfrm>
                <a:off x="1041" y="1451"/>
                <a:ext cx="69" cy="2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5" name="Rectangle 153"/>
              <p:cNvSpPr>
                <a:spLocks noChangeArrowheads="1"/>
              </p:cNvSpPr>
              <p:nvPr/>
            </p:nvSpPr>
            <p:spPr bwMode="auto">
              <a:xfrm>
                <a:off x="1110" y="1451"/>
                <a:ext cx="68" cy="255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6" name="Rectangle 154"/>
              <p:cNvSpPr>
                <a:spLocks noChangeArrowheads="1"/>
              </p:cNvSpPr>
              <p:nvPr/>
            </p:nvSpPr>
            <p:spPr bwMode="auto">
              <a:xfrm>
                <a:off x="1178" y="1451"/>
                <a:ext cx="68" cy="255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7" name="Rectangle 155"/>
              <p:cNvSpPr>
                <a:spLocks noChangeArrowheads="1"/>
              </p:cNvSpPr>
              <p:nvPr/>
            </p:nvSpPr>
            <p:spPr bwMode="auto">
              <a:xfrm>
                <a:off x="1246" y="1451"/>
                <a:ext cx="68" cy="255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8" name="Rectangle 156"/>
              <p:cNvSpPr>
                <a:spLocks noChangeArrowheads="1"/>
              </p:cNvSpPr>
              <p:nvPr/>
            </p:nvSpPr>
            <p:spPr bwMode="auto">
              <a:xfrm>
                <a:off x="1314" y="1451"/>
                <a:ext cx="68" cy="255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69" name="Rectangle 157"/>
              <p:cNvSpPr>
                <a:spLocks noChangeArrowheads="1"/>
              </p:cNvSpPr>
              <p:nvPr/>
            </p:nvSpPr>
            <p:spPr bwMode="auto">
              <a:xfrm>
                <a:off x="1382" y="1451"/>
                <a:ext cx="69" cy="255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0" name="Rectangle 158"/>
              <p:cNvSpPr>
                <a:spLocks noChangeArrowheads="1"/>
              </p:cNvSpPr>
              <p:nvPr/>
            </p:nvSpPr>
            <p:spPr bwMode="auto">
              <a:xfrm>
                <a:off x="1451" y="1451"/>
                <a:ext cx="68" cy="255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1" name="Rectangle 159"/>
              <p:cNvSpPr>
                <a:spLocks noChangeArrowheads="1"/>
              </p:cNvSpPr>
              <p:nvPr/>
            </p:nvSpPr>
            <p:spPr bwMode="auto">
              <a:xfrm>
                <a:off x="1519" y="1451"/>
                <a:ext cx="68" cy="255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2" name="Rectangle 160"/>
              <p:cNvSpPr>
                <a:spLocks noChangeArrowheads="1"/>
              </p:cNvSpPr>
              <p:nvPr/>
            </p:nvSpPr>
            <p:spPr bwMode="auto">
              <a:xfrm>
                <a:off x="1587" y="1451"/>
                <a:ext cx="68" cy="255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3" name="Rectangle 161"/>
              <p:cNvSpPr>
                <a:spLocks noChangeArrowheads="1"/>
              </p:cNvSpPr>
              <p:nvPr/>
            </p:nvSpPr>
            <p:spPr bwMode="auto">
              <a:xfrm>
                <a:off x="1655" y="1451"/>
                <a:ext cx="69" cy="255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4" name="Rectangle 162"/>
              <p:cNvSpPr>
                <a:spLocks noChangeArrowheads="1"/>
              </p:cNvSpPr>
              <p:nvPr/>
            </p:nvSpPr>
            <p:spPr bwMode="auto">
              <a:xfrm>
                <a:off x="1724" y="1451"/>
                <a:ext cx="68" cy="255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5" name="Rectangle 163"/>
              <p:cNvSpPr>
                <a:spLocks noChangeArrowheads="1"/>
              </p:cNvSpPr>
              <p:nvPr/>
            </p:nvSpPr>
            <p:spPr bwMode="auto">
              <a:xfrm>
                <a:off x="1792" y="1451"/>
                <a:ext cx="69" cy="255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6" name="Rectangle 164"/>
              <p:cNvSpPr>
                <a:spLocks noChangeArrowheads="1"/>
              </p:cNvSpPr>
              <p:nvPr/>
            </p:nvSpPr>
            <p:spPr bwMode="auto">
              <a:xfrm>
                <a:off x="1861" y="1451"/>
                <a:ext cx="68" cy="255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7" name="Rectangle 165"/>
              <p:cNvSpPr>
                <a:spLocks noChangeArrowheads="1"/>
              </p:cNvSpPr>
              <p:nvPr/>
            </p:nvSpPr>
            <p:spPr bwMode="auto">
              <a:xfrm>
                <a:off x="1929" y="1451"/>
                <a:ext cx="68" cy="255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8" name="Rectangle 166"/>
              <p:cNvSpPr>
                <a:spLocks noChangeArrowheads="1"/>
              </p:cNvSpPr>
              <p:nvPr/>
            </p:nvSpPr>
            <p:spPr bwMode="auto">
              <a:xfrm>
                <a:off x="1997" y="1451"/>
                <a:ext cx="68" cy="255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79" name="Rectangle 167"/>
              <p:cNvSpPr>
                <a:spLocks noChangeArrowheads="1"/>
              </p:cNvSpPr>
              <p:nvPr/>
            </p:nvSpPr>
            <p:spPr bwMode="auto">
              <a:xfrm>
                <a:off x="2065" y="1451"/>
                <a:ext cx="68" cy="255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0" name="Rectangle 168"/>
              <p:cNvSpPr>
                <a:spLocks noChangeArrowheads="1"/>
              </p:cNvSpPr>
              <p:nvPr/>
            </p:nvSpPr>
            <p:spPr bwMode="auto">
              <a:xfrm>
                <a:off x="2133" y="1451"/>
                <a:ext cx="68" cy="255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1" name="Rectangle 169"/>
              <p:cNvSpPr>
                <a:spLocks noChangeArrowheads="1"/>
              </p:cNvSpPr>
              <p:nvPr/>
            </p:nvSpPr>
            <p:spPr bwMode="auto">
              <a:xfrm>
                <a:off x="2201" y="1451"/>
                <a:ext cx="69" cy="255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2" name="Rectangle 170"/>
              <p:cNvSpPr>
                <a:spLocks noChangeArrowheads="1"/>
              </p:cNvSpPr>
              <p:nvPr/>
            </p:nvSpPr>
            <p:spPr bwMode="auto">
              <a:xfrm>
                <a:off x="2270" y="1451"/>
                <a:ext cx="69" cy="255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3" name="Rectangle 171"/>
              <p:cNvSpPr>
                <a:spLocks noChangeArrowheads="1"/>
              </p:cNvSpPr>
              <p:nvPr/>
            </p:nvSpPr>
            <p:spPr bwMode="auto">
              <a:xfrm>
                <a:off x="2339" y="1451"/>
                <a:ext cx="68" cy="25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4" name="Rectangle 172"/>
              <p:cNvSpPr>
                <a:spLocks noChangeArrowheads="1"/>
              </p:cNvSpPr>
              <p:nvPr/>
            </p:nvSpPr>
            <p:spPr bwMode="auto">
              <a:xfrm>
                <a:off x="1041" y="1451"/>
                <a:ext cx="1366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5" name="Freeform 173"/>
              <p:cNvSpPr>
                <a:spLocks/>
              </p:cNvSpPr>
              <p:nvPr/>
            </p:nvSpPr>
            <p:spPr bwMode="auto">
              <a:xfrm>
                <a:off x="2392" y="1453"/>
                <a:ext cx="10" cy="7"/>
              </a:xfrm>
              <a:custGeom>
                <a:avLst/>
                <a:gdLst>
                  <a:gd name="T0" fmla="*/ 19 w 19"/>
                  <a:gd name="T1" fmla="*/ 12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2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6" name="Freeform 174"/>
              <p:cNvSpPr>
                <a:spLocks/>
              </p:cNvSpPr>
              <p:nvPr/>
            </p:nvSpPr>
            <p:spPr bwMode="auto">
              <a:xfrm>
                <a:off x="2374" y="1459"/>
                <a:ext cx="28" cy="16"/>
              </a:xfrm>
              <a:custGeom>
                <a:avLst/>
                <a:gdLst>
                  <a:gd name="T0" fmla="*/ 55 w 55"/>
                  <a:gd name="T1" fmla="*/ 0 h 31"/>
                  <a:gd name="T2" fmla="*/ 55 w 55"/>
                  <a:gd name="T3" fmla="*/ 24 h 31"/>
                  <a:gd name="T4" fmla="*/ 0 w 55"/>
                  <a:gd name="T5" fmla="*/ 31 h 31"/>
                  <a:gd name="T6" fmla="*/ 36 w 55"/>
                  <a:gd name="T7" fmla="*/ 2 h 31"/>
                  <a:gd name="T8" fmla="*/ 55 w 5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1">
                    <a:moveTo>
                      <a:pt x="55" y="0"/>
                    </a:moveTo>
                    <a:lnTo>
                      <a:pt x="55" y="24"/>
                    </a:lnTo>
                    <a:lnTo>
                      <a:pt x="0" y="31"/>
                    </a:lnTo>
                    <a:lnTo>
                      <a:pt x="36" y="2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7" name="Freeform 175"/>
              <p:cNvSpPr>
                <a:spLocks/>
              </p:cNvSpPr>
              <p:nvPr/>
            </p:nvSpPr>
            <p:spPr bwMode="auto">
              <a:xfrm>
                <a:off x="2353" y="1471"/>
                <a:ext cx="49" cy="19"/>
              </a:xfrm>
              <a:custGeom>
                <a:avLst/>
                <a:gdLst>
                  <a:gd name="T0" fmla="*/ 96 w 96"/>
                  <a:gd name="T1" fmla="*/ 0 h 38"/>
                  <a:gd name="T2" fmla="*/ 96 w 96"/>
                  <a:gd name="T3" fmla="*/ 26 h 38"/>
                  <a:gd name="T4" fmla="*/ 0 w 96"/>
                  <a:gd name="T5" fmla="*/ 38 h 38"/>
                  <a:gd name="T6" fmla="*/ 41 w 96"/>
                  <a:gd name="T7" fmla="*/ 7 h 38"/>
                  <a:gd name="T8" fmla="*/ 96 w 96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38">
                    <a:moveTo>
                      <a:pt x="96" y="0"/>
                    </a:moveTo>
                    <a:lnTo>
                      <a:pt x="96" y="26"/>
                    </a:lnTo>
                    <a:lnTo>
                      <a:pt x="0" y="38"/>
                    </a:lnTo>
                    <a:lnTo>
                      <a:pt x="41" y="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8" name="Freeform 176"/>
              <p:cNvSpPr>
                <a:spLocks/>
              </p:cNvSpPr>
              <p:nvPr/>
            </p:nvSpPr>
            <p:spPr bwMode="auto">
              <a:xfrm>
                <a:off x="2346" y="1484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24 h 40"/>
                  <a:gd name="T8" fmla="*/ 16 w 112"/>
                  <a:gd name="T9" fmla="*/ 12 h 40"/>
                  <a:gd name="T10" fmla="*/ 112 w 112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24"/>
                    </a:lnTo>
                    <a:lnTo>
                      <a:pt x="16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89" name="Freeform 177"/>
              <p:cNvSpPr>
                <a:spLocks/>
              </p:cNvSpPr>
              <p:nvPr/>
            </p:nvSpPr>
            <p:spPr bwMode="auto">
              <a:xfrm>
                <a:off x="2346" y="1497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0" name="Freeform 178"/>
              <p:cNvSpPr>
                <a:spLocks/>
              </p:cNvSpPr>
              <p:nvPr/>
            </p:nvSpPr>
            <p:spPr bwMode="auto">
              <a:xfrm>
                <a:off x="2346" y="1510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8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1" name="Freeform 179"/>
              <p:cNvSpPr>
                <a:spLocks/>
              </p:cNvSpPr>
              <p:nvPr/>
            </p:nvSpPr>
            <p:spPr bwMode="auto">
              <a:xfrm>
                <a:off x="2346" y="152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5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2" name="Freeform 180"/>
              <p:cNvSpPr>
                <a:spLocks/>
              </p:cNvSpPr>
              <p:nvPr/>
            </p:nvSpPr>
            <p:spPr bwMode="auto">
              <a:xfrm>
                <a:off x="2346" y="153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3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3" name="Freeform 181"/>
              <p:cNvSpPr>
                <a:spLocks/>
              </p:cNvSpPr>
              <p:nvPr/>
            </p:nvSpPr>
            <p:spPr bwMode="auto">
              <a:xfrm>
                <a:off x="2346" y="1550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4" name="Freeform 182"/>
              <p:cNvSpPr>
                <a:spLocks/>
              </p:cNvSpPr>
              <p:nvPr/>
            </p:nvSpPr>
            <p:spPr bwMode="auto">
              <a:xfrm>
                <a:off x="2346" y="1563"/>
                <a:ext cx="56" cy="19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2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5" name="Freeform 183"/>
              <p:cNvSpPr>
                <a:spLocks/>
              </p:cNvSpPr>
              <p:nvPr/>
            </p:nvSpPr>
            <p:spPr bwMode="auto">
              <a:xfrm>
                <a:off x="2346" y="1576"/>
                <a:ext cx="56" cy="19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6" name="Freeform 184"/>
              <p:cNvSpPr>
                <a:spLocks/>
              </p:cNvSpPr>
              <p:nvPr/>
            </p:nvSpPr>
            <p:spPr bwMode="auto">
              <a:xfrm>
                <a:off x="2346" y="1588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7" name="Freeform 185"/>
              <p:cNvSpPr>
                <a:spLocks/>
              </p:cNvSpPr>
              <p:nvPr/>
            </p:nvSpPr>
            <p:spPr bwMode="auto">
              <a:xfrm>
                <a:off x="2346" y="1601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8" name="Freeform 186"/>
              <p:cNvSpPr>
                <a:spLocks/>
              </p:cNvSpPr>
              <p:nvPr/>
            </p:nvSpPr>
            <p:spPr bwMode="auto">
              <a:xfrm>
                <a:off x="2346" y="1614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499" name="Freeform 187"/>
              <p:cNvSpPr>
                <a:spLocks/>
              </p:cNvSpPr>
              <p:nvPr/>
            </p:nvSpPr>
            <p:spPr bwMode="auto">
              <a:xfrm>
                <a:off x="2346" y="1627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5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0" name="Freeform 188"/>
              <p:cNvSpPr>
                <a:spLocks/>
              </p:cNvSpPr>
              <p:nvPr/>
            </p:nvSpPr>
            <p:spPr bwMode="auto">
              <a:xfrm>
                <a:off x="2346" y="1640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8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1" name="Freeform 189"/>
              <p:cNvSpPr>
                <a:spLocks/>
              </p:cNvSpPr>
              <p:nvPr/>
            </p:nvSpPr>
            <p:spPr bwMode="auto">
              <a:xfrm>
                <a:off x="2346" y="1654"/>
                <a:ext cx="56" cy="17"/>
              </a:xfrm>
              <a:custGeom>
                <a:avLst/>
                <a:gdLst>
                  <a:gd name="T0" fmla="*/ 112 w 112"/>
                  <a:gd name="T1" fmla="*/ 0 h 35"/>
                  <a:gd name="T2" fmla="*/ 112 w 112"/>
                  <a:gd name="T3" fmla="*/ 26 h 35"/>
                  <a:gd name="T4" fmla="*/ 26 w 112"/>
                  <a:gd name="T5" fmla="*/ 35 h 35"/>
                  <a:gd name="T6" fmla="*/ 0 w 112"/>
                  <a:gd name="T7" fmla="*/ 16 h 35"/>
                  <a:gd name="T8" fmla="*/ 0 w 112"/>
                  <a:gd name="T9" fmla="*/ 12 h 35"/>
                  <a:gd name="T10" fmla="*/ 112 w 112"/>
                  <a:gd name="T1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5">
                    <a:moveTo>
                      <a:pt x="112" y="0"/>
                    </a:moveTo>
                    <a:lnTo>
                      <a:pt x="112" y="26"/>
                    </a:lnTo>
                    <a:lnTo>
                      <a:pt x="26" y="35"/>
                    </a:lnTo>
                    <a:lnTo>
                      <a:pt x="0" y="16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2" name="Freeform 190"/>
              <p:cNvSpPr>
                <a:spLocks/>
              </p:cNvSpPr>
              <p:nvPr/>
            </p:nvSpPr>
            <p:spPr bwMode="auto">
              <a:xfrm>
                <a:off x="2359" y="1667"/>
                <a:ext cx="43" cy="16"/>
              </a:xfrm>
              <a:custGeom>
                <a:avLst/>
                <a:gdLst>
                  <a:gd name="T0" fmla="*/ 86 w 86"/>
                  <a:gd name="T1" fmla="*/ 0 h 33"/>
                  <a:gd name="T2" fmla="*/ 86 w 86"/>
                  <a:gd name="T3" fmla="*/ 26 h 33"/>
                  <a:gd name="T4" fmla="*/ 29 w 86"/>
                  <a:gd name="T5" fmla="*/ 33 h 33"/>
                  <a:gd name="T6" fmla="*/ 0 w 86"/>
                  <a:gd name="T7" fmla="*/ 9 h 33"/>
                  <a:gd name="T8" fmla="*/ 86 w 8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3">
                    <a:moveTo>
                      <a:pt x="86" y="0"/>
                    </a:moveTo>
                    <a:lnTo>
                      <a:pt x="86" y="26"/>
                    </a:lnTo>
                    <a:lnTo>
                      <a:pt x="29" y="33"/>
                    </a:lnTo>
                    <a:lnTo>
                      <a:pt x="0" y="9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3" name="Freeform 191"/>
              <p:cNvSpPr>
                <a:spLocks/>
              </p:cNvSpPr>
              <p:nvPr/>
            </p:nvSpPr>
            <p:spPr bwMode="auto">
              <a:xfrm>
                <a:off x="2373" y="1680"/>
                <a:ext cx="29" cy="15"/>
              </a:xfrm>
              <a:custGeom>
                <a:avLst/>
                <a:gdLst>
                  <a:gd name="T0" fmla="*/ 57 w 57"/>
                  <a:gd name="T1" fmla="*/ 0 h 29"/>
                  <a:gd name="T2" fmla="*/ 57 w 57"/>
                  <a:gd name="T3" fmla="*/ 26 h 29"/>
                  <a:gd name="T4" fmla="*/ 30 w 57"/>
                  <a:gd name="T5" fmla="*/ 29 h 29"/>
                  <a:gd name="T6" fmla="*/ 0 w 57"/>
                  <a:gd name="T7" fmla="*/ 7 h 29"/>
                  <a:gd name="T8" fmla="*/ 57 w 57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29">
                    <a:moveTo>
                      <a:pt x="57" y="0"/>
                    </a:moveTo>
                    <a:lnTo>
                      <a:pt x="57" y="26"/>
                    </a:lnTo>
                    <a:lnTo>
                      <a:pt x="30" y="29"/>
                    </a:lnTo>
                    <a:lnTo>
                      <a:pt x="0" y="7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4" name="Freeform 192"/>
              <p:cNvSpPr>
                <a:spLocks/>
              </p:cNvSpPr>
              <p:nvPr/>
            </p:nvSpPr>
            <p:spPr bwMode="auto">
              <a:xfrm>
                <a:off x="2388" y="1693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3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3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5" name="Freeform 193"/>
              <p:cNvSpPr>
                <a:spLocks/>
              </p:cNvSpPr>
              <p:nvPr/>
            </p:nvSpPr>
            <p:spPr bwMode="auto">
              <a:xfrm>
                <a:off x="2346" y="1453"/>
                <a:ext cx="56" cy="252"/>
              </a:xfrm>
              <a:custGeom>
                <a:avLst/>
                <a:gdLst>
                  <a:gd name="T0" fmla="*/ 0 w 112"/>
                  <a:gd name="T1" fmla="*/ 86 h 504"/>
                  <a:gd name="T2" fmla="*/ 112 w 112"/>
                  <a:gd name="T3" fmla="*/ 0 h 504"/>
                  <a:gd name="T4" fmla="*/ 112 w 112"/>
                  <a:gd name="T5" fmla="*/ 504 h 504"/>
                  <a:gd name="T6" fmla="*/ 0 w 112"/>
                  <a:gd name="T7" fmla="*/ 418 h 504"/>
                  <a:gd name="T8" fmla="*/ 0 w 112"/>
                  <a:gd name="T9" fmla="*/ 86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4">
                    <a:moveTo>
                      <a:pt x="0" y="86"/>
                    </a:moveTo>
                    <a:lnTo>
                      <a:pt x="112" y="0"/>
                    </a:lnTo>
                    <a:lnTo>
                      <a:pt x="112" y="504"/>
                    </a:lnTo>
                    <a:lnTo>
                      <a:pt x="0" y="418"/>
                    </a:lnTo>
                    <a:lnTo>
                      <a:pt x="0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6" name="Freeform 194"/>
              <p:cNvSpPr>
                <a:spLocks/>
              </p:cNvSpPr>
              <p:nvPr/>
            </p:nvSpPr>
            <p:spPr bwMode="auto">
              <a:xfrm>
                <a:off x="2340" y="1661"/>
                <a:ext cx="68" cy="43"/>
              </a:xfrm>
              <a:custGeom>
                <a:avLst/>
                <a:gdLst>
                  <a:gd name="T0" fmla="*/ 0 w 137"/>
                  <a:gd name="T1" fmla="*/ 86 h 86"/>
                  <a:gd name="T2" fmla="*/ 137 w 137"/>
                  <a:gd name="T3" fmla="*/ 86 h 86"/>
                  <a:gd name="T4" fmla="*/ 12 w 137"/>
                  <a:gd name="T5" fmla="*/ 0 h 86"/>
                  <a:gd name="T6" fmla="*/ 11 w 137"/>
                  <a:gd name="T7" fmla="*/ 0 h 86"/>
                  <a:gd name="T8" fmla="*/ 0 w 13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6">
                    <a:moveTo>
                      <a:pt x="0" y="86"/>
                    </a:moveTo>
                    <a:lnTo>
                      <a:pt x="137" y="86"/>
                    </a:lnTo>
                    <a:lnTo>
                      <a:pt x="12" y="0"/>
                    </a:lnTo>
                    <a:lnTo>
                      <a:pt x="11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7" name="Freeform 195"/>
              <p:cNvSpPr>
                <a:spLocks/>
              </p:cNvSpPr>
              <p:nvPr/>
            </p:nvSpPr>
            <p:spPr bwMode="auto">
              <a:xfrm>
                <a:off x="2271" y="1661"/>
                <a:ext cx="74" cy="43"/>
              </a:xfrm>
              <a:custGeom>
                <a:avLst/>
                <a:gdLst>
                  <a:gd name="T0" fmla="*/ 138 w 149"/>
                  <a:gd name="T1" fmla="*/ 86 h 86"/>
                  <a:gd name="T2" fmla="*/ 0 w 149"/>
                  <a:gd name="T3" fmla="*/ 86 h 86"/>
                  <a:gd name="T4" fmla="*/ 10 w 149"/>
                  <a:gd name="T5" fmla="*/ 0 h 86"/>
                  <a:gd name="T6" fmla="*/ 149 w 149"/>
                  <a:gd name="T7" fmla="*/ 0 h 86"/>
                  <a:gd name="T8" fmla="*/ 138 w 14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9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8" name="Freeform 196"/>
              <p:cNvSpPr>
                <a:spLocks/>
              </p:cNvSpPr>
              <p:nvPr/>
            </p:nvSpPr>
            <p:spPr bwMode="auto">
              <a:xfrm>
                <a:off x="2202" y="1661"/>
                <a:ext cx="74" cy="43"/>
              </a:xfrm>
              <a:custGeom>
                <a:avLst/>
                <a:gdLst>
                  <a:gd name="T0" fmla="*/ 136 w 146"/>
                  <a:gd name="T1" fmla="*/ 86 h 86"/>
                  <a:gd name="T2" fmla="*/ 0 w 146"/>
                  <a:gd name="T3" fmla="*/ 86 h 86"/>
                  <a:gd name="T4" fmla="*/ 10 w 146"/>
                  <a:gd name="T5" fmla="*/ 0 h 86"/>
                  <a:gd name="T6" fmla="*/ 146 w 146"/>
                  <a:gd name="T7" fmla="*/ 0 h 86"/>
                  <a:gd name="T8" fmla="*/ 136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09" name="Freeform 197"/>
              <p:cNvSpPr>
                <a:spLocks/>
              </p:cNvSpPr>
              <p:nvPr/>
            </p:nvSpPr>
            <p:spPr bwMode="auto">
              <a:xfrm>
                <a:off x="2133" y="1661"/>
                <a:ext cx="75" cy="43"/>
              </a:xfrm>
              <a:custGeom>
                <a:avLst/>
                <a:gdLst>
                  <a:gd name="T0" fmla="*/ 138 w 148"/>
                  <a:gd name="T1" fmla="*/ 86 h 86"/>
                  <a:gd name="T2" fmla="*/ 0 w 148"/>
                  <a:gd name="T3" fmla="*/ 86 h 86"/>
                  <a:gd name="T4" fmla="*/ 12 w 148"/>
                  <a:gd name="T5" fmla="*/ 0 h 86"/>
                  <a:gd name="T6" fmla="*/ 148 w 148"/>
                  <a:gd name="T7" fmla="*/ 0 h 86"/>
                  <a:gd name="T8" fmla="*/ 138 w 148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2" y="0"/>
                    </a:lnTo>
                    <a:lnTo>
                      <a:pt x="148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10" name="Freeform 198"/>
              <p:cNvSpPr>
                <a:spLocks/>
              </p:cNvSpPr>
              <p:nvPr/>
            </p:nvSpPr>
            <p:spPr bwMode="auto">
              <a:xfrm>
                <a:off x="2065" y="1661"/>
                <a:ext cx="74" cy="43"/>
              </a:xfrm>
              <a:custGeom>
                <a:avLst/>
                <a:gdLst>
                  <a:gd name="T0" fmla="*/ 137 w 149"/>
                  <a:gd name="T1" fmla="*/ 86 h 86"/>
                  <a:gd name="T2" fmla="*/ 0 w 149"/>
                  <a:gd name="T3" fmla="*/ 86 h 86"/>
                  <a:gd name="T4" fmla="*/ 11 w 149"/>
                  <a:gd name="T5" fmla="*/ 0 h 86"/>
                  <a:gd name="T6" fmla="*/ 149 w 149"/>
                  <a:gd name="T7" fmla="*/ 0 h 86"/>
                  <a:gd name="T8" fmla="*/ 137 w 14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9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11" name="Freeform 199"/>
              <p:cNvSpPr>
                <a:spLocks/>
              </p:cNvSpPr>
              <p:nvPr/>
            </p:nvSpPr>
            <p:spPr bwMode="auto">
              <a:xfrm>
                <a:off x="1996" y="1661"/>
                <a:ext cx="74" cy="43"/>
              </a:xfrm>
              <a:custGeom>
                <a:avLst/>
                <a:gdLst>
                  <a:gd name="T0" fmla="*/ 138 w 149"/>
                  <a:gd name="T1" fmla="*/ 86 h 86"/>
                  <a:gd name="T2" fmla="*/ 0 w 149"/>
                  <a:gd name="T3" fmla="*/ 86 h 86"/>
                  <a:gd name="T4" fmla="*/ 12 w 149"/>
                  <a:gd name="T5" fmla="*/ 0 h 86"/>
                  <a:gd name="T6" fmla="*/ 149 w 149"/>
                  <a:gd name="T7" fmla="*/ 0 h 86"/>
                  <a:gd name="T8" fmla="*/ 138 w 14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2" y="0"/>
                    </a:lnTo>
                    <a:lnTo>
                      <a:pt x="149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12" name="Freeform 200"/>
              <p:cNvSpPr>
                <a:spLocks/>
              </p:cNvSpPr>
              <p:nvPr/>
            </p:nvSpPr>
            <p:spPr bwMode="auto">
              <a:xfrm>
                <a:off x="1928" y="1661"/>
                <a:ext cx="74" cy="43"/>
              </a:xfrm>
              <a:custGeom>
                <a:avLst/>
                <a:gdLst>
                  <a:gd name="T0" fmla="*/ 136 w 148"/>
                  <a:gd name="T1" fmla="*/ 86 h 86"/>
                  <a:gd name="T2" fmla="*/ 0 w 148"/>
                  <a:gd name="T3" fmla="*/ 86 h 86"/>
                  <a:gd name="T4" fmla="*/ 10 w 148"/>
                  <a:gd name="T5" fmla="*/ 0 h 86"/>
                  <a:gd name="T6" fmla="*/ 148 w 148"/>
                  <a:gd name="T7" fmla="*/ 0 h 86"/>
                  <a:gd name="T8" fmla="*/ 136 w 148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13" name="Freeform 201"/>
              <p:cNvSpPr>
                <a:spLocks/>
              </p:cNvSpPr>
              <p:nvPr/>
            </p:nvSpPr>
            <p:spPr bwMode="auto">
              <a:xfrm>
                <a:off x="1859" y="1661"/>
                <a:ext cx="74" cy="43"/>
              </a:xfrm>
              <a:custGeom>
                <a:avLst/>
                <a:gdLst>
                  <a:gd name="T0" fmla="*/ 138 w 148"/>
                  <a:gd name="T1" fmla="*/ 86 h 86"/>
                  <a:gd name="T2" fmla="*/ 0 w 148"/>
                  <a:gd name="T3" fmla="*/ 86 h 86"/>
                  <a:gd name="T4" fmla="*/ 12 w 148"/>
                  <a:gd name="T5" fmla="*/ 0 h 86"/>
                  <a:gd name="T6" fmla="*/ 148 w 148"/>
                  <a:gd name="T7" fmla="*/ 0 h 86"/>
                  <a:gd name="T8" fmla="*/ 138 w 148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2" y="0"/>
                    </a:lnTo>
                    <a:lnTo>
                      <a:pt x="148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14" name="Freeform 202"/>
              <p:cNvSpPr>
                <a:spLocks/>
              </p:cNvSpPr>
              <p:nvPr/>
            </p:nvSpPr>
            <p:spPr bwMode="auto">
              <a:xfrm>
                <a:off x="1791" y="1661"/>
                <a:ext cx="74" cy="43"/>
              </a:xfrm>
              <a:custGeom>
                <a:avLst/>
                <a:gdLst>
                  <a:gd name="T0" fmla="*/ 137 w 149"/>
                  <a:gd name="T1" fmla="*/ 86 h 86"/>
                  <a:gd name="T2" fmla="*/ 0 w 149"/>
                  <a:gd name="T3" fmla="*/ 86 h 86"/>
                  <a:gd name="T4" fmla="*/ 11 w 149"/>
                  <a:gd name="T5" fmla="*/ 0 h 86"/>
                  <a:gd name="T6" fmla="*/ 149 w 149"/>
                  <a:gd name="T7" fmla="*/ 0 h 86"/>
                  <a:gd name="T8" fmla="*/ 137 w 14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9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15" name="Freeform 203"/>
              <p:cNvSpPr>
                <a:spLocks/>
              </p:cNvSpPr>
              <p:nvPr/>
            </p:nvSpPr>
            <p:spPr bwMode="auto">
              <a:xfrm>
                <a:off x="1722" y="1661"/>
                <a:ext cx="74" cy="43"/>
              </a:xfrm>
              <a:custGeom>
                <a:avLst/>
                <a:gdLst>
                  <a:gd name="T0" fmla="*/ 138 w 149"/>
                  <a:gd name="T1" fmla="*/ 86 h 86"/>
                  <a:gd name="T2" fmla="*/ 0 w 149"/>
                  <a:gd name="T3" fmla="*/ 86 h 86"/>
                  <a:gd name="T4" fmla="*/ 12 w 149"/>
                  <a:gd name="T5" fmla="*/ 0 h 86"/>
                  <a:gd name="T6" fmla="*/ 149 w 149"/>
                  <a:gd name="T7" fmla="*/ 0 h 86"/>
                  <a:gd name="T8" fmla="*/ 138 w 14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2" y="0"/>
                    </a:lnTo>
                    <a:lnTo>
                      <a:pt x="149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16" name="Freeform 204"/>
              <p:cNvSpPr>
                <a:spLocks/>
              </p:cNvSpPr>
              <p:nvPr/>
            </p:nvSpPr>
            <p:spPr bwMode="auto">
              <a:xfrm>
                <a:off x="1653" y="1661"/>
                <a:ext cx="75" cy="43"/>
              </a:xfrm>
              <a:custGeom>
                <a:avLst/>
                <a:gdLst>
                  <a:gd name="T0" fmla="*/ 136 w 148"/>
                  <a:gd name="T1" fmla="*/ 86 h 86"/>
                  <a:gd name="T2" fmla="*/ 0 w 148"/>
                  <a:gd name="T3" fmla="*/ 86 h 86"/>
                  <a:gd name="T4" fmla="*/ 10 w 148"/>
                  <a:gd name="T5" fmla="*/ 0 h 86"/>
                  <a:gd name="T6" fmla="*/ 148 w 148"/>
                  <a:gd name="T7" fmla="*/ 0 h 86"/>
                  <a:gd name="T8" fmla="*/ 136 w 148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1517" name="Group 205"/>
            <p:cNvGrpSpPr>
              <a:grpSpLocks/>
            </p:cNvGrpSpPr>
            <p:nvPr/>
          </p:nvGrpSpPr>
          <p:grpSpPr bwMode="auto">
            <a:xfrm>
              <a:off x="1040" y="1450"/>
              <a:ext cx="1368" cy="2036"/>
              <a:chOff x="1040" y="1450"/>
              <a:chExt cx="1368" cy="2036"/>
            </a:xfrm>
          </p:grpSpPr>
          <p:sp>
            <p:nvSpPr>
              <p:cNvPr id="141518" name="Freeform 206"/>
              <p:cNvSpPr>
                <a:spLocks/>
              </p:cNvSpPr>
              <p:nvPr/>
            </p:nvSpPr>
            <p:spPr bwMode="auto">
              <a:xfrm>
                <a:off x="1585" y="1661"/>
                <a:ext cx="74" cy="43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19" name="Freeform 207"/>
              <p:cNvSpPr>
                <a:spLocks/>
              </p:cNvSpPr>
              <p:nvPr/>
            </p:nvSpPr>
            <p:spPr bwMode="auto">
              <a:xfrm>
                <a:off x="1516" y="1661"/>
                <a:ext cx="74" cy="43"/>
              </a:xfrm>
              <a:custGeom>
                <a:avLst/>
                <a:gdLst>
                  <a:gd name="T0" fmla="*/ 138 w 149"/>
                  <a:gd name="T1" fmla="*/ 86 h 86"/>
                  <a:gd name="T2" fmla="*/ 0 w 149"/>
                  <a:gd name="T3" fmla="*/ 86 h 86"/>
                  <a:gd name="T4" fmla="*/ 11 w 149"/>
                  <a:gd name="T5" fmla="*/ 0 h 86"/>
                  <a:gd name="T6" fmla="*/ 149 w 149"/>
                  <a:gd name="T7" fmla="*/ 0 h 86"/>
                  <a:gd name="T8" fmla="*/ 138 w 14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9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0" name="Freeform 208"/>
              <p:cNvSpPr>
                <a:spLocks/>
              </p:cNvSpPr>
              <p:nvPr/>
            </p:nvSpPr>
            <p:spPr bwMode="auto">
              <a:xfrm>
                <a:off x="1448" y="1661"/>
                <a:ext cx="73" cy="43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1" name="Freeform 209"/>
              <p:cNvSpPr>
                <a:spLocks/>
              </p:cNvSpPr>
              <p:nvPr/>
            </p:nvSpPr>
            <p:spPr bwMode="auto">
              <a:xfrm>
                <a:off x="1379" y="1661"/>
                <a:ext cx="74" cy="43"/>
              </a:xfrm>
              <a:custGeom>
                <a:avLst/>
                <a:gdLst>
                  <a:gd name="T0" fmla="*/ 138 w 148"/>
                  <a:gd name="T1" fmla="*/ 86 h 86"/>
                  <a:gd name="T2" fmla="*/ 0 w 148"/>
                  <a:gd name="T3" fmla="*/ 86 h 86"/>
                  <a:gd name="T4" fmla="*/ 10 w 148"/>
                  <a:gd name="T5" fmla="*/ 0 h 86"/>
                  <a:gd name="T6" fmla="*/ 148 w 148"/>
                  <a:gd name="T7" fmla="*/ 0 h 86"/>
                  <a:gd name="T8" fmla="*/ 138 w 148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2" name="Freeform 210"/>
              <p:cNvSpPr>
                <a:spLocks/>
              </p:cNvSpPr>
              <p:nvPr/>
            </p:nvSpPr>
            <p:spPr bwMode="auto">
              <a:xfrm>
                <a:off x="1311" y="1661"/>
                <a:ext cx="73" cy="43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3" name="Freeform 211"/>
              <p:cNvSpPr>
                <a:spLocks/>
              </p:cNvSpPr>
              <p:nvPr/>
            </p:nvSpPr>
            <p:spPr bwMode="auto">
              <a:xfrm>
                <a:off x="1242" y="1661"/>
                <a:ext cx="74" cy="43"/>
              </a:xfrm>
              <a:custGeom>
                <a:avLst/>
                <a:gdLst>
                  <a:gd name="T0" fmla="*/ 138 w 149"/>
                  <a:gd name="T1" fmla="*/ 86 h 86"/>
                  <a:gd name="T2" fmla="*/ 0 w 149"/>
                  <a:gd name="T3" fmla="*/ 86 h 86"/>
                  <a:gd name="T4" fmla="*/ 11 w 149"/>
                  <a:gd name="T5" fmla="*/ 0 h 86"/>
                  <a:gd name="T6" fmla="*/ 149 w 149"/>
                  <a:gd name="T7" fmla="*/ 0 h 86"/>
                  <a:gd name="T8" fmla="*/ 138 w 14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9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4" name="Freeform 212"/>
              <p:cNvSpPr>
                <a:spLocks/>
              </p:cNvSpPr>
              <p:nvPr/>
            </p:nvSpPr>
            <p:spPr bwMode="auto">
              <a:xfrm>
                <a:off x="1173" y="1661"/>
                <a:ext cx="74" cy="43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5" name="Freeform 213"/>
              <p:cNvSpPr>
                <a:spLocks/>
              </p:cNvSpPr>
              <p:nvPr/>
            </p:nvSpPr>
            <p:spPr bwMode="auto">
              <a:xfrm>
                <a:off x="1104" y="1661"/>
                <a:ext cx="75" cy="43"/>
              </a:xfrm>
              <a:custGeom>
                <a:avLst/>
                <a:gdLst>
                  <a:gd name="T0" fmla="*/ 140 w 150"/>
                  <a:gd name="T1" fmla="*/ 86 h 86"/>
                  <a:gd name="T2" fmla="*/ 0 w 150"/>
                  <a:gd name="T3" fmla="*/ 86 h 86"/>
                  <a:gd name="T4" fmla="*/ 10 w 150"/>
                  <a:gd name="T5" fmla="*/ 0 h 86"/>
                  <a:gd name="T6" fmla="*/ 150 w 150"/>
                  <a:gd name="T7" fmla="*/ 0 h 86"/>
                  <a:gd name="T8" fmla="*/ 140 w 150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86">
                    <a:moveTo>
                      <a:pt x="140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40" y="86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6" name="Freeform 214"/>
              <p:cNvSpPr>
                <a:spLocks/>
              </p:cNvSpPr>
              <p:nvPr/>
            </p:nvSpPr>
            <p:spPr bwMode="auto">
              <a:xfrm>
                <a:off x="1041" y="1661"/>
                <a:ext cx="68" cy="43"/>
              </a:xfrm>
              <a:custGeom>
                <a:avLst/>
                <a:gdLst>
                  <a:gd name="T0" fmla="*/ 126 w 136"/>
                  <a:gd name="T1" fmla="*/ 86 h 86"/>
                  <a:gd name="T2" fmla="*/ 0 w 136"/>
                  <a:gd name="T3" fmla="*/ 86 h 86"/>
                  <a:gd name="T4" fmla="*/ 112 w 136"/>
                  <a:gd name="T5" fmla="*/ 0 h 86"/>
                  <a:gd name="T6" fmla="*/ 136 w 136"/>
                  <a:gd name="T7" fmla="*/ 0 h 86"/>
                  <a:gd name="T8" fmla="*/ 126 w 13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26" y="86"/>
                    </a:moveTo>
                    <a:lnTo>
                      <a:pt x="0" y="86"/>
                    </a:lnTo>
                    <a:lnTo>
                      <a:pt x="112" y="0"/>
                    </a:lnTo>
                    <a:lnTo>
                      <a:pt x="136" y="0"/>
                    </a:lnTo>
                    <a:lnTo>
                      <a:pt x="126" y="86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7" name="Freeform 215"/>
              <p:cNvSpPr>
                <a:spLocks/>
              </p:cNvSpPr>
              <p:nvPr/>
            </p:nvSpPr>
            <p:spPr bwMode="auto">
              <a:xfrm>
                <a:off x="1041" y="1661"/>
                <a:ext cx="1367" cy="43"/>
              </a:xfrm>
              <a:custGeom>
                <a:avLst/>
                <a:gdLst>
                  <a:gd name="T0" fmla="*/ 112 w 2735"/>
                  <a:gd name="T1" fmla="*/ 0 h 86"/>
                  <a:gd name="T2" fmla="*/ 0 w 2735"/>
                  <a:gd name="T3" fmla="*/ 86 h 86"/>
                  <a:gd name="T4" fmla="*/ 2735 w 2735"/>
                  <a:gd name="T5" fmla="*/ 86 h 86"/>
                  <a:gd name="T6" fmla="*/ 2610 w 2735"/>
                  <a:gd name="T7" fmla="*/ 0 h 86"/>
                  <a:gd name="T8" fmla="*/ 112 w 2735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6">
                    <a:moveTo>
                      <a:pt x="112" y="0"/>
                    </a:moveTo>
                    <a:lnTo>
                      <a:pt x="0" y="86"/>
                    </a:lnTo>
                    <a:lnTo>
                      <a:pt x="2735" y="86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8" name="Freeform 216"/>
              <p:cNvSpPr>
                <a:spLocks/>
              </p:cNvSpPr>
              <p:nvPr/>
            </p:nvSpPr>
            <p:spPr bwMode="auto">
              <a:xfrm>
                <a:off x="1041" y="1452"/>
                <a:ext cx="68" cy="44"/>
              </a:xfrm>
              <a:custGeom>
                <a:avLst/>
                <a:gdLst>
                  <a:gd name="T0" fmla="*/ 136 w 136"/>
                  <a:gd name="T1" fmla="*/ 0 h 88"/>
                  <a:gd name="T2" fmla="*/ 0 w 136"/>
                  <a:gd name="T3" fmla="*/ 0 h 88"/>
                  <a:gd name="T4" fmla="*/ 118 w 136"/>
                  <a:gd name="T5" fmla="*/ 88 h 88"/>
                  <a:gd name="T6" fmla="*/ 136 w 136"/>
                  <a:gd name="T7" fmla="*/ 88 h 88"/>
                  <a:gd name="T8" fmla="*/ 136 w 136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8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8"/>
                    </a:lnTo>
                    <a:lnTo>
                      <a:pt x="136" y="88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29" name="Rectangle 217"/>
              <p:cNvSpPr>
                <a:spLocks noChangeArrowheads="1"/>
              </p:cNvSpPr>
              <p:nvPr/>
            </p:nvSpPr>
            <p:spPr bwMode="auto">
              <a:xfrm>
                <a:off x="1109" y="1452"/>
                <a:ext cx="68" cy="4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0" name="Rectangle 218"/>
              <p:cNvSpPr>
                <a:spLocks noChangeArrowheads="1"/>
              </p:cNvSpPr>
              <p:nvPr/>
            </p:nvSpPr>
            <p:spPr bwMode="auto">
              <a:xfrm>
                <a:off x="1177" y="1452"/>
                <a:ext cx="68" cy="4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1" name="Rectangle 219"/>
              <p:cNvSpPr>
                <a:spLocks noChangeArrowheads="1"/>
              </p:cNvSpPr>
              <p:nvPr/>
            </p:nvSpPr>
            <p:spPr bwMode="auto">
              <a:xfrm>
                <a:off x="1245" y="1452"/>
                <a:ext cx="68" cy="4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2" name="Rectangle 220"/>
              <p:cNvSpPr>
                <a:spLocks noChangeArrowheads="1"/>
              </p:cNvSpPr>
              <p:nvPr/>
            </p:nvSpPr>
            <p:spPr bwMode="auto">
              <a:xfrm>
                <a:off x="1313" y="1452"/>
                <a:ext cx="69" cy="4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3" name="Rectangle 221"/>
              <p:cNvSpPr>
                <a:spLocks noChangeArrowheads="1"/>
              </p:cNvSpPr>
              <p:nvPr/>
            </p:nvSpPr>
            <p:spPr bwMode="auto">
              <a:xfrm>
                <a:off x="1382" y="1452"/>
                <a:ext cx="68" cy="4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4" name="Rectangle 222"/>
              <p:cNvSpPr>
                <a:spLocks noChangeArrowheads="1"/>
              </p:cNvSpPr>
              <p:nvPr/>
            </p:nvSpPr>
            <p:spPr bwMode="auto">
              <a:xfrm>
                <a:off x="1450" y="1452"/>
                <a:ext cx="68" cy="4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5" name="Rectangle 223"/>
              <p:cNvSpPr>
                <a:spLocks noChangeArrowheads="1"/>
              </p:cNvSpPr>
              <p:nvPr/>
            </p:nvSpPr>
            <p:spPr bwMode="auto">
              <a:xfrm>
                <a:off x="1518" y="1452"/>
                <a:ext cx="68" cy="4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6" name="Rectangle 224"/>
              <p:cNvSpPr>
                <a:spLocks noChangeArrowheads="1"/>
              </p:cNvSpPr>
              <p:nvPr/>
            </p:nvSpPr>
            <p:spPr bwMode="auto">
              <a:xfrm>
                <a:off x="1586" y="1452"/>
                <a:ext cx="68" cy="4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7" name="Rectangle 225"/>
              <p:cNvSpPr>
                <a:spLocks noChangeArrowheads="1"/>
              </p:cNvSpPr>
              <p:nvPr/>
            </p:nvSpPr>
            <p:spPr bwMode="auto">
              <a:xfrm>
                <a:off x="1654" y="1452"/>
                <a:ext cx="68" cy="4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8" name="Rectangle 226"/>
              <p:cNvSpPr>
                <a:spLocks noChangeArrowheads="1"/>
              </p:cNvSpPr>
              <p:nvPr/>
            </p:nvSpPr>
            <p:spPr bwMode="auto">
              <a:xfrm>
                <a:off x="1722" y="1452"/>
                <a:ext cx="69" cy="4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39" name="Rectangle 227"/>
              <p:cNvSpPr>
                <a:spLocks noChangeArrowheads="1"/>
              </p:cNvSpPr>
              <p:nvPr/>
            </p:nvSpPr>
            <p:spPr bwMode="auto">
              <a:xfrm>
                <a:off x="1791" y="1452"/>
                <a:ext cx="68" cy="4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0" name="Rectangle 228"/>
              <p:cNvSpPr>
                <a:spLocks noChangeArrowheads="1"/>
              </p:cNvSpPr>
              <p:nvPr/>
            </p:nvSpPr>
            <p:spPr bwMode="auto">
              <a:xfrm>
                <a:off x="1859" y="1452"/>
                <a:ext cx="68" cy="4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1" name="Rectangle 229"/>
              <p:cNvSpPr>
                <a:spLocks noChangeArrowheads="1"/>
              </p:cNvSpPr>
              <p:nvPr/>
            </p:nvSpPr>
            <p:spPr bwMode="auto">
              <a:xfrm>
                <a:off x="1927" y="1452"/>
                <a:ext cx="68" cy="4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2" name="Rectangle 230"/>
              <p:cNvSpPr>
                <a:spLocks noChangeArrowheads="1"/>
              </p:cNvSpPr>
              <p:nvPr/>
            </p:nvSpPr>
            <p:spPr bwMode="auto">
              <a:xfrm>
                <a:off x="1995" y="1452"/>
                <a:ext cx="68" cy="4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3" name="Rectangle 231"/>
              <p:cNvSpPr>
                <a:spLocks noChangeArrowheads="1"/>
              </p:cNvSpPr>
              <p:nvPr/>
            </p:nvSpPr>
            <p:spPr bwMode="auto">
              <a:xfrm>
                <a:off x="2063" y="1452"/>
                <a:ext cx="69" cy="4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4" name="Rectangle 232"/>
              <p:cNvSpPr>
                <a:spLocks noChangeArrowheads="1"/>
              </p:cNvSpPr>
              <p:nvPr/>
            </p:nvSpPr>
            <p:spPr bwMode="auto">
              <a:xfrm>
                <a:off x="2132" y="1452"/>
                <a:ext cx="68" cy="4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5" name="Rectangle 233"/>
              <p:cNvSpPr>
                <a:spLocks noChangeArrowheads="1"/>
              </p:cNvSpPr>
              <p:nvPr/>
            </p:nvSpPr>
            <p:spPr bwMode="auto">
              <a:xfrm>
                <a:off x="2200" y="1452"/>
                <a:ext cx="68" cy="4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6" name="Rectangle 234"/>
              <p:cNvSpPr>
                <a:spLocks noChangeArrowheads="1"/>
              </p:cNvSpPr>
              <p:nvPr/>
            </p:nvSpPr>
            <p:spPr bwMode="auto">
              <a:xfrm>
                <a:off x="2268" y="1452"/>
                <a:ext cx="69" cy="4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7" name="Freeform 235"/>
              <p:cNvSpPr>
                <a:spLocks/>
              </p:cNvSpPr>
              <p:nvPr/>
            </p:nvSpPr>
            <p:spPr bwMode="auto">
              <a:xfrm>
                <a:off x="2337" y="1452"/>
                <a:ext cx="68" cy="44"/>
              </a:xfrm>
              <a:custGeom>
                <a:avLst/>
                <a:gdLst>
                  <a:gd name="T0" fmla="*/ 0 w 136"/>
                  <a:gd name="T1" fmla="*/ 0 h 88"/>
                  <a:gd name="T2" fmla="*/ 136 w 136"/>
                  <a:gd name="T3" fmla="*/ 0 h 88"/>
                  <a:gd name="T4" fmla="*/ 24 w 136"/>
                  <a:gd name="T5" fmla="*/ 88 h 88"/>
                  <a:gd name="T6" fmla="*/ 0 w 136"/>
                  <a:gd name="T7" fmla="*/ 88 h 88"/>
                  <a:gd name="T8" fmla="*/ 0 w 136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8">
                    <a:moveTo>
                      <a:pt x="0" y="0"/>
                    </a:moveTo>
                    <a:lnTo>
                      <a:pt x="136" y="0"/>
                    </a:lnTo>
                    <a:lnTo>
                      <a:pt x="24" y="88"/>
                    </a:lnTo>
                    <a:lnTo>
                      <a:pt x="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8" name="Freeform 236"/>
              <p:cNvSpPr>
                <a:spLocks/>
              </p:cNvSpPr>
              <p:nvPr/>
            </p:nvSpPr>
            <p:spPr bwMode="auto">
              <a:xfrm>
                <a:off x="1041" y="1452"/>
                <a:ext cx="1364" cy="44"/>
              </a:xfrm>
              <a:custGeom>
                <a:avLst/>
                <a:gdLst>
                  <a:gd name="T0" fmla="*/ 118 w 2729"/>
                  <a:gd name="T1" fmla="*/ 88 h 88"/>
                  <a:gd name="T2" fmla="*/ 0 w 2729"/>
                  <a:gd name="T3" fmla="*/ 0 h 88"/>
                  <a:gd name="T4" fmla="*/ 2729 w 2729"/>
                  <a:gd name="T5" fmla="*/ 0 h 88"/>
                  <a:gd name="T6" fmla="*/ 2617 w 2729"/>
                  <a:gd name="T7" fmla="*/ 88 h 88"/>
                  <a:gd name="T8" fmla="*/ 118 w 272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8">
                    <a:moveTo>
                      <a:pt x="118" y="88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8"/>
                    </a:lnTo>
                    <a:lnTo>
                      <a:pt x="118" y="88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49" name="Freeform 237"/>
              <p:cNvSpPr>
                <a:spLocks/>
              </p:cNvSpPr>
              <p:nvPr/>
            </p:nvSpPr>
            <p:spPr bwMode="auto">
              <a:xfrm>
                <a:off x="1040" y="1450"/>
                <a:ext cx="16" cy="13"/>
              </a:xfrm>
              <a:custGeom>
                <a:avLst/>
                <a:gdLst>
                  <a:gd name="T0" fmla="*/ 33 w 33"/>
                  <a:gd name="T1" fmla="*/ 22 h 26"/>
                  <a:gd name="T2" fmla="*/ 0 w 33"/>
                  <a:gd name="T3" fmla="*/ 0 h 26"/>
                  <a:gd name="T4" fmla="*/ 0 w 33"/>
                  <a:gd name="T5" fmla="*/ 26 h 26"/>
                  <a:gd name="T6" fmla="*/ 33 w 33"/>
                  <a:gd name="T7" fmla="*/ 2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6">
                    <a:moveTo>
                      <a:pt x="33" y="22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3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0" name="Freeform 238"/>
              <p:cNvSpPr>
                <a:spLocks/>
              </p:cNvSpPr>
              <p:nvPr/>
            </p:nvSpPr>
            <p:spPr bwMode="auto">
              <a:xfrm>
                <a:off x="1040" y="1462"/>
                <a:ext cx="32" cy="14"/>
              </a:xfrm>
              <a:custGeom>
                <a:avLst/>
                <a:gdLst>
                  <a:gd name="T0" fmla="*/ 33 w 66"/>
                  <a:gd name="T1" fmla="*/ 0 h 30"/>
                  <a:gd name="T2" fmla="*/ 66 w 66"/>
                  <a:gd name="T3" fmla="*/ 24 h 30"/>
                  <a:gd name="T4" fmla="*/ 0 w 66"/>
                  <a:gd name="T5" fmla="*/ 30 h 30"/>
                  <a:gd name="T6" fmla="*/ 0 w 66"/>
                  <a:gd name="T7" fmla="*/ 4 h 30"/>
                  <a:gd name="T8" fmla="*/ 33 w 66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30">
                    <a:moveTo>
                      <a:pt x="33" y="0"/>
                    </a:moveTo>
                    <a:lnTo>
                      <a:pt x="66" y="24"/>
                    </a:lnTo>
                    <a:lnTo>
                      <a:pt x="0" y="30"/>
                    </a:lnTo>
                    <a:lnTo>
                      <a:pt x="0" y="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1" name="Freeform 239"/>
              <p:cNvSpPr>
                <a:spLocks/>
              </p:cNvSpPr>
              <p:nvPr/>
            </p:nvSpPr>
            <p:spPr bwMode="auto">
              <a:xfrm>
                <a:off x="1040" y="1474"/>
                <a:ext cx="49" cy="15"/>
              </a:xfrm>
              <a:custGeom>
                <a:avLst/>
                <a:gdLst>
                  <a:gd name="T0" fmla="*/ 66 w 99"/>
                  <a:gd name="T1" fmla="*/ 0 h 32"/>
                  <a:gd name="T2" fmla="*/ 99 w 99"/>
                  <a:gd name="T3" fmla="*/ 23 h 32"/>
                  <a:gd name="T4" fmla="*/ 0 w 99"/>
                  <a:gd name="T5" fmla="*/ 32 h 32"/>
                  <a:gd name="T6" fmla="*/ 0 w 99"/>
                  <a:gd name="T7" fmla="*/ 6 h 32"/>
                  <a:gd name="T8" fmla="*/ 66 w 99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9" h="32">
                    <a:moveTo>
                      <a:pt x="66" y="0"/>
                    </a:moveTo>
                    <a:lnTo>
                      <a:pt x="99" y="23"/>
                    </a:lnTo>
                    <a:lnTo>
                      <a:pt x="0" y="32"/>
                    </a:lnTo>
                    <a:lnTo>
                      <a:pt x="0" y="6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2" name="Freeform 240"/>
              <p:cNvSpPr>
                <a:spLocks/>
              </p:cNvSpPr>
              <p:nvPr/>
            </p:nvSpPr>
            <p:spPr bwMode="auto">
              <a:xfrm>
                <a:off x="1040" y="1485"/>
                <a:ext cx="61" cy="17"/>
              </a:xfrm>
              <a:custGeom>
                <a:avLst/>
                <a:gdLst>
                  <a:gd name="T0" fmla="*/ 99 w 123"/>
                  <a:gd name="T1" fmla="*/ 0 h 34"/>
                  <a:gd name="T2" fmla="*/ 123 w 123"/>
                  <a:gd name="T3" fmla="*/ 17 h 34"/>
                  <a:gd name="T4" fmla="*/ 123 w 123"/>
                  <a:gd name="T5" fmla="*/ 24 h 34"/>
                  <a:gd name="T6" fmla="*/ 0 w 123"/>
                  <a:gd name="T7" fmla="*/ 34 h 34"/>
                  <a:gd name="T8" fmla="*/ 0 w 123"/>
                  <a:gd name="T9" fmla="*/ 9 h 34"/>
                  <a:gd name="T10" fmla="*/ 99 w 123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4">
                    <a:moveTo>
                      <a:pt x="99" y="0"/>
                    </a:moveTo>
                    <a:lnTo>
                      <a:pt x="123" y="17"/>
                    </a:lnTo>
                    <a:lnTo>
                      <a:pt x="123" y="24"/>
                    </a:lnTo>
                    <a:lnTo>
                      <a:pt x="0" y="34"/>
                    </a:lnTo>
                    <a:lnTo>
                      <a:pt x="0" y="9"/>
                    </a:lnTo>
                    <a:lnTo>
                      <a:pt x="99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3" name="Freeform 241"/>
              <p:cNvSpPr>
                <a:spLocks/>
              </p:cNvSpPr>
              <p:nvPr/>
            </p:nvSpPr>
            <p:spPr bwMode="auto">
              <a:xfrm>
                <a:off x="1040" y="1497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0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4" name="Freeform 242"/>
              <p:cNvSpPr>
                <a:spLocks/>
              </p:cNvSpPr>
              <p:nvPr/>
            </p:nvSpPr>
            <p:spPr bwMode="auto">
              <a:xfrm>
                <a:off x="1040" y="1510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5" name="Freeform 243"/>
              <p:cNvSpPr>
                <a:spLocks/>
              </p:cNvSpPr>
              <p:nvPr/>
            </p:nvSpPr>
            <p:spPr bwMode="auto">
              <a:xfrm>
                <a:off x="1040" y="1523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6" name="Freeform 244"/>
              <p:cNvSpPr>
                <a:spLocks/>
              </p:cNvSpPr>
              <p:nvPr/>
            </p:nvSpPr>
            <p:spPr bwMode="auto">
              <a:xfrm>
                <a:off x="1040" y="1536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7" name="Freeform 245"/>
              <p:cNvSpPr>
                <a:spLocks/>
              </p:cNvSpPr>
              <p:nvPr/>
            </p:nvSpPr>
            <p:spPr bwMode="auto">
              <a:xfrm>
                <a:off x="1040" y="1549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5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8" name="Freeform 246"/>
              <p:cNvSpPr>
                <a:spLocks/>
              </p:cNvSpPr>
              <p:nvPr/>
            </p:nvSpPr>
            <p:spPr bwMode="auto">
              <a:xfrm>
                <a:off x="1040" y="1562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3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59" name="Freeform 247"/>
              <p:cNvSpPr>
                <a:spLocks/>
              </p:cNvSpPr>
              <p:nvPr/>
            </p:nvSpPr>
            <p:spPr bwMode="auto">
              <a:xfrm>
                <a:off x="1040" y="1575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8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0" name="Freeform 248"/>
              <p:cNvSpPr>
                <a:spLocks/>
              </p:cNvSpPr>
              <p:nvPr/>
            </p:nvSpPr>
            <p:spPr bwMode="auto">
              <a:xfrm>
                <a:off x="1040" y="1588"/>
                <a:ext cx="61" cy="19"/>
              </a:xfrm>
              <a:custGeom>
                <a:avLst/>
                <a:gdLst>
                  <a:gd name="T0" fmla="*/ 123 w 123"/>
                  <a:gd name="T1" fmla="*/ 0 h 36"/>
                  <a:gd name="T2" fmla="*/ 123 w 123"/>
                  <a:gd name="T3" fmla="*/ 26 h 36"/>
                  <a:gd name="T4" fmla="*/ 0 w 123"/>
                  <a:gd name="T5" fmla="*/ 36 h 36"/>
                  <a:gd name="T6" fmla="*/ 0 w 123"/>
                  <a:gd name="T7" fmla="*/ 10 h 36"/>
                  <a:gd name="T8" fmla="*/ 123 w 12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6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1" name="Freeform 249"/>
              <p:cNvSpPr>
                <a:spLocks/>
              </p:cNvSpPr>
              <p:nvPr/>
            </p:nvSpPr>
            <p:spPr bwMode="auto">
              <a:xfrm>
                <a:off x="1040" y="1601"/>
                <a:ext cx="61" cy="19"/>
              </a:xfrm>
              <a:custGeom>
                <a:avLst/>
                <a:gdLst>
                  <a:gd name="T0" fmla="*/ 123 w 123"/>
                  <a:gd name="T1" fmla="*/ 0 h 36"/>
                  <a:gd name="T2" fmla="*/ 123 w 123"/>
                  <a:gd name="T3" fmla="*/ 26 h 36"/>
                  <a:gd name="T4" fmla="*/ 0 w 123"/>
                  <a:gd name="T5" fmla="*/ 36 h 36"/>
                  <a:gd name="T6" fmla="*/ 0 w 123"/>
                  <a:gd name="T7" fmla="*/ 10 h 36"/>
                  <a:gd name="T8" fmla="*/ 123 w 12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6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2" name="Freeform 250"/>
              <p:cNvSpPr>
                <a:spLocks/>
              </p:cNvSpPr>
              <p:nvPr/>
            </p:nvSpPr>
            <p:spPr bwMode="auto">
              <a:xfrm>
                <a:off x="1040" y="1614"/>
                <a:ext cx="61" cy="18"/>
              </a:xfrm>
              <a:custGeom>
                <a:avLst/>
                <a:gdLst>
                  <a:gd name="T0" fmla="*/ 123 w 123"/>
                  <a:gd name="T1" fmla="*/ 0 h 36"/>
                  <a:gd name="T2" fmla="*/ 123 w 123"/>
                  <a:gd name="T3" fmla="*/ 26 h 36"/>
                  <a:gd name="T4" fmla="*/ 0 w 123"/>
                  <a:gd name="T5" fmla="*/ 36 h 36"/>
                  <a:gd name="T6" fmla="*/ 0 w 123"/>
                  <a:gd name="T7" fmla="*/ 10 h 36"/>
                  <a:gd name="T8" fmla="*/ 123 w 12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6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3" name="Freeform 251"/>
              <p:cNvSpPr>
                <a:spLocks/>
              </p:cNvSpPr>
              <p:nvPr/>
            </p:nvSpPr>
            <p:spPr bwMode="auto">
              <a:xfrm>
                <a:off x="1040" y="1627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5 h 38"/>
                  <a:gd name="T4" fmla="*/ 0 w 123"/>
                  <a:gd name="T5" fmla="*/ 38 h 38"/>
                  <a:gd name="T6" fmla="*/ 0 w 123"/>
                  <a:gd name="T7" fmla="*/ 10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4" name="Freeform 252"/>
              <p:cNvSpPr>
                <a:spLocks/>
              </p:cNvSpPr>
              <p:nvPr/>
            </p:nvSpPr>
            <p:spPr bwMode="auto">
              <a:xfrm>
                <a:off x="1040" y="1640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3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5" name="Freeform 253"/>
              <p:cNvSpPr>
                <a:spLocks/>
              </p:cNvSpPr>
              <p:nvPr/>
            </p:nvSpPr>
            <p:spPr bwMode="auto">
              <a:xfrm>
                <a:off x="1040" y="1653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18 h 38"/>
                  <a:gd name="T4" fmla="*/ 109 w 123"/>
                  <a:gd name="T5" fmla="*/ 28 h 38"/>
                  <a:gd name="T6" fmla="*/ 0 w 123"/>
                  <a:gd name="T7" fmla="*/ 38 h 38"/>
                  <a:gd name="T8" fmla="*/ 0 w 123"/>
                  <a:gd name="T9" fmla="*/ 12 h 38"/>
                  <a:gd name="T10" fmla="*/ 123 w 12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18"/>
                    </a:lnTo>
                    <a:lnTo>
                      <a:pt x="109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6" name="Freeform 254"/>
              <p:cNvSpPr>
                <a:spLocks/>
              </p:cNvSpPr>
              <p:nvPr/>
            </p:nvSpPr>
            <p:spPr bwMode="auto">
              <a:xfrm>
                <a:off x="1040" y="1667"/>
                <a:ext cx="54" cy="18"/>
              </a:xfrm>
              <a:custGeom>
                <a:avLst/>
                <a:gdLst>
                  <a:gd name="T0" fmla="*/ 109 w 109"/>
                  <a:gd name="T1" fmla="*/ 0 h 36"/>
                  <a:gd name="T2" fmla="*/ 66 w 109"/>
                  <a:gd name="T3" fmla="*/ 29 h 36"/>
                  <a:gd name="T4" fmla="*/ 0 w 109"/>
                  <a:gd name="T5" fmla="*/ 36 h 36"/>
                  <a:gd name="T6" fmla="*/ 0 w 109"/>
                  <a:gd name="T7" fmla="*/ 10 h 36"/>
                  <a:gd name="T8" fmla="*/ 109 w 10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36">
                    <a:moveTo>
                      <a:pt x="109" y="0"/>
                    </a:moveTo>
                    <a:lnTo>
                      <a:pt x="66" y="29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7" name="Freeform 255"/>
              <p:cNvSpPr>
                <a:spLocks/>
              </p:cNvSpPr>
              <p:nvPr/>
            </p:nvSpPr>
            <p:spPr bwMode="auto">
              <a:xfrm>
                <a:off x="1040" y="1682"/>
                <a:ext cx="32" cy="16"/>
              </a:xfrm>
              <a:custGeom>
                <a:avLst/>
                <a:gdLst>
                  <a:gd name="T0" fmla="*/ 66 w 66"/>
                  <a:gd name="T1" fmla="*/ 0 h 33"/>
                  <a:gd name="T2" fmla="*/ 23 w 66"/>
                  <a:gd name="T3" fmla="*/ 31 h 33"/>
                  <a:gd name="T4" fmla="*/ 0 w 66"/>
                  <a:gd name="T5" fmla="*/ 33 h 33"/>
                  <a:gd name="T6" fmla="*/ 0 w 66"/>
                  <a:gd name="T7" fmla="*/ 7 h 33"/>
                  <a:gd name="T8" fmla="*/ 66 w 6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33">
                    <a:moveTo>
                      <a:pt x="66" y="0"/>
                    </a:moveTo>
                    <a:lnTo>
                      <a:pt x="23" y="31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8" name="Freeform 256"/>
              <p:cNvSpPr>
                <a:spLocks/>
              </p:cNvSpPr>
              <p:nvPr/>
            </p:nvSpPr>
            <p:spPr bwMode="auto">
              <a:xfrm>
                <a:off x="1040" y="1697"/>
                <a:ext cx="11" cy="8"/>
              </a:xfrm>
              <a:custGeom>
                <a:avLst/>
                <a:gdLst>
                  <a:gd name="T0" fmla="*/ 23 w 23"/>
                  <a:gd name="T1" fmla="*/ 0 h 16"/>
                  <a:gd name="T2" fmla="*/ 0 w 23"/>
                  <a:gd name="T3" fmla="*/ 16 h 16"/>
                  <a:gd name="T4" fmla="*/ 0 w 23"/>
                  <a:gd name="T5" fmla="*/ 2 h 16"/>
                  <a:gd name="T6" fmla="*/ 23 w 23"/>
                  <a:gd name="T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16">
                    <a:moveTo>
                      <a:pt x="23" y="0"/>
                    </a:moveTo>
                    <a:lnTo>
                      <a:pt x="0" y="16"/>
                    </a:lnTo>
                    <a:lnTo>
                      <a:pt x="0" y="2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69" name="Freeform 257"/>
              <p:cNvSpPr>
                <a:spLocks/>
              </p:cNvSpPr>
              <p:nvPr/>
            </p:nvSpPr>
            <p:spPr bwMode="auto">
              <a:xfrm>
                <a:off x="1040" y="1450"/>
                <a:ext cx="61" cy="255"/>
              </a:xfrm>
              <a:custGeom>
                <a:avLst/>
                <a:gdLst>
                  <a:gd name="T0" fmla="*/ 123 w 123"/>
                  <a:gd name="T1" fmla="*/ 423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6 h 509"/>
                  <a:gd name="T8" fmla="*/ 123 w 123"/>
                  <a:gd name="T9" fmla="*/ 423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3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6"/>
                    </a:lnTo>
                    <a:lnTo>
                      <a:pt x="123" y="423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0" name="Rectangle 258"/>
              <p:cNvSpPr>
                <a:spLocks noChangeArrowheads="1"/>
              </p:cNvSpPr>
              <p:nvPr/>
            </p:nvSpPr>
            <p:spPr bwMode="auto">
              <a:xfrm>
                <a:off x="1041" y="2342"/>
                <a:ext cx="69" cy="255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1" name="Rectangle 259"/>
              <p:cNvSpPr>
                <a:spLocks noChangeArrowheads="1"/>
              </p:cNvSpPr>
              <p:nvPr/>
            </p:nvSpPr>
            <p:spPr bwMode="auto">
              <a:xfrm>
                <a:off x="1110" y="2342"/>
                <a:ext cx="68" cy="255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2" name="Rectangle 260"/>
              <p:cNvSpPr>
                <a:spLocks noChangeArrowheads="1"/>
              </p:cNvSpPr>
              <p:nvPr/>
            </p:nvSpPr>
            <p:spPr bwMode="auto">
              <a:xfrm>
                <a:off x="1178" y="2342"/>
                <a:ext cx="68" cy="255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3" name="Rectangle 261"/>
              <p:cNvSpPr>
                <a:spLocks noChangeArrowheads="1"/>
              </p:cNvSpPr>
              <p:nvPr/>
            </p:nvSpPr>
            <p:spPr bwMode="auto">
              <a:xfrm>
                <a:off x="1246" y="2342"/>
                <a:ext cx="68" cy="255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4" name="Rectangle 262"/>
              <p:cNvSpPr>
                <a:spLocks noChangeArrowheads="1"/>
              </p:cNvSpPr>
              <p:nvPr/>
            </p:nvSpPr>
            <p:spPr bwMode="auto">
              <a:xfrm>
                <a:off x="1314" y="2342"/>
                <a:ext cx="68" cy="255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5" name="Rectangle 263"/>
              <p:cNvSpPr>
                <a:spLocks noChangeArrowheads="1"/>
              </p:cNvSpPr>
              <p:nvPr/>
            </p:nvSpPr>
            <p:spPr bwMode="auto">
              <a:xfrm>
                <a:off x="1382" y="2342"/>
                <a:ext cx="69" cy="255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6" name="Rectangle 264"/>
              <p:cNvSpPr>
                <a:spLocks noChangeArrowheads="1"/>
              </p:cNvSpPr>
              <p:nvPr/>
            </p:nvSpPr>
            <p:spPr bwMode="auto">
              <a:xfrm>
                <a:off x="1451" y="2342"/>
                <a:ext cx="68" cy="255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7" name="Rectangle 265"/>
              <p:cNvSpPr>
                <a:spLocks noChangeArrowheads="1"/>
              </p:cNvSpPr>
              <p:nvPr/>
            </p:nvSpPr>
            <p:spPr bwMode="auto">
              <a:xfrm>
                <a:off x="1519" y="2342"/>
                <a:ext cx="68" cy="255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8" name="Rectangle 266"/>
              <p:cNvSpPr>
                <a:spLocks noChangeArrowheads="1"/>
              </p:cNvSpPr>
              <p:nvPr/>
            </p:nvSpPr>
            <p:spPr bwMode="auto">
              <a:xfrm>
                <a:off x="1587" y="2342"/>
                <a:ext cx="68" cy="255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79" name="Rectangle 267"/>
              <p:cNvSpPr>
                <a:spLocks noChangeArrowheads="1"/>
              </p:cNvSpPr>
              <p:nvPr/>
            </p:nvSpPr>
            <p:spPr bwMode="auto">
              <a:xfrm>
                <a:off x="1655" y="2342"/>
                <a:ext cx="69" cy="255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0" name="Rectangle 268"/>
              <p:cNvSpPr>
                <a:spLocks noChangeArrowheads="1"/>
              </p:cNvSpPr>
              <p:nvPr/>
            </p:nvSpPr>
            <p:spPr bwMode="auto">
              <a:xfrm>
                <a:off x="1724" y="2342"/>
                <a:ext cx="68" cy="255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1" name="Rectangle 269"/>
              <p:cNvSpPr>
                <a:spLocks noChangeArrowheads="1"/>
              </p:cNvSpPr>
              <p:nvPr/>
            </p:nvSpPr>
            <p:spPr bwMode="auto">
              <a:xfrm>
                <a:off x="1792" y="2342"/>
                <a:ext cx="69" cy="255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2" name="Rectangle 270"/>
              <p:cNvSpPr>
                <a:spLocks noChangeArrowheads="1"/>
              </p:cNvSpPr>
              <p:nvPr/>
            </p:nvSpPr>
            <p:spPr bwMode="auto">
              <a:xfrm>
                <a:off x="1861" y="2342"/>
                <a:ext cx="68" cy="255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3" name="Rectangle 271"/>
              <p:cNvSpPr>
                <a:spLocks noChangeArrowheads="1"/>
              </p:cNvSpPr>
              <p:nvPr/>
            </p:nvSpPr>
            <p:spPr bwMode="auto">
              <a:xfrm>
                <a:off x="1929" y="2342"/>
                <a:ext cx="68" cy="255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4" name="Rectangle 272"/>
              <p:cNvSpPr>
                <a:spLocks noChangeArrowheads="1"/>
              </p:cNvSpPr>
              <p:nvPr/>
            </p:nvSpPr>
            <p:spPr bwMode="auto">
              <a:xfrm>
                <a:off x="1997" y="2342"/>
                <a:ext cx="68" cy="255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5" name="Rectangle 273"/>
              <p:cNvSpPr>
                <a:spLocks noChangeArrowheads="1"/>
              </p:cNvSpPr>
              <p:nvPr/>
            </p:nvSpPr>
            <p:spPr bwMode="auto">
              <a:xfrm>
                <a:off x="2065" y="2342"/>
                <a:ext cx="68" cy="255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6" name="Rectangle 274"/>
              <p:cNvSpPr>
                <a:spLocks noChangeArrowheads="1"/>
              </p:cNvSpPr>
              <p:nvPr/>
            </p:nvSpPr>
            <p:spPr bwMode="auto">
              <a:xfrm>
                <a:off x="2133" y="2342"/>
                <a:ext cx="68" cy="255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7" name="Rectangle 275"/>
              <p:cNvSpPr>
                <a:spLocks noChangeArrowheads="1"/>
              </p:cNvSpPr>
              <p:nvPr/>
            </p:nvSpPr>
            <p:spPr bwMode="auto">
              <a:xfrm>
                <a:off x="2201" y="2342"/>
                <a:ext cx="69" cy="255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8" name="Rectangle 276"/>
              <p:cNvSpPr>
                <a:spLocks noChangeArrowheads="1"/>
              </p:cNvSpPr>
              <p:nvPr/>
            </p:nvSpPr>
            <p:spPr bwMode="auto">
              <a:xfrm>
                <a:off x="2270" y="2342"/>
                <a:ext cx="69" cy="255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89" name="Rectangle 277"/>
              <p:cNvSpPr>
                <a:spLocks noChangeArrowheads="1"/>
              </p:cNvSpPr>
              <p:nvPr/>
            </p:nvSpPr>
            <p:spPr bwMode="auto">
              <a:xfrm>
                <a:off x="2339" y="2342"/>
                <a:ext cx="68" cy="2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0" name="Rectangle 278"/>
              <p:cNvSpPr>
                <a:spLocks noChangeArrowheads="1"/>
              </p:cNvSpPr>
              <p:nvPr/>
            </p:nvSpPr>
            <p:spPr bwMode="auto">
              <a:xfrm>
                <a:off x="1041" y="2342"/>
                <a:ext cx="1366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1" name="Rectangle 279"/>
              <p:cNvSpPr>
                <a:spLocks noChangeArrowheads="1"/>
              </p:cNvSpPr>
              <p:nvPr/>
            </p:nvSpPr>
            <p:spPr bwMode="auto">
              <a:xfrm>
                <a:off x="1041" y="2339"/>
                <a:ext cx="69" cy="2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2" name="Rectangle 280"/>
              <p:cNvSpPr>
                <a:spLocks noChangeArrowheads="1"/>
              </p:cNvSpPr>
              <p:nvPr/>
            </p:nvSpPr>
            <p:spPr bwMode="auto">
              <a:xfrm>
                <a:off x="1110" y="2339"/>
                <a:ext cx="68" cy="255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3" name="Rectangle 281"/>
              <p:cNvSpPr>
                <a:spLocks noChangeArrowheads="1"/>
              </p:cNvSpPr>
              <p:nvPr/>
            </p:nvSpPr>
            <p:spPr bwMode="auto">
              <a:xfrm>
                <a:off x="1178" y="2339"/>
                <a:ext cx="68" cy="255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4" name="Rectangle 282"/>
              <p:cNvSpPr>
                <a:spLocks noChangeArrowheads="1"/>
              </p:cNvSpPr>
              <p:nvPr/>
            </p:nvSpPr>
            <p:spPr bwMode="auto">
              <a:xfrm>
                <a:off x="1246" y="2339"/>
                <a:ext cx="68" cy="255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5" name="Rectangle 283"/>
              <p:cNvSpPr>
                <a:spLocks noChangeArrowheads="1"/>
              </p:cNvSpPr>
              <p:nvPr/>
            </p:nvSpPr>
            <p:spPr bwMode="auto">
              <a:xfrm>
                <a:off x="1314" y="2339"/>
                <a:ext cx="68" cy="255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6" name="Rectangle 284"/>
              <p:cNvSpPr>
                <a:spLocks noChangeArrowheads="1"/>
              </p:cNvSpPr>
              <p:nvPr/>
            </p:nvSpPr>
            <p:spPr bwMode="auto">
              <a:xfrm>
                <a:off x="1382" y="2339"/>
                <a:ext cx="69" cy="255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7" name="Rectangle 285"/>
              <p:cNvSpPr>
                <a:spLocks noChangeArrowheads="1"/>
              </p:cNvSpPr>
              <p:nvPr/>
            </p:nvSpPr>
            <p:spPr bwMode="auto">
              <a:xfrm>
                <a:off x="1451" y="2339"/>
                <a:ext cx="68" cy="255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8" name="Rectangle 286"/>
              <p:cNvSpPr>
                <a:spLocks noChangeArrowheads="1"/>
              </p:cNvSpPr>
              <p:nvPr/>
            </p:nvSpPr>
            <p:spPr bwMode="auto">
              <a:xfrm>
                <a:off x="1519" y="2339"/>
                <a:ext cx="68" cy="255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99" name="Rectangle 287"/>
              <p:cNvSpPr>
                <a:spLocks noChangeArrowheads="1"/>
              </p:cNvSpPr>
              <p:nvPr/>
            </p:nvSpPr>
            <p:spPr bwMode="auto">
              <a:xfrm>
                <a:off x="1587" y="2339"/>
                <a:ext cx="68" cy="255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0" name="Rectangle 288"/>
              <p:cNvSpPr>
                <a:spLocks noChangeArrowheads="1"/>
              </p:cNvSpPr>
              <p:nvPr/>
            </p:nvSpPr>
            <p:spPr bwMode="auto">
              <a:xfrm>
                <a:off x="1655" y="2339"/>
                <a:ext cx="69" cy="255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1" name="Rectangle 289"/>
              <p:cNvSpPr>
                <a:spLocks noChangeArrowheads="1"/>
              </p:cNvSpPr>
              <p:nvPr/>
            </p:nvSpPr>
            <p:spPr bwMode="auto">
              <a:xfrm>
                <a:off x="1724" y="2339"/>
                <a:ext cx="68" cy="255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2" name="Rectangle 290"/>
              <p:cNvSpPr>
                <a:spLocks noChangeArrowheads="1"/>
              </p:cNvSpPr>
              <p:nvPr/>
            </p:nvSpPr>
            <p:spPr bwMode="auto">
              <a:xfrm>
                <a:off x="1792" y="2339"/>
                <a:ext cx="69" cy="255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3" name="Rectangle 291"/>
              <p:cNvSpPr>
                <a:spLocks noChangeArrowheads="1"/>
              </p:cNvSpPr>
              <p:nvPr/>
            </p:nvSpPr>
            <p:spPr bwMode="auto">
              <a:xfrm>
                <a:off x="1861" y="2339"/>
                <a:ext cx="68" cy="255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4" name="Rectangle 292"/>
              <p:cNvSpPr>
                <a:spLocks noChangeArrowheads="1"/>
              </p:cNvSpPr>
              <p:nvPr/>
            </p:nvSpPr>
            <p:spPr bwMode="auto">
              <a:xfrm>
                <a:off x="1929" y="2339"/>
                <a:ext cx="68" cy="255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5" name="Rectangle 293"/>
              <p:cNvSpPr>
                <a:spLocks noChangeArrowheads="1"/>
              </p:cNvSpPr>
              <p:nvPr/>
            </p:nvSpPr>
            <p:spPr bwMode="auto">
              <a:xfrm>
                <a:off x="1997" y="2339"/>
                <a:ext cx="68" cy="255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6" name="Rectangle 294"/>
              <p:cNvSpPr>
                <a:spLocks noChangeArrowheads="1"/>
              </p:cNvSpPr>
              <p:nvPr/>
            </p:nvSpPr>
            <p:spPr bwMode="auto">
              <a:xfrm>
                <a:off x="2065" y="2339"/>
                <a:ext cx="68" cy="255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7" name="Rectangle 295"/>
              <p:cNvSpPr>
                <a:spLocks noChangeArrowheads="1"/>
              </p:cNvSpPr>
              <p:nvPr/>
            </p:nvSpPr>
            <p:spPr bwMode="auto">
              <a:xfrm>
                <a:off x="2133" y="2339"/>
                <a:ext cx="68" cy="255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8" name="Rectangle 296"/>
              <p:cNvSpPr>
                <a:spLocks noChangeArrowheads="1"/>
              </p:cNvSpPr>
              <p:nvPr/>
            </p:nvSpPr>
            <p:spPr bwMode="auto">
              <a:xfrm>
                <a:off x="2201" y="2339"/>
                <a:ext cx="69" cy="255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09" name="Rectangle 297"/>
              <p:cNvSpPr>
                <a:spLocks noChangeArrowheads="1"/>
              </p:cNvSpPr>
              <p:nvPr/>
            </p:nvSpPr>
            <p:spPr bwMode="auto">
              <a:xfrm>
                <a:off x="2270" y="2339"/>
                <a:ext cx="69" cy="255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0" name="Rectangle 298"/>
              <p:cNvSpPr>
                <a:spLocks noChangeArrowheads="1"/>
              </p:cNvSpPr>
              <p:nvPr/>
            </p:nvSpPr>
            <p:spPr bwMode="auto">
              <a:xfrm>
                <a:off x="2339" y="2339"/>
                <a:ext cx="68" cy="25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1" name="Rectangle 299"/>
              <p:cNvSpPr>
                <a:spLocks noChangeArrowheads="1"/>
              </p:cNvSpPr>
              <p:nvPr/>
            </p:nvSpPr>
            <p:spPr bwMode="auto">
              <a:xfrm>
                <a:off x="1041" y="2339"/>
                <a:ext cx="1366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2" name="Freeform 300"/>
              <p:cNvSpPr>
                <a:spLocks/>
              </p:cNvSpPr>
              <p:nvPr/>
            </p:nvSpPr>
            <p:spPr bwMode="auto">
              <a:xfrm>
                <a:off x="2392" y="2342"/>
                <a:ext cx="10" cy="7"/>
              </a:xfrm>
              <a:custGeom>
                <a:avLst/>
                <a:gdLst>
                  <a:gd name="T0" fmla="*/ 19 w 19"/>
                  <a:gd name="T1" fmla="*/ 12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2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3" name="Freeform 301"/>
              <p:cNvSpPr>
                <a:spLocks/>
              </p:cNvSpPr>
              <p:nvPr/>
            </p:nvSpPr>
            <p:spPr bwMode="auto">
              <a:xfrm>
                <a:off x="2374" y="2348"/>
                <a:ext cx="28" cy="14"/>
              </a:xfrm>
              <a:custGeom>
                <a:avLst/>
                <a:gdLst>
                  <a:gd name="T0" fmla="*/ 55 w 55"/>
                  <a:gd name="T1" fmla="*/ 0 h 30"/>
                  <a:gd name="T2" fmla="*/ 55 w 55"/>
                  <a:gd name="T3" fmla="*/ 25 h 30"/>
                  <a:gd name="T4" fmla="*/ 0 w 55"/>
                  <a:gd name="T5" fmla="*/ 30 h 30"/>
                  <a:gd name="T6" fmla="*/ 36 w 55"/>
                  <a:gd name="T7" fmla="*/ 2 h 30"/>
                  <a:gd name="T8" fmla="*/ 55 w 55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0">
                    <a:moveTo>
                      <a:pt x="55" y="0"/>
                    </a:moveTo>
                    <a:lnTo>
                      <a:pt x="55" y="25"/>
                    </a:lnTo>
                    <a:lnTo>
                      <a:pt x="0" y="30"/>
                    </a:lnTo>
                    <a:lnTo>
                      <a:pt x="36" y="2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4" name="Freeform 302"/>
              <p:cNvSpPr>
                <a:spLocks/>
              </p:cNvSpPr>
              <p:nvPr/>
            </p:nvSpPr>
            <p:spPr bwMode="auto">
              <a:xfrm>
                <a:off x="2355" y="2360"/>
                <a:ext cx="47" cy="18"/>
              </a:xfrm>
              <a:custGeom>
                <a:avLst/>
                <a:gdLst>
                  <a:gd name="T0" fmla="*/ 93 w 93"/>
                  <a:gd name="T1" fmla="*/ 0 h 36"/>
                  <a:gd name="T2" fmla="*/ 93 w 93"/>
                  <a:gd name="T3" fmla="*/ 25 h 36"/>
                  <a:gd name="T4" fmla="*/ 0 w 93"/>
                  <a:gd name="T5" fmla="*/ 36 h 36"/>
                  <a:gd name="T6" fmla="*/ 38 w 93"/>
                  <a:gd name="T7" fmla="*/ 5 h 36"/>
                  <a:gd name="T8" fmla="*/ 93 w 9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6">
                    <a:moveTo>
                      <a:pt x="93" y="0"/>
                    </a:moveTo>
                    <a:lnTo>
                      <a:pt x="93" y="25"/>
                    </a:lnTo>
                    <a:lnTo>
                      <a:pt x="0" y="36"/>
                    </a:lnTo>
                    <a:lnTo>
                      <a:pt x="38" y="5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5" name="Freeform 303"/>
              <p:cNvSpPr>
                <a:spLocks/>
              </p:cNvSpPr>
              <p:nvPr/>
            </p:nvSpPr>
            <p:spPr bwMode="auto">
              <a:xfrm>
                <a:off x="2346" y="2373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25 h 38"/>
                  <a:gd name="T8" fmla="*/ 19 w 112"/>
                  <a:gd name="T9" fmla="*/ 11 h 38"/>
                  <a:gd name="T10" fmla="*/ 112 w 112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25"/>
                    </a:lnTo>
                    <a:lnTo>
                      <a:pt x="19" y="1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6" name="Freeform 304"/>
              <p:cNvSpPr>
                <a:spLocks/>
              </p:cNvSpPr>
              <p:nvPr/>
            </p:nvSpPr>
            <p:spPr bwMode="auto">
              <a:xfrm>
                <a:off x="2346" y="2386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7" name="Freeform 305"/>
              <p:cNvSpPr>
                <a:spLocks/>
              </p:cNvSpPr>
              <p:nvPr/>
            </p:nvSpPr>
            <p:spPr bwMode="auto">
              <a:xfrm>
                <a:off x="2346" y="2399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8" name="Freeform 306"/>
              <p:cNvSpPr>
                <a:spLocks/>
              </p:cNvSpPr>
              <p:nvPr/>
            </p:nvSpPr>
            <p:spPr bwMode="auto">
              <a:xfrm>
                <a:off x="2346" y="2412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19" name="Freeform 307"/>
              <p:cNvSpPr>
                <a:spLocks/>
              </p:cNvSpPr>
              <p:nvPr/>
            </p:nvSpPr>
            <p:spPr bwMode="auto">
              <a:xfrm>
                <a:off x="2346" y="242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0" name="Freeform 308"/>
              <p:cNvSpPr>
                <a:spLocks/>
              </p:cNvSpPr>
              <p:nvPr/>
            </p:nvSpPr>
            <p:spPr bwMode="auto">
              <a:xfrm>
                <a:off x="2346" y="243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1" name="Freeform 309"/>
              <p:cNvSpPr>
                <a:spLocks/>
              </p:cNvSpPr>
              <p:nvPr/>
            </p:nvSpPr>
            <p:spPr bwMode="auto">
              <a:xfrm>
                <a:off x="2346" y="2450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2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2" name="Freeform 310"/>
              <p:cNvSpPr>
                <a:spLocks/>
              </p:cNvSpPr>
              <p:nvPr/>
            </p:nvSpPr>
            <p:spPr bwMode="auto">
              <a:xfrm>
                <a:off x="2346" y="2463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7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3" name="Freeform 311"/>
              <p:cNvSpPr>
                <a:spLocks/>
              </p:cNvSpPr>
              <p:nvPr/>
            </p:nvSpPr>
            <p:spPr bwMode="auto">
              <a:xfrm>
                <a:off x="2346" y="247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4" name="Freeform 312"/>
              <p:cNvSpPr>
                <a:spLocks/>
              </p:cNvSpPr>
              <p:nvPr/>
            </p:nvSpPr>
            <p:spPr bwMode="auto">
              <a:xfrm>
                <a:off x="2346" y="2490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5" name="Freeform 313"/>
              <p:cNvSpPr>
                <a:spLocks/>
              </p:cNvSpPr>
              <p:nvPr/>
            </p:nvSpPr>
            <p:spPr bwMode="auto">
              <a:xfrm>
                <a:off x="2346" y="2503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6" name="Freeform 314"/>
              <p:cNvSpPr>
                <a:spLocks/>
              </p:cNvSpPr>
              <p:nvPr/>
            </p:nvSpPr>
            <p:spPr bwMode="auto">
              <a:xfrm>
                <a:off x="2346" y="2516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7" name="Freeform 315"/>
              <p:cNvSpPr>
                <a:spLocks/>
              </p:cNvSpPr>
              <p:nvPr/>
            </p:nvSpPr>
            <p:spPr bwMode="auto">
              <a:xfrm>
                <a:off x="2346" y="2529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8" name="Freeform 316"/>
              <p:cNvSpPr>
                <a:spLocks/>
              </p:cNvSpPr>
              <p:nvPr/>
            </p:nvSpPr>
            <p:spPr bwMode="auto">
              <a:xfrm>
                <a:off x="2346" y="2542"/>
                <a:ext cx="56" cy="17"/>
              </a:xfrm>
              <a:custGeom>
                <a:avLst/>
                <a:gdLst>
                  <a:gd name="T0" fmla="*/ 112 w 112"/>
                  <a:gd name="T1" fmla="*/ 0 h 34"/>
                  <a:gd name="T2" fmla="*/ 112 w 112"/>
                  <a:gd name="T3" fmla="*/ 26 h 34"/>
                  <a:gd name="T4" fmla="*/ 26 w 112"/>
                  <a:gd name="T5" fmla="*/ 34 h 34"/>
                  <a:gd name="T6" fmla="*/ 0 w 112"/>
                  <a:gd name="T7" fmla="*/ 15 h 34"/>
                  <a:gd name="T8" fmla="*/ 0 w 112"/>
                  <a:gd name="T9" fmla="*/ 12 h 34"/>
                  <a:gd name="T10" fmla="*/ 112 w 112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4">
                    <a:moveTo>
                      <a:pt x="112" y="0"/>
                    </a:moveTo>
                    <a:lnTo>
                      <a:pt x="112" y="26"/>
                    </a:lnTo>
                    <a:lnTo>
                      <a:pt x="26" y="34"/>
                    </a:lnTo>
                    <a:lnTo>
                      <a:pt x="0" y="15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29" name="Freeform 317"/>
              <p:cNvSpPr>
                <a:spLocks/>
              </p:cNvSpPr>
              <p:nvPr/>
            </p:nvSpPr>
            <p:spPr bwMode="auto">
              <a:xfrm>
                <a:off x="2359" y="2555"/>
                <a:ext cx="43" cy="16"/>
              </a:xfrm>
              <a:custGeom>
                <a:avLst/>
                <a:gdLst>
                  <a:gd name="T0" fmla="*/ 86 w 86"/>
                  <a:gd name="T1" fmla="*/ 0 h 32"/>
                  <a:gd name="T2" fmla="*/ 86 w 86"/>
                  <a:gd name="T3" fmla="*/ 25 h 32"/>
                  <a:gd name="T4" fmla="*/ 29 w 86"/>
                  <a:gd name="T5" fmla="*/ 32 h 32"/>
                  <a:gd name="T6" fmla="*/ 0 w 86"/>
                  <a:gd name="T7" fmla="*/ 8 h 32"/>
                  <a:gd name="T8" fmla="*/ 86 w 86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2">
                    <a:moveTo>
                      <a:pt x="86" y="0"/>
                    </a:moveTo>
                    <a:lnTo>
                      <a:pt x="86" y="25"/>
                    </a:lnTo>
                    <a:lnTo>
                      <a:pt x="29" y="32"/>
                    </a:lnTo>
                    <a:lnTo>
                      <a:pt x="0" y="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0" name="Freeform 318"/>
              <p:cNvSpPr>
                <a:spLocks/>
              </p:cNvSpPr>
              <p:nvPr/>
            </p:nvSpPr>
            <p:spPr bwMode="auto">
              <a:xfrm>
                <a:off x="2373" y="2568"/>
                <a:ext cx="29" cy="14"/>
              </a:xfrm>
              <a:custGeom>
                <a:avLst/>
                <a:gdLst>
                  <a:gd name="T0" fmla="*/ 57 w 57"/>
                  <a:gd name="T1" fmla="*/ 0 h 30"/>
                  <a:gd name="T2" fmla="*/ 57 w 57"/>
                  <a:gd name="T3" fmla="*/ 26 h 30"/>
                  <a:gd name="T4" fmla="*/ 30 w 57"/>
                  <a:gd name="T5" fmla="*/ 30 h 30"/>
                  <a:gd name="T6" fmla="*/ 0 w 57"/>
                  <a:gd name="T7" fmla="*/ 7 h 30"/>
                  <a:gd name="T8" fmla="*/ 57 w 57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30">
                    <a:moveTo>
                      <a:pt x="57" y="0"/>
                    </a:moveTo>
                    <a:lnTo>
                      <a:pt x="57" y="26"/>
                    </a:lnTo>
                    <a:lnTo>
                      <a:pt x="30" y="30"/>
                    </a:lnTo>
                    <a:lnTo>
                      <a:pt x="0" y="7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1" name="Freeform 319"/>
              <p:cNvSpPr>
                <a:spLocks/>
              </p:cNvSpPr>
              <p:nvPr/>
            </p:nvSpPr>
            <p:spPr bwMode="auto">
              <a:xfrm>
                <a:off x="2388" y="2581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4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2" name="Freeform 320"/>
              <p:cNvSpPr>
                <a:spLocks/>
              </p:cNvSpPr>
              <p:nvPr/>
            </p:nvSpPr>
            <p:spPr bwMode="auto">
              <a:xfrm>
                <a:off x="2346" y="2342"/>
                <a:ext cx="56" cy="251"/>
              </a:xfrm>
              <a:custGeom>
                <a:avLst/>
                <a:gdLst>
                  <a:gd name="T0" fmla="*/ 0 w 112"/>
                  <a:gd name="T1" fmla="*/ 87 h 502"/>
                  <a:gd name="T2" fmla="*/ 112 w 112"/>
                  <a:gd name="T3" fmla="*/ 0 h 502"/>
                  <a:gd name="T4" fmla="*/ 112 w 112"/>
                  <a:gd name="T5" fmla="*/ 502 h 502"/>
                  <a:gd name="T6" fmla="*/ 0 w 112"/>
                  <a:gd name="T7" fmla="*/ 416 h 502"/>
                  <a:gd name="T8" fmla="*/ 0 w 112"/>
                  <a:gd name="T9" fmla="*/ 87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2">
                    <a:moveTo>
                      <a:pt x="0" y="87"/>
                    </a:moveTo>
                    <a:lnTo>
                      <a:pt x="112" y="0"/>
                    </a:lnTo>
                    <a:lnTo>
                      <a:pt x="112" y="502"/>
                    </a:lnTo>
                    <a:lnTo>
                      <a:pt x="0" y="416"/>
                    </a:lnTo>
                    <a:lnTo>
                      <a:pt x="0" y="87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3" name="Freeform 321"/>
              <p:cNvSpPr>
                <a:spLocks/>
              </p:cNvSpPr>
              <p:nvPr/>
            </p:nvSpPr>
            <p:spPr bwMode="auto">
              <a:xfrm>
                <a:off x="2340" y="2549"/>
                <a:ext cx="68" cy="43"/>
              </a:xfrm>
              <a:custGeom>
                <a:avLst/>
                <a:gdLst>
                  <a:gd name="T0" fmla="*/ 0 w 137"/>
                  <a:gd name="T1" fmla="*/ 87 h 87"/>
                  <a:gd name="T2" fmla="*/ 137 w 137"/>
                  <a:gd name="T3" fmla="*/ 87 h 87"/>
                  <a:gd name="T4" fmla="*/ 12 w 137"/>
                  <a:gd name="T5" fmla="*/ 0 h 87"/>
                  <a:gd name="T6" fmla="*/ 9 w 137"/>
                  <a:gd name="T7" fmla="*/ 0 h 87"/>
                  <a:gd name="T8" fmla="*/ 0 w 13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7">
                    <a:moveTo>
                      <a:pt x="0" y="87"/>
                    </a:moveTo>
                    <a:lnTo>
                      <a:pt x="137" y="87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4" name="Freeform 322"/>
              <p:cNvSpPr>
                <a:spLocks/>
              </p:cNvSpPr>
              <p:nvPr/>
            </p:nvSpPr>
            <p:spPr bwMode="auto">
              <a:xfrm>
                <a:off x="2271" y="2549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5" name="Freeform 323"/>
              <p:cNvSpPr>
                <a:spLocks/>
              </p:cNvSpPr>
              <p:nvPr/>
            </p:nvSpPr>
            <p:spPr bwMode="auto">
              <a:xfrm>
                <a:off x="2202" y="2549"/>
                <a:ext cx="73" cy="43"/>
              </a:xfrm>
              <a:custGeom>
                <a:avLst/>
                <a:gdLst>
                  <a:gd name="T0" fmla="*/ 136 w 145"/>
                  <a:gd name="T1" fmla="*/ 87 h 87"/>
                  <a:gd name="T2" fmla="*/ 0 w 145"/>
                  <a:gd name="T3" fmla="*/ 87 h 87"/>
                  <a:gd name="T4" fmla="*/ 8 w 145"/>
                  <a:gd name="T5" fmla="*/ 0 h 87"/>
                  <a:gd name="T6" fmla="*/ 145 w 145"/>
                  <a:gd name="T7" fmla="*/ 0 h 87"/>
                  <a:gd name="T8" fmla="*/ 136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5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6" name="Freeform 324"/>
              <p:cNvSpPr>
                <a:spLocks/>
              </p:cNvSpPr>
              <p:nvPr/>
            </p:nvSpPr>
            <p:spPr bwMode="auto">
              <a:xfrm>
                <a:off x="2133" y="2549"/>
                <a:ext cx="74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7" name="Freeform 325"/>
              <p:cNvSpPr>
                <a:spLocks/>
              </p:cNvSpPr>
              <p:nvPr/>
            </p:nvSpPr>
            <p:spPr bwMode="auto">
              <a:xfrm>
                <a:off x="2065" y="2549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8" name="Freeform 326"/>
              <p:cNvSpPr>
                <a:spLocks/>
              </p:cNvSpPr>
              <p:nvPr/>
            </p:nvSpPr>
            <p:spPr bwMode="auto">
              <a:xfrm>
                <a:off x="1996" y="2549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39" name="Freeform 327"/>
              <p:cNvSpPr>
                <a:spLocks/>
              </p:cNvSpPr>
              <p:nvPr/>
            </p:nvSpPr>
            <p:spPr bwMode="auto">
              <a:xfrm>
                <a:off x="1928" y="2549"/>
                <a:ext cx="73" cy="43"/>
              </a:xfrm>
              <a:custGeom>
                <a:avLst/>
                <a:gdLst>
                  <a:gd name="T0" fmla="*/ 136 w 146"/>
                  <a:gd name="T1" fmla="*/ 87 h 87"/>
                  <a:gd name="T2" fmla="*/ 0 w 146"/>
                  <a:gd name="T3" fmla="*/ 87 h 87"/>
                  <a:gd name="T4" fmla="*/ 8 w 146"/>
                  <a:gd name="T5" fmla="*/ 0 h 87"/>
                  <a:gd name="T6" fmla="*/ 146 w 146"/>
                  <a:gd name="T7" fmla="*/ 0 h 87"/>
                  <a:gd name="T8" fmla="*/ 136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0" name="Freeform 328"/>
              <p:cNvSpPr>
                <a:spLocks/>
              </p:cNvSpPr>
              <p:nvPr/>
            </p:nvSpPr>
            <p:spPr bwMode="auto">
              <a:xfrm>
                <a:off x="1859" y="2549"/>
                <a:ext cx="73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1" name="Freeform 329"/>
              <p:cNvSpPr>
                <a:spLocks/>
              </p:cNvSpPr>
              <p:nvPr/>
            </p:nvSpPr>
            <p:spPr bwMode="auto">
              <a:xfrm>
                <a:off x="1791" y="2549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2" name="Freeform 330"/>
              <p:cNvSpPr>
                <a:spLocks/>
              </p:cNvSpPr>
              <p:nvPr/>
            </p:nvSpPr>
            <p:spPr bwMode="auto">
              <a:xfrm>
                <a:off x="1722" y="2549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1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3" name="Freeform 331"/>
              <p:cNvSpPr>
                <a:spLocks/>
              </p:cNvSpPr>
              <p:nvPr/>
            </p:nvSpPr>
            <p:spPr bwMode="auto">
              <a:xfrm>
                <a:off x="1653" y="2549"/>
                <a:ext cx="74" cy="43"/>
              </a:xfrm>
              <a:custGeom>
                <a:avLst/>
                <a:gdLst>
                  <a:gd name="T0" fmla="*/ 136 w 147"/>
                  <a:gd name="T1" fmla="*/ 87 h 87"/>
                  <a:gd name="T2" fmla="*/ 0 w 147"/>
                  <a:gd name="T3" fmla="*/ 87 h 87"/>
                  <a:gd name="T4" fmla="*/ 8 w 147"/>
                  <a:gd name="T5" fmla="*/ 0 h 87"/>
                  <a:gd name="T6" fmla="*/ 147 w 147"/>
                  <a:gd name="T7" fmla="*/ 0 h 87"/>
                  <a:gd name="T8" fmla="*/ 136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4" name="Freeform 332"/>
              <p:cNvSpPr>
                <a:spLocks/>
              </p:cNvSpPr>
              <p:nvPr/>
            </p:nvSpPr>
            <p:spPr bwMode="auto">
              <a:xfrm>
                <a:off x="1585" y="2549"/>
                <a:ext cx="73" cy="43"/>
              </a:xfrm>
              <a:custGeom>
                <a:avLst/>
                <a:gdLst>
                  <a:gd name="T0" fmla="*/ 137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7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5" name="Freeform 333"/>
              <p:cNvSpPr>
                <a:spLocks/>
              </p:cNvSpPr>
              <p:nvPr/>
            </p:nvSpPr>
            <p:spPr bwMode="auto">
              <a:xfrm>
                <a:off x="1516" y="2549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6" name="Freeform 334"/>
              <p:cNvSpPr>
                <a:spLocks/>
              </p:cNvSpPr>
              <p:nvPr/>
            </p:nvSpPr>
            <p:spPr bwMode="auto">
              <a:xfrm>
                <a:off x="1448" y="2549"/>
                <a:ext cx="72" cy="43"/>
              </a:xfrm>
              <a:custGeom>
                <a:avLst/>
                <a:gdLst>
                  <a:gd name="T0" fmla="*/ 136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6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7" name="Freeform 335"/>
              <p:cNvSpPr>
                <a:spLocks/>
              </p:cNvSpPr>
              <p:nvPr/>
            </p:nvSpPr>
            <p:spPr bwMode="auto">
              <a:xfrm>
                <a:off x="1379" y="2549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8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8" name="Freeform 336"/>
              <p:cNvSpPr>
                <a:spLocks/>
              </p:cNvSpPr>
              <p:nvPr/>
            </p:nvSpPr>
            <p:spPr bwMode="auto">
              <a:xfrm>
                <a:off x="1311" y="2549"/>
                <a:ext cx="72" cy="43"/>
              </a:xfrm>
              <a:custGeom>
                <a:avLst/>
                <a:gdLst>
                  <a:gd name="T0" fmla="*/ 137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7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49" name="Freeform 337"/>
              <p:cNvSpPr>
                <a:spLocks/>
              </p:cNvSpPr>
              <p:nvPr/>
            </p:nvSpPr>
            <p:spPr bwMode="auto">
              <a:xfrm>
                <a:off x="1242" y="2549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0" name="Freeform 338"/>
              <p:cNvSpPr>
                <a:spLocks/>
              </p:cNvSpPr>
              <p:nvPr/>
            </p:nvSpPr>
            <p:spPr bwMode="auto">
              <a:xfrm>
                <a:off x="1173" y="2549"/>
                <a:ext cx="73" cy="43"/>
              </a:xfrm>
              <a:custGeom>
                <a:avLst/>
                <a:gdLst>
                  <a:gd name="T0" fmla="*/ 136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6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1" name="Freeform 339"/>
              <p:cNvSpPr>
                <a:spLocks/>
              </p:cNvSpPr>
              <p:nvPr/>
            </p:nvSpPr>
            <p:spPr bwMode="auto">
              <a:xfrm>
                <a:off x="1104" y="2549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8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2" name="Freeform 340"/>
              <p:cNvSpPr>
                <a:spLocks/>
              </p:cNvSpPr>
              <p:nvPr/>
            </p:nvSpPr>
            <p:spPr bwMode="auto">
              <a:xfrm>
                <a:off x="1041" y="2549"/>
                <a:ext cx="68" cy="43"/>
              </a:xfrm>
              <a:custGeom>
                <a:avLst/>
                <a:gdLst>
                  <a:gd name="T0" fmla="*/ 128 w 136"/>
                  <a:gd name="T1" fmla="*/ 87 h 87"/>
                  <a:gd name="T2" fmla="*/ 0 w 136"/>
                  <a:gd name="T3" fmla="*/ 87 h 87"/>
                  <a:gd name="T4" fmla="*/ 112 w 136"/>
                  <a:gd name="T5" fmla="*/ 0 h 87"/>
                  <a:gd name="T6" fmla="*/ 136 w 136"/>
                  <a:gd name="T7" fmla="*/ 0 h 87"/>
                  <a:gd name="T8" fmla="*/ 128 w 13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7">
                    <a:moveTo>
                      <a:pt x="128" y="87"/>
                    </a:moveTo>
                    <a:lnTo>
                      <a:pt x="0" y="87"/>
                    </a:lnTo>
                    <a:lnTo>
                      <a:pt x="112" y="0"/>
                    </a:lnTo>
                    <a:lnTo>
                      <a:pt x="136" y="0"/>
                    </a:lnTo>
                    <a:lnTo>
                      <a:pt x="128" y="87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3" name="Freeform 341"/>
              <p:cNvSpPr>
                <a:spLocks/>
              </p:cNvSpPr>
              <p:nvPr/>
            </p:nvSpPr>
            <p:spPr bwMode="auto">
              <a:xfrm>
                <a:off x="1041" y="2549"/>
                <a:ext cx="1367" cy="43"/>
              </a:xfrm>
              <a:custGeom>
                <a:avLst/>
                <a:gdLst>
                  <a:gd name="T0" fmla="*/ 112 w 2735"/>
                  <a:gd name="T1" fmla="*/ 0 h 87"/>
                  <a:gd name="T2" fmla="*/ 0 w 2735"/>
                  <a:gd name="T3" fmla="*/ 87 h 87"/>
                  <a:gd name="T4" fmla="*/ 2735 w 2735"/>
                  <a:gd name="T5" fmla="*/ 87 h 87"/>
                  <a:gd name="T6" fmla="*/ 2610 w 2735"/>
                  <a:gd name="T7" fmla="*/ 0 h 87"/>
                  <a:gd name="T8" fmla="*/ 112 w 2735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7">
                    <a:moveTo>
                      <a:pt x="112" y="0"/>
                    </a:moveTo>
                    <a:lnTo>
                      <a:pt x="0" y="87"/>
                    </a:lnTo>
                    <a:lnTo>
                      <a:pt x="2735" y="87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4" name="Freeform 342"/>
              <p:cNvSpPr>
                <a:spLocks/>
              </p:cNvSpPr>
              <p:nvPr/>
            </p:nvSpPr>
            <p:spPr bwMode="auto">
              <a:xfrm>
                <a:off x="1041" y="2341"/>
                <a:ext cx="68" cy="43"/>
              </a:xfrm>
              <a:custGeom>
                <a:avLst/>
                <a:gdLst>
                  <a:gd name="T0" fmla="*/ 136 w 136"/>
                  <a:gd name="T1" fmla="*/ 0 h 86"/>
                  <a:gd name="T2" fmla="*/ 0 w 136"/>
                  <a:gd name="T3" fmla="*/ 0 h 86"/>
                  <a:gd name="T4" fmla="*/ 118 w 136"/>
                  <a:gd name="T5" fmla="*/ 86 h 86"/>
                  <a:gd name="T6" fmla="*/ 136 w 136"/>
                  <a:gd name="T7" fmla="*/ 86 h 86"/>
                  <a:gd name="T8" fmla="*/ 136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6"/>
                    </a:lnTo>
                    <a:lnTo>
                      <a:pt x="136" y="86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5" name="Rectangle 343"/>
              <p:cNvSpPr>
                <a:spLocks noChangeArrowheads="1"/>
              </p:cNvSpPr>
              <p:nvPr/>
            </p:nvSpPr>
            <p:spPr bwMode="auto">
              <a:xfrm>
                <a:off x="1109" y="2341"/>
                <a:ext cx="68" cy="43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6" name="Rectangle 344"/>
              <p:cNvSpPr>
                <a:spLocks noChangeArrowheads="1"/>
              </p:cNvSpPr>
              <p:nvPr/>
            </p:nvSpPr>
            <p:spPr bwMode="auto">
              <a:xfrm>
                <a:off x="1177" y="2341"/>
                <a:ext cx="68" cy="43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7" name="Rectangle 345"/>
              <p:cNvSpPr>
                <a:spLocks noChangeArrowheads="1"/>
              </p:cNvSpPr>
              <p:nvPr/>
            </p:nvSpPr>
            <p:spPr bwMode="auto">
              <a:xfrm>
                <a:off x="1245" y="2341"/>
                <a:ext cx="68" cy="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8" name="Rectangle 346"/>
              <p:cNvSpPr>
                <a:spLocks noChangeArrowheads="1"/>
              </p:cNvSpPr>
              <p:nvPr/>
            </p:nvSpPr>
            <p:spPr bwMode="auto">
              <a:xfrm>
                <a:off x="1313" y="2341"/>
                <a:ext cx="69" cy="43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59" name="Rectangle 347"/>
              <p:cNvSpPr>
                <a:spLocks noChangeArrowheads="1"/>
              </p:cNvSpPr>
              <p:nvPr/>
            </p:nvSpPr>
            <p:spPr bwMode="auto">
              <a:xfrm>
                <a:off x="1382" y="2341"/>
                <a:ext cx="68" cy="4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0" name="Rectangle 348"/>
              <p:cNvSpPr>
                <a:spLocks noChangeArrowheads="1"/>
              </p:cNvSpPr>
              <p:nvPr/>
            </p:nvSpPr>
            <p:spPr bwMode="auto">
              <a:xfrm>
                <a:off x="1450" y="2341"/>
                <a:ext cx="68" cy="43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1" name="Rectangle 349"/>
              <p:cNvSpPr>
                <a:spLocks noChangeArrowheads="1"/>
              </p:cNvSpPr>
              <p:nvPr/>
            </p:nvSpPr>
            <p:spPr bwMode="auto">
              <a:xfrm>
                <a:off x="1518" y="2341"/>
                <a:ext cx="68" cy="43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2" name="Rectangle 350"/>
              <p:cNvSpPr>
                <a:spLocks noChangeArrowheads="1"/>
              </p:cNvSpPr>
              <p:nvPr/>
            </p:nvSpPr>
            <p:spPr bwMode="auto">
              <a:xfrm>
                <a:off x="1586" y="2341"/>
                <a:ext cx="68" cy="43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3" name="Rectangle 351"/>
              <p:cNvSpPr>
                <a:spLocks noChangeArrowheads="1"/>
              </p:cNvSpPr>
              <p:nvPr/>
            </p:nvSpPr>
            <p:spPr bwMode="auto">
              <a:xfrm>
                <a:off x="1654" y="2341"/>
                <a:ext cx="68" cy="43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4" name="Rectangle 352"/>
              <p:cNvSpPr>
                <a:spLocks noChangeArrowheads="1"/>
              </p:cNvSpPr>
              <p:nvPr/>
            </p:nvSpPr>
            <p:spPr bwMode="auto">
              <a:xfrm>
                <a:off x="1722" y="2341"/>
                <a:ext cx="69" cy="43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5" name="Rectangle 353"/>
              <p:cNvSpPr>
                <a:spLocks noChangeArrowheads="1"/>
              </p:cNvSpPr>
              <p:nvPr/>
            </p:nvSpPr>
            <p:spPr bwMode="auto">
              <a:xfrm>
                <a:off x="1791" y="2341"/>
                <a:ext cx="68" cy="43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6" name="Rectangle 354"/>
              <p:cNvSpPr>
                <a:spLocks noChangeArrowheads="1"/>
              </p:cNvSpPr>
              <p:nvPr/>
            </p:nvSpPr>
            <p:spPr bwMode="auto">
              <a:xfrm>
                <a:off x="1859" y="2341"/>
                <a:ext cx="68" cy="43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7" name="Rectangle 355"/>
              <p:cNvSpPr>
                <a:spLocks noChangeArrowheads="1"/>
              </p:cNvSpPr>
              <p:nvPr/>
            </p:nvSpPr>
            <p:spPr bwMode="auto">
              <a:xfrm>
                <a:off x="1927" y="2341"/>
                <a:ext cx="68" cy="43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8" name="Rectangle 356"/>
              <p:cNvSpPr>
                <a:spLocks noChangeArrowheads="1"/>
              </p:cNvSpPr>
              <p:nvPr/>
            </p:nvSpPr>
            <p:spPr bwMode="auto">
              <a:xfrm>
                <a:off x="1995" y="2341"/>
                <a:ext cx="68" cy="43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69" name="Rectangle 357"/>
              <p:cNvSpPr>
                <a:spLocks noChangeArrowheads="1"/>
              </p:cNvSpPr>
              <p:nvPr/>
            </p:nvSpPr>
            <p:spPr bwMode="auto">
              <a:xfrm>
                <a:off x="2063" y="2341"/>
                <a:ext cx="69" cy="43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0" name="Rectangle 358"/>
              <p:cNvSpPr>
                <a:spLocks noChangeArrowheads="1"/>
              </p:cNvSpPr>
              <p:nvPr/>
            </p:nvSpPr>
            <p:spPr bwMode="auto">
              <a:xfrm>
                <a:off x="2132" y="2341"/>
                <a:ext cx="68" cy="43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1" name="Rectangle 359"/>
              <p:cNvSpPr>
                <a:spLocks noChangeArrowheads="1"/>
              </p:cNvSpPr>
              <p:nvPr/>
            </p:nvSpPr>
            <p:spPr bwMode="auto">
              <a:xfrm>
                <a:off x="2200" y="2341"/>
                <a:ext cx="68" cy="43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2" name="Rectangle 360"/>
              <p:cNvSpPr>
                <a:spLocks noChangeArrowheads="1"/>
              </p:cNvSpPr>
              <p:nvPr/>
            </p:nvSpPr>
            <p:spPr bwMode="auto">
              <a:xfrm>
                <a:off x="2268" y="2341"/>
                <a:ext cx="69" cy="43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3" name="Freeform 361"/>
              <p:cNvSpPr>
                <a:spLocks/>
              </p:cNvSpPr>
              <p:nvPr/>
            </p:nvSpPr>
            <p:spPr bwMode="auto">
              <a:xfrm>
                <a:off x="2337" y="2341"/>
                <a:ext cx="68" cy="43"/>
              </a:xfrm>
              <a:custGeom>
                <a:avLst/>
                <a:gdLst>
                  <a:gd name="T0" fmla="*/ 0 w 136"/>
                  <a:gd name="T1" fmla="*/ 0 h 86"/>
                  <a:gd name="T2" fmla="*/ 136 w 136"/>
                  <a:gd name="T3" fmla="*/ 0 h 86"/>
                  <a:gd name="T4" fmla="*/ 24 w 136"/>
                  <a:gd name="T5" fmla="*/ 86 h 86"/>
                  <a:gd name="T6" fmla="*/ 0 w 136"/>
                  <a:gd name="T7" fmla="*/ 86 h 86"/>
                  <a:gd name="T8" fmla="*/ 0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0" y="0"/>
                    </a:moveTo>
                    <a:lnTo>
                      <a:pt x="136" y="0"/>
                    </a:lnTo>
                    <a:lnTo>
                      <a:pt x="24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4" name="Freeform 362"/>
              <p:cNvSpPr>
                <a:spLocks/>
              </p:cNvSpPr>
              <p:nvPr/>
            </p:nvSpPr>
            <p:spPr bwMode="auto">
              <a:xfrm>
                <a:off x="1041" y="2341"/>
                <a:ext cx="1364" cy="43"/>
              </a:xfrm>
              <a:custGeom>
                <a:avLst/>
                <a:gdLst>
                  <a:gd name="T0" fmla="*/ 118 w 2729"/>
                  <a:gd name="T1" fmla="*/ 86 h 86"/>
                  <a:gd name="T2" fmla="*/ 0 w 2729"/>
                  <a:gd name="T3" fmla="*/ 0 h 86"/>
                  <a:gd name="T4" fmla="*/ 2729 w 2729"/>
                  <a:gd name="T5" fmla="*/ 0 h 86"/>
                  <a:gd name="T6" fmla="*/ 2617 w 2729"/>
                  <a:gd name="T7" fmla="*/ 86 h 86"/>
                  <a:gd name="T8" fmla="*/ 118 w 272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6">
                    <a:moveTo>
                      <a:pt x="118" y="86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6"/>
                    </a:lnTo>
                    <a:lnTo>
                      <a:pt x="118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5" name="Freeform 363"/>
              <p:cNvSpPr>
                <a:spLocks/>
              </p:cNvSpPr>
              <p:nvPr/>
            </p:nvSpPr>
            <p:spPr bwMode="auto">
              <a:xfrm>
                <a:off x="1040" y="2338"/>
                <a:ext cx="16" cy="13"/>
              </a:xfrm>
              <a:custGeom>
                <a:avLst/>
                <a:gdLst>
                  <a:gd name="T0" fmla="*/ 33 w 33"/>
                  <a:gd name="T1" fmla="*/ 23 h 26"/>
                  <a:gd name="T2" fmla="*/ 0 w 33"/>
                  <a:gd name="T3" fmla="*/ 0 h 26"/>
                  <a:gd name="T4" fmla="*/ 0 w 33"/>
                  <a:gd name="T5" fmla="*/ 26 h 26"/>
                  <a:gd name="T6" fmla="*/ 33 w 33"/>
                  <a:gd name="T7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6">
                    <a:moveTo>
                      <a:pt x="33" y="23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3" y="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6" name="Freeform 364"/>
              <p:cNvSpPr>
                <a:spLocks/>
              </p:cNvSpPr>
              <p:nvPr/>
            </p:nvSpPr>
            <p:spPr bwMode="auto">
              <a:xfrm>
                <a:off x="1040" y="2349"/>
                <a:ext cx="32" cy="15"/>
              </a:xfrm>
              <a:custGeom>
                <a:avLst/>
                <a:gdLst>
                  <a:gd name="T0" fmla="*/ 33 w 64"/>
                  <a:gd name="T1" fmla="*/ 0 h 29"/>
                  <a:gd name="T2" fmla="*/ 64 w 64"/>
                  <a:gd name="T3" fmla="*/ 22 h 29"/>
                  <a:gd name="T4" fmla="*/ 0 w 64"/>
                  <a:gd name="T5" fmla="*/ 29 h 29"/>
                  <a:gd name="T6" fmla="*/ 0 w 64"/>
                  <a:gd name="T7" fmla="*/ 3 h 29"/>
                  <a:gd name="T8" fmla="*/ 33 w 64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9">
                    <a:moveTo>
                      <a:pt x="33" y="0"/>
                    </a:moveTo>
                    <a:lnTo>
                      <a:pt x="64" y="22"/>
                    </a:lnTo>
                    <a:lnTo>
                      <a:pt x="0" y="29"/>
                    </a:lnTo>
                    <a:lnTo>
                      <a:pt x="0" y="3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7" name="Freeform 365"/>
              <p:cNvSpPr>
                <a:spLocks/>
              </p:cNvSpPr>
              <p:nvPr/>
            </p:nvSpPr>
            <p:spPr bwMode="auto">
              <a:xfrm>
                <a:off x="1040" y="2361"/>
                <a:ext cx="48" cy="16"/>
              </a:xfrm>
              <a:custGeom>
                <a:avLst/>
                <a:gdLst>
                  <a:gd name="T0" fmla="*/ 64 w 97"/>
                  <a:gd name="T1" fmla="*/ 0 h 33"/>
                  <a:gd name="T2" fmla="*/ 97 w 97"/>
                  <a:gd name="T3" fmla="*/ 23 h 33"/>
                  <a:gd name="T4" fmla="*/ 0 w 97"/>
                  <a:gd name="T5" fmla="*/ 33 h 33"/>
                  <a:gd name="T6" fmla="*/ 0 w 97"/>
                  <a:gd name="T7" fmla="*/ 7 h 33"/>
                  <a:gd name="T8" fmla="*/ 64 w 97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33">
                    <a:moveTo>
                      <a:pt x="64" y="0"/>
                    </a:moveTo>
                    <a:lnTo>
                      <a:pt x="97" y="23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8" name="Freeform 366"/>
              <p:cNvSpPr>
                <a:spLocks/>
              </p:cNvSpPr>
              <p:nvPr/>
            </p:nvSpPr>
            <p:spPr bwMode="auto">
              <a:xfrm>
                <a:off x="1040" y="2372"/>
                <a:ext cx="61" cy="18"/>
              </a:xfrm>
              <a:custGeom>
                <a:avLst/>
                <a:gdLst>
                  <a:gd name="T0" fmla="*/ 97 w 123"/>
                  <a:gd name="T1" fmla="*/ 0 h 36"/>
                  <a:gd name="T2" fmla="*/ 123 w 123"/>
                  <a:gd name="T3" fmla="*/ 19 h 36"/>
                  <a:gd name="T4" fmla="*/ 123 w 123"/>
                  <a:gd name="T5" fmla="*/ 24 h 36"/>
                  <a:gd name="T6" fmla="*/ 0 w 123"/>
                  <a:gd name="T7" fmla="*/ 36 h 36"/>
                  <a:gd name="T8" fmla="*/ 0 w 123"/>
                  <a:gd name="T9" fmla="*/ 10 h 36"/>
                  <a:gd name="T10" fmla="*/ 97 w 123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6">
                    <a:moveTo>
                      <a:pt x="97" y="0"/>
                    </a:moveTo>
                    <a:lnTo>
                      <a:pt x="123" y="19"/>
                    </a:lnTo>
                    <a:lnTo>
                      <a:pt x="123" y="24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79" name="Freeform 367"/>
              <p:cNvSpPr>
                <a:spLocks/>
              </p:cNvSpPr>
              <p:nvPr/>
            </p:nvSpPr>
            <p:spPr bwMode="auto">
              <a:xfrm>
                <a:off x="1040" y="2384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0" name="Freeform 368"/>
              <p:cNvSpPr>
                <a:spLocks/>
              </p:cNvSpPr>
              <p:nvPr/>
            </p:nvSpPr>
            <p:spPr bwMode="auto">
              <a:xfrm>
                <a:off x="1040" y="2397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1" name="Freeform 369"/>
              <p:cNvSpPr>
                <a:spLocks/>
              </p:cNvSpPr>
              <p:nvPr/>
            </p:nvSpPr>
            <p:spPr bwMode="auto">
              <a:xfrm>
                <a:off x="1040" y="2410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2" name="Freeform 370"/>
              <p:cNvSpPr>
                <a:spLocks/>
              </p:cNvSpPr>
              <p:nvPr/>
            </p:nvSpPr>
            <p:spPr bwMode="auto">
              <a:xfrm>
                <a:off x="1040" y="2423"/>
                <a:ext cx="61" cy="19"/>
              </a:xfrm>
              <a:custGeom>
                <a:avLst/>
                <a:gdLst>
                  <a:gd name="T0" fmla="*/ 123 w 123"/>
                  <a:gd name="T1" fmla="*/ 0 h 37"/>
                  <a:gd name="T2" fmla="*/ 123 w 123"/>
                  <a:gd name="T3" fmla="*/ 25 h 37"/>
                  <a:gd name="T4" fmla="*/ 0 w 123"/>
                  <a:gd name="T5" fmla="*/ 37 h 37"/>
                  <a:gd name="T6" fmla="*/ 0 w 123"/>
                  <a:gd name="T7" fmla="*/ 12 h 37"/>
                  <a:gd name="T8" fmla="*/ 123 w 12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7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7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3" name="Freeform 371"/>
              <p:cNvSpPr>
                <a:spLocks/>
              </p:cNvSpPr>
              <p:nvPr/>
            </p:nvSpPr>
            <p:spPr bwMode="auto">
              <a:xfrm>
                <a:off x="1040" y="2436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4" name="Freeform 372"/>
              <p:cNvSpPr>
                <a:spLocks/>
              </p:cNvSpPr>
              <p:nvPr/>
            </p:nvSpPr>
            <p:spPr bwMode="auto">
              <a:xfrm>
                <a:off x="1040" y="2449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2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5" name="Freeform 373"/>
              <p:cNvSpPr>
                <a:spLocks/>
              </p:cNvSpPr>
              <p:nvPr/>
            </p:nvSpPr>
            <p:spPr bwMode="auto">
              <a:xfrm>
                <a:off x="1040" y="2462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8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6" name="Freeform 374"/>
              <p:cNvSpPr>
                <a:spLocks/>
              </p:cNvSpPr>
              <p:nvPr/>
            </p:nvSpPr>
            <p:spPr bwMode="auto">
              <a:xfrm>
                <a:off x="1040" y="2475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7" name="Freeform 375"/>
              <p:cNvSpPr>
                <a:spLocks/>
              </p:cNvSpPr>
              <p:nvPr/>
            </p:nvSpPr>
            <p:spPr bwMode="auto">
              <a:xfrm>
                <a:off x="1040" y="2488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8" name="Freeform 376"/>
              <p:cNvSpPr>
                <a:spLocks/>
              </p:cNvSpPr>
              <p:nvPr/>
            </p:nvSpPr>
            <p:spPr bwMode="auto">
              <a:xfrm>
                <a:off x="1040" y="2501"/>
                <a:ext cx="61" cy="19"/>
              </a:xfrm>
              <a:custGeom>
                <a:avLst/>
                <a:gdLst>
                  <a:gd name="T0" fmla="*/ 123 w 123"/>
                  <a:gd name="T1" fmla="*/ 0 h 37"/>
                  <a:gd name="T2" fmla="*/ 123 w 123"/>
                  <a:gd name="T3" fmla="*/ 25 h 37"/>
                  <a:gd name="T4" fmla="*/ 0 w 123"/>
                  <a:gd name="T5" fmla="*/ 37 h 37"/>
                  <a:gd name="T6" fmla="*/ 0 w 123"/>
                  <a:gd name="T7" fmla="*/ 12 h 37"/>
                  <a:gd name="T8" fmla="*/ 123 w 123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7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7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89" name="Freeform 377"/>
              <p:cNvSpPr>
                <a:spLocks/>
              </p:cNvSpPr>
              <p:nvPr/>
            </p:nvSpPr>
            <p:spPr bwMode="auto">
              <a:xfrm>
                <a:off x="1040" y="2514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0" name="Freeform 378"/>
              <p:cNvSpPr>
                <a:spLocks/>
              </p:cNvSpPr>
              <p:nvPr/>
            </p:nvSpPr>
            <p:spPr bwMode="auto">
              <a:xfrm>
                <a:off x="1040" y="2527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1" name="Freeform 379"/>
              <p:cNvSpPr>
                <a:spLocks/>
              </p:cNvSpPr>
              <p:nvPr/>
            </p:nvSpPr>
            <p:spPr bwMode="auto">
              <a:xfrm>
                <a:off x="1040" y="2540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19 h 38"/>
                  <a:gd name="T4" fmla="*/ 111 w 123"/>
                  <a:gd name="T5" fmla="*/ 28 h 38"/>
                  <a:gd name="T6" fmla="*/ 0 w 123"/>
                  <a:gd name="T7" fmla="*/ 38 h 38"/>
                  <a:gd name="T8" fmla="*/ 0 w 123"/>
                  <a:gd name="T9" fmla="*/ 12 h 38"/>
                  <a:gd name="T10" fmla="*/ 123 w 12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19"/>
                    </a:lnTo>
                    <a:lnTo>
                      <a:pt x="111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2" name="Freeform 380"/>
              <p:cNvSpPr>
                <a:spLocks/>
              </p:cNvSpPr>
              <p:nvPr/>
            </p:nvSpPr>
            <p:spPr bwMode="auto">
              <a:xfrm>
                <a:off x="1040" y="2554"/>
                <a:ext cx="55" cy="18"/>
              </a:xfrm>
              <a:custGeom>
                <a:avLst/>
                <a:gdLst>
                  <a:gd name="T0" fmla="*/ 111 w 111"/>
                  <a:gd name="T1" fmla="*/ 0 h 36"/>
                  <a:gd name="T2" fmla="*/ 69 w 111"/>
                  <a:gd name="T3" fmla="*/ 29 h 36"/>
                  <a:gd name="T4" fmla="*/ 0 w 111"/>
                  <a:gd name="T5" fmla="*/ 36 h 36"/>
                  <a:gd name="T6" fmla="*/ 0 w 111"/>
                  <a:gd name="T7" fmla="*/ 10 h 36"/>
                  <a:gd name="T8" fmla="*/ 111 w 11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36">
                    <a:moveTo>
                      <a:pt x="111" y="0"/>
                    </a:moveTo>
                    <a:lnTo>
                      <a:pt x="69" y="29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3" name="Freeform 381"/>
              <p:cNvSpPr>
                <a:spLocks/>
              </p:cNvSpPr>
              <p:nvPr/>
            </p:nvSpPr>
            <p:spPr bwMode="auto">
              <a:xfrm>
                <a:off x="1040" y="2569"/>
                <a:ext cx="34" cy="17"/>
              </a:xfrm>
              <a:custGeom>
                <a:avLst/>
                <a:gdLst>
                  <a:gd name="T0" fmla="*/ 69 w 69"/>
                  <a:gd name="T1" fmla="*/ 0 h 35"/>
                  <a:gd name="T2" fmla="*/ 23 w 69"/>
                  <a:gd name="T3" fmla="*/ 33 h 35"/>
                  <a:gd name="T4" fmla="*/ 0 w 69"/>
                  <a:gd name="T5" fmla="*/ 35 h 35"/>
                  <a:gd name="T6" fmla="*/ 0 w 69"/>
                  <a:gd name="T7" fmla="*/ 7 h 35"/>
                  <a:gd name="T8" fmla="*/ 69 w 69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9" h="35">
                    <a:moveTo>
                      <a:pt x="69" y="0"/>
                    </a:moveTo>
                    <a:lnTo>
                      <a:pt x="23" y="33"/>
                    </a:lnTo>
                    <a:lnTo>
                      <a:pt x="0" y="35"/>
                    </a:lnTo>
                    <a:lnTo>
                      <a:pt x="0" y="7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4" name="Freeform 382"/>
              <p:cNvSpPr>
                <a:spLocks/>
              </p:cNvSpPr>
              <p:nvPr/>
            </p:nvSpPr>
            <p:spPr bwMode="auto">
              <a:xfrm>
                <a:off x="1040" y="2585"/>
                <a:ext cx="11" cy="8"/>
              </a:xfrm>
              <a:custGeom>
                <a:avLst/>
                <a:gdLst>
                  <a:gd name="T0" fmla="*/ 23 w 23"/>
                  <a:gd name="T1" fmla="*/ 0 h 15"/>
                  <a:gd name="T2" fmla="*/ 0 w 23"/>
                  <a:gd name="T3" fmla="*/ 15 h 15"/>
                  <a:gd name="T4" fmla="*/ 0 w 23"/>
                  <a:gd name="T5" fmla="*/ 2 h 15"/>
                  <a:gd name="T6" fmla="*/ 23 w 2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15">
                    <a:moveTo>
                      <a:pt x="23" y="0"/>
                    </a:moveTo>
                    <a:lnTo>
                      <a:pt x="0" y="15"/>
                    </a:lnTo>
                    <a:lnTo>
                      <a:pt x="0" y="2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5" name="Freeform 383"/>
              <p:cNvSpPr>
                <a:spLocks/>
              </p:cNvSpPr>
              <p:nvPr/>
            </p:nvSpPr>
            <p:spPr bwMode="auto">
              <a:xfrm>
                <a:off x="1040" y="2338"/>
                <a:ext cx="61" cy="255"/>
              </a:xfrm>
              <a:custGeom>
                <a:avLst/>
                <a:gdLst>
                  <a:gd name="T0" fmla="*/ 123 w 123"/>
                  <a:gd name="T1" fmla="*/ 423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7 h 509"/>
                  <a:gd name="T8" fmla="*/ 123 w 123"/>
                  <a:gd name="T9" fmla="*/ 423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3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7"/>
                    </a:lnTo>
                    <a:lnTo>
                      <a:pt x="123" y="423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6" name="Rectangle 384"/>
              <p:cNvSpPr>
                <a:spLocks noChangeArrowheads="1"/>
              </p:cNvSpPr>
              <p:nvPr/>
            </p:nvSpPr>
            <p:spPr bwMode="auto">
              <a:xfrm>
                <a:off x="1041" y="3231"/>
                <a:ext cx="69" cy="255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7" name="Rectangle 385"/>
              <p:cNvSpPr>
                <a:spLocks noChangeArrowheads="1"/>
              </p:cNvSpPr>
              <p:nvPr/>
            </p:nvSpPr>
            <p:spPr bwMode="auto">
              <a:xfrm>
                <a:off x="1110" y="3231"/>
                <a:ext cx="68" cy="255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8" name="Rectangle 386"/>
              <p:cNvSpPr>
                <a:spLocks noChangeArrowheads="1"/>
              </p:cNvSpPr>
              <p:nvPr/>
            </p:nvSpPr>
            <p:spPr bwMode="auto">
              <a:xfrm>
                <a:off x="1178" y="3231"/>
                <a:ext cx="68" cy="255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99" name="Rectangle 387"/>
              <p:cNvSpPr>
                <a:spLocks noChangeArrowheads="1"/>
              </p:cNvSpPr>
              <p:nvPr/>
            </p:nvSpPr>
            <p:spPr bwMode="auto">
              <a:xfrm>
                <a:off x="1246" y="3231"/>
                <a:ext cx="68" cy="255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0" name="Rectangle 388"/>
              <p:cNvSpPr>
                <a:spLocks noChangeArrowheads="1"/>
              </p:cNvSpPr>
              <p:nvPr/>
            </p:nvSpPr>
            <p:spPr bwMode="auto">
              <a:xfrm>
                <a:off x="1314" y="3231"/>
                <a:ext cx="68" cy="255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1" name="Rectangle 389"/>
              <p:cNvSpPr>
                <a:spLocks noChangeArrowheads="1"/>
              </p:cNvSpPr>
              <p:nvPr/>
            </p:nvSpPr>
            <p:spPr bwMode="auto">
              <a:xfrm>
                <a:off x="1382" y="3231"/>
                <a:ext cx="69" cy="255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2" name="Rectangle 390"/>
              <p:cNvSpPr>
                <a:spLocks noChangeArrowheads="1"/>
              </p:cNvSpPr>
              <p:nvPr/>
            </p:nvSpPr>
            <p:spPr bwMode="auto">
              <a:xfrm>
                <a:off x="1451" y="3231"/>
                <a:ext cx="68" cy="255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3" name="Rectangle 391"/>
              <p:cNvSpPr>
                <a:spLocks noChangeArrowheads="1"/>
              </p:cNvSpPr>
              <p:nvPr/>
            </p:nvSpPr>
            <p:spPr bwMode="auto">
              <a:xfrm>
                <a:off x="1519" y="3231"/>
                <a:ext cx="68" cy="255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4" name="Rectangle 392"/>
              <p:cNvSpPr>
                <a:spLocks noChangeArrowheads="1"/>
              </p:cNvSpPr>
              <p:nvPr/>
            </p:nvSpPr>
            <p:spPr bwMode="auto">
              <a:xfrm>
                <a:off x="1587" y="3231"/>
                <a:ext cx="68" cy="255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5" name="Rectangle 393"/>
              <p:cNvSpPr>
                <a:spLocks noChangeArrowheads="1"/>
              </p:cNvSpPr>
              <p:nvPr/>
            </p:nvSpPr>
            <p:spPr bwMode="auto">
              <a:xfrm>
                <a:off x="1655" y="3231"/>
                <a:ext cx="69" cy="255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6" name="Rectangle 394"/>
              <p:cNvSpPr>
                <a:spLocks noChangeArrowheads="1"/>
              </p:cNvSpPr>
              <p:nvPr/>
            </p:nvSpPr>
            <p:spPr bwMode="auto">
              <a:xfrm>
                <a:off x="1724" y="3231"/>
                <a:ext cx="68" cy="255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7" name="Rectangle 395"/>
              <p:cNvSpPr>
                <a:spLocks noChangeArrowheads="1"/>
              </p:cNvSpPr>
              <p:nvPr/>
            </p:nvSpPr>
            <p:spPr bwMode="auto">
              <a:xfrm>
                <a:off x="1792" y="3231"/>
                <a:ext cx="69" cy="255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8" name="Rectangle 396"/>
              <p:cNvSpPr>
                <a:spLocks noChangeArrowheads="1"/>
              </p:cNvSpPr>
              <p:nvPr/>
            </p:nvSpPr>
            <p:spPr bwMode="auto">
              <a:xfrm>
                <a:off x="1861" y="3231"/>
                <a:ext cx="68" cy="255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09" name="Rectangle 397"/>
              <p:cNvSpPr>
                <a:spLocks noChangeArrowheads="1"/>
              </p:cNvSpPr>
              <p:nvPr/>
            </p:nvSpPr>
            <p:spPr bwMode="auto">
              <a:xfrm>
                <a:off x="1929" y="3231"/>
                <a:ext cx="68" cy="255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10" name="Rectangle 398"/>
              <p:cNvSpPr>
                <a:spLocks noChangeArrowheads="1"/>
              </p:cNvSpPr>
              <p:nvPr/>
            </p:nvSpPr>
            <p:spPr bwMode="auto">
              <a:xfrm>
                <a:off x="1997" y="3231"/>
                <a:ext cx="68" cy="255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11" name="Rectangle 399"/>
              <p:cNvSpPr>
                <a:spLocks noChangeArrowheads="1"/>
              </p:cNvSpPr>
              <p:nvPr/>
            </p:nvSpPr>
            <p:spPr bwMode="auto">
              <a:xfrm>
                <a:off x="2065" y="3231"/>
                <a:ext cx="68" cy="255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12" name="Rectangle 400"/>
              <p:cNvSpPr>
                <a:spLocks noChangeArrowheads="1"/>
              </p:cNvSpPr>
              <p:nvPr/>
            </p:nvSpPr>
            <p:spPr bwMode="auto">
              <a:xfrm>
                <a:off x="2133" y="3231"/>
                <a:ext cx="68" cy="255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13" name="Rectangle 401"/>
              <p:cNvSpPr>
                <a:spLocks noChangeArrowheads="1"/>
              </p:cNvSpPr>
              <p:nvPr/>
            </p:nvSpPr>
            <p:spPr bwMode="auto">
              <a:xfrm>
                <a:off x="2201" y="3231"/>
                <a:ext cx="69" cy="255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14" name="Rectangle 402"/>
              <p:cNvSpPr>
                <a:spLocks noChangeArrowheads="1"/>
              </p:cNvSpPr>
              <p:nvPr/>
            </p:nvSpPr>
            <p:spPr bwMode="auto">
              <a:xfrm>
                <a:off x="2270" y="3231"/>
                <a:ext cx="69" cy="255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15" name="Rectangle 403"/>
              <p:cNvSpPr>
                <a:spLocks noChangeArrowheads="1"/>
              </p:cNvSpPr>
              <p:nvPr/>
            </p:nvSpPr>
            <p:spPr bwMode="auto">
              <a:xfrm>
                <a:off x="2339" y="3231"/>
                <a:ext cx="68" cy="2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16" name="Rectangle 404"/>
              <p:cNvSpPr>
                <a:spLocks noChangeArrowheads="1"/>
              </p:cNvSpPr>
              <p:nvPr/>
            </p:nvSpPr>
            <p:spPr bwMode="auto">
              <a:xfrm>
                <a:off x="1041" y="3231"/>
                <a:ext cx="1366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17" name="Rectangle 405"/>
              <p:cNvSpPr>
                <a:spLocks noChangeArrowheads="1"/>
              </p:cNvSpPr>
              <p:nvPr/>
            </p:nvSpPr>
            <p:spPr bwMode="auto">
              <a:xfrm>
                <a:off x="1041" y="3228"/>
                <a:ext cx="69" cy="2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1718" name="Group 406"/>
            <p:cNvGrpSpPr>
              <a:grpSpLocks/>
            </p:cNvGrpSpPr>
            <p:nvPr/>
          </p:nvGrpSpPr>
          <p:grpSpPr bwMode="auto">
            <a:xfrm>
              <a:off x="1040" y="1897"/>
              <a:ext cx="1368" cy="1586"/>
              <a:chOff x="1040" y="1897"/>
              <a:chExt cx="1368" cy="1586"/>
            </a:xfrm>
          </p:grpSpPr>
          <p:sp>
            <p:nvSpPr>
              <p:cNvPr id="141719" name="Rectangle 407"/>
              <p:cNvSpPr>
                <a:spLocks noChangeArrowheads="1"/>
              </p:cNvSpPr>
              <p:nvPr/>
            </p:nvSpPr>
            <p:spPr bwMode="auto">
              <a:xfrm>
                <a:off x="1110" y="3228"/>
                <a:ext cx="68" cy="255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0" name="Rectangle 408"/>
              <p:cNvSpPr>
                <a:spLocks noChangeArrowheads="1"/>
              </p:cNvSpPr>
              <p:nvPr/>
            </p:nvSpPr>
            <p:spPr bwMode="auto">
              <a:xfrm>
                <a:off x="1178" y="3228"/>
                <a:ext cx="68" cy="255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1" name="Rectangle 409"/>
              <p:cNvSpPr>
                <a:spLocks noChangeArrowheads="1"/>
              </p:cNvSpPr>
              <p:nvPr/>
            </p:nvSpPr>
            <p:spPr bwMode="auto">
              <a:xfrm>
                <a:off x="1246" y="3228"/>
                <a:ext cx="68" cy="255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2" name="Rectangle 410"/>
              <p:cNvSpPr>
                <a:spLocks noChangeArrowheads="1"/>
              </p:cNvSpPr>
              <p:nvPr/>
            </p:nvSpPr>
            <p:spPr bwMode="auto">
              <a:xfrm>
                <a:off x="1314" y="3228"/>
                <a:ext cx="68" cy="255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3" name="Rectangle 411"/>
              <p:cNvSpPr>
                <a:spLocks noChangeArrowheads="1"/>
              </p:cNvSpPr>
              <p:nvPr/>
            </p:nvSpPr>
            <p:spPr bwMode="auto">
              <a:xfrm>
                <a:off x="1382" y="3228"/>
                <a:ext cx="69" cy="255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4" name="Rectangle 412"/>
              <p:cNvSpPr>
                <a:spLocks noChangeArrowheads="1"/>
              </p:cNvSpPr>
              <p:nvPr/>
            </p:nvSpPr>
            <p:spPr bwMode="auto">
              <a:xfrm>
                <a:off x="1451" y="3228"/>
                <a:ext cx="68" cy="255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5" name="Rectangle 413"/>
              <p:cNvSpPr>
                <a:spLocks noChangeArrowheads="1"/>
              </p:cNvSpPr>
              <p:nvPr/>
            </p:nvSpPr>
            <p:spPr bwMode="auto">
              <a:xfrm>
                <a:off x="1519" y="3228"/>
                <a:ext cx="68" cy="255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6" name="Rectangle 414"/>
              <p:cNvSpPr>
                <a:spLocks noChangeArrowheads="1"/>
              </p:cNvSpPr>
              <p:nvPr/>
            </p:nvSpPr>
            <p:spPr bwMode="auto">
              <a:xfrm>
                <a:off x="1587" y="3228"/>
                <a:ext cx="68" cy="255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7" name="Rectangle 415"/>
              <p:cNvSpPr>
                <a:spLocks noChangeArrowheads="1"/>
              </p:cNvSpPr>
              <p:nvPr/>
            </p:nvSpPr>
            <p:spPr bwMode="auto">
              <a:xfrm>
                <a:off x="1655" y="3228"/>
                <a:ext cx="69" cy="255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8" name="Rectangle 416"/>
              <p:cNvSpPr>
                <a:spLocks noChangeArrowheads="1"/>
              </p:cNvSpPr>
              <p:nvPr/>
            </p:nvSpPr>
            <p:spPr bwMode="auto">
              <a:xfrm>
                <a:off x="1724" y="3228"/>
                <a:ext cx="68" cy="255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29" name="Rectangle 417"/>
              <p:cNvSpPr>
                <a:spLocks noChangeArrowheads="1"/>
              </p:cNvSpPr>
              <p:nvPr/>
            </p:nvSpPr>
            <p:spPr bwMode="auto">
              <a:xfrm>
                <a:off x="1792" y="3228"/>
                <a:ext cx="69" cy="255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0" name="Rectangle 418"/>
              <p:cNvSpPr>
                <a:spLocks noChangeArrowheads="1"/>
              </p:cNvSpPr>
              <p:nvPr/>
            </p:nvSpPr>
            <p:spPr bwMode="auto">
              <a:xfrm>
                <a:off x="1861" y="3228"/>
                <a:ext cx="68" cy="255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1" name="Rectangle 419"/>
              <p:cNvSpPr>
                <a:spLocks noChangeArrowheads="1"/>
              </p:cNvSpPr>
              <p:nvPr/>
            </p:nvSpPr>
            <p:spPr bwMode="auto">
              <a:xfrm>
                <a:off x="1929" y="3228"/>
                <a:ext cx="68" cy="255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2" name="Rectangle 420"/>
              <p:cNvSpPr>
                <a:spLocks noChangeArrowheads="1"/>
              </p:cNvSpPr>
              <p:nvPr/>
            </p:nvSpPr>
            <p:spPr bwMode="auto">
              <a:xfrm>
                <a:off x="1997" y="3228"/>
                <a:ext cx="68" cy="255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3" name="Rectangle 421"/>
              <p:cNvSpPr>
                <a:spLocks noChangeArrowheads="1"/>
              </p:cNvSpPr>
              <p:nvPr/>
            </p:nvSpPr>
            <p:spPr bwMode="auto">
              <a:xfrm>
                <a:off x="2065" y="3228"/>
                <a:ext cx="68" cy="255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4" name="Rectangle 422"/>
              <p:cNvSpPr>
                <a:spLocks noChangeArrowheads="1"/>
              </p:cNvSpPr>
              <p:nvPr/>
            </p:nvSpPr>
            <p:spPr bwMode="auto">
              <a:xfrm>
                <a:off x="2133" y="3228"/>
                <a:ext cx="68" cy="255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5" name="Rectangle 423"/>
              <p:cNvSpPr>
                <a:spLocks noChangeArrowheads="1"/>
              </p:cNvSpPr>
              <p:nvPr/>
            </p:nvSpPr>
            <p:spPr bwMode="auto">
              <a:xfrm>
                <a:off x="2201" y="3228"/>
                <a:ext cx="69" cy="255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6" name="Rectangle 424"/>
              <p:cNvSpPr>
                <a:spLocks noChangeArrowheads="1"/>
              </p:cNvSpPr>
              <p:nvPr/>
            </p:nvSpPr>
            <p:spPr bwMode="auto">
              <a:xfrm>
                <a:off x="2270" y="3228"/>
                <a:ext cx="69" cy="255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7" name="Rectangle 425"/>
              <p:cNvSpPr>
                <a:spLocks noChangeArrowheads="1"/>
              </p:cNvSpPr>
              <p:nvPr/>
            </p:nvSpPr>
            <p:spPr bwMode="auto">
              <a:xfrm>
                <a:off x="2339" y="3228"/>
                <a:ext cx="68" cy="25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8" name="Rectangle 426"/>
              <p:cNvSpPr>
                <a:spLocks noChangeArrowheads="1"/>
              </p:cNvSpPr>
              <p:nvPr/>
            </p:nvSpPr>
            <p:spPr bwMode="auto">
              <a:xfrm>
                <a:off x="1041" y="3228"/>
                <a:ext cx="1366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39" name="Freeform 427"/>
              <p:cNvSpPr>
                <a:spLocks/>
              </p:cNvSpPr>
              <p:nvPr/>
            </p:nvSpPr>
            <p:spPr bwMode="auto">
              <a:xfrm>
                <a:off x="2392" y="3230"/>
                <a:ext cx="10" cy="7"/>
              </a:xfrm>
              <a:custGeom>
                <a:avLst/>
                <a:gdLst>
                  <a:gd name="T0" fmla="*/ 19 w 19"/>
                  <a:gd name="T1" fmla="*/ 12 h 13"/>
                  <a:gd name="T2" fmla="*/ 19 w 19"/>
                  <a:gd name="T3" fmla="*/ 0 h 13"/>
                  <a:gd name="T4" fmla="*/ 0 w 19"/>
                  <a:gd name="T5" fmla="*/ 13 h 13"/>
                  <a:gd name="T6" fmla="*/ 19 w 19"/>
                  <a:gd name="T7" fmla="*/ 12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3">
                    <a:moveTo>
                      <a:pt x="19" y="12"/>
                    </a:moveTo>
                    <a:lnTo>
                      <a:pt x="19" y="0"/>
                    </a:lnTo>
                    <a:lnTo>
                      <a:pt x="0" y="13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0" name="Freeform 428"/>
              <p:cNvSpPr>
                <a:spLocks/>
              </p:cNvSpPr>
              <p:nvPr/>
            </p:nvSpPr>
            <p:spPr bwMode="auto">
              <a:xfrm>
                <a:off x="2374" y="3236"/>
                <a:ext cx="28" cy="15"/>
              </a:xfrm>
              <a:custGeom>
                <a:avLst/>
                <a:gdLst>
                  <a:gd name="T0" fmla="*/ 55 w 55"/>
                  <a:gd name="T1" fmla="*/ 0 h 29"/>
                  <a:gd name="T2" fmla="*/ 55 w 55"/>
                  <a:gd name="T3" fmla="*/ 24 h 29"/>
                  <a:gd name="T4" fmla="*/ 0 w 55"/>
                  <a:gd name="T5" fmla="*/ 29 h 29"/>
                  <a:gd name="T6" fmla="*/ 36 w 55"/>
                  <a:gd name="T7" fmla="*/ 1 h 29"/>
                  <a:gd name="T8" fmla="*/ 55 w 55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9">
                    <a:moveTo>
                      <a:pt x="55" y="0"/>
                    </a:moveTo>
                    <a:lnTo>
                      <a:pt x="55" y="24"/>
                    </a:lnTo>
                    <a:lnTo>
                      <a:pt x="0" y="29"/>
                    </a:lnTo>
                    <a:lnTo>
                      <a:pt x="36" y="1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1" name="Freeform 429"/>
              <p:cNvSpPr>
                <a:spLocks/>
              </p:cNvSpPr>
              <p:nvPr/>
            </p:nvSpPr>
            <p:spPr bwMode="auto">
              <a:xfrm>
                <a:off x="2355" y="3248"/>
                <a:ext cx="47" cy="19"/>
              </a:xfrm>
              <a:custGeom>
                <a:avLst/>
                <a:gdLst>
                  <a:gd name="T0" fmla="*/ 93 w 93"/>
                  <a:gd name="T1" fmla="*/ 0 h 36"/>
                  <a:gd name="T2" fmla="*/ 93 w 93"/>
                  <a:gd name="T3" fmla="*/ 26 h 36"/>
                  <a:gd name="T4" fmla="*/ 0 w 93"/>
                  <a:gd name="T5" fmla="*/ 36 h 36"/>
                  <a:gd name="T6" fmla="*/ 38 w 93"/>
                  <a:gd name="T7" fmla="*/ 5 h 36"/>
                  <a:gd name="T8" fmla="*/ 93 w 9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6">
                    <a:moveTo>
                      <a:pt x="93" y="0"/>
                    </a:moveTo>
                    <a:lnTo>
                      <a:pt x="93" y="26"/>
                    </a:lnTo>
                    <a:lnTo>
                      <a:pt x="0" y="36"/>
                    </a:lnTo>
                    <a:lnTo>
                      <a:pt x="38" y="5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2" name="Freeform 430"/>
              <p:cNvSpPr>
                <a:spLocks/>
              </p:cNvSpPr>
              <p:nvPr/>
            </p:nvSpPr>
            <p:spPr bwMode="auto">
              <a:xfrm>
                <a:off x="2346" y="326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24 h 38"/>
                  <a:gd name="T8" fmla="*/ 19 w 112"/>
                  <a:gd name="T9" fmla="*/ 10 h 38"/>
                  <a:gd name="T10" fmla="*/ 112 w 112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24"/>
                    </a:lnTo>
                    <a:lnTo>
                      <a:pt x="19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3" name="Freeform 431"/>
              <p:cNvSpPr>
                <a:spLocks/>
              </p:cNvSpPr>
              <p:nvPr/>
            </p:nvSpPr>
            <p:spPr bwMode="auto">
              <a:xfrm>
                <a:off x="2346" y="327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5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4" name="Freeform 432"/>
              <p:cNvSpPr>
                <a:spLocks/>
              </p:cNvSpPr>
              <p:nvPr/>
            </p:nvSpPr>
            <p:spPr bwMode="auto">
              <a:xfrm>
                <a:off x="2346" y="328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8 h 38"/>
                  <a:gd name="T4" fmla="*/ 0 w 112"/>
                  <a:gd name="T5" fmla="*/ 38 h 38"/>
                  <a:gd name="T6" fmla="*/ 0 w 112"/>
                  <a:gd name="T7" fmla="*/ 13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5" name="Freeform 433"/>
              <p:cNvSpPr>
                <a:spLocks/>
              </p:cNvSpPr>
              <p:nvPr/>
            </p:nvSpPr>
            <p:spPr bwMode="auto">
              <a:xfrm>
                <a:off x="2346" y="3301"/>
                <a:ext cx="56" cy="18"/>
              </a:xfrm>
              <a:custGeom>
                <a:avLst/>
                <a:gdLst>
                  <a:gd name="T0" fmla="*/ 112 w 112"/>
                  <a:gd name="T1" fmla="*/ 0 h 36"/>
                  <a:gd name="T2" fmla="*/ 112 w 112"/>
                  <a:gd name="T3" fmla="*/ 26 h 36"/>
                  <a:gd name="T4" fmla="*/ 0 w 112"/>
                  <a:gd name="T5" fmla="*/ 36 h 36"/>
                  <a:gd name="T6" fmla="*/ 0 w 112"/>
                  <a:gd name="T7" fmla="*/ 10 h 36"/>
                  <a:gd name="T8" fmla="*/ 112 w 112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6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6" name="Freeform 434"/>
              <p:cNvSpPr>
                <a:spLocks/>
              </p:cNvSpPr>
              <p:nvPr/>
            </p:nvSpPr>
            <p:spPr bwMode="auto">
              <a:xfrm>
                <a:off x="2346" y="3314"/>
                <a:ext cx="56" cy="18"/>
              </a:xfrm>
              <a:custGeom>
                <a:avLst/>
                <a:gdLst>
                  <a:gd name="T0" fmla="*/ 112 w 112"/>
                  <a:gd name="T1" fmla="*/ 0 h 36"/>
                  <a:gd name="T2" fmla="*/ 112 w 112"/>
                  <a:gd name="T3" fmla="*/ 26 h 36"/>
                  <a:gd name="T4" fmla="*/ 0 w 112"/>
                  <a:gd name="T5" fmla="*/ 36 h 36"/>
                  <a:gd name="T6" fmla="*/ 0 w 112"/>
                  <a:gd name="T7" fmla="*/ 10 h 36"/>
                  <a:gd name="T8" fmla="*/ 112 w 112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6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7" name="Freeform 435"/>
              <p:cNvSpPr>
                <a:spLocks/>
              </p:cNvSpPr>
              <p:nvPr/>
            </p:nvSpPr>
            <p:spPr bwMode="auto">
              <a:xfrm>
                <a:off x="2346" y="3327"/>
                <a:ext cx="56" cy="18"/>
              </a:xfrm>
              <a:custGeom>
                <a:avLst/>
                <a:gdLst>
                  <a:gd name="T0" fmla="*/ 112 w 112"/>
                  <a:gd name="T1" fmla="*/ 0 h 36"/>
                  <a:gd name="T2" fmla="*/ 112 w 112"/>
                  <a:gd name="T3" fmla="*/ 26 h 36"/>
                  <a:gd name="T4" fmla="*/ 0 w 112"/>
                  <a:gd name="T5" fmla="*/ 36 h 36"/>
                  <a:gd name="T6" fmla="*/ 0 w 112"/>
                  <a:gd name="T7" fmla="*/ 10 h 36"/>
                  <a:gd name="T8" fmla="*/ 112 w 112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6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8" name="Freeform 436"/>
              <p:cNvSpPr>
                <a:spLocks/>
              </p:cNvSpPr>
              <p:nvPr/>
            </p:nvSpPr>
            <p:spPr bwMode="auto">
              <a:xfrm>
                <a:off x="2346" y="3340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0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49" name="Freeform 437"/>
              <p:cNvSpPr>
                <a:spLocks/>
              </p:cNvSpPr>
              <p:nvPr/>
            </p:nvSpPr>
            <p:spPr bwMode="auto">
              <a:xfrm>
                <a:off x="2346" y="3353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5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0" name="Freeform 438"/>
              <p:cNvSpPr>
                <a:spLocks/>
              </p:cNvSpPr>
              <p:nvPr/>
            </p:nvSpPr>
            <p:spPr bwMode="auto">
              <a:xfrm>
                <a:off x="2346" y="3366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3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1" name="Freeform 439"/>
              <p:cNvSpPr>
                <a:spLocks/>
              </p:cNvSpPr>
              <p:nvPr/>
            </p:nvSpPr>
            <p:spPr bwMode="auto">
              <a:xfrm>
                <a:off x="2346" y="3379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2" name="Freeform 440"/>
              <p:cNvSpPr>
                <a:spLocks/>
              </p:cNvSpPr>
              <p:nvPr/>
            </p:nvSpPr>
            <p:spPr bwMode="auto">
              <a:xfrm>
                <a:off x="2346" y="3392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3" name="Freeform 441"/>
              <p:cNvSpPr>
                <a:spLocks/>
              </p:cNvSpPr>
              <p:nvPr/>
            </p:nvSpPr>
            <p:spPr bwMode="auto">
              <a:xfrm>
                <a:off x="2346" y="3405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4" name="Freeform 442"/>
              <p:cNvSpPr>
                <a:spLocks/>
              </p:cNvSpPr>
              <p:nvPr/>
            </p:nvSpPr>
            <p:spPr bwMode="auto">
              <a:xfrm>
                <a:off x="2346" y="341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8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5" name="Freeform 443"/>
              <p:cNvSpPr>
                <a:spLocks/>
              </p:cNvSpPr>
              <p:nvPr/>
            </p:nvSpPr>
            <p:spPr bwMode="auto">
              <a:xfrm>
                <a:off x="2346" y="3431"/>
                <a:ext cx="56" cy="18"/>
              </a:xfrm>
              <a:custGeom>
                <a:avLst/>
                <a:gdLst>
                  <a:gd name="T0" fmla="*/ 112 w 112"/>
                  <a:gd name="T1" fmla="*/ 0 h 34"/>
                  <a:gd name="T2" fmla="*/ 112 w 112"/>
                  <a:gd name="T3" fmla="*/ 25 h 34"/>
                  <a:gd name="T4" fmla="*/ 26 w 112"/>
                  <a:gd name="T5" fmla="*/ 34 h 34"/>
                  <a:gd name="T6" fmla="*/ 0 w 112"/>
                  <a:gd name="T7" fmla="*/ 13 h 34"/>
                  <a:gd name="T8" fmla="*/ 0 w 112"/>
                  <a:gd name="T9" fmla="*/ 10 h 34"/>
                  <a:gd name="T10" fmla="*/ 112 w 112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4">
                    <a:moveTo>
                      <a:pt x="112" y="0"/>
                    </a:moveTo>
                    <a:lnTo>
                      <a:pt x="112" y="25"/>
                    </a:lnTo>
                    <a:lnTo>
                      <a:pt x="26" y="34"/>
                    </a:lnTo>
                    <a:lnTo>
                      <a:pt x="0" y="13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6" name="Freeform 444"/>
              <p:cNvSpPr>
                <a:spLocks/>
              </p:cNvSpPr>
              <p:nvPr/>
            </p:nvSpPr>
            <p:spPr bwMode="auto">
              <a:xfrm>
                <a:off x="2359" y="3444"/>
                <a:ext cx="43" cy="16"/>
              </a:xfrm>
              <a:custGeom>
                <a:avLst/>
                <a:gdLst>
                  <a:gd name="T0" fmla="*/ 86 w 86"/>
                  <a:gd name="T1" fmla="*/ 0 h 32"/>
                  <a:gd name="T2" fmla="*/ 86 w 86"/>
                  <a:gd name="T3" fmla="*/ 26 h 32"/>
                  <a:gd name="T4" fmla="*/ 29 w 86"/>
                  <a:gd name="T5" fmla="*/ 32 h 32"/>
                  <a:gd name="T6" fmla="*/ 0 w 86"/>
                  <a:gd name="T7" fmla="*/ 9 h 32"/>
                  <a:gd name="T8" fmla="*/ 86 w 86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2">
                    <a:moveTo>
                      <a:pt x="86" y="0"/>
                    </a:moveTo>
                    <a:lnTo>
                      <a:pt x="86" y="26"/>
                    </a:lnTo>
                    <a:lnTo>
                      <a:pt x="29" y="32"/>
                    </a:lnTo>
                    <a:lnTo>
                      <a:pt x="0" y="9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7" name="Freeform 445"/>
              <p:cNvSpPr>
                <a:spLocks/>
              </p:cNvSpPr>
              <p:nvPr/>
            </p:nvSpPr>
            <p:spPr bwMode="auto">
              <a:xfrm>
                <a:off x="2373" y="3457"/>
                <a:ext cx="29" cy="14"/>
              </a:xfrm>
              <a:custGeom>
                <a:avLst/>
                <a:gdLst>
                  <a:gd name="T0" fmla="*/ 57 w 57"/>
                  <a:gd name="T1" fmla="*/ 0 h 28"/>
                  <a:gd name="T2" fmla="*/ 57 w 57"/>
                  <a:gd name="T3" fmla="*/ 26 h 28"/>
                  <a:gd name="T4" fmla="*/ 30 w 57"/>
                  <a:gd name="T5" fmla="*/ 28 h 28"/>
                  <a:gd name="T6" fmla="*/ 0 w 57"/>
                  <a:gd name="T7" fmla="*/ 6 h 28"/>
                  <a:gd name="T8" fmla="*/ 57 w 57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28">
                    <a:moveTo>
                      <a:pt x="57" y="0"/>
                    </a:moveTo>
                    <a:lnTo>
                      <a:pt x="57" y="26"/>
                    </a:lnTo>
                    <a:lnTo>
                      <a:pt x="30" y="28"/>
                    </a:lnTo>
                    <a:lnTo>
                      <a:pt x="0" y="6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8" name="Freeform 446"/>
              <p:cNvSpPr>
                <a:spLocks/>
              </p:cNvSpPr>
              <p:nvPr/>
            </p:nvSpPr>
            <p:spPr bwMode="auto">
              <a:xfrm>
                <a:off x="2388" y="3470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2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59" name="Freeform 447"/>
              <p:cNvSpPr>
                <a:spLocks/>
              </p:cNvSpPr>
              <p:nvPr/>
            </p:nvSpPr>
            <p:spPr bwMode="auto">
              <a:xfrm>
                <a:off x="2346" y="3230"/>
                <a:ext cx="56" cy="252"/>
              </a:xfrm>
              <a:custGeom>
                <a:avLst/>
                <a:gdLst>
                  <a:gd name="T0" fmla="*/ 0 w 112"/>
                  <a:gd name="T1" fmla="*/ 86 h 503"/>
                  <a:gd name="T2" fmla="*/ 112 w 112"/>
                  <a:gd name="T3" fmla="*/ 0 h 503"/>
                  <a:gd name="T4" fmla="*/ 112 w 112"/>
                  <a:gd name="T5" fmla="*/ 503 h 503"/>
                  <a:gd name="T6" fmla="*/ 0 w 112"/>
                  <a:gd name="T7" fmla="*/ 415 h 503"/>
                  <a:gd name="T8" fmla="*/ 0 w 112"/>
                  <a:gd name="T9" fmla="*/ 86 h 5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3">
                    <a:moveTo>
                      <a:pt x="0" y="86"/>
                    </a:moveTo>
                    <a:lnTo>
                      <a:pt x="112" y="0"/>
                    </a:lnTo>
                    <a:lnTo>
                      <a:pt x="112" y="503"/>
                    </a:lnTo>
                    <a:lnTo>
                      <a:pt x="0" y="415"/>
                    </a:lnTo>
                    <a:lnTo>
                      <a:pt x="0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0" name="Freeform 448"/>
              <p:cNvSpPr>
                <a:spLocks/>
              </p:cNvSpPr>
              <p:nvPr/>
            </p:nvSpPr>
            <p:spPr bwMode="auto">
              <a:xfrm>
                <a:off x="2340" y="3438"/>
                <a:ext cx="68" cy="43"/>
              </a:xfrm>
              <a:custGeom>
                <a:avLst/>
                <a:gdLst>
                  <a:gd name="T0" fmla="*/ 0 w 137"/>
                  <a:gd name="T1" fmla="*/ 87 h 87"/>
                  <a:gd name="T2" fmla="*/ 137 w 137"/>
                  <a:gd name="T3" fmla="*/ 87 h 87"/>
                  <a:gd name="T4" fmla="*/ 12 w 137"/>
                  <a:gd name="T5" fmla="*/ 0 h 87"/>
                  <a:gd name="T6" fmla="*/ 9 w 137"/>
                  <a:gd name="T7" fmla="*/ 0 h 87"/>
                  <a:gd name="T8" fmla="*/ 0 w 13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7">
                    <a:moveTo>
                      <a:pt x="0" y="87"/>
                    </a:moveTo>
                    <a:lnTo>
                      <a:pt x="137" y="87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1" name="Freeform 449"/>
              <p:cNvSpPr>
                <a:spLocks/>
              </p:cNvSpPr>
              <p:nvPr/>
            </p:nvSpPr>
            <p:spPr bwMode="auto">
              <a:xfrm>
                <a:off x="2271" y="3438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2" name="Freeform 450"/>
              <p:cNvSpPr>
                <a:spLocks/>
              </p:cNvSpPr>
              <p:nvPr/>
            </p:nvSpPr>
            <p:spPr bwMode="auto">
              <a:xfrm>
                <a:off x="2202" y="3438"/>
                <a:ext cx="73" cy="43"/>
              </a:xfrm>
              <a:custGeom>
                <a:avLst/>
                <a:gdLst>
                  <a:gd name="T0" fmla="*/ 136 w 145"/>
                  <a:gd name="T1" fmla="*/ 87 h 87"/>
                  <a:gd name="T2" fmla="*/ 0 w 145"/>
                  <a:gd name="T3" fmla="*/ 87 h 87"/>
                  <a:gd name="T4" fmla="*/ 8 w 145"/>
                  <a:gd name="T5" fmla="*/ 0 h 87"/>
                  <a:gd name="T6" fmla="*/ 145 w 145"/>
                  <a:gd name="T7" fmla="*/ 0 h 87"/>
                  <a:gd name="T8" fmla="*/ 136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5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3" name="Freeform 451"/>
              <p:cNvSpPr>
                <a:spLocks/>
              </p:cNvSpPr>
              <p:nvPr/>
            </p:nvSpPr>
            <p:spPr bwMode="auto">
              <a:xfrm>
                <a:off x="2133" y="3438"/>
                <a:ext cx="74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4" name="Freeform 452"/>
              <p:cNvSpPr>
                <a:spLocks/>
              </p:cNvSpPr>
              <p:nvPr/>
            </p:nvSpPr>
            <p:spPr bwMode="auto">
              <a:xfrm>
                <a:off x="2065" y="3438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5" name="Freeform 453"/>
              <p:cNvSpPr>
                <a:spLocks/>
              </p:cNvSpPr>
              <p:nvPr/>
            </p:nvSpPr>
            <p:spPr bwMode="auto">
              <a:xfrm>
                <a:off x="1996" y="3438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6" name="Freeform 454"/>
              <p:cNvSpPr>
                <a:spLocks/>
              </p:cNvSpPr>
              <p:nvPr/>
            </p:nvSpPr>
            <p:spPr bwMode="auto">
              <a:xfrm>
                <a:off x="1928" y="3438"/>
                <a:ext cx="73" cy="43"/>
              </a:xfrm>
              <a:custGeom>
                <a:avLst/>
                <a:gdLst>
                  <a:gd name="T0" fmla="*/ 136 w 146"/>
                  <a:gd name="T1" fmla="*/ 87 h 87"/>
                  <a:gd name="T2" fmla="*/ 0 w 146"/>
                  <a:gd name="T3" fmla="*/ 87 h 87"/>
                  <a:gd name="T4" fmla="*/ 8 w 146"/>
                  <a:gd name="T5" fmla="*/ 0 h 87"/>
                  <a:gd name="T6" fmla="*/ 146 w 146"/>
                  <a:gd name="T7" fmla="*/ 0 h 87"/>
                  <a:gd name="T8" fmla="*/ 136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7" name="Freeform 455"/>
              <p:cNvSpPr>
                <a:spLocks/>
              </p:cNvSpPr>
              <p:nvPr/>
            </p:nvSpPr>
            <p:spPr bwMode="auto">
              <a:xfrm>
                <a:off x="1859" y="3438"/>
                <a:ext cx="73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8" name="Freeform 456"/>
              <p:cNvSpPr>
                <a:spLocks/>
              </p:cNvSpPr>
              <p:nvPr/>
            </p:nvSpPr>
            <p:spPr bwMode="auto">
              <a:xfrm>
                <a:off x="1791" y="3438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69" name="Freeform 457"/>
              <p:cNvSpPr>
                <a:spLocks/>
              </p:cNvSpPr>
              <p:nvPr/>
            </p:nvSpPr>
            <p:spPr bwMode="auto">
              <a:xfrm>
                <a:off x="1722" y="3438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1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0" name="Freeform 458"/>
              <p:cNvSpPr>
                <a:spLocks/>
              </p:cNvSpPr>
              <p:nvPr/>
            </p:nvSpPr>
            <p:spPr bwMode="auto">
              <a:xfrm>
                <a:off x="1653" y="3438"/>
                <a:ext cx="74" cy="43"/>
              </a:xfrm>
              <a:custGeom>
                <a:avLst/>
                <a:gdLst>
                  <a:gd name="T0" fmla="*/ 136 w 147"/>
                  <a:gd name="T1" fmla="*/ 87 h 87"/>
                  <a:gd name="T2" fmla="*/ 0 w 147"/>
                  <a:gd name="T3" fmla="*/ 87 h 87"/>
                  <a:gd name="T4" fmla="*/ 8 w 147"/>
                  <a:gd name="T5" fmla="*/ 0 h 87"/>
                  <a:gd name="T6" fmla="*/ 147 w 147"/>
                  <a:gd name="T7" fmla="*/ 0 h 87"/>
                  <a:gd name="T8" fmla="*/ 136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1" name="Freeform 459"/>
              <p:cNvSpPr>
                <a:spLocks/>
              </p:cNvSpPr>
              <p:nvPr/>
            </p:nvSpPr>
            <p:spPr bwMode="auto">
              <a:xfrm>
                <a:off x="1585" y="3438"/>
                <a:ext cx="73" cy="43"/>
              </a:xfrm>
              <a:custGeom>
                <a:avLst/>
                <a:gdLst>
                  <a:gd name="T0" fmla="*/ 137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7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2" name="Freeform 460"/>
              <p:cNvSpPr>
                <a:spLocks/>
              </p:cNvSpPr>
              <p:nvPr/>
            </p:nvSpPr>
            <p:spPr bwMode="auto">
              <a:xfrm>
                <a:off x="1516" y="3438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3" name="Freeform 461"/>
              <p:cNvSpPr>
                <a:spLocks/>
              </p:cNvSpPr>
              <p:nvPr/>
            </p:nvSpPr>
            <p:spPr bwMode="auto">
              <a:xfrm>
                <a:off x="1448" y="3438"/>
                <a:ext cx="72" cy="43"/>
              </a:xfrm>
              <a:custGeom>
                <a:avLst/>
                <a:gdLst>
                  <a:gd name="T0" fmla="*/ 136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6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4" name="Freeform 462"/>
              <p:cNvSpPr>
                <a:spLocks/>
              </p:cNvSpPr>
              <p:nvPr/>
            </p:nvSpPr>
            <p:spPr bwMode="auto">
              <a:xfrm>
                <a:off x="1379" y="3438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8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5" name="Freeform 463"/>
              <p:cNvSpPr>
                <a:spLocks/>
              </p:cNvSpPr>
              <p:nvPr/>
            </p:nvSpPr>
            <p:spPr bwMode="auto">
              <a:xfrm>
                <a:off x="1311" y="3438"/>
                <a:ext cx="72" cy="43"/>
              </a:xfrm>
              <a:custGeom>
                <a:avLst/>
                <a:gdLst>
                  <a:gd name="T0" fmla="*/ 137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7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6" name="Freeform 464"/>
              <p:cNvSpPr>
                <a:spLocks/>
              </p:cNvSpPr>
              <p:nvPr/>
            </p:nvSpPr>
            <p:spPr bwMode="auto">
              <a:xfrm>
                <a:off x="1242" y="3438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7" name="Freeform 465"/>
              <p:cNvSpPr>
                <a:spLocks/>
              </p:cNvSpPr>
              <p:nvPr/>
            </p:nvSpPr>
            <p:spPr bwMode="auto">
              <a:xfrm>
                <a:off x="1173" y="3438"/>
                <a:ext cx="73" cy="43"/>
              </a:xfrm>
              <a:custGeom>
                <a:avLst/>
                <a:gdLst>
                  <a:gd name="T0" fmla="*/ 136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6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8" name="Freeform 466"/>
              <p:cNvSpPr>
                <a:spLocks/>
              </p:cNvSpPr>
              <p:nvPr/>
            </p:nvSpPr>
            <p:spPr bwMode="auto">
              <a:xfrm>
                <a:off x="1104" y="3438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8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79" name="Freeform 467"/>
              <p:cNvSpPr>
                <a:spLocks/>
              </p:cNvSpPr>
              <p:nvPr/>
            </p:nvSpPr>
            <p:spPr bwMode="auto">
              <a:xfrm>
                <a:off x="1041" y="3438"/>
                <a:ext cx="68" cy="43"/>
              </a:xfrm>
              <a:custGeom>
                <a:avLst/>
                <a:gdLst>
                  <a:gd name="T0" fmla="*/ 128 w 136"/>
                  <a:gd name="T1" fmla="*/ 87 h 87"/>
                  <a:gd name="T2" fmla="*/ 0 w 136"/>
                  <a:gd name="T3" fmla="*/ 87 h 87"/>
                  <a:gd name="T4" fmla="*/ 112 w 136"/>
                  <a:gd name="T5" fmla="*/ 0 h 87"/>
                  <a:gd name="T6" fmla="*/ 136 w 136"/>
                  <a:gd name="T7" fmla="*/ 0 h 87"/>
                  <a:gd name="T8" fmla="*/ 128 w 13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7">
                    <a:moveTo>
                      <a:pt x="128" y="87"/>
                    </a:moveTo>
                    <a:lnTo>
                      <a:pt x="0" y="87"/>
                    </a:lnTo>
                    <a:lnTo>
                      <a:pt x="112" y="0"/>
                    </a:lnTo>
                    <a:lnTo>
                      <a:pt x="136" y="0"/>
                    </a:lnTo>
                    <a:lnTo>
                      <a:pt x="128" y="87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0" name="Freeform 468"/>
              <p:cNvSpPr>
                <a:spLocks/>
              </p:cNvSpPr>
              <p:nvPr/>
            </p:nvSpPr>
            <p:spPr bwMode="auto">
              <a:xfrm>
                <a:off x="1041" y="3438"/>
                <a:ext cx="1367" cy="43"/>
              </a:xfrm>
              <a:custGeom>
                <a:avLst/>
                <a:gdLst>
                  <a:gd name="T0" fmla="*/ 112 w 2735"/>
                  <a:gd name="T1" fmla="*/ 0 h 87"/>
                  <a:gd name="T2" fmla="*/ 0 w 2735"/>
                  <a:gd name="T3" fmla="*/ 87 h 87"/>
                  <a:gd name="T4" fmla="*/ 2735 w 2735"/>
                  <a:gd name="T5" fmla="*/ 87 h 87"/>
                  <a:gd name="T6" fmla="*/ 2610 w 2735"/>
                  <a:gd name="T7" fmla="*/ 0 h 87"/>
                  <a:gd name="T8" fmla="*/ 112 w 2735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7">
                    <a:moveTo>
                      <a:pt x="112" y="0"/>
                    </a:moveTo>
                    <a:lnTo>
                      <a:pt x="0" y="87"/>
                    </a:lnTo>
                    <a:lnTo>
                      <a:pt x="2735" y="87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1" name="Freeform 469"/>
              <p:cNvSpPr>
                <a:spLocks/>
              </p:cNvSpPr>
              <p:nvPr/>
            </p:nvSpPr>
            <p:spPr bwMode="auto">
              <a:xfrm>
                <a:off x="1041" y="3229"/>
                <a:ext cx="68" cy="44"/>
              </a:xfrm>
              <a:custGeom>
                <a:avLst/>
                <a:gdLst>
                  <a:gd name="T0" fmla="*/ 136 w 136"/>
                  <a:gd name="T1" fmla="*/ 0 h 86"/>
                  <a:gd name="T2" fmla="*/ 0 w 136"/>
                  <a:gd name="T3" fmla="*/ 0 h 86"/>
                  <a:gd name="T4" fmla="*/ 118 w 136"/>
                  <a:gd name="T5" fmla="*/ 86 h 86"/>
                  <a:gd name="T6" fmla="*/ 136 w 136"/>
                  <a:gd name="T7" fmla="*/ 86 h 86"/>
                  <a:gd name="T8" fmla="*/ 136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6"/>
                    </a:lnTo>
                    <a:lnTo>
                      <a:pt x="136" y="86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2" name="Rectangle 470"/>
              <p:cNvSpPr>
                <a:spLocks noChangeArrowheads="1"/>
              </p:cNvSpPr>
              <p:nvPr/>
            </p:nvSpPr>
            <p:spPr bwMode="auto">
              <a:xfrm>
                <a:off x="1109" y="3229"/>
                <a:ext cx="68" cy="4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3" name="Rectangle 471"/>
              <p:cNvSpPr>
                <a:spLocks noChangeArrowheads="1"/>
              </p:cNvSpPr>
              <p:nvPr/>
            </p:nvSpPr>
            <p:spPr bwMode="auto">
              <a:xfrm>
                <a:off x="1177" y="3229"/>
                <a:ext cx="68" cy="4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4" name="Rectangle 472"/>
              <p:cNvSpPr>
                <a:spLocks noChangeArrowheads="1"/>
              </p:cNvSpPr>
              <p:nvPr/>
            </p:nvSpPr>
            <p:spPr bwMode="auto">
              <a:xfrm>
                <a:off x="1245" y="3229"/>
                <a:ext cx="68" cy="4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5" name="Rectangle 473"/>
              <p:cNvSpPr>
                <a:spLocks noChangeArrowheads="1"/>
              </p:cNvSpPr>
              <p:nvPr/>
            </p:nvSpPr>
            <p:spPr bwMode="auto">
              <a:xfrm>
                <a:off x="1313" y="3229"/>
                <a:ext cx="69" cy="4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6" name="Rectangle 474"/>
              <p:cNvSpPr>
                <a:spLocks noChangeArrowheads="1"/>
              </p:cNvSpPr>
              <p:nvPr/>
            </p:nvSpPr>
            <p:spPr bwMode="auto">
              <a:xfrm>
                <a:off x="1382" y="3229"/>
                <a:ext cx="68" cy="4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7" name="Rectangle 475"/>
              <p:cNvSpPr>
                <a:spLocks noChangeArrowheads="1"/>
              </p:cNvSpPr>
              <p:nvPr/>
            </p:nvSpPr>
            <p:spPr bwMode="auto">
              <a:xfrm>
                <a:off x="1450" y="3229"/>
                <a:ext cx="68" cy="4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8" name="Rectangle 476"/>
              <p:cNvSpPr>
                <a:spLocks noChangeArrowheads="1"/>
              </p:cNvSpPr>
              <p:nvPr/>
            </p:nvSpPr>
            <p:spPr bwMode="auto">
              <a:xfrm>
                <a:off x="1518" y="3229"/>
                <a:ext cx="68" cy="4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89" name="Rectangle 477"/>
              <p:cNvSpPr>
                <a:spLocks noChangeArrowheads="1"/>
              </p:cNvSpPr>
              <p:nvPr/>
            </p:nvSpPr>
            <p:spPr bwMode="auto">
              <a:xfrm>
                <a:off x="1586" y="3229"/>
                <a:ext cx="68" cy="4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0" name="Rectangle 478"/>
              <p:cNvSpPr>
                <a:spLocks noChangeArrowheads="1"/>
              </p:cNvSpPr>
              <p:nvPr/>
            </p:nvSpPr>
            <p:spPr bwMode="auto">
              <a:xfrm>
                <a:off x="1654" y="3229"/>
                <a:ext cx="68" cy="4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1" name="Rectangle 479"/>
              <p:cNvSpPr>
                <a:spLocks noChangeArrowheads="1"/>
              </p:cNvSpPr>
              <p:nvPr/>
            </p:nvSpPr>
            <p:spPr bwMode="auto">
              <a:xfrm>
                <a:off x="1722" y="3229"/>
                <a:ext cx="69" cy="4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2" name="Rectangle 480"/>
              <p:cNvSpPr>
                <a:spLocks noChangeArrowheads="1"/>
              </p:cNvSpPr>
              <p:nvPr/>
            </p:nvSpPr>
            <p:spPr bwMode="auto">
              <a:xfrm>
                <a:off x="1791" y="3229"/>
                <a:ext cx="68" cy="4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3" name="Rectangle 481"/>
              <p:cNvSpPr>
                <a:spLocks noChangeArrowheads="1"/>
              </p:cNvSpPr>
              <p:nvPr/>
            </p:nvSpPr>
            <p:spPr bwMode="auto">
              <a:xfrm>
                <a:off x="1859" y="3229"/>
                <a:ext cx="68" cy="4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4" name="Rectangle 482"/>
              <p:cNvSpPr>
                <a:spLocks noChangeArrowheads="1"/>
              </p:cNvSpPr>
              <p:nvPr/>
            </p:nvSpPr>
            <p:spPr bwMode="auto">
              <a:xfrm>
                <a:off x="1927" y="3229"/>
                <a:ext cx="68" cy="4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5" name="Rectangle 483"/>
              <p:cNvSpPr>
                <a:spLocks noChangeArrowheads="1"/>
              </p:cNvSpPr>
              <p:nvPr/>
            </p:nvSpPr>
            <p:spPr bwMode="auto">
              <a:xfrm>
                <a:off x="1995" y="3229"/>
                <a:ext cx="68" cy="4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6" name="Rectangle 484"/>
              <p:cNvSpPr>
                <a:spLocks noChangeArrowheads="1"/>
              </p:cNvSpPr>
              <p:nvPr/>
            </p:nvSpPr>
            <p:spPr bwMode="auto">
              <a:xfrm>
                <a:off x="2063" y="3229"/>
                <a:ext cx="69" cy="4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7" name="Rectangle 485"/>
              <p:cNvSpPr>
                <a:spLocks noChangeArrowheads="1"/>
              </p:cNvSpPr>
              <p:nvPr/>
            </p:nvSpPr>
            <p:spPr bwMode="auto">
              <a:xfrm>
                <a:off x="2132" y="3229"/>
                <a:ext cx="68" cy="4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8" name="Rectangle 486"/>
              <p:cNvSpPr>
                <a:spLocks noChangeArrowheads="1"/>
              </p:cNvSpPr>
              <p:nvPr/>
            </p:nvSpPr>
            <p:spPr bwMode="auto">
              <a:xfrm>
                <a:off x="2200" y="3229"/>
                <a:ext cx="68" cy="4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99" name="Rectangle 487"/>
              <p:cNvSpPr>
                <a:spLocks noChangeArrowheads="1"/>
              </p:cNvSpPr>
              <p:nvPr/>
            </p:nvSpPr>
            <p:spPr bwMode="auto">
              <a:xfrm>
                <a:off x="2268" y="3229"/>
                <a:ext cx="69" cy="4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0" name="Freeform 488"/>
              <p:cNvSpPr>
                <a:spLocks/>
              </p:cNvSpPr>
              <p:nvPr/>
            </p:nvSpPr>
            <p:spPr bwMode="auto">
              <a:xfrm>
                <a:off x="2337" y="3229"/>
                <a:ext cx="68" cy="44"/>
              </a:xfrm>
              <a:custGeom>
                <a:avLst/>
                <a:gdLst>
                  <a:gd name="T0" fmla="*/ 0 w 136"/>
                  <a:gd name="T1" fmla="*/ 0 h 86"/>
                  <a:gd name="T2" fmla="*/ 136 w 136"/>
                  <a:gd name="T3" fmla="*/ 0 h 86"/>
                  <a:gd name="T4" fmla="*/ 24 w 136"/>
                  <a:gd name="T5" fmla="*/ 86 h 86"/>
                  <a:gd name="T6" fmla="*/ 0 w 136"/>
                  <a:gd name="T7" fmla="*/ 86 h 86"/>
                  <a:gd name="T8" fmla="*/ 0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0" y="0"/>
                    </a:moveTo>
                    <a:lnTo>
                      <a:pt x="136" y="0"/>
                    </a:lnTo>
                    <a:lnTo>
                      <a:pt x="24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1" name="Freeform 489"/>
              <p:cNvSpPr>
                <a:spLocks/>
              </p:cNvSpPr>
              <p:nvPr/>
            </p:nvSpPr>
            <p:spPr bwMode="auto">
              <a:xfrm>
                <a:off x="1041" y="3229"/>
                <a:ext cx="1364" cy="44"/>
              </a:xfrm>
              <a:custGeom>
                <a:avLst/>
                <a:gdLst>
                  <a:gd name="T0" fmla="*/ 118 w 2729"/>
                  <a:gd name="T1" fmla="*/ 86 h 86"/>
                  <a:gd name="T2" fmla="*/ 0 w 2729"/>
                  <a:gd name="T3" fmla="*/ 0 h 86"/>
                  <a:gd name="T4" fmla="*/ 2729 w 2729"/>
                  <a:gd name="T5" fmla="*/ 0 h 86"/>
                  <a:gd name="T6" fmla="*/ 2617 w 2729"/>
                  <a:gd name="T7" fmla="*/ 86 h 86"/>
                  <a:gd name="T8" fmla="*/ 118 w 272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6">
                    <a:moveTo>
                      <a:pt x="118" y="86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6"/>
                    </a:lnTo>
                    <a:lnTo>
                      <a:pt x="118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2" name="Freeform 490"/>
              <p:cNvSpPr>
                <a:spLocks/>
              </p:cNvSpPr>
              <p:nvPr/>
            </p:nvSpPr>
            <p:spPr bwMode="auto">
              <a:xfrm>
                <a:off x="1040" y="3228"/>
                <a:ext cx="16" cy="13"/>
              </a:xfrm>
              <a:custGeom>
                <a:avLst/>
                <a:gdLst>
                  <a:gd name="T0" fmla="*/ 33 w 33"/>
                  <a:gd name="T1" fmla="*/ 23 h 26"/>
                  <a:gd name="T2" fmla="*/ 0 w 33"/>
                  <a:gd name="T3" fmla="*/ 0 h 26"/>
                  <a:gd name="T4" fmla="*/ 0 w 33"/>
                  <a:gd name="T5" fmla="*/ 26 h 26"/>
                  <a:gd name="T6" fmla="*/ 33 w 33"/>
                  <a:gd name="T7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6">
                    <a:moveTo>
                      <a:pt x="33" y="23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3" y="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3" name="Freeform 491"/>
              <p:cNvSpPr>
                <a:spLocks/>
              </p:cNvSpPr>
              <p:nvPr/>
            </p:nvSpPr>
            <p:spPr bwMode="auto">
              <a:xfrm>
                <a:off x="1040" y="3239"/>
                <a:ext cx="32" cy="15"/>
              </a:xfrm>
              <a:custGeom>
                <a:avLst/>
                <a:gdLst>
                  <a:gd name="T0" fmla="*/ 33 w 64"/>
                  <a:gd name="T1" fmla="*/ 0 h 29"/>
                  <a:gd name="T2" fmla="*/ 64 w 64"/>
                  <a:gd name="T3" fmla="*/ 22 h 29"/>
                  <a:gd name="T4" fmla="*/ 0 w 64"/>
                  <a:gd name="T5" fmla="*/ 29 h 29"/>
                  <a:gd name="T6" fmla="*/ 0 w 64"/>
                  <a:gd name="T7" fmla="*/ 3 h 29"/>
                  <a:gd name="T8" fmla="*/ 33 w 64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9">
                    <a:moveTo>
                      <a:pt x="33" y="0"/>
                    </a:moveTo>
                    <a:lnTo>
                      <a:pt x="64" y="22"/>
                    </a:lnTo>
                    <a:lnTo>
                      <a:pt x="0" y="29"/>
                    </a:lnTo>
                    <a:lnTo>
                      <a:pt x="0" y="3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4" name="Freeform 492"/>
              <p:cNvSpPr>
                <a:spLocks/>
              </p:cNvSpPr>
              <p:nvPr/>
            </p:nvSpPr>
            <p:spPr bwMode="auto">
              <a:xfrm>
                <a:off x="1040" y="3250"/>
                <a:ext cx="48" cy="17"/>
              </a:xfrm>
              <a:custGeom>
                <a:avLst/>
                <a:gdLst>
                  <a:gd name="T0" fmla="*/ 64 w 97"/>
                  <a:gd name="T1" fmla="*/ 0 h 33"/>
                  <a:gd name="T2" fmla="*/ 97 w 97"/>
                  <a:gd name="T3" fmla="*/ 23 h 33"/>
                  <a:gd name="T4" fmla="*/ 0 w 97"/>
                  <a:gd name="T5" fmla="*/ 33 h 33"/>
                  <a:gd name="T6" fmla="*/ 0 w 97"/>
                  <a:gd name="T7" fmla="*/ 7 h 33"/>
                  <a:gd name="T8" fmla="*/ 64 w 97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33">
                    <a:moveTo>
                      <a:pt x="64" y="0"/>
                    </a:moveTo>
                    <a:lnTo>
                      <a:pt x="97" y="23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5" name="Freeform 493"/>
              <p:cNvSpPr>
                <a:spLocks/>
              </p:cNvSpPr>
              <p:nvPr/>
            </p:nvSpPr>
            <p:spPr bwMode="auto">
              <a:xfrm>
                <a:off x="1040" y="3261"/>
                <a:ext cx="61" cy="18"/>
              </a:xfrm>
              <a:custGeom>
                <a:avLst/>
                <a:gdLst>
                  <a:gd name="T0" fmla="*/ 97 w 123"/>
                  <a:gd name="T1" fmla="*/ 0 h 36"/>
                  <a:gd name="T2" fmla="*/ 123 w 123"/>
                  <a:gd name="T3" fmla="*/ 19 h 36"/>
                  <a:gd name="T4" fmla="*/ 123 w 123"/>
                  <a:gd name="T5" fmla="*/ 24 h 36"/>
                  <a:gd name="T6" fmla="*/ 0 w 123"/>
                  <a:gd name="T7" fmla="*/ 36 h 36"/>
                  <a:gd name="T8" fmla="*/ 0 w 123"/>
                  <a:gd name="T9" fmla="*/ 10 h 36"/>
                  <a:gd name="T10" fmla="*/ 97 w 123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6">
                    <a:moveTo>
                      <a:pt x="97" y="0"/>
                    </a:moveTo>
                    <a:lnTo>
                      <a:pt x="123" y="19"/>
                    </a:lnTo>
                    <a:lnTo>
                      <a:pt x="123" y="24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6" name="Freeform 494"/>
              <p:cNvSpPr>
                <a:spLocks/>
              </p:cNvSpPr>
              <p:nvPr/>
            </p:nvSpPr>
            <p:spPr bwMode="auto">
              <a:xfrm>
                <a:off x="1040" y="3273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2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7" name="Freeform 495"/>
              <p:cNvSpPr>
                <a:spLocks/>
              </p:cNvSpPr>
              <p:nvPr/>
            </p:nvSpPr>
            <p:spPr bwMode="auto">
              <a:xfrm>
                <a:off x="1040" y="3286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4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8" name="Freeform 496"/>
              <p:cNvSpPr>
                <a:spLocks/>
              </p:cNvSpPr>
              <p:nvPr/>
            </p:nvSpPr>
            <p:spPr bwMode="auto">
              <a:xfrm>
                <a:off x="1040" y="3299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5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09" name="Freeform 497"/>
              <p:cNvSpPr>
                <a:spLocks/>
              </p:cNvSpPr>
              <p:nvPr/>
            </p:nvSpPr>
            <p:spPr bwMode="auto">
              <a:xfrm>
                <a:off x="1040" y="3312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0" name="Freeform 498"/>
              <p:cNvSpPr>
                <a:spLocks/>
              </p:cNvSpPr>
              <p:nvPr/>
            </p:nvSpPr>
            <p:spPr bwMode="auto">
              <a:xfrm>
                <a:off x="1040" y="3325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1" name="Freeform 499"/>
              <p:cNvSpPr>
                <a:spLocks/>
              </p:cNvSpPr>
              <p:nvPr/>
            </p:nvSpPr>
            <p:spPr bwMode="auto">
              <a:xfrm>
                <a:off x="1040" y="3338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2" name="Freeform 500"/>
              <p:cNvSpPr>
                <a:spLocks/>
              </p:cNvSpPr>
              <p:nvPr/>
            </p:nvSpPr>
            <p:spPr bwMode="auto">
              <a:xfrm>
                <a:off x="1040" y="3351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8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3" name="Freeform 501"/>
              <p:cNvSpPr>
                <a:spLocks/>
              </p:cNvSpPr>
              <p:nvPr/>
            </p:nvSpPr>
            <p:spPr bwMode="auto">
              <a:xfrm>
                <a:off x="1040" y="3365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4" name="Freeform 502"/>
              <p:cNvSpPr>
                <a:spLocks/>
              </p:cNvSpPr>
              <p:nvPr/>
            </p:nvSpPr>
            <p:spPr bwMode="auto">
              <a:xfrm>
                <a:off x="1040" y="3378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5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5" name="Freeform 503"/>
              <p:cNvSpPr>
                <a:spLocks/>
              </p:cNvSpPr>
              <p:nvPr/>
            </p:nvSpPr>
            <p:spPr bwMode="auto">
              <a:xfrm>
                <a:off x="1040" y="3391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3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6" name="Freeform 504"/>
              <p:cNvSpPr>
                <a:spLocks/>
              </p:cNvSpPr>
              <p:nvPr/>
            </p:nvSpPr>
            <p:spPr bwMode="auto">
              <a:xfrm>
                <a:off x="1040" y="3404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2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7" name="Freeform 505"/>
              <p:cNvSpPr>
                <a:spLocks/>
              </p:cNvSpPr>
              <p:nvPr/>
            </p:nvSpPr>
            <p:spPr bwMode="auto">
              <a:xfrm>
                <a:off x="1040" y="3417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8" name="Freeform 506"/>
              <p:cNvSpPr>
                <a:spLocks/>
              </p:cNvSpPr>
              <p:nvPr/>
            </p:nvSpPr>
            <p:spPr bwMode="auto">
              <a:xfrm>
                <a:off x="1040" y="3430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17 h 40"/>
                  <a:gd name="T4" fmla="*/ 109 w 123"/>
                  <a:gd name="T5" fmla="*/ 28 h 40"/>
                  <a:gd name="T6" fmla="*/ 0 w 123"/>
                  <a:gd name="T7" fmla="*/ 40 h 40"/>
                  <a:gd name="T8" fmla="*/ 0 w 123"/>
                  <a:gd name="T9" fmla="*/ 14 h 40"/>
                  <a:gd name="T10" fmla="*/ 123 w 123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17"/>
                    </a:lnTo>
                    <a:lnTo>
                      <a:pt x="109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19" name="Freeform 507"/>
              <p:cNvSpPr>
                <a:spLocks/>
              </p:cNvSpPr>
              <p:nvPr/>
            </p:nvSpPr>
            <p:spPr bwMode="auto">
              <a:xfrm>
                <a:off x="1040" y="3443"/>
                <a:ext cx="54" cy="19"/>
              </a:xfrm>
              <a:custGeom>
                <a:avLst/>
                <a:gdLst>
                  <a:gd name="T0" fmla="*/ 109 w 109"/>
                  <a:gd name="T1" fmla="*/ 0 h 38"/>
                  <a:gd name="T2" fmla="*/ 66 w 109"/>
                  <a:gd name="T3" fmla="*/ 31 h 38"/>
                  <a:gd name="T4" fmla="*/ 0 w 109"/>
                  <a:gd name="T5" fmla="*/ 38 h 38"/>
                  <a:gd name="T6" fmla="*/ 0 w 109"/>
                  <a:gd name="T7" fmla="*/ 12 h 38"/>
                  <a:gd name="T8" fmla="*/ 109 w 109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38">
                    <a:moveTo>
                      <a:pt x="109" y="0"/>
                    </a:moveTo>
                    <a:lnTo>
                      <a:pt x="66" y="31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0" name="Freeform 508"/>
              <p:cNvSpPr>
                <a:spLocks/>
              </p:cNvSpPr>
              <p:nvPr/>
            </p:nvSpPr>
            <p:spPr bwMode="auto">
              <a:xfrm>
                <a:off x="1040" y="3459"/>
                <a:ext cx="32" cy="16"/>
              </a:xfrm>
              <a:custGeom>
                <a:avLst/>
                <a:gdLst>
                  <a:gd name="T0" fmla="*/ 66 w 66"/>
                  <a:gd name="T1" fmla="*/ 0 h 33"/>
                  <a:gd name="T2" fmla="*/ 23 w 66"/>
                  <a:gd name="T3" fmla="*/ 31 h 33"/>
                  <a:gd name="T4" fmla="*/ 0 w 66"/>
                  <a:gd name="T5" fmla="*/ 33 h 33"/>
                  <a:gd name="T6" fmla="*/ 0 w 66"/>
                  <a:gd name="T7" fmla="*/ 7 h 33"/>
                  <a:gd name="T8" fmla="*/ 66 w 6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33">
                    <a:moveTo>
                      <a:pt x="66" y="0"/>
                    </a:moveTo>
                    <a:lnTo>
                      <a:pt x="23" y="31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1" name="Freeform 509"/>
              <p:cNvSpPr>
                <a:spLocks/>
              </p:cNvSpPr>
              <p:nvPr/>
            </p:nvSpPr>
            <p:spPr bwMode="auto">
              <a:xfrm>
                <a:off x="1040" y="3474"/>
                <a:ext cx="11" cy="8"/>
              </a:xfrm>
              <a:custGeom>
                <a:avLst/>
                <a:gdLst>
                  <a:gd name="T0" fmla="*/ 23 w 23"/>
                  <a:gd name="T1" fmla="*/ 0 h 15"/>
                  <a:gd name="T2" fmla="*/ 0 w 23"/>
                  <a:gd name="T3" fmla="*/ 15 h 15"/>
                  <a:gd name="T4" fmla="*/ 0 w 23"/>
                  <a:gd name="T5" fmla="*/ 2 h 15"/>
                  <a:gd name="T6" fmla="*/ 23 w 2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15">
                    <a:moveTo>
                      <a:pt x="23" y="0"/>
                    </a:moveTo>
                    <a:lnTo>
                      <a:pt x="0" y="15"/>
                    </a:lnTo>
                    <a:lnTo>
                      <a:pt x="0" y="2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2" name="Freeform 510"/>
              <p:cNvSpPr>
                <a:spLocks/>
              </p:cNvSpPr>
              <p:nvPr/>
            </p:nvSpPr>
            <p:spPr bwMode="auto">
              <a:xfrm>
                <a:off x="1040" y="3228"/>
                <a:ext cx="61" cy="254"/>
              </a:xfrm>
              <a:custGeom>
                <a:avLst/>
                <a:gdLst>
                  <a:gd name="T0" fmla="*/ 123 w 123"/>
                  <a:gd name="T1" fmla="*/ 421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7 h 509"/>
                  <a:gd name="T8" fmla="*/ 123 w 123"/>
                  <a:gd name="T9" fmla="*/ 421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1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7"/>
                    </a:lnTo>
                    <a:lnTo>
                      <a:pt x="123" y="421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3" name="Rectangle 511"/>
              <p:cNvSpPr>
                <a:spLocks noChangeArrowheads="1"/>
              </p:cNvSpPr>
              <p:nvPr/>
            </p:nvSpPr>
            <p:spPr bwMode="auto">
              <a:xfrm>
                <a:off x="1041" y="1901"/>
                <a:ext cx="69" cy="254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4" name="Rectangle 512"/>
              <p:cNvSpPr>
                <a:spLocks noChangeArrowheads="1"/>
              </p:cNvSpPr>
              <p:nvPr/>
            </p:nvSpPr>
            <p:spPr bwMode="auto">
              <a:xfrm>
                <a:off x="1110" y="1901"/>
                <a:ext cx="68" cy="254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5" name="Rectangle 513"/>
              <p:cNvSpPr>
                <a:spLocks noChangeArrowheads="1"/>
              </p:cNvSpPr>
              <p:nvPr/>
            </p:nvSpPr>
            <p:spPr bwMode="auto">
              <a:xfrm>
                <a:off x="1178" y="1901"/>
                <a:ext cx="68" cy="254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6" name="Rectangle 514"/>
              <p:cNvSpPr>
                <a:spLocks noChangeArrowheads="1"/>
              </p:cNvSpPr>
              <p:nvPr/>
            </p:nvSpPr>
            <p:spPr bwMode="auto">
              <a:xfrm>
                <a:off x="1246" y="1901"/>
                <a:ext cx="68" cy="254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7" name="Rectangle 515"/>
              <p:cNvSpPr>
                <a:spLocks noChangeArrowheads="1"/>
              </p:cNvSpPr>
              <p:nvPr/>
            </p:nvSpPr>
            <p:spPr bwMode="auto">
              <a:xfrm>
                <a:off x="1314" y="1901"/>
                <a:ext cx="68" cy="254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8" name="Rectangle 516"/>
              <p:cNvSpPr>
                <a:spLocks noChangeArrowheads="1"/>
              </p:cNvSpPr>
              <p:nvPr/>
            </p:nvSpPr>
            <p:spPr bwMode="auto">
              <a:xfrm>
                <a:off x="1382" y="1901"/>
                <a:ext cx="69" cy="254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29" name="Rectangle 517"/>
              <p:cNvSpPr>
                <a:spLocks noChangeArrowheads="1"/>
              </p:cNvSpPr>
              <p:nvPr/>
            </p:nvSpPr>
            <p:spPr bwMode="auto">
              <a:xfrm>
                <a:off x="1451" y="1901"/>
                <a:ext cx="68" cy="254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0" name="Rectangle 518"/>
              <p:cNvSpPr>
                <a:spLocks noChangeArrowheads="1"/>
              </p:cNvSpPr>
              <p:nvPr/>
            </p:nvSpPr>
            <p:spPr bwMode="auto">
              <a:xfrm>
                <a:off x="1519" y="1901"/>
                <a:ext cx="68" cy="254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1" name="Rectangle 519"/>
              <p:cNvSpPr>
                <a:spLocks noChangeArrowheads="1"/>
              </p:cNvSpPr>
              <p:nvPr/>
            </p:nvSpPr>
            <p:spPr bwMode="auto">
              <a:xfrm>
                <a:off x="1587" y="1901"/>
                <a:ext cx="68" cy="254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2" name="Rectangle 520"/>
              <p:cNvSpPr>
                <a:spLocks noChangeArrowheads="1"/>
              </p:cNvSpPr>
              <p:nvPr/>
            </p:nvSpPr>
            <p:spPr bwMode="auto">
              <a:xfrm>
                <a:off x="1655" y="1901"/>
                <a:ext cx="69" cy="254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3" name="Rectangle 521"/>
              <p:cNvSpPr>
                <a:spLocks noChangeArrowheads="1"/>
              </p:cNvSpPr>
              <p:nvPr/>
            </p:nvSpPr>
            <p:spPr bwMode="auto">
              <a:xfrm>
                <a:off x="1724" y="1901"/>
                <a:ext cx="68" cy="254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4" name="Rectangle 522"/>
              <p:cNvSpPr>
                <a:spLocks noChangeArrowheads="1"/>
              </p:cNvSpPr>
              <p:nvPr/>
            </p:nvSpPr>
            <p:spPr bwMode="auto">
              <a:xfrm>
                <a:off x="1792" y="1901"/>
                <a:ext cx="69" cy="254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5" name="Rectangle 523"/>
              <p:cNvSpPr>
                <a:spLocks noChangeArrowheads="1"/>
              </p:cNvSpPr>
              <p:nvPr/>
            </p:nvSpPr>
            <p:spPr bwMode="auto">
              <a:xfrm>
                <a:off x="1861" y="1901"/>
                <a:ext cx="68" cy="254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6" name="Rectangle 524"/>
              <p:cNvSpPr>
                <a:spLocks noChangeArrowheads="1"/>
              </p:cNvSpPr>
              <p:nvPr/>
            </p:nvSpPr>
            <p:spPr bwMode="auto">
              <a:xfrm>
                <a:off x="1929" y="1901"/>
                <a:ext cx="68" cy="254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7" name="Rectangle 525"/>
              <p:cNvSpPr>
                <a:spLocks noChangeArrowheads="1"/>
              </p:cNvSpPr>
              <p:nvPr/>
            </p:nvSpPr>
            <p:spPr bwMode="auto">
              <a:xfrm>
                <a:off x="1997" y="1901"/>
                <a:ext cx="68" cy="254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8" name="Rectangle 526"/>
              <p:cNvSpPr>
                <a:spLocks noChangeArrowheads="1"/>
              </p:cNvSpPr>
              <p:nvPr/>
            </p:nvSpPr>
            <p:spPr bwMode="auto">
              <a:xfrm>
                <a:off x="2065" y="1901"/>
                <a:ext cx="68" cy="254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39" name="Rectangle 527"/>
              <p:cNvSpPr>
                <a:spLocks noChangeArrowheads="1"/>
              </p:cNvSpPr>
              <p:nvPr/>
            </p:nvSpPr>
            <p:spPr bwMode="auto">
              <a:xfrm>
                <a:off x="2133" y="1901"/>
                <a:ext cx="68" cy="254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0" name="Rectangle 528"/>
              <p:cNvSpPr>
                <a:spLocks noChangeArrowheads="1"/>
              </p:cNvSpPr>
              <p:nvPr/>
            </p:nvSpPr>
            <p:spPr bwMode="auto">
              <a:xfrm>
                <a:off x="2201" y="1901"/>
                <a:ext cx="69" cy="254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1" name="Rectangle 529"/>
              <p:cNvSpPr>
                <a:spLocks noChangeArrowheads="1"/>
              </p:cNvSpPr>
              <p:nvPr/>
            </p:nvSpPr>
            <p:spPr bwMode="auto">
              <a:xfrm>
                <a:off x="2270" y="1901"/>
                <a:ext cx="69" cy="254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2" name="Rectangle 530"/>
              <p:cNvSpPr>
                <a:spLocks noChangeArrowheads="1"/>
              </p:cNvSpPr>
              <p:nvPr/>
            </p:nvSpPr>
            <p:spPr bwMode="auto">
              <a:xfrm>
                <a:off x="2339" y="1901"/>
                <a:ext cx="68" cy="254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3" name="Rectangle 531"/>
              <p:cNvSpPr>
                <a:spLocks noChangeArrowheads="1"/>
              </p:cNvSpPr>
              <p:nvPr/>
            </p:nvSpPr>
            <p:spPr bwMode="auto">
              <a:xfrm>
                <a:off x="1041" y="1901"/>
                <a:ext cx="1366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4" name="Rectangle 532"/>
              <p:cNvSpPr>
                <a:spLocks noChangeArrowheads="1"/>
              </p:cNvSpPr>
              <p:nvPr/>
            </p:nvSpPr>
            <p:spPr bwMode="auto">
              <a:xfrm>
                <a:off x="1041" y="1897"/>
                <a:ext cx="69" cy="2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5" name="Rectangle 533"/>
              <p:cNvSpPr>
                <a:spLocks noChangeArrowheads="1"/>
              </p:cNvSpPr>
              <p:nvPr/>
            </p:nvSpPr>
            <p:spPr bwMode="auto">
              <a:xfrm>
                <a:off x="1110" y="1897"/>
                <a:ext cx="68" cy="255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6" name="Rectangle 534"/>
              <p:cNvSpPr>
                <a:spLocks noChangeArrowheads="1"/>
              </p:cNvSpPr>
              <p:nvPr/>
            </p:nvSpPr>
            <p:spPr bwMode="auto">
              <a:xfrm>
                <a:off x="1178" y="1897"/>
                <a:ext cx="68" cy="255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7" name="Rectangle 535"/>
              <p:cNvSpPr>
                <a:spLocks noChangeArrowheads="1"/>
              </p:cNvSpPr>
              <p:nvPr/>
            </p:nvSpPr>
            <p:spPr bwMode="auto">
              <a:xfrm>
                <a:off x="1246" y="1897"/>
                <a:ext cx="68" cy="255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8" name="Rectangle 536"/>
              <p:cNvSpPr>
                <a:spLocks noChangeArrowheads="1"/>
              </p:cNvSpPr>
              <p:nvPr/>
            </p:nvSpPr>
            <p:spPr bwMode="auto">
              <a:xfrm>
                <a:off x="1314" y="1897"/>
                <a:ext cx="68" cy="255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49" name="Rectangle 537"/>
              <p:cNvSpPr>
                <a:spLocks noChangeArrowheads="1"/>
              </p:cNvSpPr>
              <p:nvPr/>
            </p:nvSpPr>
            <p:spPr bwMode="auto">
              <a:xfrm>
                <a:off x="1382" y="1897"/>
                <a:ext cx="69" cy="255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0" name="Rectangle 538"/>
              <p:cNvSpPr>
                <a:spLocks noChangeArrowheads="1"/>
              </p:cNvSpPr>
              <p:nvPr/>
            </p:nvSpPr>
            <p:spPr bwMode="auto">
              <a:xfrm>
                <a:off x="1451" y="1897"/>
                <a:ext cx="68" cy="255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1" name="Rectangle 539"/>
              <p:cNvSpPr>
                <a:spLocks noChangeArrowheads="1"/>
              </p:cNvSpPr>
              <p:nvPr/>
            </p:nvSpPr>
            <p:spPr bwMode="auto">
              <a:xfrm>
                <a:off x="1519" y="1897"/>
                <a:ext cx="68" cy="255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2" name="Rectangle 540"/>
              <p:cNvSpPr>
                <a:spLocks noChangeArrowheads="1"/>
              </p:cNvSpPr>
              <p:nvPr/>
            </p:nvSpPr>
            <p:spPr bwMode="auto">
              <a:xfrm>
                <a:off x="1587" y="1897"/>
                <a:ext cx="68" cy="255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3" name="Rectangle 541"/>
              <p:cNvSpPr>
                <a:spLocks noChangeArrowheads="1"/>
              </p:cNvSpPr>
              <p:nvPr/>
            </p:nvSpPr>
            <p:spPr bwMode="auto">
              <a:xfrm>
                <a:off x="1655" y="1897"/>
                <a:ext cx="69" cy="255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4" name="Rectangle 542"/>
              <p:cNvSpPr>
                <a:spLocks noChangeArrowheads="1"/>
              </p:cNvSpPr>
              <p:nvPr/>
            </p:nvSpPr>
            <p:spPr bwMode="auto">
              <a:xfrm>
                <a:off x="1724" y="1897"/>
                <a:ext cx="68" cy="255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5" name="Rectangle 543"/>
              <p:cNvSpPr>
                <a:spLocks noChangeArrowheads="1"/>
              </p:cNvSpPr>
              <p:nvPr/>
            </p:nvSpPr>
            <p:spPr bwMode="auto">
              <a:xfrm>
                <a:off x="1792" y="1897"/>
                <a:ext cx="69" cy="255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6" name="Rectangle 544"/>
              <p:cNvSpPr>
                <a:spLocks noChangeArrowheads="1"/>
              </p:cNvSpPr>
              <p:nvPr/>
            </p:nvSpPr>
            <p:spPr bwMode="auto">
              <a:xfrm>
                <a:off x="1861" y="1897"/>
                <a:ext cx="68" cy="255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7" name="Rectangle 545"/>
              <p:cNvSpPr>
                <a:spLocks noChangeArrowheads="1"/>
              </p:cNvSpPr>
              <p:nvPr/>
            </p:nvSpPr>
            <p:spPr bwMode="auto">
              <a:xfrm>
                <a:off x="1929" y="1897"/>
                <a:ext cx="68" cy="255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8" name="Rectangle 546"/>
              <p:cNvSpPr>
                <a:spLocks noChangeArrowheads="1"/>
              </p:cNvSpPr>
              <p:nvPr/>
            </p:nvSpPr>
            <p:spPr bwMode="auto">
              <a:xfrm>
                <a:off x="1997" y="1897"/>
                <a:ext cx="68" cy="255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59" name="Rectangle 547"/>
              <p:cNvSpPr>
                <a:spLocks noChangeArrowheads="1"/>
              </p:cNvSpPr>
              <p:nvPr/>
            </p:nvSpPr>
            <p:spPr bwMode="auto">
              <a:xfrm>
                <a:off x="2065" y="1897"/>
                <a:ext cx="68" cy="255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0" name="Rectangle 548"/>
              <p:cNvSpPr>
                <a:spLocks noChangeArrowheads="1"/>
              </p:cNvSpPr>
              <p:nvPr/>
            </p:nvSpPr>
            <p:spPr bwMode="auto">
              <a:xfrm>
                <a:off x="2133" y="1897"/>
                <a:ext cx="68" cy="255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1" name="Rectangle 549"/>
              <p:cNvSpPr>
                <a:spLocks noChangeArrowheads="1"/>
              </p:cNvSpPr>
              <p:nvPr/>
            </p:nvSpPr>
            <p:spPr bwMode="auto">
              <a:xfrm>
                <a:off x="2201" y="1897"/>
                <a:ext cx="69" cy="255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2" name="Rectangle 550"/>
              <p:cNvSpPr>
                <a:spLocks noChangeArrowheads="1"/>
              </p:cNvSpPr>
              <p:nvPr/>
            </p:nvSpPr>
            <p:spPr bwMode="auto">
              <a:xfrm>
                <a:off x="2270" y="1897"/>
                <a:ext cx="69" cy="255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3" name="Rectangle 551"/>
              <p:cNvSpPr>
                <a:spLocks noChangeArrowheads="1"/>
              </p:cNvSpPr>
              <p:nvPr/>
            </p:nvSpPr>
            <p:spPr bwMode="auto">
              <a:xfrm>
                <a:off x="2339" y="1897"/>
                <a:ext cx="68" cy="25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4" name="Rectangle 552"/>
              <p:cNvSpPr>
                <a:spLocks noChangeArrowheads="1"/>
              </p:cNvSpPr>
              <p:nvPr/>
            </p:nvSpPr>
            <p:spPr bwMode="auto">
              <a:xfrm>
                <a:off x="1041" y="1897"/>
                <a:ext cx="1366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5" name="Freeform 553"/>
              <p:cNvSpPr>
                <a:spLocks/>
              </p:cNvSpPr>
              <p:nvPr/>
            </p:nvSpPr>
            <p:spPr bwMode="auto">
              <a:xfrm>
                <a:off x="2392" y="1900"/>
                <a:ext cx="10" cy="7"/>
              </a:xfrm>
              <a:custGeom>
                <a:avLst/>
                <a:gdLst>
                  <a:gd name="T0" fmla="*/ 19 w 19"/>
                  <a:gd name="T1" fmla="*/ 12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2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6" name="Freeform 554"/>
              <p:cNvSpPr>
                <a:spLocks/>
              </p:cNvSpPr>
              <p:nvPr/>
            </p:nvSpPr>
            <p:spPr bwMode="auto">
              <a:xfrm>
                <a:off x="2374" y="1906"/>
                <a:ext cx="28" cy="16"/>
              </a:xfrm>
              <a:custGeom>
                <a:avLst/>
                <a:gdLst>
                  <a:gd name="T0" fmla="*/ 55 w 55"/>
                  <a:gd name="T1" fmla="*/ 0 h 31"/>
                  <a:gd name="T2" fmla="*/ 55 w 55"/>
                  <a:gd name="T3" fmla="*/ 24 h 31"/>
                  <a:gd name="T4" fmla="*/ 0 w 55"/>
                  <a:gd name="T5" fmla="*/ 31 h 31"/>
                  <a:gd name="T6" fmla="*/ 36 w 55"/>
                  <a:gd name="T7" fmla="*/ 2 h 31"/>
                  <a:gd name="T8" fmla="*/ 55 w 5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1">
                    <a:moveTo>
                      <a:pt x="55" y="0"/>
                    </a:moveTo>
                    <a:lnTo>
                      <a:pt x="55" y="24"/>
                    </a:lnTo>
                    <a:lnTo>
                      <a:pt x="0" y="31"/>
                    </a:lnTo>
                    <a:lnTo>
                      <a:pt x="36" y="2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7" name="Freeform 555"/>
              <p:cNvSpPr>
                <a:spLocks/>
              </p:cNvSpPr>
              <p:nvPr/>
            </p:nvSpPr>
            <p:spPr bwMode="auto">
              <a:xfrm>
                <a:off x="2353" y="1918"/>
                <a:ext cx="49" cy="19"/>
              </a:xfrm>
              <a:custGeom>
                <a:avLst/>
                <a:gdLst>
                  <a:gd name="T0" fmla="*/ 96 w 96"/>
                  <a:gd name="T1" fmla="*/ 0 h 38"/>
                  <a:gd name="T2" fmla="*/ 96 w 96"/>
                  <a:gd name="T3" fmla="*/ 26 h 38"/>
                  <a:gd name="T4" fmla="*/ 0 w 96"/>
                  <a:gd name="T5" fmla="*/ 38 h 38"/>
                  <a:gd name="T6" fmla="*/ 41 w 96"/>
                  <a:gd name="T7" fmla="*/ 7 h 38"/>
                  <a:gd name="T8" fmla="*/ 96 w 96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38">
                    <a:moveTo>
                      <a:pt x="96" y="0"/>
                    </a:moveTo>
                    <a:lnTo>
                      <a:pt x="96" y="26"/>
                    </a:lnTo>
                    <a:lnTo>
                      <a:pt x="0" y="38"/>
                    </a:lnTo>
                    <a:lnTo>
                      <a:pt x="41" y="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8" name="Freeform 556"/>
              <p:cNvSpPr>
                <a:spLocks/>
              </p:cNvSpPr>
              <p:nvPr/>
            </p:nvSpPr>
            <p:spPr bwMode="auto">
              <a:xfrm>
                <a:off x="2346" y="1931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24 h 40"/>
                  <a:gd name="T8" fmla="*/ 16 w 112"/>
                  <a:gd name="T9" fmla="*/ 12 h 40"/>
                  <a:gd name="T10" fmla="*/ 112 w 112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24"/>
                    </a:lnTo>
                    <a:lnTo>
                      <a:pt x="16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69" name="Freeform 557"/>
              <p:cNvSpPr>
                <a:spLocks/>
              </p:cNvSpPr>
              <p:nvPr/>
            </p:nvSpPr>
            <p:spPr bwMode="auto">
              <a:xfrm>
                <a:off x="2346" y="1944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0" name="Freeform 558"/>
              <p:cNvSpPr>
                <a:spLocks/>
              </p:cNvSpPr>
              <p:nvPr/>
            </p:nvSpPr>
            <p:spPr bwMode="auto">
              <a:xfrm>
                <a:off x="2346" y="1957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7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1" name="Freeform 559"/>
              <p:cNvSpPr>
                <a:spLocks/>
              </p:cNvSpPr>
              <p:nvPr/>
            </p:nvSpPr>
            <p:spPr bwMode="auto">
              <a:xfrm>
                <a:off x="2346" y="197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2" name="Freeform 560"/>
              <p:cNvSpPr>
                <a:spLocks/>
              </p:cNvSpPr>
              <p:nvPr/>
            </p:nvSpPr>
            <p:spPr bwMode="auto">
              <a:xfrm>
                <a:off x="2346" y="198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3" name="Freeform 561"/>
              <p:cNvSpPr>
                <a:spLocks/>
              </p:cNvSpPr>
              <p:nvPr/>
            </p:nvSpPr>
            <p:spPr bwMode="auto">
              <a:xfrm>
                <a:off x="2346" y="199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4" name="Freeform 562"/>
              <p:cNvSpPr>
                <a:spLocks/>
              </p:cNvSpPr>
              <p:nvPr/>
            </p:nvSpPr>
            <p:spPr bwMode="auto">
              <a:xfrm>
                <a:off x="2346" y="2010"/>
                <a:ext cx="56" cy="19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2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5" name="Freeform 563"/>
              <p:cNvSpPr>
                <a:spLocks/>
              </p:cNvSpPr>
              <p:nvPr/>
            </p:nvSpPr>
            <p:spPr bwMode="auto">
              <a:xfrm>
                <a:off x="2346" y="2022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6" name="Freeform 564"/>
              <p:cNvSpPr>
                <a:spLocks/>
              </p:cNvSpPr>
              <p:nvPr/>
            </p:nvSpPr>
            <p:spPr bwMode="auto">
              <a:xfrm>
                <a:off x="2346" y="2035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7" name="Freeform 565"/>
              <p:cNvSpPr>
                <a:spLocks/>
              </p:cNvSpPr>
              <p:nvPr/>
            </p:nvSpPr>
            <p:spPr bwMode="auto">
              <a:xfrm>
                <a:off x="2346" y="2048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8" name="Freeform 566"/>
              <p:cNvSpPr>
                <a:spLocks/>
              </p:cNvSpPr>
              <p:nvPr/>
            </p:nvSpPr>
            <p:spPr bwMode="auto">
              <a:xfrm>
                <a:off x="2346" y="2061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5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79" name="Freeform 567"/>
              <p:cNvSpPr>
                <a:spLocks/>
              </p:cNvSpPr>
              <p:nvPr/>
            </p:nvSpPr>
            <p:spPr bwMode="auto">
              <a:xfrm>
                <a:off x="2346" y="2074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0" name="Freeform 568"/>
              <p:cNvSpPr>
                <a:spLocks/>
              </p:cNvSpPr>
              <p:nvPr/>
            </p:nvSpPr>
            <p:spPr bwMode="auto">
              <a:xfrm>
                <a:off x="2346" y="2087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8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1" name="Freeform 569"/>
              <p:cNvSpPr>
                <a:spLocks/>
              </p:cNvSpPr>
              <p:nvPr/>
            </p:nvSpPr>
            <p:spPr bwMode="auto">
              <a:xfrm>
                <a:off x="2346" y="2101"/>
                <a:ext cx="56" cy="17"/>
              </a:xfrm>
              <a:custGeom>
                <a:avLst/>
                <a:gdLst>
                  <a:gd name="T0" fmla="*/ 112 w 112"/>
                  <a:gd name="T1" fmla="*/ 0 h 34"/>
                  <a:gd name="T2" fmla="*/ 112 w 112"/>
                  <a:gd name="T3" fmla="*/ 26 h 34"/>
                  <a:gd name="T4" fmla="*/ 28 w 112"/>
                  <a:gd name="T5" fmla="*/ 34 h 34"/>
                  <a:gd name="T6" fmla="*/ 0 w 112"/>
                  <a:gd name="T7" fmla="*/ 14 h 34"/>
                  <a:gd name="T8" fmla="*/ 0 w 112"/>
                  <a:gd name="T9" fmla="*/ 12 h 34"/>
                  <a:gd name="T10" fmla="*/ 112 w 112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4">
                    <a:moveTo>
                      <a:pt x="112" y="0"/>
                    </a:moveTo>
                    <a:lnTo>
                      <a:pt x="112" y="26"/>
                    </a:lnTo>
                    <a:lnTo>
                      <a:pt x="28" y="34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2" name="Freeform 570"/>
              <p:cNvSpPr>
                <a:spLocks/>
              </p:cNvSpPr>
              <p:nvPr/>
            </p:nvSpPr>
            <p:spPr bwMode="auto">
              <a:xfrm>
                <a:off x="2359" y="2114"/>
                <a:ext cx="43" cy="15"/>
              </a:xfrm>
              <a:custGeom>
                <a:avLst/>
                <a:gdLst>
                  <a:gd name="T0" fmla="*/ 84 w 84"/>
                  <a:gd name="T1" fmla="*/ 0 h 31"/>
                  <a:gd name="T2" fmla="*/ 84 w 84"/>
                  <a:gd name="T3" fmla="*/ 26 h 31"/>
                  <a:gd name="T4" fmla="*/ 27 w 84"/>
                  <a:gd name="T5" fmla="*/ 31 h 31"/>
                  <a:gd name="T6" fmla="*/ 0 w 84"/>
                  <a:gd name="T7" fmla="*/ 8 h 31"/>
                  <a:gd name="T8" fmla="*/ 84 w 84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31">
                    <a:moveTo>
                      <a:pt x="84" y="0"/>
                    </a:moveTo>
                    <a:lnTo>
                      <a:pt x="84" y="26"/>
                    </a:lnTo>
                    <a:lnTo>
                      <a:pt x="27" y="31"/>
                    </a:lnTo>
                    <a:lnTo>
                      <a:pt x="0" y="8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3" name="Freeform 571"/>
              <p:cNvSpPr>
                <a:spLocks/>
              </p:cNvSpPr>
              <p:nvPr/>
            </p:nvSpPr>
            <p:spPr bwMode="auto">
              <a:xfrm>
                <a:off x="2373" y="2127"/>
                <a:ext cx="29" cy="15"/>
              </a:xfrm>
              <a:custGeom>
                <a:avLst/>
                <a:gdLst>
                  <a:gd name="T0" fmla="*/ 57 w 57"/>
                  <a:gd name="T1" fmla="*/ 0 h 29"/>
                  <a:gd name="T2" fmla="*/ 57 w 57"/>
                  <a:gd name="T3" fmla="*/ 26 h 29"/>
                  <a:gd name="T4" fmla="*/ 30 w 57"/>
                  <a:gd name="T5" fmla="*/ 29 h 29"/>
                  <a:gd name="T6" fmla="*/ 0 w 57"/>
                  <a:gd name="T7" fmla="*/ 5 h 29"/>
                  <a:gd name="T8" fmla="*/ 57 w 57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29">
                    <a:moveTo>
                      <a:pt x="57" y="0"/>
                    </a:moveTo>
                    <a:lnTo>
                      <a:pt x="57" y="26"/>
                    </a:lnTo>
                    <a:lnTo>
                      <a:pt x="30" y="29"/>
                    </a:lnTo>
                    <a:lnTo>
                      <a:pt x="0" y="5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4" name="Freeform 572"/>
              <p:cNvSpPr>
                <a:spLocks/>
              </p:cNvSpPr>
              <p:nvPr/>
            </p:nvSpPr>
            <p:spPr bwMode="auto">
              <a:xfrm>
                <a:off x="2388" y="2140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3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3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5" name="Freeform 573"/>
              <p:cNvSpPr>
                <a:spLocks/>
              </p:cNvSpPr>
              <p:nvPr/>
            </p:nvSpPr>
            <p:spPr bwMode="auto">
              <a:xfrm>
                <a:off x="2346" y="1900"/>
                <a:ext cx="56" cy="252"/>
              </a:xfrm>
              <a:custGeom>
                <a:avLst/>
                <a:gdLst>
                  <a:gd name="T0" fmla="*/ 0 w 112"/>
                  <a:gd name="T1" fmla="*/ 86 h 504"/>
                  <a:gd name="T2" fmla="*/ 112 w 112"/>
                  <a:gd name="T3" fmla="*/ 0 h 504"/>
                  <a:gd name="T4" fmla="*/ 112 w 112"/>
                  <a:gd name="T5" fmla="*/ 504 h 504"/>
                  <a:gd name="T6" fmla="*/ 0 w 112"/>
                  <a:gd name="T7" fmla="*/ 416 h 504"/>
                  <a:gd name="T8" fmla="*/ 0 w 112"/>
                  <a:gd name="T9" fmla="*/ 86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4">
                    <a:moveTo>
                      <a:pt x="0" y="86"/>
                    </a:moveTo>
                    <a:lnTo>
                      <a:pt x="112" y="0"/>
                    </a:lnTo>
                    <a:lnTo>
                      <a:pt x="112" y="504"/>
                    </a:lnTo>
                    <a:lnTo>
                      <a:pt x="0" y="416"/>
                    </a:lnTo>
                    <a:lnTo>
                      <a:pt x="0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6" name="Freeform 574"/>
              <p:cNvSpPr>
                <a:spLocks/>
              </p:cNvSpPr>
              <p:nvPr/>
            </p:nvSpPr>
            <p:spPr bwMode="auto">
              <a:xfrm>
                <a:off x="2340" y="2107"/>
                <a:ext cx="68" cy="44"/>
              </a:xfrm>
              <a:custGeom>
                <a:avLst/>
                <a:gdLst>
                  <a:gd name="T0" fmla="*/ 0 w 137"/>
                  <a:gd name="T1" fmla="*/ 88 h 88"/>
                  <a:gd name="T2" fmla="*/ 137 w 137"/>
                  <a:gd name="T3" fmla="*/ 88 h 88"/>
                  <a:gd name="T4" fmla="*/ 12 w 137"/>
                  <a:gd name="T5" fmla="*/ 0 h 88"/>
                  <a:gd name="T6" fmla="*/ 11 w 137"/>
                  <a:gd name="T7" fmla="*/ 0 h 88"/>
                  <a:gd name="T8" fmla="*/ 0 w 13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8">
                    <a:moveTo>
                      <a:pt x="0" y="88"/>
                    </a:moveTo>
                    <a:lnTo>
                      <a:pt x="137" y="88"/>
                    </a:lnTo>
                    <a:lnTo>
                      <a:pt x="12" y="0"/>
                    </a:lnTo>
                    <a:lnTo>
                      <a:pt x="11" y="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7" name="Freeform 575"/>
              <p:cNvSpPr>
                <a:spLocks/>
              </p:cNvSpPr>
              <p:nvPr/>
            </p:nvSpPr>
            <p:spPr bwMode="auto">
              <a:xfrm>
                <a:off x="2271" y="2107"/>
                <a:ext cx="74" cy="44"/>
              </a:xfrm>
              <a:custGeom>
                <a:avLst/>
                <a:gdLst>
                  <a:gd name="T0" fmla="*/ 138 w 149"/>
                  <a:gd name="T1" fmla="*/ 88 h 88"/>
                  <a:gd name="T2" fmla="*/ 0 w 149"/>
                  <a:gd name="T3" fmla="*/ 88 h 88"/>
                  <a:gd name="T4" fmla="*/ 10 w 149"/>
                  <a:gd name="T5" fmla="*/ 0 h 88"/>
                  <a:gd name="T6" fmla="*/ 149 w 149"/>
                  <a:gd name="T7" fmla="*/ 0 h 88"/>
                  <a:gd name="T8" fmla="*/ 138 w 14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9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8" name="Freeform 576"/>
              <p:cNvSpPr>
                <a:spLocks/>
              </p:cNvSpPr>
              <p:nvPr/>
            </p:nvSpPr>
            <p:spPr bwMode="auto">
              <a:xfrm>
                <a:off x="2202" y="2107"/>
                <a:ext cx="74" cy="44"/>
              </a:xfrm>
              <a:custGeom>
                <a:avLst/>
                <a:gdLst>
                  <a:gd name="T0" fmla="*/ 136 w 146"/>
                  <a:gd name="T1" fmla="*/ 88 h 88"/>
                  <a:gd name="T2" fmla="*/ 0 w 146"/>
                  <a:gd name="T3" fmla="*/ 88 h 88"/>
                  <a:gd name="T4" fmla="*/ 10 w 146"/>
                  <a:gd name="T5" fmla="*/ 0 h 88"/>
                  <a:gd name="T6" fmla="*/ 146 w 146"/>
                  <a:gd name="T7" fmla="*/ 0 h 88"/>
                  <a:gd name="T8" fmla="*/ 136 w 14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89" name="Freeform 577"/>
              <p:cNvSpPr>
                <a:spLocks/>
              </p:cNvSpPr>
              <p:nvPr/>
            </p:nvSpPr>
            <p:spPr bwMode="auto">
              <a:xfrm>
                <a:off x="2133" y="2107"/>
                <a:ext cx="75" cy="44"/>
              </a:xfrm>
              <a:custGeom>
                <a:avLst/>
                <a:gdLst>
                  <a:gd name="T0" fmla="*/ 138 w 148"/>
                  <a:gd name="T1" fmla="*/ 88 h 88"/>
                  <a:gd name="T2" fmla="*/ 0 w 148"/>
                  <a:gd name="T3" fmla="*/ 88 h 88"/>
                  <a:gd name="T4" fmla="*/ 12 w 148"/>
                  <a:gd name="T5" fmla="*/ 0 h 88"/>
                  <a:gd name="T6" fmla="*/ 148 w 148"/>
                  <a:gd name="T7" fmla="*/ 0 h 88"/>
                  <a:gd name="T8" fmla="*/ 138 w 148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2" y="0"/>
                    </a:lnTo>
                    <a:lnTo>
                      <a:pt x="148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0" name="Freeform 578"/>
              <p:cNvSpPr>
                <a:spLocks/>
              </p:cNvSpPr>
              <p:nvPr/>
            </p:nvSpPr>
            <p:spPr bwMode="auto">
              <a:xfrm>
                <a:off x="2065" y="2107"/>
                <a:ext cx="74" cy="44"/>
              </a:xfrm>
              <a:custGeom>
                <a:avLst/>
                <a:gdLst>
                  <a:gd name="T0" fmla="*/ 137 w 149"/>
                  <a:gd name="T1" fmla="*/ 88 h 88"/>
                  <a:gd name="T2" fmla="*/ 0 w 149"/>
                  <a:gd name="T3" fmla="*/ 88 h 88"/>
                  <a:gd name="T4" fmla="*/ 11 w 149"/>
                  <a:gd name="T5" fmla="*/ 0 h 88"/>
                  <a:gd name="T6" fmla="*/ 149 w 149"/>
                  <a:gd name="T7" fmla="*/ 0 h 88"/>
                  <a:gd name="T8" fmla="*/ 137 w 14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9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1" name="Freeform 579"/>
              <p:cNvSpPr>
                <a:spLocks/>
              </p:cNvSpPr>
              <p:nvPr/>
            </p:nvSpPr>
            <p:spPr bwMode="auto">
              <a:xfrm>
                <a:off x="1996" y="2107"/>
                <a:ext cx="74" cy="44"/>
              </a:xfrm>
              <a:custGeom>
                <a:avLst/>
                <a:gdLst>
                  <a:gd name="T0" fmla="*/ 138 w 149"/>
                  <a:gd name="T1" fmla="*/ 88 h 88"/>
                  <a:gd name="T2" fmla="*/ 0 w 149"/>
                  <a:gd name="T3" fmla="*/ 88 h 88"/>
                  <a:gd name="T4" fmla="*/ 12 w 149"/>
                  <a:gd name="T5" fmla="*/ 0 h 88"/>
                  <a:gd name="T6" fmla="*/ 149 w 149"/>
                  <a:gd name="T7" fmla="*/ 0 h 88"/>
                  <a:gd name="T8" fmla="*/ 138 w 14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2" y="0"/>
                    </a:lnTo>
                    <a:lnTo>
                      <a:pt x="149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2" name="Freeform 580"/>
              <p:cNvSpPr>
                <a:spLocks/>
              </p:cNvSpPr>
              <p:nvPr/>
            </p:nvSpPr>
            <p:spPr bwMode="auto">
              <a:xfrm>
                <a:off x="1928" y="2107"/>
                <a:ext cx="74" cy="44"/>
              </a:xfrm>
              <a:custGeom>
                <a:avLst/>
                <a:gdLst>
                  <a:gd name="T0" fmla="*/ 136 w 148"/>
                  <a:gd name="T1" fmla="*/ 88 h 88"/>
                  <a:gd name="T2" fmla="*/ 0 w 148"/>
                  <a:gd name="T3" fmla="*/ 88 h 88"/>
                  <a:gd name="T4" fmla="*/ 10 w 148"/>
                  <a:gd name="T5" fmla="*/ 0 h 88"/>
                  <a:gd name="T6" fmla="*/ 148 w 148"/>
                  <a:gd name="T7" fmla="*/ 0 h 88"/>
                  <a:gd name="T8" fmla="*/ 136 w 148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3" name="Freeform 581"/>
              <p:cNvSpPr>
                <a:spLocks/>
              </p:cNvSpPr>
              <p:nvPr/>
            </p:nvSpPr>
            <p:spPr bwMode="auto">
              <a:xfrm>
                <a:off x="1859" y="2107"/>
                <a:ext cx="74" cy="44"/>
              </a:xfrm>
              <a:custGeom>
                <a:avLst/>
                <a:gdLst>
                  <a:gd name="T0" fmla="*/ 138 w 148"/>
                  <a:gd name="T1" fmla="*/ 88 h 88"/>
                  <a:gd name="T2" fmla="*/ 0 w 148"/>
                  <a:gd name="T3" fmla="*/ 88 h 88"/>
                  <a:gd name="T4" fmla="*/ 12 w 148"/>
                  <a:gd name="T5" fmla="*/ 0 h 88"/>
                  <a:gd name="T6" fmla="*/ 148 w 148"/>
                  <a:gd name="T7" fmla="*/ 0 h 88"/>
                  <a:gd name="T8" fmla="*/ 138 w 148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2" y="0"/>
                    </a:lnTo>
                    <a:lnTo>
                      <a:pt x="148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4" name="Freeform 582"/>
              <p:cNvSpPr>
                <a:spLocks/>
              </p:cNvSpPr>
              <p:nvPr/>
            </p:nvSpPr>
            <p:spPr bwMode="auto">
              <a:xfrm>
                <a:off x="1791" y="2107"/>
                <a:ext cx="74" cy="44"/>
              </a:xfrm>
              <a:custGeom>
                <a:avLst/>
                <a:gdLst>
                  <a:gd name="T0" fmla="*/ 137 w 149"/>
                  <a:gd name="T1" fmla="*/ 88 h 88"/>
                  <a:gd name="T2" fmla="*/ 0 w 149"/>
                  <a:gd name="T3" fmla="*/ 88 h 88"/>
                  <a:gd name="T4" fmla="*/ 11 w 149"/>
                  <a:gd name="T5" fmla="*/ 0 h 88"/>
                  <a:gd name="T6" fmla="*/ 149 w 149"/>
                  <a:gd name="T7" fmla="*/ 0 h 88"/>
                  <a:gd name="T8" fmla="*/ 137 w 14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9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5" name="Freeform 583"/>
              <p:cNvSpPr>
                <a:spLocks/>
              </p:cNvSpPr>
              <p:nvPr/>
            </p:nvSpPr>
            <p:spPr bwMode="auto">
              <a:xfrm>
                <a:off x="1722" y="2107"/>
                <a:ext cx="74" cy="44"/>
              </a:xfrm>
              <a:custGeom>
                <a:avLst/>
                <a:gdLst>
                  <a:gd name="T0" fmla="*/ 138 w 149"/>
                  <a:gd name="T1" fmla="*/ 88 h 88"/>
                  <a:gd name="T2" fmla="*/ 0 w 149"/>
                  <a:gd name="T3" fmla="*/ 88 h 88"/>
                  <a:gd name="T4" fmla="*/ 12 w 149"/>
                  <a:gd name="T5" fmla="*/ 0 h 88"/>
                  <a:gd name="T6" fmla="*/ 149 w 149"/>
                  <a:gd name="T7" fmla="*/ 0 h 88"/>
                  <a:gd name="T8" fmla="*/ 138 w 14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2" y="0"/>
                    </a:lnTo>
                    <a:lnTo>
                      <a:pt x="149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6" name="Freeform 584"/>
              <p:cNvSpPr>
                <a:spLocks/>
              </p:cNvSpPr>
              <p:nvPr/>
            </p:nvSpPr>
            <p:spPr bwMode="auto">
              <a:xfrm>
                <a:off x="1653" y="2107"/>
                <a:ext cx="75" cy="44"/>
              </a:xfrm>
              <a:custGeom>
                <a:avLst/>
                <a:gdLst>
                  <a:gd name="T0" fmla="*/ 136 w 148"/>
                  <a:gd name="T1" fmla="*/ 88 h 88"/>
                  <a:gd name="T2" fmla="*/ 0 w 148"/>
                  <a:gd name="T3" fmla="*/ 88 h 88"/>
                  <a:gd name="T4" fmla="*/ 10 w 148"/>
                  <a:gd name="T5" fmla="*/ 0 h 88"/>
                  <a:gd name="T6" fmla="*/ 148 w 148"/>
                  <a:gd name="T7" fmla="*/ 0 h 88"/>
                  <a:gd name="T8" fmla="*/ 136 w 148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7" name="Freeform 585"/>
              <p:cNvSpPr>
                <a:spLocks/>
              </p:cNvSpPr>
              <p:nvPr/>
            </p:nvSpPr>
            <p:spPr bwMode="auto">
              <a:xfrm>
                <a:off x="1585" y="2107"/>
                <a:ext cx="74" cy="44"/>
              </a:xfrm>
              <a:custGeom>
                <a:avLst/>
                <a:gdLst>
                  <a:gd name="T0" fmla="*/ 137 w 147"/>
                  <a:gd name="T1" fmla="*/ 88 h 88"/>
                  <a:gd name="T2" fmla="*/ 0 w 147"/>
                  <a:gd name="T3" fmla="*/ 88 h 88"/>
                  <a:gd name="T4" fmla="*/ 11 w 147"/>
                  <a:gd name="T5" fmla="*/ 0 h 88"/>
                  <a:gd name="T6" fmla="*/ 147 w 147"/>
                  <a:gd name="T7" fmla="*/ 0 h 88"/>
                  <a:gd name="T8" fmla="*/ 137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8" name="Freeform 586"/>
              <p:cNvSpPr>
                <a:spLocks/>
              </p:cNvSpPr>
              <p:nvPr/>
            </p:nvSpPr>
            <p:spPr bwMode="auto">
              <a:xfrm>
                <a:off x="1516" y="2107"/>
                <a:ext cx="74" cy="44"/>
              </a:xfrm>
              <a:custGeom>
                <a:avLst/>
                <a:gdLst>
                  <a:gd name="T0" fmla="*/ 138 w 149"/>
                  <a:gd name="T1" fmla="*/ 88 h 88"/>
                  <a:gd name="T2" fmla="*/ 0 w 149"/>
                  <a:gd name="T3" fmla="*/ 88 h 88"/>
                  <a:gd name="T4" fmla="*/ 11 w 149"/>
                  <a:gd name="T5" fmla="*/ 0 h 88"/>
                  <a:gd name="T6" fmla="*/ 149 w 149"/>
                  <a:gd name="T7" fmla="*/ 0 h 88"/>
                  <a:gd name="T8" fmla="*/ 138 w 14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9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899" name="Freeform 587"/>
              <p:cNvSpPr>
                <a:spLocks/>
              </p:cNvSpPr>
              <p:nvPr/>
            </p:nvSpPr>
            <p:spPr bwMode="auto">
              <a:xfrm>
                <a:off x="1448" y="2107"/>
                <a:ext cx="73" cy="44"/>
              </a:xfrm>
              <a:custGeom>
                <a:avLst/>
                <a:gdLst>
                  <a:gd name="T0" fmla="*/ 136 w 147"/>
                  <a:gd name="T1" fmla="*/ 88 h 88"/>
                  <a:gd name="T2" fmla="*/ 0 w 147"/>
                  <a:gd name="T3" fmla="*/ 88 h 88"/>
                  <a:gd name="T4" fmla="*/ 10 w 147"/>
                  <a:gd name="T5" fmla="*/ 0 h 88"/>
                  <a:gd name="T6" fmla="*/ 147 w 147"/>
                  <a:gd name="T7" fmla="*/ 0 h 88"/>
                  <a:gd name="T8" fmla="*/ 136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0" name="Freeform 588"/>
              <p:cNvSpPr>
                <a:spLocks/>
              </p:cNvSpPr>
              <p:nvPr/>
            </p:nvSpPr>
            <p:spPr bwMode="auto">
              <a:xfrm>
                <a:off x="1379" y="2107"/>
                <a:ext cx="74" cy="44"/>
              </a:xfrm>
              <a:custGeom>
                <a:avLst/>
                <a:gdLst>
                  <a:gd name="T0" fmla="*/ 138 w 148"/>
                  <a:gd name="T1" fmla="*/ 88 h 88"/>
                  <a:gd name="T2" fmla="*/ 0 w 148"/>
                  <a:gd name="T3" fmla="*/ 88 h 88"/>
                  <a:gd name="T4" fmla="*/ 10 w 148"/>
                  <a:gd name="T5" fmla="*/ 0 h 88"/>
                  <a:gd name="T6" fmla="*/ 148 w 148"/>
                  <a:gd name="T7" fmla="*/ 0 h 88"/>
                  <a:gd name="T8" fmla="*/ 138 w 148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1" name="Freeform 589"/>
              <p:cNvSpPr>
                <a:spLocks/>
              </p:cNvSpPr>
              <p:nvPr/>
            </p:nvSpPr>
            <p:spPr bwMode="auto">
              <a:xfrm>
                <a:off x="1311" y="2107"/>
                <a:ext cx="73" cy="44"/>
              </a:xfrm>
              <a:custGeom>
                <a:avLst/>
                <a:gdLst>
                  <a:gd name="T0" fmla="*/ 137 w 147"/>
                  <a:gd name="T1" fmla="*/ 88 h 88"/>
                  <a:gd name="T2" fmla="*/ 0 w 147"/>
                  <a:gd name="T3" fmla="*/ 88 h 88"/>
                  <a:gd name="T4" fmla="*/ 11 w 147"/>
                  <a:gd name="T5" fmla="*/ 0 h 88"/>
                  <a:gd name="T6" fmla="*/ 147 w 147"/>
                  <a:gd name="T7" fmla="*/ 0 h 88"/>
                  <a:gd name="T8" fmla="*/ 137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2" name="Freeform 590"/>
              <p:cNvSpPr>
                <a:spLocks/>
              </p:cNvSpPr>
              <p:nvPr/>
            </p:nvSpPr>
            <p:spPr bwMode="auto">
              <a:xfrm>
                <a:off x="1242" y="2107"/>
                <a:ext cx="74" cy="44"/>
              </a:xfrm>
              <a:custGeom>
                <a:avLst/>
                <a:gdLst>
                  <a:gd name="T0" fmla="*/ 138 w 149"/>
                  <a:gd name="T1" fmla="*/ 88 h 88"/>
                  <a:gd name="T2" fmla="*/ 0 w 149"/>
                  <a:gd name="T3" fmla="*/ 88 h 88"/>
                  <a:gd name="T4" fmla="*/ 11 w 149"/>
                  <a:gd name="T5" fmla="*/ 0 h 88"/>
                  <a:gd name="T6" fmla="*/ 149 w 149"/>
                  <a:gd name="T7" fmla="*/ 0 h 88"/>
                  <a:gd name="T8" fmla="*/ 138 w 14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9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9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3" name="Freeform 591"/>
              <p:cNvSpPr>
                <a:spLocks/>
              </p:cNvSpPr>
              <p:nvPr/>
            </p:nvSpPr>
            <p:spPr bwMode="auto">
              <a:xfrm>
                <a:off x="1173" y="2107"/>
                <a:ext cx="74" cy="44"/>
              </a:xfrm>
              <a:custGeom>
                <a:avLst/>
                <a:gdLst>
                  <a:gd name="T0" fmla="*/ 136 w 147"/>
                  <a:gd name="T1" fmla="*/ 88 h 88"/>
                  <a:gd name="T2" fmla="*/ 0 w 147"/>
                  <a:gd name="T3" fmla="*/ 88 h 88"/>
                  <a:gd name="T4" fmla="*/ 10 w 147"/>
                  <a:gd name="T5" fmla="*/ 0 h 88"/>
                  <a:gd name="T6" fmla="*/ 147 w 147"/>
                  <a:gd name="T7" fmla="*/ 0 h 88"/>
                  <a:gd name="T8" fmla="*/ 136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4" name="Freeform 592"/>
              <p:cNvSpPr>
                <a:spLocks/>
              </p:cNvSpPr>
              <p:nvPr/>
            </p:nvSpPr>
            <p:spPr bwMode="auto">
              <a:xfrm>
                <a:off x="1104" y="2107"/>
                <a:ext cx="75" cy="44"/>
              </a:xfrm>
              <a:custGeom>
                <a:avLst/>
                <a:gdLst>
                  <a:gd name="T0" fmla="*/ 140 w 150"/>
                  <a:gd name="T1" fmla="*/ 88 h 88"/>
                  <a:gd name="T2" fmla="*/ 0 w 150"/>
                  <a:gd name="T3" fmla="*/ 88 h 88"/>
                  <a:gd name="T4" fmla="*/ 10 w 150"/>
                  <a:gd name="T5" fmla="*/ 0 h 88"/>
                  <a:gd name="T6" fmla="*/ 150 w 150"/>
                  <a:gd name="T7" fmla="*/ 0 h 88"/>
                  <a:gd name="T8" fmla="*/ 140 w 150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50" h="88">
                    <a:moveTo>
                      <a:pt x="140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50" y="0"/>
                    </a:lnTo>
                    <a:lnTo>
                      <a:pt x="140" y="88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5" name="Freeform 593"/>
              <p:cNvSpPr>
                <a:spLocks/>
              </p:cNvSpPr>
              <p:nvPr/>
            </p:nvSpPr>
            <p:spPr bwMode="auto">
              <a:xfrm>
                <a:off x="1041" y="2107"/>
                <a:ext cx="68" cy="44"/>
              </a:xfrm>
              <a:custGeom>
                <a:avLst/>
                <a:gdLst>
                  <a:gd name="T0" fmla="*/ 126 w 136"/>
                  <a:gd name="T1" fmla="*/ 88 h 88"/>
                  <a:gd name="T2" fmla="*/ 0 w 136"/>
                  <a:gd name="T3" fmla="*/ 88 h 88"/>
                  <a:gd name="T4" fmla="*/ 112 w 136"/>
                  <a:gd name="T5" fmla="*/ 0 h 88"/>
                  <a:gd name="T6" fmla="*/ 136 w 136"/>
                  <a:gd name="T7" fmla="*/ 0 h 88"/>
                  <a:gd name="T8" fmla="*/ 126 w 13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8">
                    <a:moveTo>
                      <a:pt x="126" y="88"/>
                    </a:moveTo>
                    <a:lnTo>
                      <a:pt x="0" y="88"/>
                    </a:lnTo>
                    <a:lnTo>
                      <a:pt x="112" y="0"/>
                    </a:lnTo>
                    <a:lnTo>
                      <a:pt x="136" y="0"/>
                    </a:lnTo>
                    <a:lnTo>
                      <a:pt x="126" y="88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6" name="Freeform 594"/>
              <p:cNvSpPr>
                <a:spLocks/>
              </p:cNvSpPr>
              <p:nvPr/>
            </p:nvSpPr>
            <p:spPr bwMode="auto">
              <a:xfrm>
                <a:off x="1041" y="2107"/>
                <a:ext cx="1367" cy="44"/>
              </a:xfrm>
              <a:custGeom>
                <a:avLst/>
                <a:gdLst>
                  <a:gd name="T0" fmla="*/ 112 w 2735"/>
                  <a:gd name="T1" fmla="*/ 0 h 88"/>
                  <a:gd name="T2" fmla="*/ 0 w 2735"/>
                  <a:gd name="T3" fmla="*/ 88 h 88"/>
                  <a:gd name="T4" fmla="*/ 2735 w 2735"/>
                  <a:gd name="T5" fmla="*/ 88 h 88"/>
                  <a:gd name="T6" fmla="*/ 2610 w 2735"/>
                  <a:gd name="T7" fmla="*/ 0 h 88"/>
                  <a:gd name="T8" fmla="*/ 112 w 2735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8">
                    <a:moveTo>
                      <a:pt x="112" y="0"/>
                    </a:moveTo>
                    <a:lnTo>
                      <a:pt x="0" y="88"/>
                    </a:lnTo>
                    <a:lnTo>
                      <a:pt x="2735" y="88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7" name="Freeform 595"/>
              <p:cNvSpPr>
                <a:spLocks/>
              </p:cNvSpPr>
              <p:nvPr/>
            </p:nvSpPr>
            <p:spPr bwMode="auto">
              <a:xfrm>
                <a:off x="1041" y="1899"/>
                <a:ext cx="68" cy="43"/>
              </a:xfrm>
              <a:custGeom>
                <a:avLst/>
                <a:gdLst>
                  <a:gd name="T0" fmla="*/ 136 w 136"/>
                  <a:gd name="T1" fmla="*/ 0 h 86"/>
                  <a:gd name="T2" fmla="*/ 0 w 136"/>
                  <a:gd name="T3" fmla="*/ 0 h 86"/>
                  <a:gd name="T4" fmla="*/ 118 w 136"/>
                  <a:gd name="T5" fmla="*/ 86 h 86"/>
                  <a:gd name="T6" fmla="*/ 136 w 136"/>
                  <a:gd name="T7" fmla="*/ 86 h 86"/>
                  <a:gd name="T8" fmla="*/ 136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6"/>
                    </a:lnTo>
                    <a:lnTo>
                      <a:pt x="136" y="86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8" name="Rectangle 596"/>
              <p:cNvSpPr>
                <a:spLocks noChangeArrowheads="1"/>
              </p:cNvSpPr>
              <p:nvPr/>
            </p:nvSpPr>
            <p:spPr bwMode="auto">
              <a:xfrm>
                <a:off x="1109" y="1899"/>
                <a:ext cx="68" cy="43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09" name="Rectangle 597"/>
              <p:cNvSpPr>
                <a:spLocks noChangeArrowheads="1"/>
              </p:cNvSpPr>
              <p:nvPr/>
            </p:nvSpPr>
            <p:spPr bwMode="auto">
              <a:xfrm>
                <a:off x="1177" y="1899"/>
                <a:ext cx="68" cy="43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10" name="Rectangle 598"/>
              <p:cNvSpPr>
                <a:spLocks noChangeArrowheads="1"/>
              </p:cNvSpPr>
              <p:nvPr/>
            </p:nvSpPr>
            <p:spPr bwMode="auto">
              <a:xfrm>
                <a:off x="1245" y="1899"/>
                <a:ext cx="68" cy="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11" name="Rectangle 599"/>
              <p:cNvSpPr>
                <a:spLocks noChangeArrowheads="1"/>
              </p:cNvSpPr>
              <p:nvPr/>
            </p:nvSpPr>
            <p:spPr bwMode="auto">
              <a:xfrm>
                <a:off x="1313" y="1899"/>
                <a:ext cx="69" cy="43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12" name="Rectangle 600"/>
              <p:cNvSpPr>
                <a:spLocks noChangeArrowheads="1"/>
              </p:cNvSpPr>
              <p:nvPr/>
            </p:nvSpPr>
            <p:spPr bwMode="auto">
              <a:xfrm>
                <a:off x="1382" y="1899"/>
                <a:ext cx="68" cy="4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13" name="Rectangle 601"/>
              <p:cNvSpPr>
                <a:spLocks noChangeArrowheads="1"/>
              </p:cNvSpPr>
              <p:nvPr/>
            </p:nvSpPr>
            <p:spPr bwMode="auto">
              <a:xfrm>
                <a:off x="1450" y="1899"/>
                <a:ext cx="68" cy="43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14" name="Rectangle 602"/>
              <p:cNvSpPr>
                <a:spLocks noChangeArrowheads="1"/>
              </p:cNvSpPr>
              <p:nvPr/>
            </p:nvSpPr>
            <p:spPr bwMode="auto">
              <a:xfrm>
                <a:off x="1518" y="1899"/>
                <a:ext cx="68" cy="43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15" name="Rectangle 603"/>
              <p:cNvSpPr>
                <a:spLocks noChangeArrowheads="1"/>
              </p:cNvSpPr>
              <p:nvPr/>
            </p:nvSpPr>
            <p:spPr bwMode="auto">
              <a:xfrm>
                <a:off x="1586" y="1899"/>
                <a:ext cx="68" cy="43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16" name="Rectangle 604"/>
              <p:cNvSpPr>
                <a:spLocks noChangeArrowheads="1"/>
              </p:cNvSpPr>
              <p:nvPr/>
            </p:nvSpPr>
            <p:spPr bwMode="auto">
              <a:xfrm>
                <a:off x="1654" y="1899"/>
                <a:ext cx="68" cy="43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17" name="Rectangle 605"/>
              <p:cNvSpPr>
                <a:spLocks noChangeArrowheads="1"/>
              </p:cNvSpPr>
              <p:nvPr/>
            </p:nvSpPr>
            <p:spPr bwMode="auto">
              <a:xfrm>
                <a:off x="1722" y="1899"/>
                <a:ext cx="69" cy="43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18" name="Rectangle 606"/>
              <p:cNvSpPr>
                <a:spLocks noChangeArrowheads="1"/>
              </p:cNvSpPr>
              <p:nvPr/>
            </p:nvSpPr>
            <p:spPr bwMode="auto">
              <a:xfrm>
                <a:off x="1791" y="1899"/>
                <a:ext cx="68" cy="43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1919" name="Group 607"/>
            <p:cNvGrpSpPr>
              <a:grpSpLocks/>
            </p:cNvGrpSpPr>
            <p:nvPr/>
          </p:nvGrpSpPr>
          <p:grpSpPr bwMode="auto">
            <a:xfrm>
              <a:off x="1040" y="1896"/>
              <a:ext cx="1368" cy="2037"/>
              <a:chOff x="1040" y="1896"/>
              <a:chExt cx="1368" cy="2037"/>
            </a:xfrm>
          </p:grpSpPr>
          <p:sp>
            <p:nvSpPr>
              <p:cNvPr id="141920" name="Rectangle 608"/>
              <p:cNvSpPr>
                <a:spLocks noChangeArrowheads="1"/>
              </p:cNvSpPr>
              <p:nvPr/>
            </p:nvSpPr>
            <p:spPr bwMode="auto">
              <a:xfrm>
                <a:off x="1859" y="1899"/>
                <a:ext cx="68" cy="43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21" name="Rectangle 609"/>
              <p:cNvSpPr>
                <a:spLocks noChangeArrowheads="1"/>
              </p:cNvSpPr>
              <p:nvPr/>
            </p:nvSpPr>
            <p:spPr bwMode="auto">
              <a:xfrm>
                <a:off x="1927" y="1899"/>
                <a:ext cx="68" cy="43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22" name="Rectangle 610"/>
              <p:cNvSpPr>
                <a:spLocks noChangeArrowheads="1"/>
              </p:cNvSpPr>
              <p:nvPr/>
            </p:nvSpPr>
            <p:spPr bwMode="auto">
              <a:xfrm>
                <a:off x="1995" y="1899"/>
                <a:ext cx="68" cy="43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23" name="Rectangle 611"/>
              <p:cNvSpPr>
                <a:spLocks noChangeArrowheads="1"/>
              </p:cNvSpPr>
              <p:nvPr/>
            </p:nvSpPr>
            <p:spPr bwMode="auto">
              <a:xfrm>
                <a:off x="2063" y="1899"/>
                <a:ext cx="69" cy="43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24" name="Rectangle 612"/>
              <p:cNvSpPr>
                <a:spLocks noChangeArrowheads="1"/>
              </p:cNvSpPr>
              <p:nvPr/>
            </p:nvSpPr>
            <p:spPr bwMode="auto">
              <a:xfrm>
                <a:off x="2132" y="1899"/>
                <a:ext cx="68" cy="43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25" name="Rectangle 613"/>
              <p:cNvSpPr>
                <a:spLocks noChangeArrowheads="1"/>
              </p:cNvSpPr>
              <p:nvPr/>
            </p:nvSpPr>
            <p:spPr bwMode="auto">
              <a:xfrm>
                <a:off x="2200" y="1899"/>
                <a:ext cx="68" cy="43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26" name="Rectangle 614"/>
              <p:cNvSpPr>
                <a:spLocks noChangeArrowheads="1"/>
              </p:cNvSpPr>
              <p:nvPr/>
            </p:nvSpPr>
            <p:spPr bwMode="auto">
              <a:xfrm>
                <a:off x="2268" y="1899"/>
                <a:ext cx="69" cy="43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27" name="Freeform 615"/>
              <p:cNvSpPr>
                <a:spLocks/>
              </p:cNvSpPr>
              <p:nvPr/>
            </p:nvSpPr>
            <p:spPr bwMode="auto">
              <a:xfrm>
                <a:off x="2337" y="1899"/>
                <a:ext cx="68" cy="43"/>
              </a:xfrm>
              <a:custGeom>
                <a:avLst/>
                <a:gdLst>
                  <a:gd name="T0" fmla="*/ 0 w 136"/>
                  <a:gd name="T1" fmla="*/ 0 h 86"/>
                  <a:gd name="T2" fmla="*/ 136 w 136"/>
                  <a:gd name="T3" fmla="*/ 0 h 86"/>
                  <a:gd name="T4" fmla="*/ 24 w 136"/>
                  <a:gd name="T5" fmla="*/ 86 h 86"/>
                  <a:gd name="T6" fmla="*/ 0 w 136"/>
                  <a:gd name="T7" fmla="*/ 86 h 86"/>
                  <a:gd name="T8" fmla="*/ 0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0" y="0"/>
                    </a:moveTo>
                    <a:lnTo>
                      <a:pt x="136" y="0"/>
                    </a:lnTo>
                    <a:lnTo>
                      <a:pt x="24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28" name="Freeform 616"/>
              <p:cNvSpPr>
                <a:spLocks/>
              </p:cNvSpPr>
              <p:nvPr/>
            </p:nvSpPr>
            <p:spPr bwMode="auto">
              <a:xfrm>
                <a:off x="1041" y="1899"/>
                <a:ext cx="1364" cy="43"/>
              </a:xfrm>
              <a:custGeom>
                <a:avLst/>
                <a:gdLst>
                  <a:gd name="T0" fmla="*/ 118 w 2729"/>
                  <a:gd name="T1" fmla="*/ 86 h 86"/>
                  <a:gd name="T2" fmla="*/ 0 w 2729"/>
                  <a:gd name="T3" fmla="*/ 0 h 86"/>
                  <a:gd name="T4" fmla="*/ 2729 w 2729"/>
                  <a:gd name="T5" fmla="*/ 0 h 86"/>
                  <a:gd name="T6" fmla="*/ 2617 w 2729"/>
                  <a:gd name="T7" fmla="*/ 86 h 86"/>
                  <a:gd name="T8" fmla="*/ 118 w 272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6">
                    <a:moveTo>
                      <a:pt x="118" y="86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6"/>
                    </a:lnTo>
                    <a:lnTo>
                      <a:pt x="118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29" name="Freeform 617"/>
              <p:cNvSpPr>
                <a:spLocks/>
              </p:cNvSpPr>
              <p:nvPr/>
            </p:nvSpPr>
            <p:spPr bwMode="auto">
              <a:xfrm>
                <a:off x="1040" y="1896"/>
                <a:ext cx="16" cy="13"/>
              </a:xfrm>
              <a:custGeom>
                <a:avLst/>
                <a:gdLst>
                  <a:gd name="T0" fmla="*/ 33 w 33"/>
                  <a:gd name="T1" fmla="*/ 22 h 26"/>
                  <a:gd name="T2" fmla="*/ 0 w 33"/>
                  <a:gd name="T3" fmla="*/ 0 h 26"/>
                  <a:gd name="T4" fmla="*/ 0 w 33"/>
                  <a:gd name="T5" fmla="*/ 26 h 26"/>
                  <a:gd name="T6" fmla="*/ 33 w 33"/>
                  <a:gd name="T7" fmla="*/ 2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6">
                    <a:moveTo>
                      <a:pt x="33" y="22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3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0" name="Freeform 618"/>
              <p:cNvSpPr>
                <a:spLocks/>
              </p:cNvSpPr>
              <p:nvPr/>
            </p:nvSpPr>
            <p:spPr bwMode="auto">
              <a:xfrm>
                <a:off x="1040" y="1908"/>
                <a:ext cx="32" cy="14"/>
              </a:xfrm>
              <a:custGeom>
                <a:avLst/>
                <a:gdLst>
                  <a:gd name="T0" fmla="*/ 33 w 64"/>
                  <a:gd name="T1" fmla="*/ 0 h 30"/>
                  <a:gd name="T2" fmla="*/ 64 w 64"/>
                  <a:gd name="T3" fmla="*/ 25 h 30"/>
                  <a:gd name="T4" fmla="*/ 0 w 64"/>
                  <a:gd name="T5" fmla="*/ 30 h 30"/>
                  <a:gd name="T6" fmla="*/ 0 w 64"/>
                  <a:gd name="T7" fmla="*/ 4 h 30"/>
                  <a:gd name="T8" fmla="*/ 33 w 64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30">
                    <a:moveTo>
                      <a:pt x="33" y="0"/>
                    </a:moveTo>
                    <a:lnTo>
                      <a:pt x="64" y="25"/>
                    </a:lnTo>
                    <a:lnTo>
                      <a:pt x="0" y="30"/>
                    </a:lnTo>
                    <a:lnTo>
                      <a:pt x="0" y="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1" name="Freeform 619"/>
              <p:cNvSpPr>
                <a:spLocks/>
              </p:cNvSpPr>
              <p:nvPr/>
            </p:nvSpPr>
            <p:spPr bwMode="auto">
              <a:xfrm>
                <a:off x="1040" y="1920"/>
                <a:ext cx="48" cy="15"/>
              </a:xfrm>
              <a:custGeom>
                <a:avLst/>
                <a:gdLst>
                  <a:gd name="T0" fmla="*/ 64 w 97"/>
                  <a:gd name="T1" fmla="*/ 0 h 31"/>
                  <a:gd name="T2" fmla="*/ 97 w 97"/>
                  <a:gd name="T3" fmla="*/ 22 h 31"/>
                  <a:gd name="T4" fmla="*/ 0 w 97"/>
                  <a:gd name="T5" fmla="*/ 31 h 31"/>
                  <a:gd name="T6" fmla="*/ 0 w 97"/>
                  <a:gd name="T7" fmla="*/ 5 h 31"/>
                  <a:gd name="T8" fmla="*/ 64 w 97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31">
                    <a:moveTo>
                      <a:pt x="64" y="0"/>
                    </a:moveTo>
                    <a:lnTo>
                      <a:pt x="97" y="22"/>
                    </a:lnTo>
                    <a:lnTo>
                      <a:pt x="0" y="31"/>
                    </a:lnTo>
                    <a:lnTo>
                      <a:pt x="0" y="5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2" name="Freeform 620"/>
              <p:cNvSpPr>
                <a:spLocks/>
              </p:cNvSpPr>
              <p:nvPr/>
            </p:nvSpPr>
            <p:spPr bwMode="auto">
              <a:xfrm>
                <a:off x="1040" y="1931"/>
                <a:ext cx="61" cy="17"/>
              </a:xfrm>
              <a:custGeom>
                <a:avLst/>
                <a:gdLst>
                  <a:gd name="T0" fmla="*/ 97 w 123"/>
                  <a:gd name="T1" fmla="*/ 0 h 34"/>
                  <a:gd name="T2" fmla="*/ 123 w 123"/>
                  <a:gd name="T3" fmla="*/ 19 h 34"/>
                  <a:gd name="T4" fmla="*/ 123 w 123"/>
                  <a:gd name="T5" fmla="*/ 24 h 34"/>
                  <a:gd name="T6" fmla="*/ 0 w 123"/>
                  <a:gd name="T7" fmla="*/ 34 h 34"/>
                  <a:gd name="T8" fmla="*/ 0 w 123"/>
                  <a:gd name="T9" fmla="*/ 9 h 34"/>
                  <a:gd name="T10" fmla="*/ 97 w 123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4">
                    <a:moveTo>
                      <a:pt x="97" y="0"/>
                    </a:moveTo>
                    <a:lnTo>
                      <a:pt x="123" y="19"/>
                    </a:lnTo>
                    <a:lnTo>
                      <a:pt x="123" y="24"/>
                    </a:lnTo>
                    <a:lnTo>
                      <a:pt x="0" y="34"/>
                    </a:lnTo>
                    <a:lnTo>
                      <a:pt x="0" y="9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3" name="Freeform 621"/>
              <p:cNvSpPr>
                <a:spLocks/>
              </p:cNvSpPr>
              <p:nvPr/>
            </p:nvSpPr>
            <p:spPr bwMode="auto">
              <a:xfrm>
                <a:off x="1040" y="1943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0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4" name="Freeform 622"/>
              <p:cNvSpPr>
                <a:spLocks/>
              </p:cNvSpPr>
              <p:nvPr/>
            </p:nvSpPr>
            <p:spPr bwMode="auto">
              <a:xfrm>
                <a:off x="1040" y="1956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5" name="Freeform 623"/>
              <p:cNvSpPr>
                <a:spLocks/>
              </p:cNvSpPr>
              <p:nvPr/>
            </p:nvSpPr>
            <p:spPr bwMode="auto">
              <a:xfrm>
                <a:off x="1040" y="1969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6" name="Freeform 624"/>
              <p:cNvSpPr>
                <a:spLocks/>
              </p:cNvSpPr>
              <p:nvPr/>
            </p:nvSpPr>
            <p:spPr bwMode="auto">
              <a:xfrm>
                <a:off x="1040" y="1982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7" name="Freeform 625"/>
              <p:cNvSpPr>
                <a:spLocks/>
              </p:cNvSpPr>
              <p:nvPr/>
            </p:nvSpPr>
            <p:spPr bwMode="auto">
              <a:xfrm>
                <a:off x="1040" y="1995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8" name="Freeform 626"/>
              <p:cNvSpPr>
                <a:spLocks/>
              </p:cNvSpPr>
              <p:nvPr/>
            </p:nvSpPr>
            <p:spPr bwMode="auto">
              <a:xfrm>
                <a:off x="1040" y="2008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5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39" name="Freeform 627"/>
              <p:cNvSpPr>
                <a:spLocks/>
              </p:cNvSpPr>
              <p:nvPr/>
            </p:nvSpPr>
            <p:spPr bwMode="auto">
              <a:xfrm>
                <a:off x="1040" y="2021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8 h 38"/>
                  <a:gd name="T4" fmla="*/ 0 w 123"/>
                  <a:gd name="T5" fmla="*/ 38 h 38"/>
                  <a:gd name="T6" fmla="*/ 0 w 123"/>
                  <a:gd name="T7" fmla="*/ 13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0" name="Freeform 628"/>
              <p:cNvSpPr>
                <a:spLocks/>
              </p:cNvSpPr>
              <p:nvPr/>
            </p:nvSpPr>
            <p:spPr bwMode="auto">
              <a:xfrm>
                <a:off x="1040" y="2035"/>
                <a:ext cx="61" cy="18"/>
              </a:xfrm>
              <a:custGeom>
                <a:avLst/>
                <a:gdLst>
                  <a:gd name="T0" fmla="*/ 123 w 123"/>
                  <a:gd name="T1" fmla="*/ 0 h 36"/>
                  <a:gd name="T2" fmla="*/ 123 w 123"/>
                  <a:gd name="T3" fmla="*/ 26 h 36"/>
                  <a:gd name="T4" fmla="*/ 0 w 123"/>
                  <a:gd name="T5" fmla="*/ 36 h 36"/>
                  <a:gd name="T6" fmla="*/ 0 w 123"/>
                  <a:gd name="T7" fmla="*/ 10 h 36"/>
                  <a:gd name="T8" fmla="*/ 123 w 12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6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1" name="Freeform 629"/>
              <p:cNvSpPr>
                <a:spLocks/>
              </p:cNvSpPr>
              <p:nvPr/>
            </p:nvSpPr>
            <p:spPr bwMode="auto">
              <a:xfrm>
                <a:off x="1040" y="2047"/>
                <a:ext cx="61" cy="19"/>
              </a:xfrm>
              <a:custGeom>
                <a:avLst/>
                <a:gdLst>
                  <a:gd name="T0" fmla="*/ 123 w 123"/>
                  <a:gd name="T1" fmla="*/ 0 h 36"/>
                  <a:gd name="T2" fmla="*/ 123 w 123"/>
                  <a:gd name="T3" fmla="*/ 26 h 36"/>
                  <a:gd name="T4" fmla="*/ 0 w 123"/>
                  <a:gd name="T5" fmla="*/ 36 h 36"/>
                  <a:gd name="T6" fmla="*/ 0 w 123"/>
                  <a:gd name="T7" fmla="*/ 10 h 36"/>
                  <a:gd name="T8" fmla="*/ 123 w 12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6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2" name="Freeform 630"/>
              <p:cNvSpPr>
                <a:spLocks/>
              </p:cNvSpPr>
              <p:nvPr/>
            </p:nvSpPr>
            <p:spPr bwMode="auto">
              <a:xfrm>
                <a:off x="1040" y="2060"/>
                <a:ext cx="61" cy="19"/>
              </a:xfrm>
              <a:custGeom>
                <a:avLst/>
                <a:gdLst>
                  <a:gd name="T0" fmla="*/ 123 w 123"/>
                  <a:gd name="T1" fmla="*/ 0 h 36"/>
                  <a:gd name="T2" fmla="*/ 123 w 123"/>
                  <a:gd name="T3" fmla="*/ 26 h 36"/>
                  <a:gd name="T4" fmla="*/ 0 w 123"/>
                  <a:gd name="T5" fmla="*/ 36 h 36"/>
                  <a:gd name="T6" fmla="*/ 0 w 123"/>
                  <a:gd name="T7" fmla="*/ 10 h 36"/>
                  <a:gd name="T8" fmla="*/ 123 w 12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6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3" name="Freeform 631"/>
              <p:cNvSpPr>
                <a:spLocks/>
              </p:cNvSpPr>
              <p:nvPr/>
            </p:nvSpPr>
            <p:spPr bwMode="auto">
              <a:xfrm>
                <a:off x="1040" y="2073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0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4" name="Freeform 632"/>
              <p:cNvSpPr>
                <a:spLocks/>
              </p:cNvSpPr>
              <p:nvPr/>
            </p:nvSpPr>
            <p:spPr bwMode="auto">
              <a:xfrm>
                <a:off x="1040" y="2086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5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5" name="Freeform 633"/>
              <p:cNvSpPr>
                <a:spLocks/>
              </p:cNvSpPr>
              <p:nvPr/>
            </p:nvSpPr>
            <p:spPr bwMode="auto">
              <a:xfrm>
                <a:off x="1040" y="2099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18 h 38"/>
                  <a:gd name="T4" fmla="*/ 109 w 123"/>
                  <a:gd name="T5" fmla="*/ 28 h 38"/>
                  <a:gd name="T6" fmla="*/ 0 w 123"/>
                  <a:gd name="T7" fmla="*/ 38 h 38"/>
                  <a:gd name="T8" fmla="*/ 0 w 123"/>
                  <a:gd name="T9" fmla="*/ 13 h 38"/>
                  <a:gd name="T10" fmla="*/ 123 w 12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18"/>
                    </a:lnTo>
                    <a:lnTo>
                      <a:pt x="109" y="28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6" name="Freeform 634"/>
              <p:cNvSpPr>
                <a:spLocks/>
              </p:cNvSpPr>
              <p:nvPr/>
            </p:nvSpPr>
            <p:spPr bwMode="auto">
              <a:xfrm>
                <a:off x="1040" y="2113"/>
                <a:ext cx="54" cy="18"/>
              </a:xfrm>
              <a:custGeom>
                <a:avLst/>
                <a:gdLst>
                  <a:gd name="T0" fmla="*/ 109 w 109"/>
                  <a:gd name="T1" fmla="*/ 0 h 36"/>
                  <a:gd name="T2" fmla="*/ 68 w 109"/>
                  <a:gd name="T3" fmla="*/ 29 h 36"/>
                  <a:gd name="T4" fmla="*/ 0 w 109"/>
                  <a:gd name="T5" fmla="*/ 36 h 36"/>
                  <a:gd name="T6" fmla="*/ 0 w 109"/>
                  <a:gd name="T7" fmla="*/ 10 h 36"/>
                  <a:gd name="T8" fmla="*/ 109 w 109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36">
                    <a:moveTo>
                      <a:pt x="109" y="0"/>
                    </a:moveTo>
                    <a:lnTo>
                      <a:pt x="68" y="29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7" name="Freeform 635"/>
              <p:cNvSpPr>
                <a:spLocks/>
              </p:cNvSpPr>
              <p:nvPr/>
            </p:nvSpPr>
            <p:spPr bwMode="auto">
              <a:xfrm>
                <a:off x="1040" y="2128"/>
                <a:ext cx="33" cy="17"/>
              </a:xfrm>
              <a:custGeom>
                <a:avLst/>
                <a:gdLst>
                  <a:gd name="T0" fmla="*/ 68 w 68"/>
                  <a:gd name="T1" fmla="*/ 0 h 35"/>
                  <a:gd name="T2" fmla="*/ 23 w 68"/>
                  <a:gd name="T3" fmla="*/ 33 h 35"/>
                  <a:gd name="T4" fmla="*/ 0 w 68"/>
                  <a:gd name="T5" fmla="*/ 35 h 35"/>
                  <a:gd name="T6" fmla="*/ 0 w 68"/>
                  <a:gd name="T7" fmla="*/ 7 h 35"/>
                  <a:gd name="T8" fmla="*/ 68 w 68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5">
                    <a:moveTo>
                      <a:pt x="68" y="0"/>
                    </a:moveTo>
                    <a:lnTo>
                      <a:pt x="23" y="33"/>
                    </a:lnTo>
                    <a:lnTo>
                      <a:pt x="0" y="35"/>
                    </a:lnTo>
                    <a:lnTo>
                      <a:pt x="0" y="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8" name="Freeform 636"/>
              <p:cNvSpPr>
                <a:spLocks/>
              </p:cNvSpPr>
              <p:nvPr/>
            </p:nvSpPr>
            <p:spPr bwMode="auto">
              <a:xfrm>
                <a:off x="1040" y="2144"/>
                <a:ext cx="11" cy="8"/>
              </a:xfrm>
              <a:custGeom>
                <a:avLst/>
                <a:gdLst>
                  <a:gd name="T0" fmla="*/ 23 w 23"/>
                  <a:gd name="T1" fmla="*/ 0 h 16"/>
                  <a:gd name="T2" fmla="*/ 0 w 23"/>
                  <a:gd name="T3" fmla="*/ 16 h 16"/>
                  <a:gd name="T4" fmla="*/ 0 w 23"/>
                  <a:gd name="T5" fmla="*/ 2 h 16"/>
                  <a:gd name="T6" fmla="*/ 23 w 23"/>
                  <a:gd name="T7" fmla="*/ 0 h 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16">
                    <a:moveTo>
                      <a:pt x="23" y="0"/>
                    </a:moveTo>
                    <a:lnTo>
                      <a:pt x="0" y="16"/>
                    </a:lnTo>
                    <a:lnTo>
                      <a:pt x="0" y="2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49" name="Freeform 637"/>
              <p:cNvSpPr>
                <a:spLocks/>
              </p:cNvSpPr>
              <p:nvPr/>
            </p:nvSpPr>
            <p:spPr bwMode="auto">
              <a:xfrm>
                <a:off x="1040" y="1896"/>
                <a:ext cx="61" cy="256"/>
              </a:xfrm>
              <a:custGeom>
                <a:avLst/>
                <a:gdLst>
                  <a:gd name="T0" fmla="*/ 123 w 123"/>
                  <a:gd name="T1" fmla="*/ 423 h 511"/>
                  <a:gd name="T2" fmla="*/ 0 w 123"/>
                  <a:gd name="T3" fmla="*/ 511 h 511"/>
                  <a:gd name="T4" fmla="*/ 0 w 123"/>
                  <a:gd name="T5" fmla="*/ 0 h 511"/>
                  <a:gd name="T6" fmla="*/ 123 w 123"/>
                  <a:gd name="T7" fmla="*/ 88 h 511"/>
                  <a:gd name="T8" fmla="*/ 123 w 123"/>
                  <a:gd name="T9" fmla="*/ 423 h 5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11">
                    <a:moveTo>
                      <a:pt x="123" y="423"/>
                    </a:moveTo>
                    <a:lnTo>
                      <a:pt x="0" y="511"/>
                    </a:lnTo>
                    <a:lnTo>
                      <a:pt x="0" y="0"/>
                    </a:lnTo>
                    <a:lnTo>
                      <a:pt x="123" y="88"/>
                    </a:lnTo>
                    <a:lnTo>
                      <a:pt x="123" y="423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0" name="Rectangle 638"/>
              <p:cNvSpPr>
                <a:spLocks noChangeArrowheads="1"/>
              </p:cNvSpPr>
              <p:nvPr/>
            </p:nvSpPr>
            <p:spPr bwMode="auto">
              <a:xfrm>
                <a:off x="1041" y="2789"/>
                <a:ext cx="69" cy="254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1" name="Rectangle 639"/>
              <p:cNvSpPr>
                <a:spLocks noChangeArrowheads="1"/>
              </p:cNvSpPr>
              <p:nvPr/>
            </p:nvSpPr>
            <p:spPr bwMode="auto">
              <a:xfrm>
                <a:off x="1110" y="2789"/>
                <a:ext cx="68" cy="254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2" name="Rectangle 640"/>
              <p:cNvSpPr>
                <a:spLocks noChangeArrowheads="1"/>
              </p:cNvSpPr>
              <p:nvPr/>
            </p:nvSpPr>
            <p:spPr bwMode="auto">
              <a:xfrm>
                <a:off x="1178" y="2789"/>
                <a:ext cx="68" cy="254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3" name="Rectangle 641"/>
              <p:cNvSpPr>
                <a:spLocks noChangeArrowheads="1"/>
              </p:cNvSpPr>
              <p:nvPr/>
            </p:nvSpPr>
            <p:spPr bwMode="auto">
              <a:xfrm>
                <a:off x="1246" y="2789"/>
                <a:ext cx="68" cy="254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4" name="Rectangle 642"/>
              <p:cNvSpPr>
                <a:spLocks noChangeArrowheads="1"/>
              </p:cNvSpPr>
              <p:nvPr/>
            </p:nvSpPr>
            <p:spPr bwMode="auto">
              <a:xfrm>
                <a:off x="1314" y="2789"/>
                <a:ext cx="68" cy="254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5" name="Rectangle 643"/>
              <p:cNvSpPr>
                <a:spLocks noChangeArrowheads="1"/>
              </p:cNvSpPr>
              <p:nvPr/>
            </p:nvSpPr>
            <p:spPr bwMode="auto">
              <a:xfrm>
                <a:off x="1382" y="2789"/>
                <a:ext cx="69" cy="254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6" name="Rectangle 644"/>
              <p:cNvSpPr>
                <a:spLocks noChangeArrowheads="1"/>
              </p:cNvSpPr>
              <p:nvPr/>
            </p:nvSpPr>
            <p:spPr bwMode="auto">
              <a:xfrm>
                <a:off x="1451" y="2789"/>
                <a:ext cx="68" cy="254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7" name="Rectangle 645"/>
              <p:cNvSpPr>
                <a:spLocks noChangeArrowheads="1"/>
              </p:cNvSpPr>
              <p:nvPr/>
            </p:nvSpPr>
            <p:spPr bwMode="auto">
              <a:xfrm>
                <a:off x="1519" y="2789"/>
                <a:ext cx="68" cy="254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8" name="Rectangle 646"/>
              <p:cNvSpPr>
                <a:spLocks noChangeArrowheads="1"/>
              </p:cNvSpPr>
              <p:nvPr/>
            </p:nvSpPr>
            <p:spPr bwMode="auto">
              <a:xfrm>
                <a:off x="1587" y="2789"/>
                <a:ext cx="68" cy="254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59" name="Rectangle 647"/>
              <p:cNvSpPr>
                <a:spLocks noChangeArrowheads="1"/>
              </p:cNvSpPr>
              <p:nvPr/>
            </p:nvSpPr>
            <p:spPr bwMode="auto">
              <a:xfrm>
                <a:off x="1655" y="2789"/>
                <a:ext cx="69" cy="254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0" name="Rectangle 648"/>
              <p:cNvSpPr>
                <a:spLocks noChangeArrowheads="1"/>
              </p:cNvSpPr>
              <p:nvPr/>
            </p:nvSpPr>
            <p:spPr bwMode="auto">
              <a:xfrm>
                <a:off x="1724" y="2789"/>
                <a:ext cx="68" cy="254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1" name="Rectangle 649"/>
              <p:cNvSpPr>
                <a:spLocks noChangeArrowheads="1"/>
              </p:cNvSpPr>
              <p:nvPr/>
            </p:nvSpPr>
            <p:spPr bwMode="auto">
              <a:xfrm>
                <a:off x="1792" y="2789"/>
                <a:ext cx="69" cy="254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2" name="Rectangle 650"/>
              <p:cNvSpPr>
                <a:spLocks noChangeArrowheads="1"/>
              </p:cNvSpPr>
              <p:nvPr/>
            </p:nvSpPr>
            <p:spPr bwMode="auto">
              <a:xfrm>
                <a:off x="1861" y="2789"/>
                <a:ext cx="68" cy="254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3" name="Rectangle 651"/>
              <p:cNvSpPr>
                <a:spLocks noChangeArrowheads="1"/>
              </p:cNvSpPr>
              <p:nvPr/>
            </p:nvSpPr>
            <p:spPr bwMode="auto">
              <a:xfrm>
                <a:off x="1929" y="2789"/>
                <a:ext cx="68" cy="254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4" name="Rectangle 652"/>
              <p:cNvSpPr>
                <a:spLocks noChangeArrowheads="1"/>
              </p:cNvSpPr>
              <p:nvPr/>
            </p:nvSpPr>
            <p:spPr bwMode="auto">
              <a:xfrm>
                <a:off x="1997" y="2789"/>
                <a:ext cx="68" cy="254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5" name="Rectangle 653"/>
              <p:cNvSpPr>
                <a:spLocks noChangeArrowheads="1"/>
              </p:cNvSpPr>
              <p:nvPr/>
            </p:nvSpPr>
            <p:spPr bwMode="auto">
              <a:xfrm>
                <a:off x="2065" y="2789"/>
                <a:ext cx="68" cy="254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6" name="Rectangle 654"/>
              <p:cNvSpPr>
                <a:spLocks noChangeArrowheads="1"/>
              </p:cNvSpPr>
              <p:nvPr/>
            </p:nvSpPr>
            <p:spPr bwMode="auto">
              <a:xfrm>
                <a:off x="2133" y="2789"/>
                <a:ext cx="68" cy="254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7" name="Rectangle 655"/>
              <p:cNvSpPr>
                <a:spLocks noChangeArrowheads="1"/>
              </p:cNvSpPr>
              <p:nvPr/>
            </p:nvSpPr>
            <p:spPr bwMode="auto">
              <a:xfrm>
                <a:off x="2201" y="2789"/>
                <a:ext cx="69" cy="254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8" name="Rectangle 656"/>
              <p:cNvSpPr>
                <a:spLocks noChangeArrowheads="1"/>
              </p:cNvSpPr>
              <p:nvPr/>
            </p:nvSpPr>
            <p:spPr bwMode="auto">
              <a:xfrm>
                <a:off x="2270" y="2789"/>
                <a:ext cx="69" cy="254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69" name="Rectangle 657"/>
              <p:cNvSpPr>
                <a:spLocks noChangeArrowheads="1"/>
              </p:cNvSpPr>
              <p:nvPr/>
            </p:nvSpPr>
            <p:spPr bwMode="auto">
              <a:xfrm>
                <a:off x="2339" y="2789"/>
                <a:ext cx="68" cy="254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0" name="Rectangle 658"/>
              <p:cNvSpPr>
                <a:spLocks noChangeArrowheads="1"/>
              </p:cNvSpPr>
              <p:nvPr/>
            </p:nvSpPr>
            <p:spPr bwMode="auto">
              <a:xfrm>
                <a:off x="1041" y="2789"/>
                <a:ext cx="1366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1" name="Rectangle 659"/>
              <p:cNvSpPr>
                <a:spLocks noChangeArrowheads="1"/>
              </p:cNvSpPr>
              <p:nvPr/>
            </p:nvSpPr>
            <p:spPr bwMode="auto">
              <a:xfrm>
                <a:off x="1041" y="2786"/>
                <a:ext cx="69" cy="2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2" name="Rectangle 660"/>
              <p:cNvSpPr>
                <a:spLocks noChangeArrowheads="1"/>
              </p:cNvSpPr>
              <p:nvPr/>
            </p:nvSpPr>
            <p:spPr bwMode="auto">
              <a:xfrm>
                <a:off x="1110" y="2786"/>
                <a:ext cx="68" cy="25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3" name="Rectangle 661"/>
              <p:cNvSpPr>
                <a:spLocks noChangeArrowheads="1"/>
              </p:cNvSpPr>
              <p:nvPr/>
            </p:nvSpPr>
            <p:spPr bwMode="auto">
              <a:xfrm>
                <a:off x="1178" y="2786"/>
                <a:ext cx="68" cy="25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4" name="Rectangle 662"/>
              <p:cNvSpPr>
                <a:spLocks noChangeArrowheads="1"/>
              </p:cNvSpPr>
              <p:nvPr/>
            </p:nvSpPr>
            <p:spPr bwMode="auto">
              <a:xfrm>
                <a:off x="1246" y="2786"/>
                <a:ext cx="68" cy="25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5" name="Rectangle 663"/>
              <p:cNvSpPr>
                <a:spLocks noChangeArrowheads="1"/>
              </p:cNvSpPr>
              <p:nvPr/>
            </p:nvSpPr>
            <p:spPr bwMode="auto">
              <a:xfrm>
                <a:off x="1314" y="2786"/>
                <a:ext cx="68" cy="25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6" name="Rectangle 664"/>
              <p:cNvSpPr>
                <a:spLocks noChangeArrowheads="1"/>
              </p:cNvSpPr>
              <p:nvPr/>
            </p:nvSpPr>
            <p:spPr bwMode="auto">
              <a:xfrm>
                <a:off x="1382" y="2786"/>
                <a:ext cx="69" cy="25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7" name="Rectangle 665"/>
              <p:cNvSpPr>
                <a:spLocks noChangeArrowheads="1"/>
              </p:cNvSpPr>
              <p:nvPr/>
            </p:nvSpPr>
            <p:spPr bwMode="auto">
              <a:xfrm>
                <a:off x="1451" y="2786"/>
                <a:ext cx="68" cy="25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8" name="Rectangle 666"/>
              <p:cNvSpPr>
                <a:spLocks noChangeArrowheads="1"/>
              </p:cNvSpPr>
              <p:nvPr/>
            </p:nvSpPr>
            <p:spPr bwMode="auto">
              <a:xfrm>
                <a:off x="1519" y="2786"/>
                <a:ext cx="68" cy="25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79" name="Rectangle 667"/>
              <p:cNvSpPr>
                <a:spLocks noChangeArrowheads="1"/>
              </p:cNvSpPr>
              <p:nvPr/>
            </p:nvSpPr>
            <p:spPr bwMode="auto">
              <a:xfrm>
                <a:off x="1587" y="2786"/>
                <a:ext cx="68" cy="25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0" name="Rectangle 668"/>
              <p:cNvSpPr>
                <a:spLocks noChangeArrowheads="1"/>
              </p:cNvSpPr>
              <p:nvPr/>
            </p:nvSpPr>
            <p:spPr bwMode="auto">
              <a:xfrm>
                <a:off x="1655" y="2786"/>
                <a:ext cx="69" cy="25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1" name="Rectangle 669"/>
              <p:cNvSpPr>
                <a:spLocks noChangeArrowheads="1"/>
              </p:cNvSpPr>
              <p:nvPr/>
            </p:nvSpPr>
            <p:spPr bwMode="auto">
              <a:xfrm>
                <a:off x="1724" y="2786"/>
                <a:ext cx="68" cy="25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2" name="Rectangle 670"/>
              <p:cNvSpPr>
                <a:spLocks noChangeArrowheads="1"/>
              </p:cNvSpPr>
              <p:nvPr/>
            </p:nvSpPr>
            <p:spPr bwMode="auto">
              <a:xfrm>
                <a:off x="1792" y="2786"/>
                <a:ext cx="69" cy="25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3" name="Rectangle 671"/>
              <p:cNvSpPr>
                <a:spLocks noChangeArrowheads="1"/>
              </p:cNvSpPr>
              <p:nvPr/>
            </p:nvSpPr>
            <p:spPr bwMode="auto">
              <a:xfrm>
                <a:off x="1861" y="2786"/>
                <a:ext cx="68" cy="25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4" name="Rectangle 672"/>
              <p:cNvSpPr>
                <a:spLocks noChangeArrowheads="1"/>
              </p:cNvSpPr>
              <p:nvPr/>
            </p:nvSpPr>
            <p:spPr bwMode="auto">
              <a:xfrm>
                <a:off x="1929" y="2786"/>
                <a:ext cx="68" cy="25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5" name="Rectangle 673"/>
              <p:cNvSpPr>
                <a:spLocks noChangeArrowheads="1"/>
              </p:cNvSpPr>
              <p:nvPr/>
            </p:nvSpPr>
            <p:spPr bwMode="auto">
              <a:xfrm>
                <a:off x="1997" y="2786"/>
                <a:ext cx="68" cy="25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6" name="Rectangle 674"/>
              <p:cNvSpPr>
                <a:spLocks noChangeArrowheads="1"/>
              </p:cNvSpPr>
              <p:nvPr/>
            </p:nvSpPr>
            <p:spPr bwMode="auto">
              <a:xfrm>
                <a:off x="2065" y="2786"/>
                <a:ext cx="68" cy="25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7" name="Rectangle 675"/>
              <p:cNvSpPr>
                <a:spLocks noChangeArrowheads="1"/>
              </p:cNvSpPr>
              <p:nvPr/>
            </p:nvSpPr>
            <p:spPr bwMode="auto">
              <a:xfrm>
                <a:off x="2133" y="2786"/>
                <a:ext cx="68" cy="25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8" name="Rectangle 676"/>
              <p:cNvSpPr>
                <a:spLocks noChangeArrowheads="1"/>
              </p:cNvSpPr>
              <p:nvPr/>
            </p:nvSpPr>
            <p:spPr bwMode="auto">
              <a:xfrm>
                <a:off x="2201" y="2786"/>
                <a:ext cx="69" cy="25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89" name="Rectangle 677"/>
              <p:cNvSpPr>
                <a:spLocks noChangeArrowheads="1"/>
              </p:cNvSpPr>
              <p:nvPr/>
            </p:nvSpPr>
            <p:spPr bwMode="auto">
              <a:xfrm>
                <a:off x="2270" y="2786"/>
                <a:ext cx="69" cy="25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0" name="Rectangle 678"/>
              <p:cNvSpPr>
                <a:spLocks noChangeArrowheads="1"/>
              </p:cNvSpPr>
              <p:nvPr/>
            </p:nvSpPr>
            <p:spPr bwMode="auto">
              <a:xfrm>
                <a:off x="2339" y="2786"/>
                <a:ext cx="68" cy="25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1" name="Rectangle 679"/>
              <p:cNvSpPr>
                <a:spLocks noChangeArrowheads="1"/>
              </p:cNvSpPr>
              <p:nvPr/>
            </p:nvSpPr>
            <p:spPr bwMode="auto">
              <a:xfrm>
                <a:off x="1041" y="2786"/>
                <a:ext cx="1366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2" name="Freeform 680"/>
              <p:cNvSpPr>
                <a:spLocks/>
              </p:cNvSpPr>
              <p:nvPr/>
            </p:nvSpPr>
            <p:spPr bwMode="auto">
              <a:xfrm>
                <a:off x="2393" y="2788"/>
                <a:ext cx="9" cy="7"/>
              </a:xfrm>
              <a:custGeom>
                <a:avLst/>
                <a:gdLst>
                  <a:gd name="T0" fmla="*/ 17 w 17"/>
                  <a:gd name="T1" fmla="*/ 12 h 14"/>
                  <a:gd name="T2" fmla="*/ 17 w 17"/>
                  <a:gd name="T3" fmla="*/ 0 h 14"/>
                  <a:gd name="T4" fmla="*/ 0 w 17"/>
                  <a:gd name="T5" fmla="*/ 14 h 14"/>
                  <a:gd name="T6" fmla="*/ 17 w 17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14">
                    <a:moveTo>
                      <a:pt x="17" y="12"/>
                    </a:moveTo>
                    <a:lnTo>
                      <a:pt x="17" y="0"/>
                    </a:lnTo>
                    <a:lnTo>
                      <a:pt x="0" y="14"/>
                    </a:lnTo>
                    <a:lnTo>
                      <a:pt x="17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3" name="Freeform 681"/>
              <p:cNvSpPr>
                <a:spLocks/>
              </p:cNvSpPr>
              <p:nvPr/>
            </p:nvSpPr>
            <p:spPr bwMode="auto">
              <a:xfrm>
                <a:off x="2375" y="2794"/>
                <a:ext cx="27" cy="14"/>
              </a:xfrm>
              <a:custGeom>
                <a:avLst/>
                <a:gdLst>
                  <a:gd name="T0" fmla="*/ 53 w 53"/>
                  <a:gd name="T1" fmla="*/ 0 h 30"/>
                  <a:gd name="T2" fmla="*/ 53 w 53"/>
                  <a:gd name="T3" fmla="*/ 25 h 30"/>
                  <a:gd name="T4" fmla="*/ 0 w 53"/>
                  <a:gd name="T5" fmla="*/ 30 h 30"/>
                  <a:gd name="T6" fmla="*/ 36 w 53"/>
                  <a:gd name="T7" fmla="*/ 2 h 30"/>
                  <a:gd name="T8" fmla="*/ 53 w 53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30">
                    <a:moveTo>
                      <a:pt x="53" y="0"/>
                    </a:moveTo>
                    <a:lnTo>
                      <a:pt x="53" y="25"/>
                    </a:lnTo>
                    <a:lnTo>
                      <a:pt x="0" y="30"/>
                    </a:lnTo>
                    <a:lnTo>
                      <a:pt x="36" y="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4" name="Freeform 682"/>
              <p:cNvSpPr>
                <a:spLocks/>
              </p:cNvSpPr>
              <p:nvPr/>
            </p:nvSpPr>
            <p:spPr bwMode="auto">
              <a:xfrm>
                <a:off x="2356" y="2806"/>
                <a:ext cx="46" cy="18"/>
              </a:xfrm>
              <a:custGeom>
                <a:avLst/>
                <a:gdLst>
                  <a:gd name="T0" fmla="*/ 91 w 91"/>
                  <a:gd name="T1" fmla="*/ 0 h 36"/>
                  <a:gd name="T2" fmla="*/ 91 w 91"/>
                  <a:gd name="T3" fmla="*/ 26 h 36"/>
                  <a:gd name="T4" fmla="*/ 0 w 91"/>
                  <a:gd name="T5" fmla="*/ 36 h 36"/>
                  <a:gd name="T6" fmla="*/ 38 w 91"/>
                  <a:gd name="T7" fmla="*/ 5 h 36"/>
                  <a:gd name="T8" fmla="*/ 91 w 9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36">
                    <a:moveTo>
                      <a:pt x="91" y="0"/>
                    </a:moveTo>
                    <a:lnTo>
                      <a:pt x="91" y="26"/>
                    </a:lnTo>
                    <a:lnTo>
                      <a:pt x="0" y="36"/>
                    </a:lnTo>
                    <a:lnTo>
                      <a:pt x="38" y="5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5" name="Freeform 683"/>
              <p:cNvSpPr>
                <a:spLocks/>
              </p:cNvSpPr>
              <p:nvPr/>
            </p:nvSpPr>
            <p:spPr bwMode="auto">
              <a:xfrm>
                <a:off x="2346" y="2819"/>
                <a:ext cx="56" cy="19"/>
              </a:xfrm>
              <a:custGeom>
                <a:avLst/>
                <a:gdLst>
                  <a:gd name="T0" fmla="*/ 112 w 112"/>
                  <a:gd name="T1" fmla="*/ 0 h 37"/>
                  <a:gd name="T2" fmla="*/ 112 w 112"/>
                  <a:gd name="T3" fmla="*/ 25 h 37"/>
                  <a:gd name="T4" fmla="*/ 0 w 112"/>
                  <a:gd name="T5" fmla="*/ 37 h 37"/>
                  <a:gd name="T6" fmla="*/ 0 w 112"/>
                  <a:gd name="T7" fmla="*/ 25 h 37"/>
                  <a:gd name="T8" fmla="*/ 21 w 112"/>
                  <a:gd name="T9" fmla="*/ 10 h 37"/>
                  <a:gd name="T10" fmla="*/ 112 w 112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7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7"/>
                    </a:lnTo>
                    <a:lnTo>
                      <a:pt x="0" y="25"/>
                    </a:lnTo>
                    <a:lnTo>
                      <a:pt x="21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6" name="Freeform 684"/>
              <p:cNvSpPr>
                <a:spLocks/>
              </p:cNvSpPr>
              <p:nvPr/>
            </p:nvSpPr>
            <p:spPr bwMode="auto">
              <a:xfrm>
                <a:off x="2346" y="2832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7" name="Freeform 685"/>
              <p:cNvSpPr>
                <a:spLocks/>
              </p:cNvSpPr>
              <p:nvPr/>
            </p:nvSpPr>
            <p:spPr bwMode="auto">
              <a:xfrm>
                <a:off x="2346" y="2845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8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8" name="Freeform 686"/>
              <p:cNvSpPr>
                <a:spLocks/>
              </p:cNvSpPr>
              <p:nvPr/>
            </p:nvSpPr>
            <p:spPr bwMode="auto">
              <a:xfrm>
                <a:off x="2346" y="2858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0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999" name="Freeform 687"/>
              <p:cNvSpPr>
                <a:spLocks/>
              </p:cNvSpPr>
              <p:nvPr/>
            </p:nvSpPr>
            <p:spPr bwMode="auto">
              <a:xfrm>
                <a:off x="2346" y="287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0" name="Freeform 688"/>
              <p:cNvSpPr>
                <a:spLocks/>
              </p:cNvSpPr>
              <p:nvPr/>
            </p:nvSpPr>
            <p:spPr bwMode="auto">
              <a:xfrm>
                <a:off x="2346" y="288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1" name="Freeform 689"/>
              <p:cNvSpPr>
                <a:spLocks/>
              </p:cNvSpPr>
              <p:nvPr/>
            </p:nvSpPr>
            <p:spPr bwMode="auto">
              <a:xfrm>
                <a:off x="2346" y="2897"/>
                <a:ext cx="56" cy="19"/>
              </a:xfrm>
              <a:custGeom>
                <a:avLst/>
                <a:gdLst>
                  <a:gd name="T0" fmla="*/ 112 w 112"/>
                  <a:gd name="T1" fmla="*/ 0 h 37"/>
                  <a:gd name="T2" fmla="*/ 112 w 112"/>
                  <a:gd name="T3" fmla="*/ 25 h 37"/>
                  <a:gd name="T4" fmla="*/ 0 w 112"/>
                  <a:gd name="T5" fmla="*/ 37 h 37"/>
                  <a:gd name="T6" fmla="*/ 0 w 112"/>
                  <a:gd name="T7" fmla="*/ 12 h 37"/>
                  <a:gd name="T8" fmla="*/ 112 w 112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7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7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2" name="Freeform 690"/>
              <p:cNvSpPr>
                <a:spLocks/>
              </p:cNvSpPr>
              <p:nvPr/>
            </p:nvSpPr>
            <p:spPr bwMode="auto">
              <a:xfrm>
                <a:off x="2346" y="2910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3" name="Freeform 691"/>
              <p:cNvSpPr>
                <a:spLocks/>
              </p:cNvSpPr>
              <p:nvPr/>
            </p:nvSpPr>
            <p:spPr bwMode="auto">
              <a:xfrm>
                <a:off x="2346" y="2923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4" name="Freeform 692"/>
              <p:cNvSpPr>
                <a:spLocks/>
              </p:cNvSpPr>
              <p:nvPr/>
            </p:nvSpPr>
            <p:spPr bwMode="auto">
              <a:xfrm>
                <a:off x="2346" y="2936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2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5" name="Freeform 693"/>
              <p:cNvSpPr>
                <a:spLocks/>
              </p:cNvSpPr>
              <p:nvPr/>
            </p:nvSpPr>
            <p:spPr bwMode="auto">
              <a:xfrm>
                <a:off x="2346" y="2949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6" name="Freeform 694"/>
              <p:cNvSpPr>
                <a:spLocks/>
              </p:cNvSpPr>
              <p:nvPr/>
            </p:nvSpPr>
            <p:spPr bwMode="auto">
              <a:xfrm>
                <a:off x="2346" y="2962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7" name="Freeform 695"/>
              <p:cNvSpPr>
                <a:spLocks/>
              </p:cNvSpPr>
              <p:nvPr/>
            </p:nvSpPr>
            <p:spPr bwMode="auto">
              <a:xfrm>
                <a:off x="2346" y="2975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7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8" name="Freeform 696"/>
              <p:cNvSpPr>
                <a:spLocks/>
              </p:cNvSpPr>
              <p:nvPr/>
            </p:nvSpPr>
            <p:spPr bwMode="auto">
              <a:xfrm>
                <a:off x="2346" y="2989"/>
                <a:ext cx="56" cy="17"/>
              </a:xfrm>
              <a:custGeom>
                <a:avLst/>
                <a:gdLst>
                  <a:gd name="T0" fmla="*/ 112 w 112"/>
                  <a:gd name="T1" fmla="*/ 0 h 35"/>
                  <a:gd name="T2" fmla="*/ 112 w 112"/>
                  <a:gd name="T3" fmla="*/ 26 h 35"/>
                  <a:gd name="T4" fmla="*/ 26 w 112"/>
                  <a:gd name="T5" fmla="*/ 35 h 35"/>
                  <a:gd name="T6" fmla="*/ 0 w 112"/>
                  <a:gd name="T7" fmla="*/ 16 h 35"/>
                  <a:gd name="T8" fmla="*/ 0 w 112"/>
                  <a:gd name="T9" fmla="*/ 13 h 35"/>
                  <a:gd name="T10" fmla="*/ 112 w 112"/>
                  <a:gd name="T1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5">
                    <a:moveTo>
                      <a:pt x="112" y="0"/>
                    </a:moveTo>
                    <a:lnTo>
                      <a:pt x="112" y="26"/>
                    </a:lnTo>
                    <a:lnTo>
                      <a:pt x="26" y="35"/>
                    </a:lnTo>
                    <a:lnTo>
                      <a:pt x="0" y="16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09" name="Freeform 697"/>
              <p:cNvSpPr>
                <a:spLocks/>
              </p:cNvSpPr>
              <p:nvPr/>
            </p:nvSpPr>
            <p:spPr bwMode="auto">
              <a:xfrm>
                <a:off x="2359" y="3002"/>
                <a:ext cx="43" cy="16"/>
              </a:xfrm>
              <a:custGeom>
                <a:avLst/>
                <a:gdLst>
                  <a:gd name="T0" fmla="*/ 86 w 86"/>
                  <a:gd name="T1" fmla="*/ 0 h 33"/>
                  <a:gd name="T2" fmla="*/ 86 w 86"/>
                  <a:gd name="T3" fmla="*/ 26 h 33"/>
                  <a:gd name="T4" fmla="*/ 29 w 86"/>
                  <a:gd name="T5" fmla="*/ 33 h 33"/>
                  <a:gd name="T6" fmla="*/ 0 w 86"/>
                  <a:gd name="T7" fmla="*/ 9 h 33"/>
                  <a:gd name="T8" fmla="*/ 86 w 8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3">
                    <a:moveTo>
                      <a:pt x="86" y="0"/>
                    </a:moveTo>
                    <a:lnTo>
                      <a:pt x="86" y="26"/>
                    </a:lnTo>
                    <a:lnTo>
                      <a:pt x="29" y="33"/>
                    </a:lnTo>
                    <a:lnTo>
                      <a:pt x="0" y="9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0" name="Freeform 698"/>
              <p:cNvSpPr>
                <a:spLocks/>
              </p:cNvSpPr>
              <p:nvPr/>
            </p:nvSpPr>
            <p:spPr bwMode="auto">
              <a:xfrm>
                <a:off x="2373" y="3015"/>
                <a:ext cx="29" cy="14"/>
              </a:xfrm>
              <a:custGeom>
                <a:avLst/>
                <a:gdLst>
                  <a:gd name="T0" fmla="*/ 57 w 57"/>
                  <a:gd name="T1" fmla="*/ 0 h 30"/>
                  <a:gd name="T2" fmla="*/ 57 w 57"/>
                  <a:gd name="T3" fmla="*/ 26 h 30"/>
                  <a:gd name="T4" fmla="*/ 30 w 57"/>
                  <a:gd name="T5" fmla="*/ 30 h 30"/>
                  <a:gd name="T6" fmla="*/ 0 w 57"/>
                  <a:gd name="T7" fmla="*/ 7 h 30"/>
                  <a:gd name="T8" fmla="*/ 57 w 57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30">
                    <a:moveTo>
                      <a:pt x="57" y="0"/>
                    </a:moveTo>
                    <a:lnTo>
                      <a:pt x="57" y="26"/>
                    </a:lnTo>
                    <a:lnTo>
                      <a:pt x="30" y="30"/>
                    </a:lnTo>
                    <a:lnTo>
                      <a:pt x="0" y="7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1" name="Freeform 699"/>
              <p:cNvSpPr>
                <a:spLocks/>
              </p:cNvSpPr>
              <p:nvPr/>
            </p:nvSpPr>
            <p:spPr bwMode="auto">
              <a:xfrm>
                <a:off x="2388" y="3028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4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2" name="Freeform 700"/>
              <p:cNvSpPr>
                <a:spLocks/>
              </p:cNvSpPr>
              <p:nvPr/>
            </p:nvSpPr>
            <p:spPr bwMode="auto">
              <a:xfrm>
                <a:off x="2346" y="2788"/>
                <a:ext cx="56" cy="252"/>
              </a:xfrm>
              <a:custGeom>
                <a:avLst/>
                <a:gdLst>
                  <a:gd name="T0" fmla="*/ 0 w 112"/>
                  <a:gd name="T1" fmla="*/ 88 h 504"/>
                  <a:gd name="T2" fmla="*/ 112 w 112"/>
                  <a:gd name="T3" fmla="*/ 0 h 504"/>
                  <a:gd name="T4" fmla="*/ 112 w 112"/>
                  <a:gd name="T5" fmla="*/ 504 h 504"/>
                  <a:gd name="T6" fmla="*/ 0 w 112"/>
                  <a:gd name="T7" fmla="*/ 418 h 504"/>
                  <a:gd name="T8" fmla="*/ 0 w 112"/>
                  <a:gd name="T9" fmla="*/ 88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4">
                    <a:moveTo>
                      <a:pt x="0" y="88"/>
                    </a:moveTo>
                    <a:lnTo>
                      <a:pt x="112" y="0"/>
                    </a:lnTo>
                    <a:lnTo>
                      <a:pt x="112" y="504"/>
                    </a:lnTo>
                    <a:lnTo>
                      <a:pt x="0" y="418"/>
                    </a:lnTo>
                    <a:lnTo>
                      <a:pt x="0" y="88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3" name="Freeform 701"/>
              <p:cNvSpPr>
                <a:spLocks/>
              </p:cNvSpPr>
              <p:nvPr/>
            </p:nvSpPr>
            <p:spPr bwMode="auto">
              <a:xfrm>
                <a:off x="2340" y="2996"/>
                <a:ext cx="68" cy="43"/>
              </a:xfrm>
              <a:custGeom>
                <a:avLst/>
                <a:gdLst>
                  <a:gd name="T0" fmla="*/ 0 w 137"/>
                  <a:gd name="T1" fmla="*/ 87 h 87"/>
                  <a:gd name="T2" fmla="*/ 137 w 137"/>
                  <a:gd name="T3" fmla="*/ 87 h 87"/>
                  <a:gd name="T4" fmla="*/ 12 w 137"/>
                  <a:gd name="T5" fmla="*/ 0 h 87"/>
                  <a:gd name="T6" fmla="*/ 9 w 137"/>
                  <a:gd name="T7" fmla="*/ 0 h 87"/>
                  <a:gd name="T8" fmla="*/ 0 w 13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7">
                    <a:moveTo>
                      <a:pt x="0" y="87"/>
                    </a:moveTo>
                    <a:lnTo>
                      <a:pt x="137" y="87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4" name="Freeform 702"/>
              <p:cNvSpPr>
                <a:spLocks/>
              </p:cNvSpPr>
              <p:nvPr/>
            </p:nvSpPr>
            <p:spPr bwMode="auto">
              <a:xfrm>
                <a:off x="2271" y="2996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5" name="Freeform 703"/>
              <p:cNvSpPr>
                <a:spLocks/>
              </p:cNvSpPr>
              <p:nvPr/>
            </p:nvSpPr>
            <p:spPr bwMode="auto">
              <a:xfrm>
                <a:off x="2202" y="2996"/>
                <a:ext cx="73" cy="43"/>
              </a:xfrm>
              <a:custGeom>
                <a:avLst/>
                <a:gdLst>
                  <a:gd name="T0" fmla="*/ 136 w 145"/>
                  <a:gd name="T1" fmla="*/ 87 h 87"/>
                  <a:gd name="T2" fmla="*/ 0 w 145"/>
                  <a:gd name="T3" fmla="*/ 87 h 87"/>
                  <a:gd name="T4" fmla="*/ 8 w 145"/>
                  <a:gd name="T5" fmla="*/ 0 h 87"/>
                  <a:gd name="T6" fmla="*/ 145 w 145"/>
                  <a:gd name="T7" fmla="*/ 0 h 87"/>
                  <a:gd name="T8" fmla="*/ 136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5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6" name="Freeform 704"/>
              <p:cNvSpPr>
                <a:spLocks/>
              </p:cNvSpPr>
              <p:nvPr/>
            </p:nvSpPr>
            <p:spPr bwMode="auto">
              <a:xfrm>
                <a:off x="2133" y="2996"/>
                <a:ext cx="74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7" name="Freeform 705"/>
              <p:cNvSpPr>
                <a:spLocks/>
              </p:cNvSpPr>
              <p:nvPr/>
            </p:nvSpPr>
            <p:spPr bwMode="auto">
              <a:xfrm>
                <a:off x="2065" y="2996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8" name="Freeform 706"/>
              <p:cNvSpPr>
                <a:spLocks/>
              </p:cNvSpPr>
              <p:nvPr/>
            </p:nvSpPr>
            <p:spPr bwMode="auto">
              <a:xfrm>
                <a:off x="1996" y="2996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19" name="Freeform 707"/>
              <p:cNvSpPr>
                <a:spLocks/>
              </p:cNvSpPr>
              <p:nvPr/>
            </p:nvSpPr>
            <p:spPr bwMode="auto">
              <a:xfrm>
                <a:off x="1928" y="2996"/>
                <a:ext cx="73" cy="43"/>
              </a:xfrm>
              <a:custGeom>
                <a:avLst/>
                <a:gdLst>
                  <a:gd name="T0" fmla="*/ 136 w 146"/>
                  <a:gd name="T1" fmla="*/ 87 h 87"/>
                  <a:gd name="T2" fmla="*/ 0 w 146"/>
                  <a:gd name="T3" fmla="*/ 87 h 87"/>
                  <a:gd name="T4" fmla="*/ 8 w 146"/>
                  <a:gd name="T5" fmla="*/ 0 h 87"/>
                  <a:gd name="T6" fmla="*/ 146 w 146"/>
                  <a:gd name="T7" fmla="*/ 0 h 87"/>
                  <a:gd name="T8" fmla="*/ 136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0" name="Freeform 708"/>
              <p:cNvSpPr>
                <a:spLocks/>
              </p:cNvSpPr>
              <p:nvPr/>
            </p:nvSpPr>
            <p:spPr bwMode="auto">
              <a:xfrm>
                <a:off x="1859" y="2996"/>
                <a:ext cx="73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1" name="Freeform 709"/>
              <p:cNvSpPr>
                <a:spLocks/>
              </p:cNvSpPr>
              <p:nvPr/>
            </p:nvSpPr>
            <p:spPr bwMode="auto">
              <a:xfrm>
                <a:off x="1791" y="2996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2" name="Freeform 710"/>
              <p:cNvSpPr>
                <a:spLocks/>
              </p:cNvSpPr>
              <p:nvPr/>
            </p:nvSpPr>
            <p:spPr bwMode="auto">
              <a:xfrm>
                <a:off x="1722" y="2996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1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3" name="Freeform 711"/>
              <p:cNvSpPr>
                <a:spLocks/>
              </p:cNvSpPr>
              <p:nvPr/>
            </p:nvSpPr>
            <p:spPr bwMode="auto">
              <a:xfrm>
                <a:off x="1653" y="2996"/>
                <a:ext cx="74" cy="43"/>
              </a:xfrm>
              <a:custGeom>
                <a:avLst/>
                <a:gdLst>
                  <a:gd name="T0" fmla="*/ 136 w 147"/>
                  <a:gd name="T1" fmla="*/ 87 h 87"/>
                  <a:gd name="T2" fmla="*/ 0 w 147"/>
                  <a:gd name="T3" fmla="*/ 87 h 87"/>
                  <a:gd name="T4" fmla="*/ 8 w 147"/>
                  <a:gd name="T5" fmla="*/ 0 h 87"/>
                  <a:gd name="T6" fmla="*/ 147 w 147"/>
                  <a:gd name="T7" fmla="*/ 0 h 87"/>
                  <a:gd name="T8" fmla="*/ 136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4" name="Freeform 712"/>
              <p:cNvSpPr>
                <a:spLocks/>
              </p:cNvSpPr>
              <p:nvPr/>
            </p:nvSpPr>
            <p:spPr bwMode="auto">
              <a:xfrm>
                <a:off x="1585" y="2996"/>
                <a:ext cx="73" cy="43"/>
              </a:xfrm>
              <a:custGeom>
                <a:avLst/>
                <a:gdLst>
                  <a:gd name="T0" fmla="*/ 137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7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5" name="Freeform 713"/>
              <p:cNvSpPr>
                <a:spLocks/>
              </p:cNvSpPr>
              <p:nvPr/>
            </p:nvSpPr>
            <p:spPr bwMode="auto">
              <a:xfrm>
                <a:off x="1516" y="2996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6" name="Freeform 714"/>
              <p:cNvSpPr>
                <a:spLocks/>
              </p:cNvSpPr>
              <p:nvPr/>
            </p:nvSpPr>
            <p:spPr bwMode="auto">
              <a:xfrm>
                <a:off x="1448" y="2996"/>
                <a:ext cx="72" cy="43"/>
              </a:xfrm>
              <a:custGeom>
                <a:avLst/>
                <a:gdLst>
                  <a:gd name="T0" fmla="*/ 136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6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7" name="Freeform 715"/>
              <p:cNvSpPr>
                <a:spLocks/>
              </p:cNvSpPr>
              <p:nvPr/>
            </p:nvSpPr>
            <p:spPr bwMode="auto">
              <a:xfrm>
                <a:off x="1379" y="2996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8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8" name="Freeform 716"/>
              <p:cNvSpPr>
                <a:spLocks/>
              </p:cNvSpPr>
              <p:nvPr/>
            </p:nvSpPr>
            <p:spPr bwMode="auto">
              <a:xfrm>
                <a:off x="1311" y="2996"/>
                <a:ext cx="72" cy="43"/>
              </a:xfrm>
              <a:custGeom>
                <a:avLst/>
                <a:gdLst>
                  <a:gd name="T0" fmla="*/ 137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7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29" name="Freeform 717"/>
              <p:cNvSpPr>
                <a:spLocks/>
              </p:cNvSpPr>
              <p:nvPr/>
            </p:nvSpPr>
            <p:spPr bwMode="auto">
              <a:xfrm>
                <a:off x="1242" y="2996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0" name="Freeform 718"/>
              <p:cNvSpPr>
                <a:spLocks/>
              </p:cNvSpPr>
              <p:nvPr/>
            </p:nvSpPr>
            <p:spPr bwMode="auto">
              <a:xfrm>
                <a:off x="1173" y="2996"/>
                <a:ext cx="73" cy="43"/>
              </a:xfrm>
              <a:custGeom>
                <a:avLst/>
                <a:gdLst>
                  <a:gd name="T0" fmla="*/ 136 w 145"/>
                  <a:gd name="T1" fmla="*/ 87 h 87"/>
                  <a:gd name="T2" fmla="*/ 0 w 145"/>
                  <a:gd name="T3" fmla="*/ 87 h 87"/>
                  <a:gd name="T4" fmla="*/ 9 w 145"/>
                  <a:gd name="T5" fmla="*/ 0 h 87"/>
                  <a:gd name="T6" fmla="*/ 145 w 145"/>
                  <a:gd name="T7" fmla="*/ 0 h 87"/>
                  <a:gd name="T8" fmla="*/ 136 w 145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1" name="Freeform 719"/>
              <p:cNvSpPr>
                <a:spLocks/>
              </p:cNvSpPr>
              <p:nvPr/>
            </p:nvSpPr>
            <p:spPr bwMode="auto">
              <a:xfrm>
                <a:off x="1104" y="2996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8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2" name="Freeform 720"/>
              <p:cNvSpPr>
                <a:spLocks/>
              </p:cNvSpPr>
              <p:nvPr/>
            </p:nvSpPr>
            <p:spPr bwMode="auto">
              <a:xfrm>
                <a:off x="1041" y="2996"/>
                <a:ext cx="68" cy="43"/>
              </a:xfrm>
              <a:custGeom>
                <a:avLst/>
                <a:gdLst>
                  <a:gd name="T0" fmla="*/ 128 w 136"/>
                  <a:gd name="T1" fmla="*/ 87 h 87"/>
                  <a:gd name="T2" fmla="*/ 0 w 136"/>
                  <a:gd name="T3" fmla="*/ 87 h 87"/>
                  <a:gd name="T4" fmla="*/ 112 w 136"/>
                  <a:gd name="T5" fmla="*/ 0 h 87"/>
                  <a:gd name="T6" fmla="*/ 136 w 136"/>
                  <a:gd name="T7" fmla="*/ 0 h 87"/>
                  <a:gd name="T8" fmla="*/ 128 w 13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7">
                    <a:moveTo>
                      <a:pt x="128" y="87"/>
                    </a:moveTo>
                    <a:lnTo>
                      <a:pt x="0" y="87"/>
                    </a:lnTo>
                    <a:lnTo>
                      <a:pt x="112" y="0"/>
                    </a:lnTo>
                    <a:lnTo>
                      <a:pt x="136" y="0"/>
                    </a:lnTo>
                    <a:lnTo>
                      <a:pt x="128" y="87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3" name="Freeform 721"/>
              <p:cNvSpPr>
                <a:spLocks/>
              </p:cNvSpPr>
              <p:nvPr/>
            </p:nvSpPr>
            <p:spPr bwMode="auto">
              <a:xfrm>
                <a:off x="1041" y="2996"/>
                <a:ext cx="1367" cy="43"/>
              </a:xfrm>
              <a:custGeom>
                <a:avLst/>
                <a:gdLst>
                  <a:gd name="T0" fmla="*/ 112 w 2735"/>
                  <a:gd name="T1" fmla="*/ 0 h 87"/>
                  <a:gd name="T2" fmla="*/ 0 w 2735"/>
                  <a:gd name="T3" fmla="*/ 87 h 87"/>
                  <a:gd name="T4" fmla="*/ 2735 w 2735"/>
                  <a:gd name="T5" fmla="*/ 87 h 87"/>
                  <a:gd name="T6" fmla="*/ 2610 w 2735"/>
                  <a:gd name="T7" fmla="*/ 0 h 87"/>
                  <a:gd name="T8" fmla="*/ 112 w 2735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7">
                    <a:moveTo>
                      <a:pt x="112" y="0"/>
                    </a:moveTo>
                    <a:lnTo>
                      <a:pt x="0" y="87"/>
                    </a:lnTo>
                    <a:lnTo>
                      <a:pt x="2735" y="87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4" name="Freeform 722"/>
              <p:cNvSpPr>
                <a:spLocks/>
              </p:cNvSpPr>
              <p:nvPr/>
            </p:nvSpPr>
            <p:spPr bwMode="auto">
              <a:xfrm>
                <a:off x="1041" y="2787"/>
                <a:ext cx="68" cy="44"/>
              </a:xfrm>
              <a:custGeom>
                <a:avLst/>
                <a:gdLst>
                  <a:gd name="T0" fmla="*/ 136 w 136"/>
                  <a:gd name="T1" fmla="*/ 0 h 88"/>
                  <a:gd name="T2" fmla="*/ 0 w 136"/>
                  <a:gd name="T3" fmla="*/ 0 h 88"/>
                  <a:gd name="T4" fmla="*/ 118 w 136"/>
                  <a:gd name="T5" fmla="*/ 88 h 88"/>
                  <a:gd name="T6" fmla="*/ 136 w 136"/>
                  <a:gd name="T7" fmla="*/ 88 h 88"/>
                  <a:gd name="T8" fmla="*/ 136 w 136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8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8"/>
                    </a:lnTo>
                    <a:lnTo>
                      <a:pt x="136" y="88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5" name="Rectangle 723"/>
              <p:cNvSpPr>
                <a:spLocks noChangeArrowheads="1"/>
              </p:cNvSpPr>
              <p:nvPr/>
            </p:nvSpPr>
            <p:spPr bwMode="auto">
              <a:xfrm>
                <a:off x="1109" y="2787"/>
                <a:ext cx="68" cy="4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6" name="Rectangle 724"/>
              <p:cNvSpPr>
                <a:spLocks noChangeArrowheads="1"/>
              </p:cNvSpPr>
              <p:nvPr/>
            </p:nvSpPr>
            <p:spPr bwMode="auto">
              <a:xfrm>
                <a:off x="1177" y="2787"/>
                <a:ext cx="68" cy="4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7" name="Rectangle 725"/>
              <p:cNvSpPr>
                <a:spLocks noChangeArrowheads="1"/>
              </p:cNvSpPr>
              <p:nvPr/>
            </p:nvSpPr>
            <p:spPr bwMode="auto">
              <a:xfrm>
                <a:off x="1245" y="2787"/>
                <a:ext cx="68" cy="4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8" name="Rectangle 726"/>
              <p:cNvSpPr>
                <a:spLocks noChangeArrowheads="1"/>
              </p:cNvSpPr>
              <p:nvPr/>
            </p:nvSpPr>
            <p:spPr bwMode="auto">
              <a:xfrm>
                <a:off x="1313" y="2787"/>
                <a:ext cx="69" cy="4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39" name="Rectangle 727"/>
              <p:cNvSpPr>
                <a:spLocks noChangeArrowheads="1"/>
              </p:cNvSpPr>
              <p:nvPr/>
            </p:nvSpPr>
            <p:spPr bwMode="auto">
              <a:xfrm>
                <a:off x="1382" y="2787"/>
                <a:ext cx="68" cy="4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0" name="Rectangle 728"/>
              <p:cNvSpPr>
                <a:spLocks noChangeArrowheads="1"/>
              </p:cNvSpPr>
              <p:nvPr/>
            </p:nvSpPr>
            <p:spPr bwMode="auto">
              <a:xfrm>
                <a:off x="1450" y="2787"/>
                <a:ext cx="68" cy="4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1" name="Rectangle 729"/>
              <p:cNvSpPr>
                <a:spLocks noChangeArrowheads="1"/>
              </p:cNvSpPr>
              <p:nvPr/>
            </p:nvSpPr>
            <p:spPr bwMode="auto">
              <a:xfrm>
                <a:off x="1518" y="2787"/>
                <a:ext cx="68" cy="4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2" name="Rectangle 730"/>
              <p:cNvSpPr>
                <a:spLocks noChangeArrowheads="1"/>
              </p:cNvSpPr>
              <p:nvPr/>
            </p:nvSpPr>
            <p:spPr bwMode="auto">
              <a:xfrm>
                <a:off x="1586" y="2787"/>
                <a:ext cx="68" cy="4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3" name="Rectangle 731"/>
              <p:cNvSpPr>
                <a:spLocks noChangeArrowheads="1"/>
              </p:cNvSpPr>
              <p:nvPr/>
            </p:nvSpPr>
            <p:spPr bwMode="auto">
              <a:xfrm>
                <a:off x="1654" y="2787"/>
                <a:ext cx="68" cy="4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4" name="Rectangle 732"/>
              <p:cNvSpPr>
                <a:spLocks noChangeArrowheads="1"/>
              </p:cNvSpPr>
              <p:nvPr/>
            </p:nvSpPr>
            <p:spPr bwMode="auto">
              <a:xfrm>
                <a:off x="1722" y="2787"/>
                <a:ext cx="69" cy="4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5" name="Rectangle 733"/>
              <p:cNvSpPr>
                <a:spLocks noChangeArrowheads="1"/>
              </p:cNvSpPr>
              <p:nvPr/>
            </p:nvSpPr>
            <p:spPr bwMode="auto">
              <a:xfrm>
                <a:off x="1791" y="2787"/>
                <a:ext cx="68" cy="4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6" name="Rectangle 734"/>
              <p:cNvSpPr>
                <a:spLocks noChangeArrowheads="1"/>
              </p:cNvSpPr>
              <p:nvPr/>
            </p:nvSpPr>
            <p:spPr bwMode="auto">
              <a:xfrm>
                <a:off x="1859" y="2787"/>
                <a:ext cx="68" cy="4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7" name="Rectangle 735"/>
              <p:cNvSpPr>
                <a:spLocks noChangeArrowheads="1"/>
              </p:cNvSpPr>
              <p:nvPr/>
            </p:nvSpPr>
            <p:spPr bwMode="auto">
              <a:xfrm>
                <a:off x="1927" y="2787"/>
                <a:ext cx="68" cy="4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8" name="Rectangle 736"/>
              <p:cNvSpPr>
                <a:spLocks noChangeArrowheads="1"/>
              </p:cNvSpPr>
              <p:nvPr/>
            </p:nvSpPr>
            <p:spPr bwMode="auto">
              <a:xfrm>
                <a:off x="1995" y="2787"/>
                <a:ext cx="68" cy="4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49" name="Rectangle 737"/>
              <p:cNvSpPr>
                <a:spLocks noChangeArrowheads="1"/>
              </p:cNvSpPr>
              <p:nvPr/>
            </p:nvSpPr>
            <p:spPr bwMode="auto">
              <a:xfrm>
                <a:off x="2063" y="2787"/>
                <a:ext cx="69" cy="4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0" name="Rectangle 738"/>
              <p:cNvSpPr>
                <a:spLocks noChangeArrowheads="1"/>
              </p:cNvSpPr>
              <p:nvPr/>
            </p:nvSpPr>
            <p:spPr bwMode="auto">
              <a:xfrm>
                <a:off x="2132" y="2787"/>
                <a:ext cx="68" cy="4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1" name="Rectangle 739"/>
              <p:cNvSpPr>
                <a:spLocks noChangeArrowheads="1"/>
              </p:cNvSpPr>
              <p:nvPr/>
            </p:nvSpPr>
            <p:spPr bwMode="auto">
              <a:xfrm>
                <a:off x="2200" y="2787"/>
                <a:ext cx="68" cy="4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2" name="Rectangle 740"/>
              <p:cNvSpPr>
                <a:spLocks noChangeArrowheads="1"/>
              </p:cNvSpPr>
              <p:nvPr/>
            </p:nvSpPr>
            <p:spPr bwMode="auto">
              <a:xfrm>
                <a:off x="2268" y="2787"/>
                <a:ext cx="69" cy="4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3" name="Freeform 741"/>
              <p:cNvSpPr>
                <a:spLocks/>
              </p:cNvSpPr>
              <p:nvPr/>
            </p:nvSpPr>
            <p:spPr bwMode="auto">
              <a:xfrm>
                <a:off x="2337" y="2787"/>
                <a:ext cx="68" cy="44"/>
              </a:xfrm>
              <a:custGeom>
                <a:avLst/>
                <a:gdLst>
                  <a:gd name="T0" fmla="*/ 0 w 136"/>
                  <a:gd name="T1" fmla="*/ 0 h 88"/>
                  <a:gd name="T2" fmla="*/ 136 w 136"/>
                  <a:gd name="T3" fmla="*/ 0 h 88"/>
                  <a:gd name="T4" fmla="*/ 24 w 136"/>
                  <a:gd name="T5" fmla="*/ 88 h 88"/>
                  <a:gd name="T6" fmla="*/ 0 w 136"/>
                  <a:gd name="T7" fmla="*/ 88 h 88"/>
                  <a:gd name="T8" fmla="*/ 0 w 136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8">
                    <a:moveTo>
                      <a:pt x="0" y="0"/>
                    </a:moveTo>
                    <a:lnTo>
                      <a:pt x="136" y="0"/>
                    </a:lnTo>
                    <a:lnTo>
                      <a:pt x="24" y="88"/>
                    </a:lnTo>
                    <a:lnTo>
                      <a:pt x="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4" name="Freeform 742"/>
              <p:cNvSpPr>
                <a:spLocks/>
              </p:cNvSpPr>
              <p:nvPr/>
            </p:nvSpPr>
            <p:spPr bwMode="auto">
              <a:xfrm>
                <a:off x="1041" y="2787"/>
                <a:ext cx="1364" cy="44"/>
              </a:xfrm>
              <a:custGeom>
                <a:avLst/>
                <a:gdLst>
                  <a:gd name="T0" fmla="*/ 118 w 2729"/>
                  <a:gd name="T1" fmla="*/ 88 h 88"/>
                  <a:gd name="T2" fmla="*/ 0 w 2729"/>
                  <a:gd name="T3" fmla="*/ 0 h 88"/>
                  <a:gd name="T4" fmla="*/ 2729 w 2729"/>
                  <a:gd name="T5" fmla="*/ 0 h 88"/>
                  <a:gd name="T6" fmla="*/ 2617 w 2729"/>
                  <a:gd name="T7" fmla="*/ 88 h 88"/>
                  <a:gd name="T8" fmla="*/ 118 w 272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8">
                    <a:moveTo>
                      <a:pt x="118" y="88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8"/>
                    </a:lnTo>
                    <a:lnTo>
                      <a:pt x="118" y="88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5" name="Freeform 743"/>
              <p:cNvSpPr>
                <a:spLocks/>
              </p:cNvSpPr>
              <p:nvPr/>
            </p:nvSpPr>
            <p:spPr bwMode="auto">
              <a:xfrm>
                <a:off x="1040" y="2785"/>
                <a:ext cx="16" cy="13"/>
              </a:xfrm>
              <a:custGeom>
                <a:avLst/>
                <a:gdLst>
                  <a:gd name="T0" fmla="*/ 33 w 33"/>
                  <a:gd name="T1" fmla="*/ 23 h 26"/>
                  <a:gd name="T2" fmla="*/ 0 w 33"/>
                  <a:gd name="T3" fmla="*/ 0 h 26"/>
                  <a:gd name="T4" fmla="*/ 0 w 33"/>
                  <a:gd name="T5" fmla="*/ 26 h 26"/>
                  <a:gd name="T6" fmla="*/ 33 w 33"/>
                  <a:gd name="T7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6">
                    <a:moveTo>
                      <a:pt x="33" y="23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3" y="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6" name="Freeform 744"/>
              <p:cNvSpPr>
                <a:spLocks/>
              </p:cNvSpPr>
              <p:nvPr/>
            </p:nvSpPr>
            <p:spPr bwMode="auto">
              <a:xfrm>
                <a:off x="1040" y="2796"/>
                <a:ext cx="32" cy="15"/>
              </a:xfrm>
              <a:custGeom>
                <a:avLst/>
                <a:gdLst>
                  <a:gd name="T0" fmla="*/ 33 w 64"/>
                  <a:gd name="T1" fmla="*/ 0 h 29"/>
                  <a:gd name="T2" fmla="*/ 64 w 64"/>
                  <a:gd name="T3" fmla="*/ 22 h 29"/>
                  <a:gd name="T4" fmla="*/ 0 w 64"/>
                  <a:gd name="T5" fmla="*/ 29 h 29"/>
                  <a:gd name="T6" fmla="*/ 0 w 64"/>
                  <a:gd name="T7" fmla="*/ 3 h 29"/>
                  <a:gd name="T8" fmla="*/ 33 w 64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9">
                    <a:moveTo>
                      <a:pt x="33" y="0"/>
                    </a:moveTo>
                    <a:lnTo>
                      <a:pt x="64" y="22"/>
                    </a:lnTo>
                    <a:lnTo>
                      <a:pt x="0" y="29"/>
                    </a:lnTo>
                    <a:lnTo>
                      <a:pt x="0" y="3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7" name="Freeform 745"/>
              <p:cNvSpPr>
                <a:spLocks/>
              </p:cNvSpPr>
              <p:nvPr/>
            </p:nvSpPr>
            <p:spPr bwMode="auto">
              <a:xfrm>
                <a:off x="1040" y="2808"/>
                <a:ext cx="48" cy="16"/>
              </a:xfrm>
              <a:custGeom>
                <a:avLst/>
                <a:gdLst>
                  <a:gd name="T0" fmla="*/ 64 w 97"/>
                  <a:gd name="T1" fmla="*/ 0 h 33"/>
                  <a:gd name="T2" fmla="*/ 97 w 97"/>
                  <a:gd name="T3" fmla="*/ 23 h 33"/>
                  <a:gd name="T4" fmla="*/ 0 w 97"/>
                  <a:gd name="T5" fmla="*/ 33 h 33"/>
                  <a:gd name="T6" fmla="*/ 0 w 97"/>
                  <a:gd name="T7" fmla="*/ 7 h 33"/>
                  <a:gd name="T8" fmla="*/ 64 w 97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33">
                    <a:moveTo>
                      <a:pt x="64" y="0"/>
                    </a:moveTo>
                    <a:lnTo>
                      <a:pt x="97" y="23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8" name="Freeform 746"/>
              <p:cNvSpPr>
                <a:spLocks/>
              </p:cNvSpPr>
              <p:nvPr/>
            </p:nvSpPr>
            <p:spPr bwMode="auto">
              <a:xfrm>
                <a:off x="1040" y="2819"/>
                <a:ext cx="61" cy="18"/>
              </a:xfrm>
              <a:custGeom>
                <a:avLst/>
                <a:gdLst>
                  <a:gd name="T0" fmla="*/ 97 w 123"/>
                  <a:gd name="T1" fmla="*/ 0 h 36"/>
                  <a:gd name="T2" fmla="*/ 123 w 123"/>
                  <a:gd name="T3" fmla="*/ 18 h 36"/>
                  <a:gd name="T4" fmla="*/ 123 w 123"/>
                  <a:gd name="T5" fmla="*/ 24 h 36"/>
                  <a:gd name="T6" fmla="*/ 0 w 123"/>
                  <a:gd name="T7" fmla="*/ 36 h 36"/>
                  <a:gd name="T8" fmla="*/ 0 w 123"/>
                  <a:gd name="T9" fmla="*/ 10 h 36"/>
                  <a:gd name="T10" fmla="*/ 97 w 123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6">
                    <a:moveTo>
                      <a:pt x="97" y="0"/>
                    </a:moveTo>
                    <a:lnTo>
                      <a:pt x="123" y="18"/>
                    </a:lnTo>
                    <a:lnTo>
                      <a:pt x="123" y="24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59" name="Freeform 747"/>
              <p:cNvSpPr>
                <a:spLocks/>
              </p:cNvSpPr>
              <p:nvPr/>
            </p:nvSpPr>
            <p:spPr bwMode="auto">
              <a:xfrm>
                <a:off x="1040" y="2831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2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0" name="Freeform 748"/>
              <p:cNvSpPr>
                <a:spLocks/>
              </p:cNvSpPr>
              <p:nvPr/>
            </p:nvSpPr>
            <p:spPr bwMode="auto">
              <a:xfrm>
                <a:off x="1040" y="2844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5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1" name="Freeform 749"/>
              <p:cNvSpPr>
                <a:spLocks/>
              </p:cNvSpPr>
              <p:nvPr/>
            </p:nvSpPr>
            <p:spPr bwMode="auto">
              <a:xfrm>
                <a:off x="1040" y="2857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2" name="Freeform 750"/>
              <p:cNvSpPr>
                <a:spLocks/>
              </p:cNvSpPr>
              <p:nvPr/>
            </p:nvSpPr>
            <p:spPr bwMode="auto">
              <a:xfrm>
                <a:off x="1040" y="2870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8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3" name="Freeform 751"/>
              <p:cNvSpPr>
                <a:spLocks/>
              </p:cNvSpPr>
              <p:nvPr/>
            </p:nvSpPr>
            <p:spPr bwMode="auto">
              <a:xfrm>
                <a:off x="1040" y="2883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4" name="Freeform 752"/>
              <p:cNvSpPr>
                <a:spLocks/>
              </p:cNvSpPr>
              <p:nvPr/>
            </p:nvSpPr>
            <p:spPr bwMode="auto">
              <a:xfrm>
                <a:off x="1040" y="2896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5" name="Freeform 753"/>
              <p:cNvSpPr>
                <a:spLocks/>
              </p:cNvSpPr>
              <p:nvPr/>
            </p:nvSpPr>
            <p:spPr bwMode="auto">
              <a:xfrm>
                <a:off x="1040" y="2909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6" name="Freeform 754"/>
              <p:cNvSpPr>
                <a:spLocks/>
              </p:cNvSpPr>
              <p:nvPr/>
            </p:nvSpPr>
            <p:spPr bwMode="auto">
              <a:xfrm>
                <a:off x="1040" y="2922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5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7" name="Freeform 755"/>
              <p:cNvSpPr>
                <a:spLocks/>
              </p:cNvSpPr>
              <p:nvPr/>
            </p:nvSpPr>
            <p:spPr bwMode="auto">
              <a:xfrm>
                <a:off x="1040" y="2935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3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8" name="Freeform 756"/>
              <p:cNvSpPr>
                <a:spLocks/>
              </p:cNvSpPr>
              <p:nvPr/>
            </p:nvSpPr>
            <p:spPr bwMode="auto">
              <a:xfrm>
                <a:off x="1040" y="2948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8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69" name="Freeform 757"/>
              <p:cNvSpPr>
                <a:spLocks/>
              </p:cNvSpPr>
              <p:nvPr/>
            </p:nvSpPr>
            <p:spPr bwMode="auto">
              <a:xfrm>
                <a:off x="1040" y="2962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0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0" name="Freeform 758"/>
              <p:cNvSpPr>
                <a:spLocks/>
              </p:cNvSpPr>
              <p:nvPr/>
            </p:nvSpPr>
            <p:spPr bwMode="auto">
              <a:xfrm>
                <a:off x="1040" y="2975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1" name="Freeform 759"/>
              <p:cNvSpPr>
                <a:spLocks/>
              </p:cNvSpPr>
              <p:nvPr/>
            </p:nvSpPr>
            <p:spPr bwMode="auto">
              <a:xfrm>
                <a:off x="1040" y="2988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17 h 38"/>
                  <a:gd name="T4" fmla="*/ 109 w 123"/>
                  <a:gd name="T5" fmla="*/ 27 h 38"/>
                  <a:gd name="T6" fmla="*/ 0 w 123"/>
                  <a:gd name="T7" fmla="*/ 38 h 38"/>
                  <a:gd name="T8" fmla="*/ 0 w 123"/>
                  <a:gd name="T9" fmla="*/ 12 h 38"/>
                  <a:gd name="T10" fmla="*/ 123 w 123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17"/>
                    </a:lnTo>
                    <a:lnTo>
                      <a:pt x="109" y="27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2" name="Freeform 760"/>
              <p:cNvSpPr>
                <a:spLocks/>
              </p:cNvSpPr>
              <p:nvPr/>
            </p:nvSpPr>
            <p:spPr bwMode="auto">
              <a:xfrm>
                <a:off x="1040" y="3002"/>
                <a:ext cx="54" cy="18"/>
              </a:xfrm>
              <a:custGeom>
                <a:avLst/>
                <a:gdLst>
                  <a:gd name="T0" fmla="*/ 109 w 109"/>
                  <a:gd name="T1" fmla="*/ 0 h 37"/>
                  <a:gd name="T2" fmla="*/ 66 w 109"/>
                  <a:gd name="T3" fmla="*/ 30 h 37"/>
                  <a:gd name="T4" fmla="*/ 0 w 109"/>
                  <a:gd name="T5" fmla="*/ 37 h 37"/>
                  <a:gd name="T6" fmla="*/ 0 w 109"/>
                  <a:gd name="T7" fmla="*/ 11 h 37"/>
                  <a:gd name="T8" fmla="*/ 109 w 109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37">
                    <a:moveTo>
                      <a:pt x="109" y="0"/>
                    </a:moveTo>
                    <a:lnTo>
                      <a:pt x="66" y="30"/>
                    </a:lnTo>
                    <a:lnTo>
                      <a:pt x="0" y="37"/>
                    </a:lnTo>
                    <a:lnTo>
                      <a:pt x="0" y="11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3" name="Freeform 761"/>
              <p:cNvSpPr>
                <a:spLocks/>
              </p:cNvSpPr>
              <p:nvPr/>
            </p:nvSpPr>
            <p:spPr bwMode="auto">
              <a:xfrm>
                <a:off x="1040" y="3016"/>
                <a:ext cx="32" cy="17"/>
              </a:xfrm>
              <a:custGeom>
                <a:avLst/>
                <a:gdLst>
                  <a:gd name="T0" fmla="*/ 66 w 66"/>
                  <a:gd name="T1" fmla="*/ 0 h 32"/>
                  <a:gd name="T2" fmla="*/ 23 w 66"/>
                  <a:gd name="T3" fmla="*/ 31 h 32"/>
                  <a:gd name="T4" fmla="*/ 0 w 66"/>
                  <a:gd name="T5" fmla="*/ 32 h 32"/>
                  <a:gd name="T6" fmla="*/ 0 w 66"/>
                  <a:gd name="T7" fmla="*/ 7 h 32"/>
                  <a:gd name="T8" fmla="*/ 66 w 66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32">
                    <a:moveTo>
                      <a:pt x="66" y="0"/>
                    </a:moveTo>
                    <a:lnTo>
                      <a:pt x="23" y="31"/>
                    </a:lnTo>
                    <a:lnTo>
                      <a:pt x="0" y="32"/>
                    </a:lnTo>
                    <a:lnTo>
                      <a:pt x="0" y="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4" name="Freeform 762"/>
              <p:cNvSpPr>
                <a:spLocks/>
              </p:cNvSpPr>
              <p:nvPr/>
            </p:nvSpPr>
            <p:spPr bwMode="auto">
              <a:xfrm>
                <a:off x="1040" y="3032"/>
                <a:ext cx="11" cy="8"/>
              </a:xfrm>
              <a:custGeom>
                <a:avLst/>
                <a:gdLst>
                  <a:gd name="T0" fmla="*/ 23 w 23"/>
                  <a:gd name="T1" fmla="*/ 0 h 15"/>
                  <a:gd name="T2" fmla="*/ 0 w 23"/>
                  <a:gd name="T3" fmla="*/ 15 h 15"/>
                  <a:gd name="T4" fmla="*/ 0 w 23"/>
                  <a:gd name="T5" fmla="*/ 1 h 15"/>
                  <a:gd name="T6" fmla="*/ 23 w 23"/>
                  <a:gd name="T7" fmla="*/ 0 h 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3" h="15">
                    <a:moveTo>
                      <a:pt x="23" y="0"/>
                    </a:moveTo>
                    <a:lnTo>
                      <a:pt x="0" y="15"/>
                    </a:lnTo>
                    <a:lnTo>
                      <a:pt x="0" y="1"/>
                    </a:ln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5" name="Freeform 763"/>
              <p:cNvSpPr>
                <a:spLocks/>
              </p:cNvSpPr>
              <p:nvPr/>
            </p:nvSpPr>
            <p:spPr bwMode="auto">
              <a:xfrm>
                <a:off x="1040" y="2785"/>
                <a:ext cx="61" cy="255"/>
              </a:xfrm>
              <a:custGeom>
                <a:avLst/>
                <a:gdLst>
                  <a:gd name="T0" fmla="*/ 123 w 123"/>
                  <a:gd name="T1" fmla="*/ 423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6 h 509"/>
                  <a:gd name="T8" fmla="*/ 123 w 123"/>
                  <a:gd name="T9" fmla="*/ 423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3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6"/>
                    </a:lnTo>
                    <a:lnTo>
                      <a:pt x="123" y="423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6" name="Rectangle 764"/>
              <p:cNvSpPr>
                <a:spLocks noChangeArrowheads="1"/>
              </p:cNvSpPr>
              <p:nvPr/>
            </p:nvSpPr>
            <p:spPr bwMode="auto">
              <a:xfrm>
                <a:off x="1041" y="3678"/>
                <a:ext cx="69" cy="255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7" name="Rectangle 765"/>
              <p:cNvSpPr>
                <a:spLocks noChangeArrowheads="1"/>
              </p:cNvSpPr>
              <p:nvPr/>
            </p:nvSpPr>
            <p:spPr bwMode="auto">
              <a:xfrm>
                <a:off x="1110" y="3678"/>
                <a:ext cx="68" cy="255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8" name="Rectangle 766"/>
              <p:cNvSpPr>
                <a:spLocks noChangeArrowheads="1"/>
              </p:cNvSpPr>
              <p:nvPr/>
            </p:nvSpPr>
            <p:spPr bwMode="auto">
              <a:xfrm>
                <a:off x="1178" y="3678"/>
                <a:ext cx="68" cy="255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79" name="Rectangle 767"/>
              <p:cNvSpPr>
                <a:spLocks noChangeArrowheads="1"/>
              </p:cNvSpPr>
              <p:nvPr/>
            </p:nvSpPr>
            <p:spPr bwMode="auto">
              <a:xfrm>
                <a:off x="1246" y="3678"/>
                <a:ext cx="68" cy="255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0" name="Rectangle 768"/>
              <p:cNvSpPr>
                <a:spLocks noChangeArrowheads="1"/>
              </p:cNvSpPr>
              <p:nvPr/>
            </p:nvSpPr>
            <p:spPr bwMode="auto">
              <a:xfrm>
                <a:off x="1314" y="3678"/>
                <a:ext cx="68" cy="255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1" name="Rectangle 769"/>
              <p:cNvSpPr>
                <a:spLocks noChangeArrowheads="1"/>
              </p:cNvSpPr>
              <p:nvPr/>
            </p:nvSpPr>
            <p:spPr bwMode="auto">
              <a:xfrm>
                <a:off x="1382" y="3678"/>
                <a:ext cx="69" cy="255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2" name="Rectangle 770"/>
              <p:cNvSpPr>
                <a:spLocks noChangeArrowheads="1"/>
              </p:cNvSpPr>
              <p:nvPr/>
            </p:nvSpPr>
            <p:spPr bwMode="auto">
              <a:xfrm>
                <a:off x="1451" y="3678"/>
                <a:ext cx="68" cy="255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3" name="Rectangle 771"/>
              <p:cNvSpPr>
                <a:spLocks noChangeArrowheads="1"/>
              </p:cNvSpPr>
              <p:nvPr/>
            </p:nvSpPr>
            <p:spPr bwMode="auto">
              <a:xfrm>
                <a:off x="1519" y="3678"/>
                <a:ext cx="68" cy="255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4" name="Rectangle 772"/>
              <p:cNvSpPr>
                <a:spLocks noChangeArrowheads="1"/>
              </p:cNvSpPr>
              <p:nvPr/>
            </p:nvSpPr>
            <p:spPr bwMode="auto">
              <a:xfrm>
                <a:off x="1587" y="3678"/>
                <a:ext cx="68" cy="255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5" name="Rectangle 773"/>
              <p:cNvSpPr>
                <a:spLocks noChangeArrowheads="1"/>
              </p:cNvSpPr>
              <p:nvPr/>
            </p:nvSpPr>
            <p:spPr bwMode="auto">
              <a:xfrm>
                <a:off x="1655" y="3678"/>
                <a:ext cx="69" cy="255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6" name="Rectangle 774"/>
              <p:cNvSpPr>
                <a:spLocks noChangeArrowheads="1"/>
              </p:cNvSpPr>
              <p:nvPr/>
            </p:nvSpPr>
            <p:spPr bwMode="auto">
              <a:xfrm>
                <a:off x="1724" y="3678"/>
                <a:ext cx="68" cy="255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7" name="Rectangle 775"/>
              <p:cNvSpPr>
                <a:spLocks noChangeArrowheads="1"/>
              </p:cNvSpPr>
              <p:nvPr/>
            </p:nvSpPr>
            <p:spPr bwMode="auto">
              <a:xfrm>
                <a:off x="1792" y="3678"/>
                <a:ext cx="69" cy="255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8" name="Rectangle 776"/>
              <p:cNvSpPr>
                <a:spLocks noChangeArrowheads="1"/>
              </p:cNvSpPr>
              <p:nvPr/>
            </p:nvSpPr>
            <p:spPr bwMode="auto">
              <a:xfrm>
                <a:off x="1861" y="3678"/>
                <a:ext cx="68" cy="255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89" name="Rectangle 777"/>
              <p:cNvSpPr>
                <a:spLocks noChangeArrowheads="1"/>
              </p:cNvSpPr>
              <p:nvPr/>
            </p:nvSpPr>
            <p:spPr bwMode="auto">
              <a:xfrm>
                <a:off x="1929" y="3678"/>
                <a:ext cx="68" cy="255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0" name="Rectangle 778"/>
              <p:cNvSpPr>
                <a:spLocks noChangeArrowheads="1"/>
              </p:cNvSpPr>
              <p:nvPr/>
            </p:nvSpPr>
            <p:spPr bwMode="auto">
              <a:xfrm>
                <a:off x="1997" y="3678"/>
                <a:ext cx="68" cy="255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1" name="Rectangle 779"/>
              <p:cNvSpPr>
                <a:spLocks noChangeArrowheads="1"/>
              </p:cNvSpPr>
              <p:nvPr/>
            </p:nvSpPr>
            <p:spPr bwMode="auto">
              <a:xfrm>
                <a:off x="2065" y="3678"/>
                <a:ext cx="68" cy="255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2" name="Rectangle 780"/>
              <p:cNvSpPr>
                <a:spLocks noChangeArrowheads="1"/>
              </p:cNvSpPr>
              <p:nvPr/>
            </p:nvSpPr>
            <p:spPr bwMode="auto">
              <a:xfrm>
                <a:off x="2133" y="3678"/>
                <a:ext cx="68" cy="255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3" name="Rectangle 781"/>
              <p:cNvSpPr>
                <a:spLocks noChangeArrowheads="1"/>
              </p:cNvSpPr>
              <p:nvPr/>
            </p:nvSpPr>
            <p:spPr bwMode="auto">
              <a:xfrm>
                <a:off x="2201" y="3678"/>
                <a:ext cx="69" cy="255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4" name="Rectangle 782"/>
              <p:cNvSpPr>
                <a:spLocks noChangeArrowheads="1"/>
              </p:cNvSpPr>
              <p:nvPr/>
            </p:nvSpPr>
            <p:spPr bwMode="auto">
              <a:xfrm>
                <a:off x="2270" y="3678"/>
                <a:ext cx="69" cy="255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5" name="Rectangle 783"/>
              <p:cNvSpPr>
                <a:spLocks noChangeArrowheads="1"/>
              </p:cNvSpPr>
              <p:nvPr/>
            </p:nvSpPr>
            <p:spPr bwMode="auto">
              <a:xfrm>
                <a:off x="2339" y="3678"/>
                <a:ext cx="68" cy="2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6" name="Rectangle 784"/>
              <p:cNvSpPr>
                <a:spLocks noChangeArrowheads="1"/>
              </p:cNvSpPr>
              <p:nvPr/>
            </p:nvSpPr>
            <p:spPr bwMode="auto">
              <a:xfrm>
                <a:off x="1041" y="3678"/>
                <a:ext cx="1366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7" name="Rectangle 785"/>
              <p:cNvSpPr>
                <a:spLocks noChangeArrowheads="1"/>
              </p:cNvSpPr>
              <p:nvPr/>
            </p:nvSpPr>
            <p:spPr bwMode="auto">
              <a:xfrm>
                <a:off x="1041" y="3675"/>
                <a:ext cx="69" cy="2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8" name="Rectangle 786"/>
              <p:cNvSpPr>
                <a:spLocks noChangeArrowheads="1"/>
              </p:cNvSpPr>
              <p:nvPr/>
            </p:nvSpPr>
            <p:spPr bwMode="auto">
              <a:xfrm>
                <a:off x="1110" y="3675"/>
                <a:ext cx="68" cy="25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099" name="Rectangle 787"/>
              <p:cNvSpPr>
                <a:spLocks noChangeArrowheads="1"/>
              </p:cNvSpPr>
              <p:nvPr/>
            </p:nvSpPr>
            <p:spPr bwMode="auto">
              <a:xfrm>
                <a:off x="1178" y="3675"/>
                <a:ext cx="68" cy="25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0" name="Rectangle 788"/>
              <p:cNvSpPr>
                <a:spLocks noChangeArrowheads="1"/>
              </p:cNvSpPr>
              <p:nvPr/>
            </p:nvSpPr>
            <p:spPr bwMode="auto">
              <a:xfrm>
                <a:off x="1246" y="3675"/>
                <a:ext cx="68" cy="25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1" name="Rectangle 789"/>
              <p:cNvSpPr>
                <a:spLocks noChangeArrowheads="1"/>
              </p:cNvSpPr>
              <p:nvPr/>
            </p:nvSpPr>
            <p:spPr bwMode="auto">
              <a:xfrm>
                <a:off x="1314" y="3675"/>
                <a:ext cx="68" cy="25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2" name="Rectangle 790"/>
              <p:cNvSpPr>
                <a:spLocks noChangeArrowheads="1"/>
              </p:cNvSpPr>
              <p:nvPr/>
            </p:nvSpPr>
            <p:spPr bwMode="auto">
              <a:xfrm>
                <a:off x="1382" y="3675"/>
                <a:ext cx="69" cy="25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3" name="Rectangle 791"/>
              <p:cNvSpPr>
                <a:spLocks noChangeArrowheads="1"/>
              </p:cNvSpPr>
              <p:nvPr/>
            </p:nvSpPr>
            <p:spPr bwMode="auto">
              <a:xfrm>
                <a:off x="1451" y="3675"/>
                <a:ext cx="68" cy="25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4" name="Rectangle 792"/>
              <p:cNvSpPr>
                <a:spLocks noChangeArrowheads="1"/>
              </p:cNvSpPr>
              <p:nvPr/>
            </p:nvSpPr>
            <p:spPr bwMode="auto">
              <a:xfrm>
                <a:off x="1519" y="3675"/>
                <a:ext cx="68" cy="25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5" name="Rectangle 793"/>
              <p:cNvSpPr>
                <a:spLocks noChangeArrowheads="1"/>
              </p:cNvSpPr>
              <p:nvPr/>
            </p:nvSpPr>
            <p:spPr bwMode="auto">
              <a:xfrm>
                <a:off x="1587" y="3675"/>
                <a:ext cx="68" cy="25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6" name="Rectangle 794"/>
              <p:cNvSpPr>
                <a:spLocks noChangeArrowheads="1"/>
              </p:cNvSpPr>
              <p:nvPr/>
            </p:nvSpPr>
            <p:spPr bwMode="auto">
              <a:xfrm>
                <a:off x="1655" y="3675"/>
                <a:ext cx="69" cy="25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7" name="Rectangle 795"/>
              <p:cNvSpPr>
                <a:spLocks noChangeArrowheads="1"/>
              </p:cNvSpPr>
              <p:nvPr/>
            </p:nvSpPr>
            <p:spPr bwMode="auto">
              <a:xfrm>
                <a:off x="1724" y="3675"/>
                <a:ext cx="68" cy="25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8" name="Rectangle 796"/>
              <p:cNvSpPr>
                <a:spLocks noChangeArrowheads="1"/>
              </p:cNvSpPr>
              <p:nvPr/>
            </p:nvSpPr>
            <p:spPr bwMode="auto">
              <a:xfrm>
                <a:off x="1792" y="3675"/>
                <a:ext cx="69" cy="25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09" name="Rectangle 797"/>
              <p:cNvSpPr>
                <a:spLocks noChangeArrowheads="1"/>
              </p:cNvSpPr>
              <p:nvPr/>
            </p:nvSpPr>
            <p:spPr bwMode="auto">
              <a:xfrm>
                <a:off x="1861" y="3675"/>
                <a:ext cx="68" cy="25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0" name="Rectangle 798"/>
              <p:cNvSpPr>
                <a:spLocks noChangeArrowheads="1"/>
              </p:cNvSpPr>
              <p:nvPr/>
            </p:nvSpPr>
            <p:spPr bwMode="auto">
              <a:xfrm>
                <a:off x="1929" y="3675"/>
                <a:ext cx="68" cy="25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1" name="Rectangle 799"/>
              <p:cNvSpPr>
                <a:spLocks noChangeArrowheads="1"/>
              </p:cNvSpPr>
              <p:nvPr/>
            </p:nvSpPr>
            <p:spPr bwMode="auto">
              <a:xfrm>
                <a:off x="1997" y="3675"/>
                <a:ext cx="68" cy="25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2" name="Rectangle 800"/>
              <p:cNvSpPr>
                <a:spLocks noChangeArrowheads="1"/>
              </p:cNvSpPr>
              <p:nvPr/>
            </p:nvSpPr>
            <p:spPr bwMode="auto">
              <a:xfrm>
                <a:off x="2065" y="3675"/>
                <a:ext cx="68" cy="25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3" name="Rectangle 801"/>
              <p:cNvSpPr>
                <a:spLocks noChangeArrowheads="1"/>
              </p:cNvSpPr>
              <p:nvPr/>
            </p:nvSpPr>
            <p:spPr bwMode="auto">
              <a:xfrm>
                <a:off x="2133" y="3675"/>
                <a:ext cx="68" cy="25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4" name="Rectangle 802"/>
              <p:cNvSpPr>
                <a:spLocks noChangeArrowheads="1"/>
              </p:cNvSpPr>
              <p:nvPr/>
            </p:nvSpPr>
            <p:spPr bwMode="auto">
              <a:xfrm>
                <a:off x="2201" y="3675"/>
                <a:ext cx="69" cy="25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5" name="Rectangle 803"/>
              <p:cNvSpPr>
                <a:spLocks noChangeArrowheads="1"/>
              </p:cNvSpPr>
              <p:nvPr/>
            </p:nvSpPr>
            <p:spPr bwMode="auto">
              <a:xfrm>
                <a:off x="2270" y="3675"/>
                <a:ext cx="69" cy="25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6" name="Rectangle 804"/>
              <p:cNvSpPr>
                <a:spLocks noChangeArrowheads="1"/>
              </p:cNvSpPr>
              <p:nvPr/>
            </p:nvSpPr>
            <p:spPr bwMode="auto">
              <a:xfrm>
                <a:off x="2339" y="3675"/>
                <a:ext cx="68" cy="25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7" name="Rectangle 805"/>
              <p:cNvSpPr>
                <a:spLocks noChangeArrowheads="1"/>
              </p:cNvSpPr>
              <p:nvPr/>
            </p:nvSpPr>
            <p:spPr bwMode="auto">
              <a:xfrm>
                <a:off x="1041" y="3675"/>
                <a:ext cx="1366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8" name="Freeform 806"/>
              <p:cNvSpPr>
                <a:spLocks/>
              </p:cNvSpPr>
              <p:nvPr/>
            </p:nvSpPr>
            <p:spPr bwMode="auto">
              <a:xfrm>
                <a:off x="2392" y="3677"/>
                <a:ext cx="10" cy="7"/>
              </a:xfrm>
              <a:custGeom>
                <a:avLst/>
                <a:gdLst>
                  <a:gd name="T0" fmla="*/ 19 w 19"/>
                  <a:gd name="T1" fmla="*/ 12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2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19" name="Freeform 807"/>
              <p:cNvSpPr>
                <a:spLocks/>
              </p:cNvSpPr>
              <p:nvPr/>
            </p:nvSpPr>
            <p:spPr bwMode="auto">
              <a:xfrm>
                <a:off x="2374" y="3683"/>
                <a:ext cx="28" cy="15"/>
              </a:xfrm>
              <a:custGeom>
                <a:avLst/>
                <a:gdLst>
                  <a:gd name="T0" fmla="*/ 55 w 55"/>
                  <a:gd name="T1" fmla="*/ 0 h 30"/>
                  <a:gd name="T2" fmla="*/ 55 w 55"/>
                  <a:gd name="T3" fmla="*/ 25 h 30"/>
                  <a:gd name="T4" fmla="*/ 0 w 55"/>
                  <a:gd name="T5" fmla="*/ 30 h 30"/>
                  <a:gd name="T6" fmla="*/ 36 w 55"/>
                  <a:gd name="T7" fmla="*/ 2 h 30"/>
                  <a:gd name="T8" fmla="*/ 55 w 55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0">
                    <a:moveTo>
                      <a:pt x="55" y="0"/>
                    </a:moveTo>
                    <a:lnTo>
                      <a:pt x="55" y="25"/>
                    </a:lnTo>
                    <a:lnTo>
                      <a:pt x="0" y="30"/>
                    </a:lnTo>
                    <a:lnTo>
                      <a:pt x="36" y="2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120" name="Group 808"/>
            <p:cNvGrpSpPr>
              <a:grpSpLocks/>
            </p:cNvGrpSpPr>
            <p:nvPr/>
          </p:nvGrpSpPr>
          <p:grpSpPr bwMode="auto">
            <a:xfrm>
              <a:off x="1040" y="1011"/>
              <a:ext cx="3250" cy="2917"/>
              <a:chOff x="1040" y="1011"/>
              <a:chExt cx="3250" cy="2917"/>
            </a:xfrm>
          </p:grpSpPr>
          <p:sp>
            <p:nvSpPr>
              <p:cNvPr id="142121" name="Freeform 809"/>
              <p:cNvSpPr>
                <a:spLocks/>
              </p:cNvSpPr>
              <p:nvPr/>
            </p:nvSpPr>
            <p:spPr bwMode="auto">
              <a:xfrm>
                <a:off x="2355" y="3695"/>
                <a:ext cx="47" cy="18"/>
              </a:xfrm>
              <a:custGeom>
                <a:avLst/>
                <a:gdLst>
                  <a:gd name="T0" fmla="*/ 93 w 93"/>
                  <a:gd name="T1" fmla="*/ 0 h 36"/>
                  <a:gd name="T2" fmla="*/ 93 w 93"/>
                  <a:gd name="T3" fmla="*/ 25 h 36"/>
                  <a:gd name="T4" fmla="*/ 0 w 93"/>
                  <a:gd name="T5" fmla="*/ 36 h 36"/>
                  <a:gd name="T6" fmla="*/ 38 w 93"/>
                  <a:gd name="T7" fmla="*/ 5 h 36"/>
                  <a:gd name="T8" fmla="*/ 93 w 9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6">
                    <a:moveTo>
                      <a:pt x="93" y="0"/>
                    </a:moveTo>
                    <a:lnTo>
                      <a:pt x="93" y="25"/>
                    </a:lnTo>
                    <a:lnTo>
                      <a:pt x="0" y="36"/>
                    </a:lnTo>
                    <a:lnTo>
                      <a:pt x="38" y="5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22" name="Freeform 810"/>
              <p:cNvSpPr>
                <a:spLocks/>
              </p:cNvSpPr>
              <p:nvPr/>
            </p:nvSpPr>
            <p:spPr bwMode="auto">
              <a:xfrm>
                <a:off x="2346" y="3708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25 h 38"/>
                  <a:gd name="T8" fmla="*/ 19 w 112"/>
                  <a:gd name="T9" fmla="*/ 11 h 38"/>
                  <a:gd name="T10" fmla="*/ 112 w 112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25"/>
                    </a:lnTo>
                    <a:lnTo>
                      <a:pt x="19" y="1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23" name="Freeform 811"/>
              <p:cNvSpPr>
                <a:spLocks/>
              </p:cNvSpPr>
              <p:nvPr/>
            </p:nvSpPr>
            <p:spPr bwMode="auto">
              <a:xfrm>
                <a:off x="2346" y="372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24" name="Freeform 812"/>
              <p:cNvSpPr>
                <a:spLocks/>
              </p:cNvSpPr>
              <p:nvPr/>
            </p:nvSpPr>
            <p:spPr bwMode="auto">
              <a:xfrm>
                <a:off x="2346" y="373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8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25" name="Freeform 813"/>
              <p:cNvSpPr>
                <a:spLocks/>
              </p:cNvSpPr>
              <p:nvPr/>
            </p:nvSpPr>
            <p:spPr bwMode="auto">
              <a:xfrm>
                <a:off x="2346" y="3748"/>
                <a:ext cx="56" cy="18"/>
              </a:xfrm>
              <a:custGeom>
                <a:avLst/>
                <a:gdLst>
                  <a:gd name="T0" fmla="*/ 112 w 112"/>
                  <a:gd name="T1" fmla="*/ 0 h 36"/>
                  <a:gd name="T2" fmla="*/ 112 w 112"/>
                  <a:gd name="T3" fmla="*/ 26 h 36"/>
                  <a:gd name="T4" fmla="*/ 0 w 112"/>
                  <a:gd name="T5" fmla="*/ 36 h 36"/>
                  <a:gd name="T6" fmla="*/ 0 w 112"/>
                  <a:gd name="T7" fmla="*/ 10 h 36"/>
                  <a:gd name="T8" fmla="*/ 112 w 112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6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26" name="Freeform 814"/>
              <p:cNvSpPr>
                <a:spLocks/>
              </p:cNvSpPr>
              <p:nvPr/>
            </p:nvSpPr>
            <p:spPr bwMode="auto">
              <a:xfrm>
                <a:off x="2346" y="3761"/>
                <a:ext cx="56" cy="18"/>
              </a:xfrm>
              <a:custGeom>
                <a:avLst/>
                <a:gdLst>
                  <a:gd name="T0" fmla="*/ 112 w 112"/>
                  <a:gd name="T1" fmla="*/ 0 h 36"/>
                  <a:gd name="T2" fmla="*/ 112 w 112"/>
                  <a:gd name="T3" fmla="*/ 26 h 36"/>
                  <a:gd name="T4" fmla="*/ 0 w 112"/>
                  <a:gd name="T5" fmla="*/ 36 h 36"/>
                  <a:gd name="T6" fmla="*/ 0 w 112"/>
                  <a:gd name="T7" fmla="*/ 10 h 36"/>
                  <a:gd name="T8" fmla="*/ 112 w 112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6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27" name="Freeform 815"/>
              <p:cNvSpPr>
                <a:spLocks/>
              </p:cNvSpPr>
              <p:nvPr/>
            </p:nvSpPr>
            <p:spPr bwMode="auto">
              <a:xfrm>
                <a:off x="2346" y="3774"/>
                <a:ext cx="56" cy="18"/>
              </a:xfrm>
              <a:custGeom>
                <a:avLst/>
                <a:gdLst>
                  <a:gd name="T0" fmla="*/ 112 w 112"/>
                  <a:gd name="T1" fmla="*/ 0 h 36"/>
                  <a:gd name="T2" fmla="*/ 112 w 112"/>
                  <a:gd name="T3" fmla="*/ 25 h 36"/>
                  <a:gd name="T4" fmla="*/ 0 w 112"/>
                  <a:gd name="T5" fmla="*/ 36 h 36"/>
                  <a:gd name="T6" fmla="*/ 0 w 112"/>
                  <a:gd name="T7" fmla="*/ 10 h 36"/>
                  <a:gd name="T8" fmla="*/ 112 w 112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6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28" name="Freeform 816"/>
              <p:cNvSpPr>
                <a:spLocks/>
              </p:cNvSpPr>
              <p:nvPr/>
            </p:nvSpPr>
            <p:spPr bwMode="auto">
              <a:xfrm>
                <a:off x="2346" y="378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1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29" name="Freeform 817"/>
              <p:cNvSpPr>
                <a:spLocks/>
              </p:cNvSpPr>
              <p:nvPr/>
            </p:nvSpPr>
            <p:spPr bwMode="auto">
              <a:xfrm>
                <a:off x="2346" y="3800"/>
                <a:ext cx="56" cy="18"/>
              </a:xfrm>
              <a:custGeom>
                <a:avLst/>
                <a:gdLst>
                  <a:gd name="T0" fmla="*/ 112 w 112"/>
                  <a:gd name="T1" fmla="*/ 0 h 37"/>
                  <a:gd name="T2" fmla="*/ 112 w 112"/>
                  <a:gd name="T3" fmla="*/ 25 h 37"/>
                  <a:gd name="T4" fmla="*/ 0 w 112"/>
                  <a:gd name="T5" fmla="*/ 37 h 37"/>
                  <a:gd name="T6" fmla="*/ 0 w 112"/>
                  <a:gd name="T7" fmla="*/ 12 h 37"/>
                  <a:gd name="T8" fmla="*/ 112 w 112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7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7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0" name="Freeform 818"/>
              <p:cNvSpPr>
                <a:spLocks/>
              </p:cNvSpPr>
              <p:nvPr/>
            </p:nvSpPr>
            <p:spPr bwMode="auto">
              <a:xfrm>
                <a:off x="2346" y="3812"/>
                <a:ext cx="56" cy="19"/>
              </a:xfrm>
              <a:custGeom>
                <a:avLst/>
                <a:gdLst>
                  <a:gd name="T0" fmla="*/ 112 w 112"/>
                  <a:gd name="T1" fmla="*/ 0 h 37"/>
                  <a:gd name="T2" fmla="*/ 112 w 112"/>
                  <a:gd name="T3" fmla="*/ 25 h 37"/>
                  <a:gd name="T4" fmla="*/ 0 w 112"/>
                  <a:gd name="T5" fmla="*/ 37 h 37"/>
                  <a:gd name="T6" fmla="*/ 0 w 112"/>
                  <a:gd name="T7" fmla="*/ 12 h 37"/>
                  <a:gd name="T8" fmla="*/ 112 w 112"/>
                  <a:gd name="T9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7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7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1" name="Freeform 819"/>
              <p:cNvSpPr>
                <a:spLocks/>
              </p:cNvSpPr>
              <p:nvPr/>
            </p:nvSpPr>
            <p:spPr bwMode="auto">
              <a:xfrm>
                <a:off x="2346" y="3825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2" name="Freeform 820"/>
              <p:cNvSpPr>
                <a:spLocks/>
              </p:cNvSpPr>
              <p:nvPr/>
            </p:nvSpPr>
            <p:spPr bwMode="auto">
              <a:xfrm>
                <a:off x="2346" y="3838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3" name="Freeform 821"/>
              <p:cNvSpPr>
                <a:spLocks/>
              </p:cNvSpPr>
              <p:nvPr/>
            </p:nvSpPr>
            <p:spPr bwMode="auto">
              <a:xfrm>
                <a:off x="2346" y="385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4" name="Freeform 822"/>
              <p:cNvSpPr>
                <a:spLocks/>
              </p:cNvSpPr>
              <p:nvPr/>
            </p:nvSpPr>
            <p:spPr bwMode="auto">
              <a:xfrm>
                <a:off x="2346" y="386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8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5" name="Freeform 823"/>
              <p:cNvSpPr>
                <a:spLocks/>
              </p:cNvSpPr>
              <p:nvPr/>
            </p:nvSpPr>
            <p:spPr bwMode="auto">
              <a:xfrm>
                <a:off x="2346" y="3877"/>
                <a:ext cx="56" cy="18"/>
              </a:xfrm>
              <a:custGeom>
                <a:avLst/>
                <a:gdLst>
                  <a:gd name="T0" fmla="*/ 112 w 112"/>
                  <a:gd name="T1" fmla="*/ 0 h 34"/>
                  <a:gd name="T2" fmla="*/ 112 w 112"/>
                  <a:gd name="T3" fmla="*/ 26 h 34"/>
                  <a:gd name="T4" fmla="*/ 24 w 112"/>
                  <a:gd name="T5" fmla="*/ 34 h 34"/>
                  <a:gd name="T6" fmla="*/ 0 w 112"/>
                  <a:gd name="T7" fmla="*/ 15 h 34"/>
                  <a:gd name="T8" fmla="*/ 0 w 112"/>
                  <a:gd name="T9" fmla="*/ 10 h 34"/>
                  <a:gd name="T10" fmla="*/ 112 w 112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4">
                    <a:moveTo>
                      <a:pt x="112" y="0"/>
                    </a:moveTo>
                    <a:lnTo>
                      <a:pt x="112" y="26"/>
                    </a:lnTo>
                    <a:lnTo>
                      <a:pt x="24" y="34"/>
                    </a:lnTo>
                    <a:lnTo>
                      <a:pt x="0" y="15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6" name="Freeform 824"/>
              <p:cNvSpPr>
                <a:spLocks/>
              </p:cNvSpPr>
              <p:nvPr/>
            </p:nvSpPr>
            <p:spPr bwMode="auto">
              <a:xfrm>
                <a:off x="2358" y="3890"/>
                <a:ext cx="44" cy="16"/>
              </a:xfrm>
              <a:custGeom>
                <a:avLst/>
                <a:gdLst>
                  <a:gd name="T0" fmla="*/ 88 w 88"/>
                  <a:gd name="T1" fmla="*/ 0 h 31"/>
                  <a:gd name="T2" fmla="*/ 88 w 88"/>
                  <a:gd name="T3" fmla="*/ 25 h 31"/>
                  <a:gd name="T4" fmla="*/ 30 w 88"/>
                  <a:gd name="T5" fmla="*/ 31 h 31"/>
                  <a:gd name="T6" fmla="*/ 0 w 88"/>
                  <a:gd name="T7" fmla="*/ 8 h 31"/>
                  <a:gd name="T8" fmla="*/ 88 w 88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8" h="31">
                    <a:moveTo>
                      <a:pt x="88" y="0"/>
                    </a:moveTo>
                    <a:lnTo>
                      <a:pt x="88" y="25"/>
                    </a:lnTo>
                    <a:lnTo>
                      <a:pt x="30" y="31"/>
                    </a:lnTo>
                    <a:lnTo>
                      <a:pt x="0" y="8"/>
                    </a:lnTo>
                    <a:lnTo>
                      <a:pt x="88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7" name="Freeform 825"/>
              <p:cNvSpPr>
                <a:spLocks/>
              </p:cNvSpPr>
              <p:nvPr/>
            </p:nvSpPr>
            <p:spPr bwMode="auto">
              <a:xfrm>
                <a:off x="2372" y="3903"/>
                <a:ext cx="30" cy="14"/>
              </a:xfrm>
              <a:custGeom>
                <a:avLst/>
                <a:gdLst>
                  <a:gd name="T0" fmla="*/ 58 w 58"/>
                  <a:gd name="T1" fmla="*/ 0 h 28"/>
                  <a:gd name="T2" fmla="*/ 58 w 58"/>
                  <a:gd name="T3" fmla="*/ 26 h 28"/>
                  <a:gd name="T4" fmla="*/ 31 w 58"/>
                  <a:gd name="T5" fmla="*/ 28 h 28"/>
                  <a:gd name="T6" fmla="*/ 0 w 58"/>
                  <a:gd name="T7" fmla="*/ 6 h 28"/>
                  <a:gd name="T8" fmla="*/ 58 w 58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8" h="28">
                    <a:moveTo>
                      <a:pt x="58" y="0"/>
                    </a:moveTo>
                    <a:lnTo>
                      <a:pt x="58" y="26"/>
                    </a:lnTo>
                    <a:lnTo>
                      <a:pt x="31" y="28"/>
                    </a:lnTo>
                    <a:lnTo>
                      <a:pt x="0" y="6"/>
                    </a:lnTo>
                    <a:lnTo>
                      <a:pt x="58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8" name="Freeform 826"/>
              <p:cNvSpPr>
                <a:spLocks/>
              </p:cNvSpPr>
              <p:nvPr/>
            </p:nvSpPr>
            <p:spPr bwMode="auto">
              <a:xfrm>
                <a:off x="2388" y="3916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2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39" name="Freeform 827"/>
              <p:cNvSpPr>
                <a:spLocks/>
              </p:cNvSpPr>
              <p:nvPr/>
            </p:nvSpPr>
            <p:spPr bwMode="auto">
              <a:xfrm>
                <a:off x="2346" y="3677"/>
                <a:ext cx="56" cy="251"/>
              </a:xfrm>
              <a:custGeom>
                <a:avLst/>
                <a:gdLst>
                  <a:gd name="T0" fmla="*/ 0 w 112"/>
                  <a:gd name="T1" fmla="*/ 87 h 502"/>
                  <a:gd name="T2" fmla="*/ 112 w 112"/>
                  <a:gd name="T3" fmla="*/ 0 h 502"/>
                  <a:gd name="T4" fmla="*/ 112 w 112"/>
                  <a:gd name="T5" fmla="*/ 502 h 502"/>
                  <a:gd name="T6" fmla="*/ 0 w 112"/>
                  <a:gd name="T7" fmla="*/ 416 h 502"/>
                  <a:gd name="T8" fmla="*/ 0 w 112"/>
                  <a:gd name="T9" fmla="*/ 87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2">
                    <a:moveTo>
                      <a:pt x="0" y="87"/>
                    </a:moveTo>
                    <a:lnTo>
                      <a:pt x="112" y="0"/>
                    </a:lnTo>
                    <a:lnTo>
                      <a:pt x="112" y="502"/>
                    </a:lnTo>
                    <a:lnTo>
                      <a:pt x="0" y="416"/>
                    </a:lnTo>
                    <a:lnTo>
                      <a:pt x="0" y="87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0" name="Freeform 828"/>
              <p:cNvSpPr>
                <a:spLocks/>
              </p:cNvSpPr>
              <p:nvPr/>
            </p:nvSpPr>
            <p:spPr bwMode="auto">
              <a:xfrm>
                <a:off x="2340" y="3884"/>
                <a:ext cx="68" cy="44"/>
              </a:xfrm>
              <a:custGeom>
                <a:avLst/>
                <a:gdLst>
                  <a:gd name="T0" fmla="*/ 0 w 137"/>
                  <a:gd name="T1" fmla="*/ 88 h 88"/>
                  <a:gd name="T2" fmla="*/ 137 w 137"/>
                  <a:gd name="T3" fmla="*/ 88 h 88"/>
                  <a:gd name="T4" fmla="*/ 12 w 137"/>
                  <a:gd name="T5" fmla="*/ 0 h 88"/>
                  <a:gd name="T6" fmla="*/ 9 w 137"/>
                  <a:gd name="T7" fmla="*/ 0 h 88"/>
                  <a:gd name="T8" fmla="*/ 0 w 13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8">
                    <a:moveTo>
                      <a:pt x="0" y="88"/>
                    </a:moveTo>
                    <a:lnTo>
                      <a:pt x="137" y="88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1" name="Freeform 829"/>
              <p:cNvSpPr>
                <a:spLocks/>
              </p:cNvSpPr>
              <p:nvPr/>
            </p:nvSpPr>
            <p:spPr bwMode="auto">
              <a:xfrm>
                <a:off x="2271" y="3884"/>
                <a:ext cx="73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2" name="Freeform 830"/>
              <p:cNvSpPr>
                <a:spLocks/>
              </p:cNvSpPr>
              <p:nvPr/>
            </p:nvSpPr>
            <p:spPr bwMode="auto">
              <a:xfrm>
                <a:off x="2202" y="3884"/>
                <a:ext cx="73" cy="44"/>
              </a:xfrm>
              <a:custGeom>
                <a:avLst/>
                <a:gdLst>
                  <a:gd name="T0" fmla="*/ 136 w 145"/>
                  <a:gd name="T1" fmla="*/ 88 h 88"/>
                  <a:gd name="T2" fmla="*/ 0 w 145"/>
                  <a:gd name="T3" fmla="*/ 88 h 88"/>
                  <a:gd name="T4" fmla="*/ 8 w 145"/>
                  <a:gd name="T5" fmla="*/ 0 h 88"/>
                  <a:gd name="T6" fmla="*/ 145 w 145"/>
                  <a:gd name="T7" fmla="*/ 0 h 88"/>
                  <a:gd name="T8" fmla="*/ 136 w 145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8" y="0"/>
                    </a:lnTo>
                    <a:lnTo>
                      <a:pt x="145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3" name="Freeform 831"/>
              <p:cNvSpPr>
                <a:spLocks/>
              </p:cNvSpPr>
              <p:nvPr/>
            </p:nvSpPr>
            <p:spPr bwMode="auto">
              <a:xfrm>
                <a:off x="2133" y="3884"/>
                <a:ext cx="74" cy="44"/>
              </a:xfrm>
              <a:custGeom>
                <a:avLst/>
                <a:gdLst>
                  <a:gd name="T0" fmla="*/ 138 w 146"/>
                  <a:gd name="T1" fmla="*/ 88 h 88"/>
                  <a:gd name="T2" fmla="*/ 0 w 146"/>
                  <a:gd name="T3" fmla="*/ 88 h 88"/>
                  <a:gd name="T4" fmla="*/ 10 w 146"/>
                  <a:gd name="T5" fmla="*/ 0 h 88"/>
                  <a:gd name="T6" fmla="*/ 146 w 146"/>
                  <a:gd name="T7" fmla="*/ 0 h 88"/>
                  <a:gd name="T8" fmla="*/ 138 w 14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4" name="Freeform 832"/>
              <p:cNvSpPr>
                <a:spLocks/>
              </p:cNvSpPr>
              <p:nvPr/>
            </p:nvSpPr>
            <p:spPr bwMode="auto">
              <a:xfrm>
                <a:off x="2065" y="3884"/>
                <a:ext cx="73" cy="44"/>
              </a:xfrm>
              <a:custGeom>
                <a:avLst/>
                <a:gdLst>
                  <a:gd name="T0" fmla="*/ 137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7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5" name="Freeform 833"/>
              <p:cNvSpPr>
                <a:spLocks/>
              </p:cNvSpPr>
              <p:nvPr/>
            </p:nvSpPr>
            <p:spPr bwMode="auto">
              <a:xfrm>
                <a:off x="1996" y="3884"/>
                <a:ext cx="73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10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6" name="Freeform 834"/>
              <p:cNvSpPr>
                <a:spLocks/>
              </p:cNvSpPr>
              <p:nvPr/>
            </p:nvSpPr>
            <p:spPr bwMode="auto">
              <a:xfrm>
                <a:off x="1928" y="3884"/>
                <a:ext cx="73" cy="44"/>
              </a:xfrm>
              <a:custGeom>
                <a:avLst/>
                <a:gdLst>
                  <a:gd name="T0" fmla="*/ 136 w 146"/>
                  <a:gd name="T1" fmla="*/ 88 h 88"/>
                  <a:gd name="T2" fmla="*/ 0 w 146"/>
                  <a:gd name="T3" fmla="*/ 88 h 88"/>
                  <a:gd name="T4" fmla="*/ 8 w 146"/>
                  <a:gd name="T5" fmla="*/ 0 h 88"/>
                  <a:gd name="T6" fmla="*/ 146 w 146"/>
                  <a:gd name="T7" fmla="*/ 0 h 88"/>
                  <a:gd name="T8" fmla="*/ 136 w 14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7" name="Freeform 835"/>
              <p:cNvSpPr>
                <a:spLocks/>
              </p:cNvSpPr>
              <p:nvPr/>
            </p:nvSpPr>
            <p:spPr bwMode="auto">
              <a:xfrm>
                <a:off x="1859" y="3884"/>
                <a:ext cx="73" cy="44"/>
              </a:xfrm>
              <a:custGeom>
                <a:avLst/>
                <a:gdLst>
                  <a:gd name="T0" fmla="*/ 138 w 146"/>
                  <a:gd name="T1" fmla="*/ 88 h 88"/>
                  <a:gd name="T2" fmla="*/ 0 w 146"/>
                  <a:gd name="T3" fmla="*/ 88 h 88"/>
                  <a:gd name="T4" fmla="*/ 10 w 146"/>
                  <a:gd name="T5" fmla="*/ 0 h 88"/>
                  <a:gd name="T6" fmla="*/ 146 w 146"/>
                  <a:gd name="T7" fmla="*/ 0 h 88"/>
                  <a:gd name="T8" fmla="*/ 138 w 14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8" name="Freeform 836"/>
              <p:cNvSpPr>
                <a:spLocks/>
              </p:cNvSpPr>
              <p:nvPr/>
            </p:nvSpPr>
            <p:spPr bwMode="auto">
              <a:xfrm>
                <a:off x="1791" y="3884"/>
                <a:ext cx="73" cy="44"/>
              </a:xfrm>
              <a:custGeom>
                <a:avLst/>
                <a:gdLst>
                  <a:gd name="T0" fmla="*/ 137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7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49" name="Freeform 837"/>
              <p:cNvSpPr>
                <a:spLocks/>
              </p:cNvSpPr>
              <p:nvPr/>
            </p:nvSpPr>
            <p:spPr bwMode="auto">
              <a:xfrm>
                <a:off x="1722" y="3884"/>
                <a:ext cx="73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11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0" name="Freeform 838"/>
              <p:cNvSpPr>
                <a:spLocks/>
              </p:cNvSpPr>
              <p:nvPr/>
            </p:nvSpPr>
            <p:spPr bwMode="auto">
              <a:xfrm>
                <a:off x="1653" y="3884"/>
                <a:ext cx="74" cy="44"/>
              </a:xfrm>
              <a:custGeom>
                <a:avLst/>
                <a:gdLst>
                  <a:gd name="T0" fmla="*/ 136 w 147"/>
                  <a:gd name="T1" fmla="*/ 88 h 88"/>
                  <a:gd name="T2" fmla="*/ 0 w 147"/>
                  <a:gd name="T3" fmla="*/ 88 h 88"/>
                  <a:gd name="T4" fmla="*/ 8 w 147"/>
                  <a:gd name="T5" fmla="*/ 0 h 88"/>
                  <a:gd name="T6" fmla="*/ 147 w 147"/>
                  <a:gd name="T7" fmla="*/ 0 h 88"/>
                  <a:gd name="T8" fmla="*/ 136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1" name="Freeform 839"/>
              <p:cNvSpPr>
                <a:spLocks/>
              </p:cNvSpPr>
              <p:nvPr/>
            </p:nvSpPr>
            <p:spPr bwMode="auto">
              <a:xfrm>
                <a:off x="1585" y="3884"/>
                <a:ext cx="73" cy="44"/>
              </a:xfrm>
              <a:custGeom>
                <a:avLst/>
                <a:gdLst>
                  <a:gd name="T0" fmla="*/ 137 w 145"/>
                  <a:gd name="T1" fmla="*/ 88 h 88"/>
                  <a:gd name="T2" fmla="*/ 0 w 145"/>
                  <a:gd name="T3" fmla="*/ 88 h 88"/>
                  <a:gd name="T4" fmla="*/ 9 w 145"/>
                  <a:gd name="T5" fmla="*/ 0 h 88"/>
                  <a:gd name="T6" fmla="*/ 145 w 145"/>
                  <a:gd name="T7" fmla="*/ 0 h 88"/>
                  <a:gd name="T8" fmla="*/ 137 w 145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2" name="Freeform 840"/>
              <p:cNvSpPr>
                <a:spLocks/>
              </p:cNvSpPr>
              <p:nvPr/>
            </p:nvSpPr>
            <p:spPr bwMode="auto">
              <a:xfrm>
                <a:off x="1516" y="3884"/>
                <a:ext cx="74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3" name="Freeform 841"/>
              <p:cNvSpPr>
                <a:spLocks/>
              </p:cNvSpPr>
              <p:nvPr/>
            </p:nvSpPr>
            <p:spPr bwMode="auto">
              <a:xfrm>
                <a:off x="1448" y="3884"/>
                <a:ext cx="72" cy="44"/>
              </a:xfrm>
              <a:custGeom>
                <a:avLst/>
                <a:gdLst>
                  <a:gd name="T0" fmla="*/ 136 w 145"/>
                  <a:gd name="T1" fmla="*/ 88 h 88"/>
                  <a:gd name="T2" fmla="*/ 0 w 145"/>
                  <a:gd name="T3" fmla="*/ 88 h 88"/>
                  <a:gd name="T4" fmla="*/ 9 w 145"/>
                  <a:gd name="T5" fmla="*/ 0 h 88"/>
                  <a:gd name="T6" fmla="*/ 145 w 145"/>
                  <a:gd name="T7" fmla="*/ 0 h 88"/>
                  <a:gd name="T8" fmla="*/ 136 w 145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4" name="Freeform 842"/>
              <p:cNvSpPr>
                <a:spLocks/>
              </p:cNvSpPr>
              <p:nvPr/>
            </p:nvSpPr>
            <p:spPr bwMode="auto">
              <a:xfrm>
                <a:off x="1379" y="3884"/>
                <a:ext cx="73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8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5" name="Freeform 843"/>
              <p:cNvSpPr>
                <a:spLocks/>
              </p:cNvSpPr>
              <p:nvPr/>
            </p:nvSpPr>
            <p:spPr bwMode="auto">
              <a:xfrm>
                <a:off x="1311" y="3884"/>
                <a:ext cx="72" cy="44"/>
              </a:xfrm>
              <a:custGeom>
                <a:avLst/>
                <a:gdLst>
                  <a:gd name="T0" fmla="*/ 137 w 145"/>
                  <a:gd name="T1" fmla="*/ 88 h 88"/>
                  <a:gd name="T2" fmla="*/ 0 w 145"/>
                  <a:gd name="T3" fmla="*/ 88 h 88"/>
                  <a:gd name="T4" fmla="*/ 9 w 145"/>
                  <a:gd name="T5" fmla="*/ 0 h 88"/>
                  <a:gd name="T6" fmla="*/ 145 w 145"/>
                  <a:gd name="T7" fmla="*/ 0 h 88"/>
                  <a:gd name="T8" fmla="*/ 137 w 145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6" name="Freeform 844"/>
              <p:cNvSpPr>
                <a:spLocks/>
              </p:cNvSpPr>
              <p:nvPr/>
            </p:nvSpPr>
            <p:spPr bwMode="auto">
              <a:xfrm>
                <a:off x="1242" y="3884"/>
                <a:ext cx="73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7" name="Freeform 845"/>
              <p:cNvSpPr>
                <a:spLocks/>
              </p:cNvSpPr>
              <p:nvPr/>
            </p:nvSpPr>
            <p:spPr bwMode="auto">
              <a:xfrm>
                <a:off x="1173" y="3884"/>
                <a:ext cx="73" cy="44"/>
              </a:xfrm>
              <a:custGeom>
                <a:avLst/>
                <a:gdLst>
                  <a:gd name="T0" fmla="*/ 136 w 145"/>
                  <a:gd name="T1" fmla="*/ 88 h 88"/>
                  <a:gd name="T2" fmla="*/ 0 w 145"/>
                  <a:gd name="T3" fmla="*/ 88 h 88"/>
                  <a:gd name="T4" fmla="*/ 9 w 145"/>
                  <a:gd name="T5" fmla="*/ 0 h 88"/>
                  <a:gd name="T6" fmla="*/ 145 w 145"/>
                  <a:gd name="T7" fmla="*/ 0 h 88"/>
                  <a:gd name="T8" fmla="*/ 136 w 145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5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5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8" name="Freeform 846"/>
              <p:cNvSpPr>
                <a:spLocks/>
              </p:cNvSpPr>
              <p:nvPr/>
            </p:nvSpPr>
            <p:spPr bwMode="auto">
              <a:xfrm>
                <a:off x="1104" y="3884"/>
                <a:ext cx="74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8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8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59" name="Freeform 847"/>
              <p:cNvSpPr>
                <a:spLocks/>
              </p:cNvSpPr>
              <p:nvPr/>
            </p:nvSpPr>
            <p:spPr bwMode="auto">
              <a:xfrm>
                <a:off x="1041" y="3884"/>
                <a:ext cx="68" cy="44"/>
              </a:xfrm>
              <a:custGeom>
                <a:avLst/>
                <a:gdLst>
                  <a:gd name="T0" fmla="*/ 128 w 136"/>
                  <a:gd name="T1" fmla="*/ 88 h 88"/>
                  <a:gd name="T2" fmla="*/ 0 w 136"/>
                  <a:gd name="T3" fmla="*/ 88 h 88"/>
                  <a:gd name="T4" fmla="*/ 112 w 136"/>
                  <a:gd name="T5" fmla="*/ 0 h 88"/>
                  <a:gd name="T6" fmla="*/ 136 w 136"/>
                  <a:gd name="T7" fmla="*/ 0 h 88"/>
                  <a:gd name="T8" fmla="*/ 128 w 13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8">
                    <a:moveTo>
                      <a:pt x="128" y="88"/>
                    </a:moveTo>
                    <a:lnTo>
                      <a:pt x="0" y="88"/>
                    </a:lnTo>
                    <a:lnTo>
                      <a:pt x="112" y="0"/>
                    </a:lnTo>
                    <a:lnTo>
                      <a:pt x="136" y="0"/>
                    </a:lnTo>
                    <a:lnTo>
                      <a:pt x="128" y="88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0" name="Freeform 848"/>
              <p:cNvSpPr>
                <a:spLocks/>
              </p:cNvSpPr>
              <p:nvPr/>
            </p:nvSpPr>
            <p:spPr bwMode="auto">
              <a:xfrm>
                <a:off x="1041" y="3884"/>
                <a:ext cx="1367" cy="44"/>
              </a:xfrm>
              <a:custGeom>
                <a:avLst/>
                <a:gdLst>
                  <a:gd name="T0" fmla="*/ 112 w 2735"/>
                  <a:gd name="T1" fmla="*/ 0 h 88"/>
                  <a:gd name="T2" fmla="*/ 0 w 2735"/>
                  <a:gd name="T3" fmla="*/ 88 h 88"/>
                  <a:gd name="T4" fmla="*/ 2735 w 2735"/>
                  <a:gd name="T5" fmla="*/ 88 h 88"/>
                  <a:gd name="T6" fmla="*/ 2610 w 2735"/>
                  <a:gd name="T7" fmla="*/ 0 h 88"/>
                  <a:gd name="T8" fmla="*/ 112 w 2735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8">
                    <a:moveTo>
                      <a:pt x="112" y="0"/>
                    </a:moveTo>
                    <a:lnTo>
                      <a:pt x="0" y="88"/>
                    </a:lnTo>
                    <a:lnTo>
                      <a:pt x="2735" y="88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1" name="Freeform 849"/>
              <p:cNvSpPr>
                <a:spLocks/>
              </p:cNvSpPr>
              <p:nvPr/>
            </p:nvSpPr>
            <p:spPr bwMode="auto">
              <a:xfrm>
                <a:off x="1041" y="3676"/>
                <a:ext cx="68" cy="43"/>
              </a:xfrm>
              <a:custGeom>
                <a:avLst/>
                <a:gdLst>
                  <a:gd name="T0" fmla="*/ 136 w 136"/>
                  <a:gd name="T1" fmla="*/ 0 h 86"/>
                  <a:gd name="T2" fmla="*/ 0 w 136"/>
                  <a:gd name="T3" fmla="*/ 0 h 86"/>
                  <a:gd name="T4" fmla="*/ 118 w 136"/>
                  <a:gd name="T5" fmla="*/ 86 h 86"/>
                  <a:gd name="T6" fmla="*/ 136 w 136"/>
                  <a:gd name="T7" fmla="*/ 86 h 86"/>
                  <a:gd name="T8" fmla="*/ 136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6"/>
                    </a:lnTo>
                    <a:lnTo>
                      <a:pt x="136" y="86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2" name="Rectangle 850"/>
              <p:cNvSpPr>
                <a:spLocks noChangeArrowheads="1"/>
              </p:cNvSpPr>
              <p:nvPr/>
            </p:nvSpPr>
            <p:spPr bwMode="auto">
              <a:xfrm>
                <a:off x="1109" y="3676"/>
                <a:ext cx="68" cy="43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3" name="Rectangle 851"/>
              <p:cNvSpPr>
                <a:spLocks noChangeArrowheads="1"/>
              </p:cNvSpPr>
              <p:nvPr/>
            </p:nvSpPr>
            <p:spPr bwMode="auto">
              <a:xfrm>
                <a:off x="1177" y="3676"/>
                <a:ext cx="68" cy="43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4" name="Rectangle 852"/>
              <p:cNvSpPr>
                <a:spLocks noChangeArrowheads="1"/>
              </p:cNvSpPr>
              <p:nvPr/>
            </p:nvSpPr>
            <p:spPr bwMode="auto">
              <a:xfrm>
                <a:off x="1245" y="3676"/>
                <a:ext cx="68" cy="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5" name="Rectangle 853"/>
              <p:cNvSpPr>
                <a:spLocks noChangeArrowheads="1"/>
              </p:cNvSpPr>
              <p:nvPr/>
            </p:nvSpPr>
            <p:spPr bwMode="auto">
              <a:xfrm>
                <a:off x="1313" y="3676"/>
                <a:ext cx="69" cy="43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6" name="Rectangle 854"/>
              <p:cNvSpPr>
                <a:spLocks noChangeArrowheads="1"/>
              </p:cNvSpPr>
              <p:nvPr/>
            </p:nvSpPr>
            <p:spPr bwMode="auto">
              <a:xfrm>
                <a:off x="1382" y="3676"/>
                <a:ext cx="68" cy="4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7" name="Rectangle 855"/>
              <p:cNvSpPr>
                <a:spLocks noChangeArrowheads="1"/>
              </p:cNvSpPr>
              <p:nvPr/>
            </p:nvSpPr>
            <p:spPr bwMode="auto">
              <a:xfrm>
                <a:off x="1450" y="3676"/>
                <a:ext cx="68" cy="43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8" name="Rectangle 856"/>
              <p:cNvSpPr>
                <a:spLocks noChangeArrowheads="1"/>
              </p:cNvSpPr>
              <p:nvPr/>
            </p:nvSpPr>
            <p:spPr bwMode="auto">
              <a:xfrm>
                <a:off x="1518" y="3676"/>
                <a:ext cx="68" cy="43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69" name="Rectangle 857"/>
              <p:cNvSpPr>
                <a:spLocks noChangeArrowheads="1"/>
              </p:cNvSpPr>
              <p:nvPr/>
            </p:nvSpPr>
            <p:spPr bwMode="auto">
              <a:xfrm>
                <a:off x="1586" y="3676"/>
                <a:ext cx="68" cy="43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0" name="Rectangle 858"/>
              <p:cNvSpPr>
                <a:spLocks noChangeArrowheads="1"/>
              </p:cNvSpPr>
              <p:nvPr/>
            </p:nvSpPr>
            <p:spPr bwMode="auto">
              <a:xfrm>
                <a:off x="1654" y="3676"/>
                <a:ext cx="68" cy="43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1" name="Rectangle 859"/>
              <p:cNvSpPr>
                <a:spLocks noChangeArrowheads="1"/>
              </p:cNvSpPr>
              <p:nvPr/>
            </p:nvSpPr>
            <p:spPr bwMode="auto">
              <a:xfrm>
                <a:off x="1722" y="3676"/>
                <a:ext cx="69" cy="43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2" name="Rectangle 860"/>
              <p:cNvSpPr>
                <a:spLocks noChangeArrowheads="1"/>
              </p:cNvSpPr>
              <p:nvPr/>
            </p:nvSpPr>
            <p:spPr bwMode="auto">
              <a:xfrm>
                <a:off x="1791" y="3676"/>
                <a:ext cx="68" cy="43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3" name="Rectangle 861"/>
              <p:cNvSpPr>
                <a:spLocks noChangeArrowheads="1"/>
              </p:cNvSpPr>
              <p:nvPr/>
            </p:nvSpPr>
            <p:spPr bwMode="auto">
              <a:xfrm>
                <a:off x="1859" y="3676"/>
                <a:ext cx="68" cy="43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4" name="Rectangle 862"/>
              <p:cNvSpPr>
                <a:spLocks noChangeArrowheads="1"/>
              </p:cNvSpPr>
              <p:nvPr/>
            </p:nvSpPr>
            <p:spPr bwMode="auto">
              <a:xfrm>
                <a:off x="1927" y="3676"/>
                <a:ext cx="68" cy="43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5" name="Rectangle 863"/>
              <p:cNvSpPr>
                <a:spLocks noChangeArrowheads="1"/>
              </p:cNvSpPr>
              <p:nvPr/>
            </p:nvSpPr>
            <p:spPr bwMode="auto">
              <a:xfrm>
                <a:off x="1995" y="3676"/>
                <a:ext cx="68" cy="43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6" name="Rectangle 864"/>
              <p:cNvSpPr>
                <a:spLocks noChangeArrowheads="1"/>
              </p:cNvSpPr>
              <p:nvPr/>
            </p:nvSpPr>
            <p:spPr bwMode="auto">
              <a:xfrm>
                <a:off x="2063" y="3676"/>
                <a:ext cx="69" cy="43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7" name="Rectangle 865"/>
              <p:cNvSpPr>
                <a:spLocks noChangeArrowheads="1"/>
              </p:cNvSpPr>
              <p:nvPr/>
            </p:nvSpPr>
            <p:spPr bwMode="auto">
              <a:xfrm>
                <a:off x="2132" y="3676"/>
                <a:ext cx="68" cy="43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8" name="Rectangle 866"/>
              <p:cNvSpPr>
                <a:spLocks noChangeArrowheads="1"/>
              </p:cNvSpPr>
              <p:nvPr/>
            </p:nvSpPr>
            <p:spPr bwMode="auto">
              <a:xfrm>
                <a:off x="2200" y="3676"/>
                <a:ext cx="68" cy="43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79" name="Rectangle 867"/>
              <p:cNvSpPr>
                <a:spLocks noChangeArrowheads="1"/>
              </p:cNvSpPr>
              <p:nvPr/>
            </p:nvSpPr>
            <p:spPr bwMode="auto">
              <a:xfrm>
                <a:off x="2268" y="3676"/>
                <a:ext cx="69" cy="43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0" name="Freeform 868"/>
              <p:cNvSpPr>
                <a:spLocks/>
              </p:cNvSpPr>
              <p:nvPr/>
            </p:nvSpPr>
            <p:spPr bwMode="auto">
              <a:xfrm>
                <a:off x="2337" y="3676"/>
                <a:ext cx="68" cy="43"/>
              </a:xfrm>
              <a:custGeom>
                <a:avLst/>
                <a:gdLst>
                  <a:gd name="T0" fmla="*/ 0 w 136"/>
                  <a:gd name="T1" fmla="*/ 0 h 86"/>
                  <a:gd name="T2" fmla="*/ 136 w 136"/>
                  <a:gd name="T3" fmla="*/ 0 h 86"/>
                  <a:gd name="T4" fmla="*/ 24 w 136"/>
                  <a:gd name="T5" fmla="*/ 86 h 86"/>
                  <a:gd name="T6" fmla="*/ 0 w 136"/>
                  <a:gd name="T7" fmla="*/ 86 h 86"/>
                  <a:gd name="T8" fmla="*/ 0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0" y="0"/>
                    </a:moveTo>
                    <a:lnTo>
                      <a:pt x="136" y="0"/>
                    </a:lnTo>
                    <a:lnTo>
                      <a:pt x="24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1" name="Freeform 869"/>
              <p:cNvSpPr>
                <a:spLocks/>
              </p:cNvSpPr>
              <p:nvPr/>
            </p:nvSpPr>
            <p:spPr bwMode="auto">
              <a:xfrm>
                <a:off x="1041" y="3676"/>
                <a:ext cx="1364" cy="43"/>
              </a:xfrm>
              <a:custGeom>
                <a:avLst/>
                <a:gdLst>
                  <a:gd name="T0" fmla="*/ 118 w 2729"/>
                  <a:gd name="T1" fmla="*/ 86 h 86"/>
                  <a:gd name="T2" fmla="*/ 0 w 2729"/>
                  <a:gd name="T3" fmla="*/ 0 h 86"/>
                  <a:gd name="T4" fmla="*/ 2729 w 2729"/>
                  <a:gd name="T5" fmla="*/ 0 h 86"/>
                  <a:gd name="T6" fmla="*/ 2617 w 2729"/>
                  <a:gd name="T7" fmla="*/ 86 h 86"/>
                  <a:gd name="T8" fmla="*/ 118 w 272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6">
                    <a:moveTo>
                      <a:pt x="118" y="86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6"/>
                    </a:lnTo>
                    <a:lnTo>
                      <a:pt x="118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2" name="Freeform 870"/>
              <p:cNvSpPr>
                <a:spLocks/>
              </p:cNvSpPr>
              <p:nvPr/>
            </p:nvSpPr>
            <p:spPr bwMode="auto">
              <a:xfrm>
                <a:off x="1040" y="3674"/>
                <a:ext cx="15" cy="13"/>
              </a:xfrm>
              <a:custGeom>
                <a:avLst/>
                <a:gdLst>
                  <a:gd name="T0" fmla="*/ 31 w 31"/>
                  <a:gd name="T1" fmla="*/ 23 h 26"/>
                  <a:gd name="T2" fmla="*/ 0 w 31"/>
                  <a:gd name="T3" fmla="*/ 0 h 26"/>
                  <a:gd name="T4" fmla="*/ 0 w 31"/>
                  <a:gd name="T5" fmla="*/ 26 h 26"/>
                  <a:gd name="T6" fmla="*/ 31 w 31"/>
                  <a:gd name="T7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26">
                    <a:moveTo>
                      <a:pt x="31" y="23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1" y="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3" name="Freeform 871"/>
              <p:cNvSpPr>
                <a:spLocks/>
              </p:cNvSpPr>
              <p:nvPr/>
            </p:nvSpPr>
            <p:spPr bwMode="auto">
              <a:xfrm>
                <a:off x="1040" y="3685"/>
                <a:ext cx="32" cy="15"/>
              </a:xfrm>
              <a:custGeom>
                <a:avLst/>
                <a:gdLst>
                  <a:gd name="T0" fmla="*/ 31 w 64"/>
                  <a:gd name="T1" fmla="*/ 0 h 29"/>
                  <a:gd name="T2" fmla="*/ 64 w 64"/>
                  <a:gd name="T3" fmla="*/ 22 h 29"/>
                  <a:gd name="T4" fmla="*/ 0 w 64"/>
                  <a:gd name="T5" fmla="*/ 29 h 29"/>
                  <a:gd name="T6" fmla="*/ 0 w 64"/>
                  <a:gd name="T7" fmla="*/ 3 h 29"/>
                  <a:gd name="T8" fmla="*/ 31 w 64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9">
                    <a:moveTo>
                      <a:pt x="31" y="0"/>
                    </a:moveTo>
                    <a:lnTo>
                      <a:pt x="64" y="22"/>
                    </a:lnTo>
                    <a:lnTo>
                      <a:pt x="0" y="29"/>
                    </a:lnTo>
                    <a:lnTo>
                      <a:pt x="0" y="3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4" name="Freeform 872"/>
              <p:cNvSpPr>
                <a:spLocks/>
              </p:cNvSpPr>
              <p:nvPr/>
            </p:nvSpPr>
            <p:spPr bwMode="auto">
              <a:xfrm>
                <a:off x="1040" y="3696"/>
                <a:ext cx="47" cy="17"/>
              </a:xfrm>
              <a:custGeom>
                <a:avLst/>
                <a:gdLst>
                  <a:gd name="T0" fmla="*/ 64 w 95"/>
                  <a:gd name="T1" fmla="*/ 0 h 33"/>
                  <a:gd name="T2" fmla="*/ 95 w 95"/>
                  <a:gd name="T3" fmla="*/ 24 h 33"/>
                  <a:gd name="T4" fmla="*/ 0 w 95"/>
                  <a:gd name="T5" fmla="*/ 33 h 33"/>
                  <a:gd name="T6" fmla="*/ 0 w 95"/>
                  <a:gd name="T7" fmla="*/ 7 h 33"/>
                  <a:gd name="T8" fmla="*/ 64 w 95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33">
                    <a:moveTo>
                      <a:pt x="64" y="0"/>
                    </a:moveTo>
                    <a:lnTo>
                      <a:pt x="95" y="24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5" name="Freeform 873"/>
              <p:cNvSpPr>
                <a:spLocks/>
              </p:cNvSpPr>
              <p:nvPr/>
            </p:nvSpPr>
            <p:spPr bwMode="auto">
              <a:xfrm>
                <a:off x="1040" y="3708"/>
                <a:ext cx="61" cy="17"/>
              </a:xfrm>
              <a:custGeom>
                <a:avLst/>
                <a:gdLst>
                  <a:gd name="T0" fmla="*/ 95 w 123"/>
                  <a:gd name="T1" fmla="*/ 0 h 35"/>
                  <a:gd name="T2" fmla="*/ 123 w 123"/>
                  <a:gd name="T3" fmla="*/ 19 h 35"/>
                  <a:gd name="T4" fmla="*/ 123 w 123"/>
                  <a:gd name="T5" fmla="*/ 23 h 35"/>
                  <a:gd name="T6" fmla="*/ 0 w 123"/>
                  <a:gd name="T7" fmla="*/ 35 h 35"/>
                  <a:gd name="T8" fmla="*/ 0 w 123"/>
                  <a:gd name="T9" fmla="*/ 9 h 35"/>
                  <a:gd name="T10" fmla="*/ 95 w 123"/>
                  <a:gd name="T1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5">
                    <a:moveTo>
                      <a:pt x="95" y="0"/>
                    </a:moveTo>
                    <a:lnTo>
                      <a:pt x="123" y="19"/>
                    </a:lnTo>
                    <a:lnTo>
                      <a:pt x="123" y="23"/>
                    </a:lnTo>
                    <a:lnTo>
                      <a:pt x="0" y="35"/>
                    </a:lnTo>
                    <a:lnTo>
                      <a:pt x="0" y="9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6" name="Freeform 874"/>
              <p:cNvSpPr>
                <a:spLocks/>
              </p:cNvSpPr>
              <p:nvPr/>
            </p:nvSpPr>
            <p:spPr bwMode="auto">
              <a:xfrm>
                <a:off x="1040" y="3719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2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7" name="Freeform 875"/>
              <p:cNvSpPr>
                <a:spLocks/>
              </p:cNvSpPr>
              <p:nvPr/>
            </p:nvSpPr>
            <p:spPr bwMode="auto">
              <a:xfrm>
                <a:off x="1040" y="3732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4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8" name="Freeform 876"/>
              <p:cNvSpPr>
                <a:spLocks/>
              </p:cNvSpPr>
              <p:nvPr/>
            </p:nvSpPr>
            <p:spPr bwMode="auto">
              <a:xfrm>
                <a:off x="1040" y="3745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89" name="Freeform 877"/>
              <p:cNvSpPr>
                <a:spLocks/>
              </p:cNvSpPr>
              <p:nvPr/>
            </p:nvSpPr>
            <p:spPr bwMode="auto">
              <a:xfrm>
                <a:off x="1040" y="3758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5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0" name="Freeform 878"/>
              <p:cNvSpPr>
                <a:spLocks/>
              </p:cNvSpPr>
              <p:nvPr/>
            </p:nvSpPr>
            <p:spPr bwMode="auto">
              <a:xfrm>
                <a:off x="1040" y="3771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1" name="Freeform 879"/>
              <p:cNvSpPr>
                <a:spLocks/>
              </p:cNvSpPr>
              <p:nvPr/>
            </p:nvSpPr>
            <p:spPr bwMode="auto">
              <a:xfrm>
                <a:off x="1040" y="3784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2" name="Freeform 880"/>
              <p:cNvSpPr>
                <a:spLocks/>
              </p:cNvSpPr>
              <p:nvPr/>
            </p:nvSpPr>
            <p:spPr bwMode="auto">
              <a:xfrm>
                <a:off x="1040" y="3797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8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3" name="Freeform 881"/>
              <p:cNvSpPr>
                <a:spLocks/>
              </p:cNvSpPr>
              <p:nvPr/>
            </p:nvSpPr>
            <p:spPr bwMode="auto">
              <a:xfrm>
                <a:off x="1040" y="3811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4" name="Freeform 882"/>
              <p:cNvSpPr>
                <a:spLocks/>
              </p:cNvSpPr>
              <p:nvPr/>
            </p:nvSpPr>
            <p:spPr bwMode="auto">
              <a:xfrm>
                <a:off x="1040" y="3824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5" name="Freeform 883"/>
              <p:cNvSpPr>
                <a:spLocks/>
              </p:cNvSpPr>
              <p:nvPr/>
            </p:nvSpPr>
            <p:spPr bwMode="auto">
              <a:xfrm>
                <a:off x="1040" y="3837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5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6" name="Freeform 884"/>
              <p:cNvSpPr>
                <a:spLocks/>
              </p:cNvSpPr>
              <p:nvPr/>
            </p:nvSpPr>
            <p:spPr bwMode="auto">
              <a:xfrm>
                <a:off x="1040" y="3850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3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7" name="Freeform 885"/>
              <p:cNvSpPr>
                <a:spLocks/>
              </p:cNvSpPr>
              <p:nvPr/>
            </p:nvSpPr>
            <p:spPr bwMode="auto">
              <a:xfrm>
                <a:off x="1040" y="3863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8" name="Freeform 886"/>
              <p:cNvSpPr>
                <a:spLocks/>
              </p:cNvSpPr>
              <p:nvPr/>
            </p:nvSpPr>
            <p:spPr bwMode="auto">
              <a:xfrm>
                <a:off x="1040" y="3876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19 h 40"/>
                  <a:gd name="T4" fmla="*/ 111 w 123"/>
                  <a:gd name="T5" fmla="*/ 28 h 40"/>
                  <a:gd name="T6" fmla="*/ 0 w 123"/>
                  <a:gd name="T7" fmla="*/ 40 h 40"/>
                  <a:gd name="T8" fmla="*/ 0 w 123"/>
                  <a:gd name="T9" fmla="*/ 14 h 40"/>
                  <a:gd name="T10" fmla="*/ 123 w 123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19"/>
                    </a:lnTo>
                    <a:lnTo>
                      <a:pt x="111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99" name="Freeform 887"/>
              <p:cNvSpPr>
                <a:spLocks/>
              </p:cNvSpPr>
              <p:nvPr/>
            </p:nvSpPr>
            <p:spPr bwMode="auto">
              <a:xfrm>
                <a:off x="1040" y="3889"/>
                <a:ext cx="55" cy="19"/>
              </a:xfrm>
              <a:custGeom>
                <a:avLst/>
                <a:gdLst>
                  <a:gd name="T0" fmla="*/ 111 w 111"/>
                  <a:gd name="T1" fmla="*/ 0 h 38"/>
                  <a:gd name="T2" fmla="*/ 68 w 111"/>
                  <a:gd name="T3" fmla="*/ 31 h 38"/>
                  <a:gd name="T4" fmla="*/ 0 w 111"/>
                  <a:gd name="T5" fmla="*/ 38 h 38"/>
                  <a:gd name="T6" fmla="*/ 0 w 111"/>
                  <a:gd name="T7" fmla="*/ 12 h 38"/>
                  <a:gd name="T8" fmla="*/ 111 w 111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38">
                    <a:moveTo>
                      <a:pt x="111" y="0"/>
                    </a:moveTo>
                    <a:lnTo>
                      <a:pt x="68" y="31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0" name="Freeform 888"/>
              <p:cNvSpPr>
                <a:spLocks/>
              </p:cNvSpPr>
              <p:nvPr/>
            </p:nvSpPr>
            <p:spPr bwMode="auto">
              <a:xfrm>
                <a:off x="1040" y="3905"/>
                <a:ext cx="33" cy="16"/>
              </a:xfrm>
              <a:custGeom>
                <a:avLst/>
                <a:gdLst>
                  <a:gd name="T0" fmla="*/ 68 w 68"/>
                  <a:gd name="T1" fmla="*/ 0 h 33"/>
                  <a:gd name="T2" fmla="*/ 25 w 68"/>
                  <a:gd name="T3" fmla="*/ 29 h 33"/>
                  <a:gd name="T4" fmla="*/ 0 w 68"/>
                  <a:gd name="T5" fmla="*/ 33 h 33"/>
                  <a:gd name="T6" fmla="*/ 0 w 68"/>
                  <a:gd name="T7" fmla="*/ 7 h 33"/>
                  <a:gd name="T8" fmla="*/ 68 w 68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3">
                    <a:moveTo>
                      <a:pt x="68" y="0"/>
                    </a:moveTo>
                    <a:lnTo>
                      <a:pt x="25" y="29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1" name="Freeform 889"/>
              <p:cNvSpPr>
                <a:spLocks/>
              </p:cNvSpPr>
              <p:nvPr/>
            </p:nvSpPr>
            <p:spPr bwMode="auto">
              <a:xfrm>
                <a:off x="1040" y="3920"/>
                <a:ext cx="12" cy="8"/>
              </a:xfrm>
              <a:custGeom>
                <a:avLst/>
                <a:gdLst>
                  <a:gd name="T0" fmla="*/ 25 w 25"/>
                  <a:gd name="T1" fmla="*/ 0 h 17"/>
                  <a:gd name="T2" fmla="*/ 0 w 25"/>
                  <a:gd name="T3" fmla="*/ 17 h 17"/>
                  <a:gd name="T4" fmla="*/ 0 w 25"/>
                  <a:gd name="T5" fmla="*/ 4 h 17"/>
                  <a:gd name="T6" fmla="*/ 25 w 25"/>
                  <a:gd name="T7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5" h="17">
                    <a:moveTo>
                      <a:pt x="25" y="0"/>
                    </a:moveTo>
                    <a:lnTo>
                      <a:pt x="0" y="17"/>
                    </a:lnTo>
                    <a:lnTo>
                      <a:pt x="0" y="4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2" name="Freeform 890"/>
              <p:cNvSpPr>
                <a:spLocks/>
              </p:cNvSpPr>
              <p:nvPr/>
            </p:nvSpPr>
            <p:spPr bwMode="auto">
              <a:xfrm>
                <a:off x="1040" y="3674"/>
                <a:ext cx="61" cy="254"/>
              </a:xfrm>
              <a:custGeom>
                <a:avLst/>
                <a:gdLst>
                  <a:gd name="T0" fmla="*/ 123 w 123"/>
                  <a:gd name="T1" fmla="*/ 423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8 h 509"/>
                  <a:gd name="T8" fmla="*/ 123 w 123"/>
                  <a:gd name="T9" fmla="*/ 423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3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8"/>
                    </a:lnTo>
                    <a:lnTo>
                      <a:pt x="123" y="423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3" name="Freeform 891"/>
              <p:cNvSpPr>
                <a:spLocks noEditPoints="1"/>
              </p:cNvSpPr>
              <p:nvPr/>
            </p:nvSpPr>
            <p:spPr bwMode="auto">
              <a:xfrm>
                <a:off x="1169" y="1518"/>
                <a:ext cx="96" cy="83"/>
              </a:xfrm>
              <a:custGeom>
                <a:avLst/>
                <a:gdLst>
                  <a:gd name="T0" fmla="*/ 0 w 192"/>
                  <a:gd name="T1" fmla="*/ 0 h 168"/>
                  <a:gd name="T2" fmla="*/ 56 w 192"/>
                  <a:gd name="T3" fmla="*/ 0 h 168"/>
                  <a:gd name="T4" fmla="*/ 73 w 192"/>
                  <a:gd name="T5" fmla="*/ 0 h 168"/>
                  <a:gd name="T6" fmla="*/ 83 w 192"/>
                  <a:gd name="T7" fmla="*/ 6 h 168"/>
                  <a:gd name="T8" fmla="*/ 94 w 192"/>
                  <a:gd name="T9" fmla="*/ 13 h 168"/>
                  <a:gd name="T10" fmla="*/ 102 w 192"/>
                  <a:gd name="T11" fmla="*/ 26 h 168"/>
                  <a:gd name="T12" fmla="*/ 106 w 192"/>
                  <a:gd name="T13" fmla="*/ 44 h 168"/>
                  <a:gd name="T14" fmla="*/ 106 w 192"/>
                  <a:gd name="T15" fmla="*/ 61 h 168"/>
                  <a:gd name="T16" fmla="*/ 102 w 192"/>
                  <a:gd name="T17" fmla="*/ 76 h 168"/>
                  <a:gd name="T18" fmla="*/ 95 w 192"/>
                  <a:gd name="T19" fmla="*/ 88 h 168"/>
                  <a:gd name="T20" fmla="*/ 87 w 192"/>
                  <a:gd name="T21" fmla="*/ 97 h 168"/>
                  <a:gd name="T22" fmla="*/ 76 w 192"/>
                  <a:gd name="T23" fmla="*/ 102 h 168"/>
                  <a:gd name="T24" fmla="*/ 57 w 192"/>
                  <a:gd name="T25" fmla="*/ 106 h 168"/>
                  <a:gd name="T26" fmla="*/ 26 w 192"/>
                  <a:gd name="T27" fmla="*/ 106 h 168"/>
                  <a:gd name="T28" fmla="*/ 0 w 192"/>
                  <a:gd name="T29" fmla="*/ 168 h 168"/>
                  <a:gd name="T30" fmla="*/ 26 w 192"/>
                  <a:gd name="T31" fmla="*/ 76 h 168"/>
                  <a:gd name="T32" fmla="*/ 50 w 192"/>
                  <a:gd name="T33" fmla="*/ 76 h 168"/>
                  <a:gd name="T34" fmla="*/ 61 w 192"/>
                  <a:gd name="T35" fmla="*/ 76 h 168"/>
                  <a:gd name="T36" fmla="*/ 68 w 192"/>
                  <a:gd name="T37" fmla="*/ 75 h 168"/>
                  <a:gd name="T38" fmla="*/ 73 w 192"/>
                  <a:gd name="T39" fmla="*/ 69 h 168"/>
                  <a:gd name="T40" fmla="*/ 76 w 192"/>
                  <a:gd name="T41" fmla="*/ 64 h 168"/>
                  <a:gd name="T42" fmla="*/ 78 w 192"/>
                  <a:gd name="T43" fmla="*/ 57 h 168"/>
                  <a:gd name="T44" fmla="*/ 78 w 192"/>
                  <a:gd name="T45" fmla="*/ 49 h 168"/>
                  <a:gd name="T46" fmla="*/ 76 w 192"/>
                  <a:gd name="T47" fmla="*/ 42 h 168"/>
                  <a:gd name="T48" fmla="*/ 73 w 192"/>
                  <a:gd name="T49" fmla="*/ 37 h 168"/>
                  <a:gd name="T50" fmla="*/ 68 w 192"/>
                  <a:gd name="T51" fmla="*/ 33 h 168"/>
                  <a:gd name="T52" fmla="*/ 61 w 192"/>
                  <a:gd name="T53" fmla="*/ 30 h 168"/>
                  <a:gd name="T54" fmla="*/ 50 w 192"/>
                  <a:gd name="T55" fmla="*/ 28 h 168"/>
                  <a:gd name="T56" fmla="*/ 26 w 192"/>
                  <a:gd name="T57" fmla="*/ 28 h 168"/>
                  <a:gd name="T58" fmla="*/ 128 w 192"/>
                  <a:gd name="T59" fmla="*/ 168 h 168"/>
                  <a:gd name="T60" fmla="*/ 154 w 192"/>
                  <a:gd name="T61" fmla="*/ 47 h 168"/>
                  <a:gd name="T62" fmla="*/ 156 w 192"/>
                  <a:gd name="T63" fmla="*/ 59 h 168"/>
                  <a:gd name="T64" fmla="*/ 161 w 192"/>
                  <a:gd name="T65" fmla="*/ 51 h 168"/>
                  <a:gd name="T66" fmla="*/ 166 w 192"/>
                  <a:gd name="T67" fmla="*/ 45 h 168"/>
                  <a:gd name="T68" fmla="*/ 171 w 192"/>
                  <a:gd name="T69" fmla="*/ 44 h 168"/>
                  <a:gd name="T70" fmla="*/ 178 w 192"/>
                  <a:gd name="T71" fmla="*/ 44 h 168"/>
                  <a:gd name="T72" fmla="*/ 189 w 192"/>
                  <a:gd name="T73" fmla="*/ 49 h 168"/>
                  <a:gd name="T74" fmla="*/ 185 w 192"/>
                  <a:gd name="T75" fmla="*/ 78 h 168"/>
                  <a:gd name="T76" fmla="*/ 176 w 192"/>
                  <a:gd name="T77" fmla="*/ 76 h 168"/>
                  <a:gd name="T78" fmla="*/ 173 w 192"/>
                  <a:gd name="T79" fmla="*/ 75 h 168"/>
                  <a:gd name="T80" fmla="*/ 168 w 192"/>
                  <a:gd name="T81" fmla="*/ 75 h 168"/>
                  <a:gd name="T82" fmla="*/ 163 w 192"/>
                  <a:gd name="T83" fmla="*/ 78 h 168"/>
                  <a:gd name="T84" fmla="*/ 157 w 192"/>
                  <a:gd name="T85" fmla="*/ 83 h 168"/>
                  <a:gd name="T86" fmla="*/ 156 w 192"/>
                  <a:gd name="T87" fmla="*/ 94 h 168"/>
                  <a:gd name="T88" fmla="*/ 156 w 192"/>
                  <a:gd name="T89" fmla="*/ 107 h 168"/>
                  <a:gd name="T90" fmla="*/ 156 w 192"/>
                  <a:gd name="T91" fmla="*/ 130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192" h="168">
                    <a:moveTo>
                      <a:pt x="0" y="168"/>
                    </a:moveTo>
                    <a:lnTo>
                      <a:pt x="0" y="0"/>
                    </a:lnTo>
                    <a:lnTo>
                      <a:pt x="45" y="0"/>
                    </a:lnTo>
                    <a:lnTo>
                      <a:pt x="56" y="0"/>
                    </a:lnTo>
                    <a:lnTo>
                      <a:pt x="66" y="0"/>
                    </a:lnTo>
                    <a:lnTo>
                      <a:pt x="73" y="0"/>
                    </a:lnTo>
                    <a:lnTo>
                      <a:pt x="78" y="2"/>
                    </a:lnTo>
                    <a:lnTo>
                      <a:pt x="83" y="6"/>
                    </a:lnTo>
                    <a:lnTo>
                      <a:pt x="88" y="9"/>
                    </a:lnTo>
                    <a:lnTo>
                      <a:pt x="94" y="13"/>
                    </a:lnTo>
                    <a:lnTo>
                      <a:pt x="99" y="18"/>
                    </a:lnTo>
                    <a:lnTo>
                      <a:pt x="102" y="26"/>
                    </a:lnTo>
                    <a:lnTo>
                      <a:pt x="104" y="33"/>
                    </a:lnTo>
                    <a:lnTo>
                      <a:pt x="106" y="44"/>
                    </a:lnTo>
                    <a:lnTo>
                      <a:pt x="106" y="54"/>
                    </a:lnTo>
                    <a:lnTo>
                      <a:pt x="106" y="61"/>
                    </a:lnTo>
                    <a:lnTo>
                      <a:pt x="104" y="69"/>
                    </a:lnTo>
                    <a:lnTo>
                      <a:pt x="102" y="76"/>
                    </a:lnTo>
                    <a:lnTo>
                      <a:pt x="99" y="83"/>
                    </a:lnTo>
                    <a:lnTo>
                      <a:pt x="95" y="88"/>
                    </a:lnTo>
                    <a:lnTo>
                      <a:pt x="92" y="94"/>
                    </a:lnTo>
                    <a:lnTo>
                      <a:pt x="87" y="97"/>
                    </a:lnTo>
                    <a:lnTo>
                      <a:pt x="81" y="101"/>
                    </a:lnTo>
                    <a:lnTo>
                      <a:pt x="76" y="102"/>
                    </a:lnTo>
                    <a:lnTo>
                      <a:pt x="68" y="104"/>
                    </a:lnTo>
                    <a:lnTo>
                      <a:pt x="57" y="106"/>
                    </a:lnTo>
                    <a:lnTo>
                      <a:pt x="45" y="106"/>
                    </a:lnTo>
                    <a:lnTo>
                      <a:pt x="26" y="106"/>
                    </a:lnTo>
                    <a:lnTo>
                      <a:pt x="26" y="168"/>
                    </a:lnTo>
                    <a:lnTo>
                      <a:pt x="0" y="168"/>
                    </a:lnTo>
                    <a:close/>
                    <a:moveTo>
                      <a:pt x="26" y="28"/>
                    </a:moveTo>
                    <a:lnTo>
                      <a:pt x="26" y="76"/>
                    </a:lnTo>
                    <a:lnTo>
                      <a:pt x="43" y="76"/>
                    </a:lnTo>
                    <a:lnTo>
                      <a:pt x="50" y="76"/>
                    </a:lnTo>
                    <a:lnTo>
                      <a:pt x="57" y="76"/>
                    </a:lnTo>
                    <a:lnTo>
                      <a:pt x="61" y="76"/>
                    </a:lnTo>
                    <a:lnTo>
                      <a:pt x="64" y="75"/>
                    </a:lnTo>
                    <a:lnTo>
                      <a:pt x="68" y="75"/>
                    </a:lnTo>
                    <a:lnTo>
                      <a:pt x="69" y="73"/>
                    </a:lnTo>
                    <a:lnTo>
                      <a:pt x="73" y="69"/>
                    </a:lnTo>
                    <a:lnTo>
                      <a:pt x="75" y="68"/>
                    </a:lnTo>
                    <a:lnTo>
                      <a:pt x="76" y="64"/>
                    </a:lnTo>
                    <a:lnTo>
                      <a:pt x="76" y="61"/>
                    </a:lnTo>
                    <a:lnTo>
                      <a:pt x="78" y="57"/>
                    </a:lnTo>
                    <a:lnTo>
                      <a:pt x="78" y="54"/>
                    </a:lnTo>
                    <a:lnTo>
                      <a:pt x="78" y="49"/>
                    </a:lnTo>
                    <a:lnTo>
                      <a:pt x="76" y="45"/>
                    </a:lnTo>
                    <a:lnTo>
                      <a:pt x="76" y="42"/>
                    </a:lnTo>
                    <a:lnTo>
                      <a:pt x="75" y="38"/>
                    </a:lnTo>
                    <a:lnTo>
                      <a:pt x="73" y="37"/>
                    </a:lnTo>
                    <a:lnTo>
                      <a:pt x="69" y="35"/>
                    </a:lnTo>
                    <a:lnTo>
                      <a:pt x="68" y="33"/>
                    </a:lnTo>
                    <a:lnTo>
                      <a:pt x="64" y="32"/>
                    </a:lnTo>
                    <a:lnTo>
                      <a:pt x="61" y="30"/>
                    </a:lnTo>
                    <a:lnTo>
                      <a:pt x="56" y="30"/>
                    </a:lnTo>
                    <a:lnTo>
                      <a:pt x="50" y="28"/>
                    </a:lnTo>
                    <a:lnTo>
                      <a:pt x="42" y="28"/>
                    </a:lnTo>
                    <a:lnTo>
                      <a:pt x="26" y="28"/>
                    </a:lnTo>
                    <a:close/>
                    <a:moveTo>
                      <a:pt x="156" y="168"/>
                    </a:moveTo>
                    <a:lnTo>
                      <a:pt x="128" y="168"/>
                    </a:lnTo>
                    <a:lnTo>
                      <a:pt x="128" y="47"/>
                    </a:lnTo>
                    <a:lnTo>
                      <a:pt x="154" y="47"/>
                    </a:lnTo>
                    <a:lnTo>
                      <a:pt x="154" y="64"/>
                    </a:lnTo>
                    <a:lnTo>
                      <a:pt x="156" y="59"/>
                    </a:lnTo>
                    <a:lnTo>
                      <a:pt x="157" y="54"/>
                    </a:lnTo>
                    <a:lnTo>
                      <a:pt x="161" y="51"/>
                    </a:lnTo>
                    <a:lnTo>
                      <a:pt x="164" y="47"/>
                    </a:lnTo>
                    <a:lnTo>
                      <a:pt x="166" y="45"/>
                    </a:lnTo>
                    <a:lnTo>
                      <a:pt x="170" y="45"/>
                    </a:lnTo>
                    <a:lnTo>
                      <a:pt x="171" y="44"/>
                    </a:lnTo>
                    <a:lnTo>
                      <a:pt x="175" y="44"/>
                    </a:lnTo>
                    <a:lnTo>
                      <a:pt x="178" y="44"/>
                    </a:lnTo>
                    <a:lnTo>
                      <a:pt x="183" y="45"/>
                    </a:lnTo>
                    <a:lnTo>
                      <a:pt x="189" y="49"/>
                    </a:lnTo>
                    <a:lnTo>
                      <a:pt x="192" y="51"/>
                    </a:lnTo>
                    <a:lnTo>
                      <a:pt x="185" y="78"/>
                    </a:lnTo>
                    <a:lnTo>
                      <a:pt x="180" y="76"/>
                    </a:lnTo>
                    <a:lnTo>
                      <a:pt x="176" y="76"/>
                    </a:lnTo>
                    <a:lnTo>
                      <a:pt x="175" y="75"/>
                    </a:lnTo>
                    <a:lnTo>
                      <a:pt x="173" y="75"/>
                    </a:lnTo>
                    <a:lnTo>
                      <a:pt x="170" y="75"/>
                    </a:lnTo>
                    <a:lnTo>
                      <a:pt x="168" y="75"/>
                    </a:lnTo>
                    <a:lnTo>
                      <a:pt x="164" y="76"/>
                    </a:lnTo>
                    <a:lnTo>
                      <a:pt x="163" y="78"/>
                    </a:lnTo>
                    <a:lnTo>
                      <a:pt x="161" y="80"/>
                    </a:lnTo>
                    <a:lnTo>
                      <a:pt x="157" y="83"/>
                    </a:lnTo>
                    <a:lnTo>
                      <a:pt x="156" y="88"/>
                    </a:lnTo>
                    <a:lnTo>
                      <a:pt x="156" y="94"/>
                    </a:lnTo>
                    <a:lnTo>
                      <a:pt x="156" y="99"/>
                    </a:lnTo>
                    <a:lnTo>
                      <a:pt x="156" y="107"/>
                    </a:lnTo>
                    <a:lnTo>
                      <a:pt x="156" y="118"/>
                    </a:lnTo>
                    <a:lnTo>
                      <a:pt x="156" y="130"/>
                    </a:lnTo>
                    <a:lnTo>
                      <a:pt x="156" y="1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4" name="Freeform 892"/>
              <p:cNvSpPr>
                <a:spLocks noEditPoints="1"/>
              </p:cNvSpPr>
              <p:nvPr/>
            </p:nvSpPr>
            <p:spPr bwMode="auto">
              <a:xfrm>
                <a:off x="1267" y="1518"/>
                <a:ext cx="761" cy="108"/>
              </a:xfrm>
              <a:custGeom>
                <a:avLst/>
                <a:gdLst>
                  <a:gd name="T0" fmla="*/ 16 w 1523"/>
                  <a:gd name="T1" fmla="*/ 157 h 216"/>
                  <a:gd name="T2" fmla="*/ 66 w 1523"/>
                  <a:gd name="T3" fmla="*/ 47 h 216"/>
                  <a:gd name="T4" fmla="*/ 42 w 1523"/>
                  <a:gd name="T5" fmla="*/ 145 h 216"/>
                  <a:gd name="T6" fmla="*/ 52 w 1523"/>
                  <a:gd name="T7" fmla="*/ 68 h 216"/>
                  <a:gd name="T8" fmla="*/ 139 w 1523"/>
                  <a:gd name="T9" fmla="*/ 144 h 216"/>
                  <a:gd name="T10" fmla="*/ 168 w 1523"/>
                  <a:gd name="T11" fmla="*/ 128 h 216"/>
                  <a:gd name="T12" fmla="*/ 111 w 1523"/>
                  <a:gd name="T13" fmla="*/ 66 h 216"/>
                  <a:gd name="T14" fmla="*/ 195 w 1523"/>
                  <a:gd name="T15" fmla="*/ 76 h 216"/>
                  <a:gd name="T16" fmla="*/ 132 w 1523"/>
                  <a:gd name="T17" fmla="*/ 80 h 216"/>
                  <a:gd name="T18" fmla="*/ 199 w 1523"/>
                  <a:gd name="T19" fmla="*/ 123 h 216"/>
                  <a:gd name="T20" fmla="*/ 116 w 1523"/>
                  <a:gd name="T21" fmla="*/ 157 h 216"/>
                  <a:gd name="T22" fmla="*/ 251 w 1523"/>
                  <a:gd name="T23" fmla="*/ 168 h 216"/>
                  <a:gd name="T24" fmla="*/ 251 w 1523"/>
                  <a:gd name="T25" fmla="*/ 45 h 216"/>
                  <a:gd name="T26" fmla="*/ 244 w 1523"/>
                  <a:gd name="T27" fmla="*/ 135 h 216"/>
                  <a:gd name="T28" fmla="*/ 275 w 1523"/>
                  <a:gd name="T29" fmla="*/ 75 h 216"/>
                  <a:gd name="T30" fmla="*/ 418 w 1523"/>
                  <a:gd name="T31" fmla="*/ 168 h 216"/>
                  <a:gd name="T32" fmla="*/ 375 w 1523"/>
                  <a:gd name="T33" fmla="*/ 68 h 216"/>
                  <a:gd name="T34" fmla="*/ 328 w 1523"/>
                  <a:gd name="T35" fmla="*/ 168 h 216"/>
                  <a:gd name="T36" fmla="*/ 401 w 1523"/>
                  <a:gd name="T37" fmla="*/ 49 h 216"/>
                  <a:gd name="T38" fmla="*/ 472 w 1523"/>
                  <a:gd name="T39" fmla="*/ 121 h 216"/>
                  <a:gd name="T40" fmla="*/ 489 w 1523"/>
                  <a:gd name="T41" fmla="*/ 168 h 216"/>
                  <a:gd name="T42" fmla="*/ 446 w 1523"/>
                  <a:gd name="T43" fmla="*/ 135 h 216"/>
                  <a:gd name="T44" fmla="*/ 515 w 1523"/>
                  <a:gd name="T45" fmla="*/ 57 h 216"/>
                  <a:gd name="T46" fmla="*/ 587 w 1523"/>
                  <a:gd name="T47" fmla="*/ 66 h 216"/>
                  <a:gd name="T48" fmla="*/ 565 w 1523"/>
                  <a:gd name="T49" fmla="*/ 156 h 216"/>
                  <a:gd name="T50" fmla="*/ 504 w 1523"/>
                  <a:gd name="T51" fmla="*/ 151 h 216"/>
                  <a:gd name="T52" fmla="*/ 539 w 1523"/>
                  <a:gd name="T53" fmla="*/ 97 h 216"/>
                  <a:gd name="T54" fmla="*/ 553 w 1523"/>
                  <a:gd name="T55" fmla="*/ 69 h 216"/>
                  <a:gd name="T56" fmla="*/ 553 w 1523"/>
                  <a:gd name="T57" fmla="*/ 114 h 216"/>
                  <a:gd name="T58" fmla="*/ 536 w 1523"/>
                  <a:gd name="T59" fmla="*/ 145 h 216"/>
                  <a:gd name="T60" fmla="*/ 561 w 1523"/>
                  <a:gd name="T61" fmla="*/ 123 h 216"/>
                  <a:gd name="T62" fmla="*/ 651 w 1523"/>
                  <a:gd name="T63" fmla="*/ 145 h 216"/>
                  <a:gd name="T64" fmla="*/ 624 w 1523"/>
                  <a:gd name="T65" fmla="*/ 164 h 216"/>
                  <a:gd name="T66" fmla="*/ 643 w 1523"/>
                  <a:gd name="T67" fmla="*/ 47 h 216"/>
                  <a:gd name="T68" fmla="*/ 729 w 1523"/>
                  <a:gd name="T69" fmla="*/ 88 h 216"/>
                  <a:gd name="T70" fmla="*/ 815 w 1523"/>
                  <a:gd name="T71" fmla="*/ 63 h 216"/>
                  <a:gd name="T72" fmla="*/ 791 w 1523"/>
                  <a:gd name="T73" fmla="*/ 168 h 216"/>
                  <a:gd name="T74" fmla="*/ 758 w 1523"/>
                  <a:gd name="T75" fmla="*/ 130 h 216"/>
                  <a:gd name="T76" fmla="*/ 801 w 1523"/>
                  <a:gd name="T77" fmla="*/ 99 h 216"/>
                  <a:gd name="T78" fmla="*/ 753 w 1523"/>
                  <a:gd name="T79" fmla="*/ 99 h 216"/>
                  <a:gd name="T80" fmla="*/ 903 w 1523"/>
                  <a:gd name="T81" fmla="*/ 69 h 216"/>
                  <a:gd name="T82" fmla="*/ 877 w 1523"/>
                  <a:gd name="T83" fmla="*/ 113 h 216"/>
                  <a:gd name="T84" fmla="*/ 914 w 1523"/>
                  <a:gd name="T85" fmla="*/ 44 h 216"/>
                  <a:gd name="T86" fmla="*/ 1022 w 1523"/>
                  <a:gd name="T87" fmla="*/ 0 h 216"/>
                  <a:gd name="T88" fmla="*/ 1167 w 1523"/>
                  <a:gd name="T89" fmla="*/ 44 h 216"/>
                  <a:gd name="T90" fmla="*/ 1219 w 1523"/>
                  <a:gd name="T91" fmla="*/ 128 h 216"/>
                  <a:gd name="T92" fmla="*/ 1181 w 1523"/>
                  <a:gd name="T93" fmla="*/ 168 h 216"/>
                  <a:gd name="T94" fmla="*/ 1133 w 1523"/>
                  <a:gd name="T95" fmla="*/ 126 h 216"/>
                  <a:gd name="T96" fmla="*/ 1193 w 1523"/>
                  <a:gd name="T97" fmla="*/ 88 h 216"/>
                  <a:gd name="T98" fmla="*/ 1171 w 1523"/>
                  <a:gd name="T99" fmla="*/ 69 h 216"/>
                  <a:gd name="T100" fmla="*/ 1164 w 1523"/>
                  <a:gd name="T101" fmla="*/ 121 h 216"/>
                  <a:gd name="T102" fmla="*/ 1176 w 1523"/>
                  <a:gd name="T103" fmla="*/ 149 h 216"/>
                  <a:gd name="T104" fmla="*/ 1259 w 1523"/>
                  <a:gd name="T105" fmla="*/ 47 h 216"/>
                  <a:gd name="T106" fmla="*/ 1269 w 1523"/>
                  <a:gd name="T107" fmla="*/ 213 h 216"/>
                  <a:gd name="T108" fmla="*/ 1257 w 1523"/>
                  <a:gd name="T109" fmla="*/ 187 h 216"/>
                  <a:gd name="T110" fmla="*/ 1414 w 1523"/>
                  <a:gd name="T111" fmla="*/ 166 h 216"/>
                  <a:gd name="T112" fmla="*/ 1352 w 1523"/>
                  <a:gd name="T113" fmla="*/ 69 h 216"/>
                  <a:gd name="T114" fmla="*/ 1438 w 1523"/>
                  <a:gd name="T115" fmla="*/ 116 h 216"/>
                  <a:gd name="T116" fmla="*/ 1411 w 1523"/>
                  <a:gd name="T117" fmla="*/ 95 h 216"/>
                  <a:gd name="T118" fmla="*/ 1373 w 1523"/>
                  <a:gd name="T119" fmla="*/ 85 h 216"/>
                  <a:gd name="T120" fmla="*/ 1499 w 1523"/>
                  <a:gd name="T121" fmla="*/ 45 h 216"/>
                  <a:gd name="T122" fmla="*/ 1494 w 1523"/>
                  <a:gd name="T123" fmla="*/ 76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523" h="216">
                    <a:moveTo>
                      <a:pt x="68" y="130"/>
                    </a:moveTo>
                    <a:lnTo>
                      <a:pt x="92" y="135"/>
                    </a:lnTo>
                    <a:lnTo>
                      <a:pt x="90" y="144"/>
                    </a:lnTo>
                    <a:lnTo>
                      <a:pt x="87" y="151"/>
                    </a:lnTo>
                    <a:lnTo>
                      <a:pt x="82" y="157"/>
                    </a:lnTo>
                    <a:lnTo>
                      <a:pt x="76" y="163"/>
                    </a:lnTo>
                    <a:lnTo>
                      <a:pt x="71" y="166"/>
                    </a:lnTo>
                    <a:lnTo>
                      <a:pt x="64" y="168"/>
                    </a:lnTo>
                    <a:lnTo>
                      <a:pt x="57" y="168"/>
                    </a:lnTo>
                    <a:lnTo>
                      <a:pt x="50" y="168"/>
                    </a:lnTo>
                    <a:lnTo>
                      <a:pt x="40" y="168"/>
                    </a:lnTo>
                    <a:lnTo>
                      <a:pt x="30" y="166"/>
                    </a:lnTo>
                    <a:lnTo>
                      <a:pt x="23" y="163"/>
                    </a:lnTo>
                    <a:lnTo>
                      <a:pt x="16" y="157"/>
                    </a:lnTo>
                    <a:lnTo>
                      <a:pt x="9" y="147"/>
                    </a:lnTo>
                    <a:lnTo>
                      <a:pt x="4" y="135"/>
                    </a:lnTo>
                    <a:lnTo>
                      <a:pt x="2" y="123"/>
                    </a:lnTo>
                    <a:lnTo>
                      <a:pt x="0" y="107"/>
                    </a:lnTo>
                    <a:lnTo>
                      <a:pt x="2" y="94"/>
                    </a:lnTo>
                    <a:lnTo>
                      <a:pt x="4" y="80"/>
                    </a:lnTo>
                    <a:lnTo>
                      <a:pt x="9" y="69"/>
                    </a:lnTo>
                    <a:lnTo>
                      <a:pt x="16" y="59"/>
                    </a:lnTo>
                    <a:lnTo>
                      <a:pt x="21" y="52"/>
                    </a:lnTo>
                    <a:lnTo>
                      <a:pt x="30" y="47"/>
                    </a:lnTo>
                    <a:lnTo>
                      <a:pt x="37" y="45"/>
                    </a:lnTo>
                    <a:lnTo>
                      <a:pt x="47" y="44"/>
                    </a:lnTo>
                    <a:lnTo>
                      <a:pt x="57" y="45"/>
                    </a:lnTo>
                    <a:lnTo>
                      <a:pt x="66" y="47"/>
                    </a:lnTo>
                    <a:lnTo>
                      <a:pt x="73" y="52"/>
                    </a:lnTo>
                    <a:lnTo>
                      <a:pt x="80" y="59"/>
                    </a:lnTo>
                    <a:lnTo>
                      <a:pt x="87" y="69"/>
                    </a:lnTo>
                    <a:lnTo>
                      <a:pt x="90" y="82"/>
                    </a:lnTo>
                    <a:lnTo>
                      <a:pt x="94" y="95"/>
                    </a:lnTo>
                    <a:lnTo>
                      <a:pt x="94" y="113"/>
                    </a:lnTo>
                    <a:lnTo>
                      <a:pt x="94" y="116"/>
                    </a:lnTo>
                    <a:lnTo>
                      <a:pt x="28" y="116"/>
                    </a:lnTo>
                    <a:lnTo>
                      <a:pt x="28" y="123"/>
                    </a:lnTo>
                    <a:lnTo>
                      <a:pt x="30" y="130"/>
                    </a:lnTo>
                    <a:lnTo>
                      <a:pt x="33" y="135"/>
                    </a:lnTo>
                    <a:lnTo>
                      <a:pt x="35" y="139"/>
                    </a:lnTo>
                    <a:lnTo>
                      <a:pt x="38" y="142"/>
                    </a:lnTo>
                    <a:lnTo>
                      <a:pt x="42" y="145"/>
                    </a:lnTo>
                    <a:lnTo>
                      <a:pt x="45" y="147"/>
                    </a:lnTo>
                    <a:lnTo>
                      <a:pt x="50" y="147"/>
                    </a:lnTo>
                    <a:lnTo>
                      <a:pt x="56" y="145"/>
                    </a:lnTo>
                    <a:lnTo>
                      <a:pt x="61" y="142"/>
                    </a:lnTo>
                    <a:lnTo>
                      <a:pt x="64" y="137"/>
                    </a:lnTo>
                    <a:lnTo>
                      <a:pt x="68" y="130"/>
                    </a:lnTo>
                    <a:close/>
                    <a:moveTo>
                      <a:pt x="68" y="95"/>
                    </a:moveTo>
                    <a:lnTo>
                      <a:pt x="68" y="90"/>
                    </a:lnTo>
                    <a:lnTo>
                      <a:pt x="66" y="85"/>
                    </a:lnTo>
                    <a:lnTo>
                      <a:pt x="64" y="80"/>
                    </a:lnTo>
                    <a:lnTo>
                      <a:pt x="61" y="75"/>
                    </a:lnTo>
                    <a:lnTo>
                      <a:pt x="57" y="73"/>
                    </a:lnTo>
                    <a:lnTo>
                      <a:pt x="56" y="69"/>
                    </a:lnTo>
                    <a:lnTo>
                      <a:pt x="52" y="68"/>
                    </a:lnTo>
                    <a:lnTo>
                      <a:pt x="49" y="68"/>
                    </a:lnTo>
                    <a:lnTo>
                      <a:pt x="44" y="68"/>
                    </a:lnTo>
                    <a:lnTo>
                      <a:pt x="40" y="69"/>
                    </a:lnTo>
                    <a:lnTo>
                      <a:pt x="37" y="73"/>
                    </a:lnTo>
                    <a:lnTo>
                      <a:pt x="35" y="76"/>
                    </a:lnTo>
                    <a:lnTo>
                      <a:pt x="33" y="80"/>
                    </a:lnTo>
                    <a:lnTo>
                      <a:pt x="31" y="85"/>
                    </a:lnTo>
                    <a:lnTo>
                      <a:pt x="30" y="90"/>
                    </a:lnTo>
                    <a:lnTo>
                      <a:pt x="30" y="95"/>
                    </a:lnTo>
                    <a:lnTo>
                      <a:pt x="68" y="95"/>
                    </a:lnTo>
                    <a:close/>
                    <a:moveTo>
                      <a:pt x="106" y="133"/>
                    </a:moveTo>
                    <a:lnTo>
                      <a:pt x="132" y="130"/>
                    </a:lnTo>
                    <a:lnTo>
                      <a:pt x="135" y="139"/>
                    </a:lnTo>
                    <a:lnTo>
                      <a:pt x="139" y="144"/>
                    </a:lnTo>
                    <a:lnTo>
                      <a:pt x="144" y="147"/>
                    </a:lnTo>
                    <a:lnTo>
                      <a:pt x="152" y="149"/>
                    </a:lnTo>
                    <a:lnTo>
                      <a:pt x="157" y="149"/>
                    </a:lnTo>
                    <a:lnTo>
                      <a:pt x="161" y="147"/>
                    </a:lnTo>
                    <a:lnTo>
                      <a:pt x="163" y="147"/>
                    </a:lnTo>
                    <a:lnTo>
                      <a:pt x="166" y="145"/>
                    </a:lnTo>
                    <a:lnTo>
                      <a:pt x="168" y="142"/>
                    </a:lnTo>
                    <a:lnTo>
                      <a:pt x="170" y="140"/>
                    </a:lnTo>
                    <a:lnTo>
                      <a:pt x="171" y="137"/>
                    </a:lnTo>
                    <a:lnTo>
                      <a:pt x="171" y="135"/>
                    </a:lnTo>
                    <a:lnTo>
                      <a:pt x="171" y="133"/>
                    </a:lnTo>
                    <a:lnTo>
                      <a:pt x="170" y="132"/>
                    </a:lnTo>
                    <a:lnTo>
                      <a:pt x="170" y="130"/>
                    </a:lnTo>
                    <a:lnTo>
                      <a:pt x="168" y="128"/>
                    </a:lnTo>
                    <a:lnTo>
                      <a:pt x="166" y="128"/>
                    </a:lnTo>
                    <a:lnTo>
                      <a:pt x="166" y="126"/>
                    </a:lnTo>
                    <a:lnTo>
                      <a:pt x="164" y="126"/>
                    </a:lnTo>
                    <a:lnTo>
                      <a:pt x="161" y="126"/>
                    </a:lnTo>
                    <a:lnTo>
                      <a:pt x="147" y="121"/>
                    </a:lnTo>
                    <a:lnTo>
                      <a:pt x="135" y="116"/>
                    </a:lnTo>
                    <a:lnTo>
                      <a:pt x="125" y="111"/>
                    </a:lnTo>
                    <a:lnTo>
                      <a:pt x="120" y="107"/>
                    </a:lnTo>
                    <a:lnTo>
                      <a:pt x="114" y="102"/>
                    </a:lnTo>
                    <a:lnTo>
                      <a:pt x="111" y="97"/>
                    </a:lnTo>
                    <a:lnTo>
                      <a:pt x="109" y="90"/>
                    </a:lnTo>
                    <a:lnTo>
                      <a:pt x="109" y="82"/>
                    </a:lnTo>
                    <a:lnTo>
                      <a:pt x="109" y="73"/>
                    </a:lnTo>
                    <a:lnTo>
                      <a:pt x="111" y="66"/>
                    </a:lnTo>
                    <a:lnTo>
                      <a:pt x="114" y="61"/>
                    </a:lnTo>
                    <a:lnTo>
                      <a:pt x="120" y="56"/>
                    </a:lnTo>
                    <a:lnTo>
                      <a:pt x="125" y="51"/>
                    </a:lnTo>
                    <a:lnTo>
                      <a:pt x="133" y="47"/>
                    </a:lnTo>
                    <a:lnTo>
                      <a:pt x="140" y="44"/>
                    </a:lnTo>
                    <a:lnTo>
                      <a:pt x="151" y="44"/>
                    </a:lnTo>
                    <a:lnTo>
                      <a:pt x="159" y="44"/>
                    </a:lnTo>
                    <a:lnTo>
                      <a:pt x="168" y="45"/>
                    </a:lnTo>
                    <a:lnTo>
                      <a:pt x="175" y="49"/>
                    </a:lnTo>
                    <a:lnTo>
                      <a:pt x="182" y="52"/>
                    </a:lnTo>
                    <a:lnTo>
                      <a:pt x="185" y="56"/>
                    </a:lnTo>
                    <a:lnTo>
                      <a:pt x="189" y="61"/>
                    </a:lnTo>
                    <a:lnTo>
                      <a:pt x="192" y="68"/>
                    </a:lnTo>
                    <a:lnTo>
                      <a:pt x="195" y="76"/>
                    </a:lnTo>
                    <a:lnTo>
                      <a:pt x="171" y="82"/>
                    </a:lnTo>
                    <a:lnTo>
                      <a:pt x="168" y="76"/>
                    </a:lnTo>
                    <a:lnTo>
                      <a:pt x="164" y="71"/>
                    </a:lnTo>
                    <a:lnTo>
                      <a:pt x="157" y="69"/>
                    </a:lnTo>
                    <a:lnTo>
                      <a:pt x="151" y="68"/>
                    </a:lnTo>
                    <a:lnTo>
                      <a:pt x="147" y="68"/>
                    </a:lnTo>
                    <a:lnTo>
                      <a:pt x="144" y="68"/>
                    </a:lnTo>
                    <a:lnTo>
                      <a:pt x="140" y="68"/>
                    </a:lnTo>
                    <a:lnTo>
                      <a:pt x="137" y="69"/>
                    </a:lnTo>
                    <a:lnTo>
                      <a:pt x="135" y="71"/>
                    </a:lnTo>
                    <a:lnTo>
                      <a:pt x="133" y="73"/>
                    </a:lnTo>
                    <a:lnTo>
                      <a:pt x="132" y="76"/>
                    </a:lnTo>
                    <a:lnTo>
                      <a:pt x="132" y="78"/>
                    </a:lnTo>
                    <a:lnTo>
                      <a:pt x="132" y="80"/>
                    </a:lnTo>
                    <a:lnTo>
                      <a:pt x="133" y="82"/>
                    </a:lnTo>
                    <a:lnTo>
                      <a:pt x="135" y="83"/>
                    </a:lnTo>
                    <a:lnTo>
                      <a:pt x="137" y="85"/>
                    </a:lnTo>
                    <a:lnTo>
                      <a:pt x="139" y="87"/>
                    </a:lnTo>
                    <a:lnTo>
                      <a:pt x="144" y="88"/>
                    </a:lnTo>
                    <a:lnTo>
                      <a:pt x="152" y="90"/>
                    </a:lnTo>
                    <a:lnTo>
                      <a:pt x="161" y="94"/>
                    </a:lnTo>
                    <a:lnTo>
                      <a:pt x="170" y="97"/>
                    </a:lnTo>
                    <a:lnTo>
                      <a:pt x="178" y="99"/>
                    </a:lnTo>
                    <a:lnTo>
                      <a:pt x="185" y="102"/>
                    </a:lnTo>
                    <a:lnTo>
                      <a:pt x="190" y="107"/>
                    </a:lnTo>
                    <a:lnTo>
                      <a:pt x="194" y="113"/>
                    </a:lnTo>
                    <a:lnTo>
                      <a:pt x="197" y="118"/>
                    </a:lnTo>
                    <a:lnTo>
                      <a:pt x="199" y="123"/>
                    </a:lnTo>
                    <a:lnTo>
                      <a:pt x="199" y="130"/>
                    </a:lnTo>
                    <a:lnTo>
                      <a:pt x="197" y="139"/>
                    </a:lnTo>
                    <a:lnTo>
                      <a:pt x="195" y="147"/>
                    </a:lnTo>
                    <a:lnTo>
                      <a:pt x="190" y="154"/>
                    </a:lnTo>
                    <a:lnTo>
                      <a:pt x="185" y="159"/>
                    </a:lnTo>
                    <a:lnTo>
                      <a:pt x="178" y="164"/>
                    </a:lnTo>
                    <a:lnTo>
                      <a:pt x="171" y="166"/>
                    </a:lnTo>
                    <a:lnTo>
                      <a:pt x="163" y="168"/>
                    </a:lnTo>
                    <a:lnTo>
                      <a:pt x="152" y="168"/>
                    </a:lnTo>
                    <a:lnTo>
                      <a:pt x="144" y="168"/>
                    </a:lnTo>
                    <a:lnTo>
                      <a:pt x="135" y="168"/>
                    </a:lnTo>
                    <a:lnTo>
                      <a:pt x="128" y="166"/>
                    </a:lnTo>
                    <a:lnTo>
                      <a:pt x="121" y="163"/>
                    </a:lnTo>
                    <a:lnTo>
                      <a:pt x="116" y="157"/>
                    </a:lnTo>
                    <a:lnTo>
                      <a:pt x="111" y="151"/>
                    </a:lnTo>
                    <a:lnTo>
                      <a:pt x="109" y="142"/>
                    </a:lnTo>
                    <a:lnTo>
                      <a:pt x="106" y="133"/>
                    </a:lnTo>
                    <a:close/>
                    <a:moveTo>
                      <a:pt x="280" y="130"/>
                    </a:moveTo>
                    <a:lnTo>
                      <a:pt x="306" y="135"/>
                    </a:lnTo>
                    <a:lnTo>
                      <a:pt x="303" y="144"/>
                    </a:lnTo>
                    <a:lnTo>
                      <a:pt x="299" y="151"/>
                    </a:lnTo>
                    <a:lnTo>
                      <a:pt x="296" y="157"/>
                    </a:lnTo>
                    <a:lnTo>
                      <a:pt x="290" y="163"/>
                    </a:lnTo>
                    <a:lnTo>
                      <a:pt x="284" y="166"/>
                    </a:lnTo>
                    <a:lnTo>
                      <a:pt x="277" y="168"/>
                    </a:lnTo>
                    <a:lnTo>
                      <a:pt x="270" y="168"/>
                    </a:lnTo>
                    <a:lnTo>
                      <a:pt x="261" y="168"/>
                    </a:lnTo>
                    <a:lnTo>
                      <a:pt x="251" y="168"/>
                    </a:lnTo>
                    <a:lnTo>
                      <a:pt x="242" y="166"/>
                    </a:lnTo>
                    <a:lnTo>
                      <a:pt x="235" y="163"/>
                    </a:lnTo>
                    <a:lnTo>
                      <a:pt x="228" y="157"/>
                    </a:lnTo>
                    <a:lnTo>
                      <a:pt x="221" y="147"/>
                    </a:lnTo>
                    <a:lnTo>
                      <a:pt x="218" y="135"/>
                    </a:lnTo>
                    <a:lnTo>
                      <a:pt x="214" y="123"/>
                    </a:lnTo>
                    <a:lnTo>
                      <a:pt x="213" y="107"/>
                    </a:lnTo>
                    <a:lnTo>
                      <a:pt x="214" y="94"/>
                    </a:lnTo>
                    <a:lnTo>
                      <a:pt x="218" y="80"/>
                    </a:lnTo>
                    <a:lnTo>
                      <a:pt x="221" y="69"/>
                    </a:lnTo>
                    <a:lnTo>
                      <a:pt x="228" y="59"/>
                    </a:lnTo>
                    <a:lnTo>
                      <a:pt x="235" y="52"/>
                    </a:lnTo>
                    <a:lnTo>
                      <a:pt x="242" y="47"/>
                    </a:lnTo>
                    <a:lnTo>
                      <a:pt x="251" y="45"/>
                    </a:lnTo>
                    <a:lnTo>
                      <a:pt x="259" y="44"/>
                    </a:lnTo>
                    <a:lnTo>
                      <a:pt x="270" y="45"/>
                    </a:lnTo>
                    <a:lnTo>
                      <a:pt x="278" y="47"/>
                    </a:lnTo>
                    <a:lnTo>
                      <a:pt x="285" y="52"/>
                    </a:lnTo>
                    <a:lnTo>
                      <a:pt x="292" y="59"/>
                    </a:lnTo>
                    <a:lnTo>
                      <a:pt x="299" y="69"/>
                    </a:lnTo>
                    <a:lnTo>
                      <a:pt x="303" y="82"/>
                    </a:lnTo>
                    <a:lnTo>
                      <a:pt x="306" y="95"/>
                    </a:lnTo>
                    <a:lnTo>
                      <a:pt x="308" y="113"/>
                    </a:lnTo>
                    <a:lnTo>
                      <a:pt x="308" y="116"/>
                    </a:lnTo>
                    <a:lnTo>
                      <a:pt x="240" y="116"/>
                    </a:lnTo>
                    <a:lnTo>
                      <a:pt x="240" y="123"/>
                    </a:lnTo>
                    <a:lnTo>
                      <a:pt x="242" y="130"/>
                    </a:lnTo>
                    <a:lnTo>
                      <a:pt x="244" y="135"/>
                    </a:lnTo>
                    <a:lnTo>
                      <a:pt x="247" y="139"/>
                    </a:lnTo>
                    <a:lnTo>
                      <a:pt x="251" y="142"/>
                    </a:lnTo>
                    <a:lnTo>
                      <a:pt x="254" y="145"/>
                    </a:lnTo>
                    <a:lnTo>
                      <a:pt x="258" y="147"/>
                    </a:lnTo>
                    <a:lnTo>
                      <a:pt x="261" y="147"/>
                    </a:lnTo>
                    <a:lnTo>
                      <a:pt x="268" y="145"/>
                    </a:lnTo>
                    <a:lnTo>
                      <a:pt x="273" y="142"/>
                    </a:lnTo>
                    <a:lnTo>
                      <a:pt x="278" y="137"/>
                    </a:lnTo>
                    <a:lnTo>
                      <a:pt x="280" y="130"/>
                    </a:lnTo>
                    <a:close/>
                    <a:moveTo>
                      <a:pt x="280" y="95"/>
                    </a:moveTo>
                    <a:lnTo>
                      <a:pt x="280" y="90"/>
                    </a:lnTo>
                    <a:lnTo>
                      <a:pt x="278" y="85"/>
                    </a:lnTo>
                    <a:lnTo>
                      <a:pt x="277" y="80"/>
                    </a:lnTo>
                    <a:lnTo>
                      <a:pt x="275" y="75"/>
                    </a:lnTo>
                    <a:lnTo>
                      <a:pt x="271" y="73"/>
                    </a:lnTo>
                    <a:lnTo>
                      <a:pt x="268" y="69"/>
                    </a:lnTo>
                    <a:lnTo>
                      <a:pt x="265" y="68"/>
                    </a:lnTo>
                    <a:lnTo>
                      <a:pt x="261" y="68"/>
                    </a:lnTo>
                    <a:lnTo>
                      <a:pt x="258" y="68"/>
                    </a:lnTo>
                    <a:lnTo>
                      <a:pt x="254" y="69"/>
                    </a:lnTo>
                    <a:lnTo>
                      <a:pt x="251" y="73"/>
                    </a:lnTo>
                    <a:lnTo>
                      <a:pt x="247" y="76"/>
                    </a:lnTo>
                    <a:lnTo>
                      <a:pt x="244" y="80"/>
                    </a:lnTo>
                    <a:lnTo>
                      <a:pt x="242" y="85"/>
                    </a:lnTo>
                    <a:lnTo>
                      <a:pt x="240" y="90"/>
                    </a:lnTo>
                    <a:lnTo>
                      <a:pt x="240" y="95"/>
                    </a:lnTo>
                    <a:lnTo>
                      <a:pt x="280" y="95"/>
                    </a:lnTo>
                    <a:close/>
                    <a:moveTo>
                      <a:pt x="418" y="168"/>
                    </a:moveTo>
                    <a:lnTo>
                      <a:pt x="392" y="168"/>
                    </a:lnTo>
                    <a:lnTo>
                      <a:pt x="392" y="107"/>
                    </a:lnTo>
                    <a:lnTo>
                      <a:pt x="392" y="99"/>
                    </a:lnTo>
                    <a:lnTo>
                      <a:pt x="392" y="92"/>
                    </a:lnTo>
                    <a:lnTo>
                      <a:pt x="391" y="85"/>
                    </a:lnTo>
                    <a:lnTo>
                      <a:pt x="391" y="82"/>
                    </a:lnTo>
                    <a:lnTo>
                      <a:pt x="391" y="80"/>
                    </a:lnTo>
                    <a:lnTo>
                      <a:pt x="389" y="76"/>
                    </a:lnTo>
                    <a:lnTo>
                      <a:pt x="385" y="75"/>
                    </a:lnTo>
                    <a:lnTo>
                      <a:pt x="384" y="73"/>
                    </a:lnTo>
                    <a:lnTo>
                      <a:pt x="382" y="71"/>
                    </a:lnTo>
                    <a:lnTo>
                      <a:pt x="380" y="69"/>
                    </a:lnTo>
                    <a:lnTo>
                      <a:pt x="377" y="68"/>
                    </a:lnTo>
                    <a:lnTo>
                      <a:pt x="375" y="68"/>
                    </a:lnTo>
                    <a:lnTo>
                      <a:pt x="372" y="68"/>
                    </a:lnTo>
                    <a:lnTo>
                      <a:pt x="370" y="69"/>
                    </a:lnTo>
                    <a:lnTo>
                      <a:pt x="366" y="71"/>
                    </a:lnTo>
                    <a:lnTo>
                      <a:pt x="363" y="73"/>
                    </a:lnTo>
                    <a:lnTo>
                      <a:pt x="361" y="75"/>
                    </a:lnTo>
                    <a:lnTo>
                      <a:pt x="359" y="78"/>
                    </a:lnTo>
                    <a:lnTo>
                      <a:pt x="358" y="80"/>
                    </a:lnTo>
                    <a:lnTo>
                      <a:pt x="356" y="85"/>
                    </a:lnTo>
                    <a:lnTo>
                      <a:pt x="354" y="90"/>
                    </a:lnTo>
                    <a:lnTo>
                      <a:pt x="354" y="95"/>
                    </a:lnTo>
                    <a:lnTo>
                      <a:pt x="353" y="104"/>
                    </a:lnTo>
                    <a:lnTo>
                      <a:pt x="353" y="113"/>
                    </a:lnTo>
                    <a:lnTo>
                      <a:pt x="353" y="168"/>
                    </a:lnTo>
                    <a:lnTo>
                      <a:pt x="328" y="168"/>
                    </a:lnTo>
                    <a:lnTo>
                      <a:pt x="328" y="47"/>
                    </a:lnTo>
                    <a:lnTo>
                      <a:pt x="353" y="47"/>
                    </a:lnTo>
                    <a:lnTo>
                      <a:pt x="353" y="64"/>
                    </a:lnTo>
                    <a:lnTo>
                      <a:pt x="356" y="59"/>
                    </a:lnTo>
                    <a:lnTo>
                      <a:pt x="359" y="56"/>
                    </a:lnTo>
                    <a:lnTo>
                      <a:pt x="363" y="52"/>
                    </a:lnTo>
                    <a:lnTo>
                      <a:pt x="366" y="49"/>
                    </a:lnTo>
                    <a:lnTo>
                      <a:pt x="370" y="47"/>
                    </a:lnTo>
                    <a:lnTo>
                      <a:pt x="375" y="45"/>
                    </a:lnTo>
                    <a:lnTo>
                      <a:pt x="380" y="44"/>
                    </a:lnTo>
                    <a:lnTo>
                      <a:pt x="385" y="44"/>
                    </a:lnTo>
                    <a:lnTo>
                      <a:pt x="391" y="44"/>
                    </a:lnTo>
                    <a:lnTo>
                      <a:pt x="396" y="45"/>
                    </a:lnTo>
                    <a:lnTo>
                      <a:pt x="401" y="49"/>
                    </a:lnTo>
                    <a:lnTo>
                      <a:pt x="404" y="51"/>
                    </a:lnTo>
                    <a:lnTo>
                      <a:pt x="408" y="54"/>
                    </a:lnTo>
                    <a:lnTo>
                      <a:pt x="410" y="57"/>
                    </a:lnTo>
                    <a:lnTo>
                      <a:pt x="413" y="61"/>
                    </a:lnTo>
                    <a:lnTo>
                      <a:pt x="415" y="66"/>
                    </a:lnTo>
                    <a:lnTo>
                      <a:pt x="416" y="71"/>
                    </a:lnTo>
                    <a:lnTo>
                      <a:pt x="416" y="76"/>
                    </a:lnTo>
                    <a:lnTo>
                      <a:pt x="418" y="85"/>
                    </a:lnTo>
                    <a:lnTo>
                      <a:pt x="418" y="94"/>
                    </a:lnTo>
                    <a:lnTo>
                      <a:pt x="418" y="168"/>
                    </a:lnTo>
                    <a:close/>
                    <a:moveTo>
                      <a:pt x="492" y="47"/>
                    </a:moveTo>
                    <a:lnTo>
                      <a:pt x="492" y="73"/>
                    </a:lnTo>
                    <a:lnTo>
                      <a:pt x="472" y="73"/>
                    </a:lnTo>
                    <a:lnTo>
                      <a:pt x="472" y="121"/>
                    </a:lnTo>
                    <a:lnTo>
                      <a:pt x="472" y="128"/>
                    </a:lnTo>
                    <a:lnTo>
                      <a:pt x="472" y="133"/>
                    </a:lnTo>
                    <a:lnTo>
                      <a:pt x="472" y="139"/>
                    </a:lnTo>
                    <a:lnTo>
                      <a:pt x="472" y="140"/>
                    </a:lnTo>
                    <a:lnTo>
                      <a:pt x="473" y="142"/>
                    </a:lnTo>
                    <a:lnTo>
                      <a:pt x="475" y="144"/>
                    </a:lnTo>
                    <a:lnTo>
                      <a:pt x="479" y="145"/>
                    </a:lnTo>
                    <a:lnTo>
                      <a:pt x="482" y="145"/>
                    </a:lnTo>
                    <a:lnTo>
                      <a:pt x="484" y="145"/>
                    </a:lnTo>
                    <a:lnTo>
                      <a:pt x="485" y="144"/>
                    </a:lnTo>
                    <a:lnTo>
                      <a:pt x="489" y="144"/>
                    </a:lnTo>
                    <a:lnTo>
                      <a:pt x="492" y="142"/>
                    </a:lnTo>
                    <a:lnTo>
                      <a:pt x="494" y="168"/>
                    </a:lnTo>
                    <a:lnTo>
                      <a:pt x="489" y="168"/>
                    </a:lnTo>
                    <a:lnTo>
                      <a:pt x="484" y="168"/>
                    </a:lnTo>
                    <a:lnTo>
                      <a:pt x="479" y="168"/>
                    </a:lnTo>
                    <a:lnTo>
                      <a:pt x="472" y="168"/>
                    </a:lnTo>
                    <a:lnTo>
                      <a:pt x="466" y="168"/>
                    </a:lnTo>
                    <a:lnTo>
                      <a:pt x="463" y="168"/>
                    </a:lnTo>
                    <a:lnTo>
                      <a:pt x="460" y="168"/>
                    </a:lnTo>
                    <a:lnTo>
                      <a:pt x="456" y="168"/>
                    </a:lnTo>
                    <a:lnTo>
                      <a:pt x="453" y="164"/>
                    </a:lnTo>
                    <a:lnTo>
                      <a:pt x="449" y="161"/>
                    </a:lnTo>
                    <a:lnTo>
                      <a:pt x="448" y="156"/>
                    </a:lnTo>
                    <a:lnTo>
                      <a:pt x="446" y="152"/>
                    </a:lnTo>
                    <a:lnTo>
                      <a:pt x="446" y="149"/>
                    </a:lnTo>
                    <a:lnTo>
                      <a:pt x="446" y="142"/>
                    </a:lnTo>
                    <a:lnTo>
                      <a:pt x="446" y="135"/>
                    </a:lnTo>
                    <a:lnTo>
                      <a:pt x="446" y="126"/>
                    </a:lnTo>
                    <a:lnTo>
                      <a:pt x="446" y="73"/>
                    </a:lnTo>
                    <a:lnTo>
                      <a:pt x="432" y="73"/>
                    </a:lnTo>
                    <a:lnTo>
                      <a:pt x="432" y="47"/>
                    </a:lnTo>
                    <a:lnTo>
                      <a:pt x="446" y="47"/>
                    </a:lnTo>
                    <a:lnTo>
                      <a:pt x="446" y="21"/>
                    </a:lnTo>
                    <a:lnTo>
                      <a:pt x="472" y="4"/>
                    </a:lnTo>
                    <a:lnTo>
                      <a:pt x="472" y="47"/>
                    </a:lnTo>
                    <a:lnTo>
                      <a:pt x="492" y="47"/>
                    </a:lnTo>
                    <a:close/>
                    <a:moveTo>
                      <a:pt x="530" y="85"/>
                    </a:moveTo>
                    <a:lnTo>
                      <a:pt x="504" y="78"/>
                    </a:lnTo>
                    <a:lnTo>
                      <a:pt x="508" y="71"/>
                    </a:lnTo>
                    <a:lnTo>
                      <a:pt x="510" y="63"/>
                    </a:lnTo>
                    <a:lnTo>
                      <a:pt x="515" y="57"/>
                    </a:lnTo>
                    <a:lnTo>
                      <a:pt x="520" y="52"/>
                    </a:lnTo>
                    <a:lnTo>
                      <a:pt x="525" y="49"/>
                    </a:lnTo>
                    <a:lnTo>
                      <a:pt x="532" y="45"/>
                    </a:lnTo>
                    <a:lnTo>
                      <a:pt x="539" y="44"/>
                    </a:lnTo>
                    <a:lnTo>
                      <a:pt x="548" y="44"/>
                    </a:lnTo>
                    <a:lnTo>
                      <a:pt x="556" y="44"/>
                    </a:lnTo>
                    <a:lnTo>
                      <a:pt x="563" y="45"/>
                    </a:lnTo>
                    <a:lnTo>
                      <a:pt x="568" y="47"/>
                    </a:lnTo>
                    <a:lnTo>
                      <a:pt x="574" y="49"/>
                    </a:lnTo>
                    <a:lnTo>
                      <a:pt x="577" y="52"/>
                    </a:lnTo>
                    <a:lnTo>
                      <a:pt x="580" y="54"/>
                    </a:lnTo>
                    <a:lnTo>
                      <a:pt x="582" y="57"/>
                    </a:lnTo>
                    <a:lnTo>
                      <a:pt x="586" y="61"/>
                    </a:lnTo>
                    <a:lnTo>
                      <a:pt x="587" y="66"/>
                    </a:lnTo>
                    <a:lnTo>
                      <a:pt x="589" y="73"/>
                    </a:lnTo>
                    <a:lnTo>
                      <a:pt x="591" y="82"/>
                    </a:lnTo>
                    <a:lnTo>
                      <a:pt x="591" y="92"/>
                    </a:lnTo>
                    <a:lnTo>
                      <a:pt x="591" y="128"/>
                    </a:lnTo>
                    <a:lnTo>
                      <a:pt x="591" y="135"/>
                    </a:lnTo>
                    <a:lnTo>
                      <a:pt x="591" y="142"/>
                    </a:lnTo>
                    <a:lnTo>
                      <a:pt x="591" y="147"/>
                    </a:lnTo>
                    <a:lnTo>
                      <a:pt x="593" y="151"/>
                    </a:lnTo>
                    <a:lnTo>
                      <a:pt x="593" y="156"/>
                    </a:lnTo>
                    <a:lnTo>
                      <a:pt x="594" y="159"/>
                    </a:lnTo>
                    <a:lnTo>
                      <a:pt x="594" y="164"/>
                    </a:lnTo>
                    <a:lnTo>
                      <a:pt x="596" y="168"/>
                    </a:lnTo>
                    <a:lnTo>
                      <a:pt x="570" y="168"/>
                    </a:lnTo>
                    <a:lnTo>
                      <a:pt x="565" y="156"/>
                    </a:lnTo>
                    <a:lnTo>
                      <a:pt x="561" y="159"/>
                    </a:lnTo>
                    <a:lnTo>
                      <a:pt x="560" y="163"/>
                    </a:lnTo>
                    <a:lnTo>
                      <a:pt x="556" y="166"/>
                    </a:lnTo>
                    <a:lnTo>
                      <a:pt x="551" y="168"/>
                    </a:lnTo>
                    <a:lnTo>
                      <a:pt x="548" y="168"/>
                    </a:lnTo>
                    <a:lnTo>
                      <a:pt x="544" y="168"/>
                    </a:lnTo>
                    <a:lnTo>
                      <a:pt x="539" y="168"/>
                    </a:lnTo>
                    <a:lnTo>
                      <a:pt x="536" y="168"/>
                    </a:lnTo>
                    <a:lnTo>
                      <a:pt x="529" y="168"/>
                    </a:lnTo>
                    <a:lnTo>
                      <a:pt x="522" y="166"/>
                    </a:lnTo>
                    <a:lnTo>
                      <a:pt x="517" y="164"/>
                    </a:lnTo>
                    <a:lnTo>
                      <a:pt x="511" y="161"/>
                    </a:lnTo>
                    <a:lnTo>
                      <a:pt x="506" y="156"/>
                    </a:lnTo>
                    <a:lnTo>
                      <a:pt x="504" y="151"/>
                    </a:lnTo>
                    <a:lnTo>
                      <a:pt x="501" y="144"/>
                    </a:lnTo>
                    <a:lnTo>
                      <a:pt x="501" y="135"/>
                    </a:lnTo>
                    <a:lnTo>
                      <a:pt x="501" y="130"/>
                    </a:lnTo>
                    <a:lnTo>
                      <a:pt x="503" y="126"/>
                    </a:lnTo>
                    <a:lnTo>
                      <a:pt x="504" y="121"/>
                    </a:lnTo>
                    <a:lnTo>
                      <a:pt x="506" y="118"/>
                    </a:lnTo>
                    <a:lnTo>
                      <a:pt x="508" y="113"/>
                    </a:lnTo>
                    <a:lnTo>
                      <a:pt x="510" y="109"/>
                    </a:lnTo>
                    <a:lnTo>
                      <a:pt x="513" y="107"/>
                    </a:lnTo>
                    <a:lnTo>
                      <a:pt x="517" y="106"/>
                    </a:lnTo>
                    <a:lnTo>
                      <a:pt x="520" y="104"/>
                    </a:lnTo>
                    <a:lnTo>
                      <a:pt x="525" y="101"/>
                    </a:lnTo>
                    <a:lnTo>
                      <a:pt x="532" y="99"/>
                    </a:lnTo>
                    <a:lnTo>
                      <a:pt x="539" y="97"/>
                    </a:lnTo>
                    <a:lnTo>
                      <a:pt x="548" y="95"/>
                    </a:lnTo>
                    <a:lnTo>
                      <a:pt x="555" y="92"/>
                    </a:lnTo>
                    <a:lnTo>
                      <a:pt x="560" y="90"/>
                    </a:lnTo>
                    <a:lnTo>
                      <a:pt x="561" y="88"/>
                    </a:lnTo>
                    <a:lnTo>
                      <a:pt x="561" y="83"/>
                    </a:lnTo>
                    <a:lnTo>
                      <a:pt x="561" y="80"/>
                    </a:lnTo>
                    <a:lnTo>
                      <a:pt x="561" y="78"/>
                    </a:lnTo>
                    <a:lnTo>
                      <a:pt x="561" y="75"/>
                    </a:lnTo>
                    <a:lnTo>
                      <a:pt x="561" y="75"/>
                    </a:lnTo>
                    <a:lnTo>
                      <a:pt x="560" y="73"/>
                    </a:lnTo>
                    <a:lnTo>
                      <a:pt x="560" y="73"/>
                    </a:lnTo>
                    <a:lnTo>
                      <a:pt x="558" y="71"/>
                    </a:lnTo>
                    <a:lnTo>
                      <a:pt x="555" y="69"/>
                    </a:lnTo>
                    <a:lnTo>
                      <a:pt x="553" y="69"/>
                    </a:lnTo>
                    <a:lnTo>
                      <a:pt x="549" y="68"/>
                    </a:lnTo>
                    <a:lnTo>
                      <a:pt x="546" y="68"/>
                    </a:lnTo>
                    <a:lnTo>
                      <a:pt x="544" y="68"/>
                    </a:lnTo>
                    <a:lnTo>
                      <a:pt x="541" y="69"/>
                    </a:lnTo>
                    <a:lnTo>
                      <a:pt x="539" y="71"/>
                    </a:lnTo>
                    <a:lnTo>
                      <a:pt x="537" y="73"/>
                    </a:lnTo>
                    <a:lnTo>
                      <a:pt x="536" y="75"/>
                    </a:lnTo>
                    <a:lnTo>
                      <a:pt x="534" y="76"/>
                    </a:lnTo>
                    <a:lnTo>
                      <a:pt x="532" y="80"/>
                    </a:lnTo>
                    <a:lnTo>
                      <a:pt x="530" y="85"/>
                    </a:lnTo>
                    <a:close/>
                    <a:moveTo>
                      <a:pt x="561" y="111"/>
                    </a:moveTo>
                    <a:lnTo>
                      <a:pt x="560" y="111"/>
                    </a:lnTo>
                    <a:lnTo>
                      <a:pt x="556" y="113"/>
                    </a:lnTo>
                    <a:lnTo>
                      <a:pt x="553" y="114"/>
                    </a:lnTo>
                    <a:lnTo>
                      <a:pt x="548" y="116"/>
                    </a:lnTo>
                    <a:lnTo>
                      <a:pt x="542" y="118"/>
                    </a:lnTo>
                    <a:lnTo>
                      <a:pt x="539" y="120"/>
                    </a:lnTo>
                    <a:lnTo>
                      <a:pt x="536" y="121"/>
                    </a:lnTo>
                    <a:lnTo>
                      <a:pt x="534" y="123"/>
                    </a:lnTo>
                    <a:lnTo>
                      <a:pt x="532" y="125"/>
                    </a:lnTo>
                    <a:lnTo>
                      <a:pt x="532" y="126"/>
                    </a:lnTo>
                    <a:lnTo>
                      <a:pt x="530" y="130"/>
                    </a:lnTo>
                    <a:lnTo>
                      <a:pt x="530" y="132"/>
                    </a:lnTo>
                    <a:lnTo>
                      <a:pt x="530" y="135"/>
                    </a:lnTo>
                    <a:lnTo>
                      <a:pt x="532" y="139"/>
                    </a:lnTo>
                    <a:lnTo>
                      <a:pt x="532" y="140"/>
                    </a:lnTo>
                    <a:lnTo>
                      <a:pt x="534" y="144"/>
                    </a:lnTo>
                    <a:lnTo>
                      <a:pt x="536" y="145"/>
                    </a:lnTo>
                    <a:lnTo>
                      <a:pt x="539" y="147"/>
                    </a:lnTo>
                    <a:lnTo>
                      <a:pt x="541" y="149"/>
                    </a:lnTo>
                    <a:lnTo>
                      <a:pt x="542" y="149"/>
                    </a:lnTo>
                    <a:lnTo>
                      <a:pt x="546" y="149"/>
                    </a:lnTo>
                    <a:lnTo>
                      <a:pt x="549" y="147"/>
                    </a:lnTo>
                    <a:lnTo>
                      <a:pt x="551" y="147"/>
                    </a:lnTo>
                    <a:lnTo>
                      <a:pt x="555" y="145"/>
                    </a:lnTo>
                    <a:lnTo>
                      <a:pt x="556" y="142"/>
                    </a:lnTo>
                    <a:lnTo>
                      <a:pt x="558" y="140"/>
                    </a:lnTo>
                    <a:lnTo>
                      <a:pt x="560" y="137"/>
                    </a:lnTo>
                    <a:lnTo>
                      <a:pt x="561" y="135"/>
                    </a:lnTo>
                    <a:lnTo>
                      <a:pt x="561" y="132"/>
                    </a:lnTo>
                    <a:lnTo>
                      <a:pt x="561" y="128"/>
                    </a:lnTo>
                    <a:lnTo>
                      <a:pt x="561" y="123"/>
                    </a:lnTo>
                    <a:lnTo>
                      <a:pt x="561" y="118"/>
                    </a:lnTo>
                    <a:lnTo>
                      <a:pt x="561" y="111"/>
                    </a:lnTo>
                    <a:close/>
                    <a:moveTo>
                      <a:pt x="662" y="47"/>
                    </a:moveTo>
                    <a:lnTo>
                      <a:pt x="662" y="73"/>
                    </a:lnTo>
                    <a:lnTo>
                      <a:pt x="643" y="73"/>
                    </a:lnTo>
                    <a:lnTo>
                      <a:pt x="643" y="121"/>
                    </a:lnTo>
                    <a:lnTo>
                      <a:pt x="643" y="128"/>
                    </a:lnTo>
                    <a:lnTo>
                      <a:pt x="643" y="133"/>
                    </a:lnTo>
                    <a:lnTo>
                      <a:pt x="643" y="139"/>
                    </a:lnTo>
                    <a:lnTo>
                      <a:pt x="643" y="140"/>
                    </a:lnTo>
                    <a:lnTo>
                      <a:pt x="644" y="142"/>
                    </a:lnTo>
                    <a:lnTo>
                      <a:pt x="646" y="144"/>
                    </a:lnTo>
                    <a:lnTo>
                      <a:pt x="649" y="145"/>
                    </a:lnTo>
                    <a:lnTo>
                      <a:pt x="651" y="145"/>
                    </a:lnTo>
                    <a:lnTo>
                      <a:pt x="653" y="145"/>
                    </a:lnTo>
                    <a:lnTo>
                      <a:pt x="655" y="144"/>
                    </a:lnTo>
                    <a:lnTo>
                      <a:pt x="658" y="144"/>
                    </a:lnTo>
                    <a:lnTo>
                      <a:pt x="662" y="142"/>
                    </a:lnTo>
                    <a:lnTo>
                      <a:pt x="665" y="168"/>
                    </a:lnTo>
                    <a:lnTo>
                      <a:pt x="660" y="168"/>
                    </a:lnTo>
                    <a:lnTo>
                      <a:pt x="655" y="168"/>
                    </a:lnTo>
                    <a:lnTo>
                      <a:pt x="649" y="168"/>
                    </a:lnTo>
                    <a:lnTo>
                      <a:pt x="643" y="168"/>
                    </a:lnTo>
                    <a:lnTo>
                      <a:pt x="637" y="168"/>
                    </a:lnTo>
                    <a:lnTo>
                      <a:pt x="634" y="168"/>
                    </a:lnTo>
                    <a:lnTo>
                      <a:pt x="630" y="168"/>
                    </a:lnTo>
                    <a:lnTo>
                      <a:pt x="627" y="168"/>
                    </a:lnTo>
                    <a:lnTo>
                      <a:pt x="624" y="164"/>
                    </a:lnTo>
                    <a:lnTo>
                      <a:pt x="620" y="161"/>
                    </a:lnTo>
                    <a:lnTo>
                      <a:pt x="618" y="156"/>
                    </a:lnTo>
                    <a:lnTo>
                      <a:pt x="617" y="152"/>
                    </a:lnTo>
                    <a:lnTo>
                      <a:pt x="617" y="149"/>
                    </a:lnTo>
                    <a:lnTo>
                      <a:pt x="617" y="142"/>
                    </a:lnTo>
                    <a:lnTo>
                      <a:pt x="615" y="135"/>
                    </a:lnTo>
                    <a:lnTo>
                      <a:pt x="615" y="126"/>
                    </a:lnTo>
                    <a:lnTo>
                      <a:pt x="615" y="73"/>
                    </a:lnTo>
                    <a:lnTo>
                      <a:pt x="603" y="73"/>
                    </a:lnTo>
                    <a:lnTo>
                      <a:pt x="603" y="47"/>
                    </a:lnTo>
                    <a:lnTo>
                      <a:pt x="615" y="47"/>
                    </a:lnTo>
                    <a:lnTo>
                      <a:pt x="615" y="21"/>
                    </a:lnTo>
                    <a:lnTo>
                      <a:pt x="643" y="4"/>
                    </a:lnTo>
                    <a:lnTo>
                      <a:pt x="643" y="47"/>
                    </a:lnTo>
                    <a:lnTo>
                      <a:pt x="662" y="47"/>
                    </a:lnTo>
                    <a:close/>
                    <a:moveTo>
                      <a:pt x="681" y="30"/>
                    </a:moveTo>
                    <a:lnTo>
                      <a:pt x="681" y="0"/>
                    </a:lnTo>
                    <a:lnTo>
                      <a:pt x="706" y="0"/>
                    </a:lnTo>
                    <a:lnTo>
                      <a:pt x="706" y="30"/>
                    </a:lnTo>
                    <a:lnTo>
                      <a:pt x="681" y="30"/>
                    </a:lnTo>
                    <a:close/>
                    <a:moveTo>
                      <a:pt x="681" y="168"/>
                    </a:moveTo>
                    <a:lnTo>
                      <a:pt x="681" y="47"/>
                    </a:lnTo>
                    <a:lnTo>
                      <a:pt x="706" y="47"/>
                    </a:lnTo>
                    <a:lnTo>
                      <a:pt x="706" y="168"/>
                    </a:lnTo>
                    <a:lnTo>
                      <a:pt x="681" y="168"/>
                    </a:lnTo>
                    <a:close/>
                    <a:moveTo>
                      <a:pt x="727" y="107"/>
                    </a:moveTo>
                    <a:lnTo>
                      <a:pt x="727" y="97"/>
                    </a:lnTo>
                    <a:lnTo>
                      <a:pt x="729" y="88"/>
                    </a:lnTo>
                    <a:lnTo>
                      <a:pt x="731" y="82"/>
                    </a:lnTo>
                    <a:lnTo>
                      <a:pt x="732" y="75"/>
                    </a:lnTo>
                    <a:lnTo>
                      <a:pt x="736" y="68"/>
                    </a:lnTo>
                    <a:lnTo>
                      <a:pt x="741" y="61"/>
                    </a:lnTo>
                    <a:lnTo>
                      <a:pt x="746" y="56"/>
                    </a:lnTo>
                    <a:lnTo>
                      <a:pt x="751" y="52"/>
                    </a:lnTo>
                    <a:lnTo>
                      <a:pt x="758" y="49"/>
                    </a:lnTo>
                    <a:lnTo>
                      <a:pt x="763" y="45"/>
                    </a:lnTo>
                    <a:lnTo>
                      <a:pt x="770" y="44"/>
                    </a:lnTo>
                    <a:lnTo>
                      <a:pt x="777" y="44"/>
                    </a:lnTo>
                    <a:lnTo>
                      <a:pt x="788" y="45"/>
                    </a:lnTo>
                    <a:lnTo>
                      <a:pt x="798" y="49"/>
                    </a:lnTo>
                    <a:lnTo>
                      <a:pt x="807" y="54"/>
                    </a:lnTo>
                    <a:lnTo>
                      <a:pt x="815" y="63"/>
                    </a:lnTo>
                    <a:lnTo>
                      <a:pt x="820" y="73"/>
                    </a:lnTo>
                    <a:lnTo>
                      <a:pt x="826" y="83"/>
                    </a:lnTo>
                    <a:lnTo>
                      <a:pt x="827" y="95"/>
                    </a:lnTo>
                    <a:lnTo>
                      <a:pt x="829" y="107"/>
                    </a:lnTo>
                    <a:lnTo>
                      <a:pt x="829" y="116"/>
                    </a:lnTo>
                    <a:lnTo>
                      <a:pt x="827" y="125"/>
                    </a:lnTo>
                    <a:lnTo>
                      <a:pt x="824" y="132"/>
                    </a:lnTo>
                    <a:lnTo>
                      <a:pt x="822" y="140"/>
                    </a:lnTo>
                    <a:lnTo>
                      <a:pt x="819" y="147"/>
                    </a:lnTo>
                    <a:lnTo>
                      <a:pt x="813" y="154"/>
                    </a:lnTo>
                    <a:lnTo>
                      <a:pt x="808" y="159"/>
                    </a:lnTo>
                    <a:lnTo>
                      <a:pt x="801" y="164"/>
                    </a:lnTo>
                    <a:lnTo>
                      <a:pt x="796" y="166"/>
                    </a:lnTo>
                    <a:lnTo>
                      <a:pt x="791" y="168"/>
                    </a:lnTo>
                    <a:lnTo>
                      <a:pt x="784" y="168"/>
                    </a:lnTo>
                    <a:lnTo>
                      <a:pt x="779" y="168"/>
                    </a:lnTo>
                    <a:lnTo>
                      <a:pt x="769" y="168"/>
                    </a:lnTo>
                    <a:lnTo>
                      <a:pt x="758" y="166"/>
                    </a:lnTo>
                    <a:lnTo>
                      <a:pt x="750" y="161"/>
                    </a:lnTo>
                    <a:lnTo>
                      <a:pt x="743" y="154"/>
                    </a:lnTo>
                    <a:lnTo>
                      <a:pt x="736" y="145"/>
                    </a:lnTo>
                    <a:lnTo>
                      <a:pt x="731" y="135"/>
                    </a:lnTo>
                    <a:lnTo>
                      <a:pt x="727" y="121"/>
                    </a:lnTo>
                    <a:lnTo>
                      <a:pt x="727" y="107"/>
                    </a:lnTo>
                    <a:close/>
                    <a:moveTo>
                      <a:pt x="753" y="107"/>
                    </a:moveTo>
                    <a:lnTo>
                      <a:pt x="753" y="116"/>
                    </a:lnTo>
                    <a:lnTo>
                      <a:pt x="755" y="123"/>
                    </a:lnTo>
                    <a:lnTo>
                      <a:pt x="758" y="130"/>
                    </a:lnTo>
                    <a:lnTo>
                      <a:pt x="762" y="135"/>
                    </a:lnTo>
                    <a:lnTo>
                      <a:pt x="765" y="140"/>
                    </a:lnTo>
                    <a:lnTo>
                      <a:pt x="769" y="142"/>
                    </a:lnTo>
                    <a:lnTo>
                      <a:pt x="774" y="145"/>
                    </a:lnTo>
                    <a:lnTo>
                      <a:pt x="779" y="145"/>
                    </a:lnTo>
                    <a:lnTo>
                      <a:pt x="782" y="145"/>
                    </a:lnTo>
                    <a:lnTo>
                      <a:pt x="786" y="142"/>
                    </a:lnTo>
                    <a:lnTo>
                      <a:pt x="791" y="140"/>
                    </a:lnTo>
                    <a:lnTo>
                      <a:pt x="794" y="135"/>
                    </a:lnTo>
                    <a:lnTo>
                      <a:pt x="798" y="130"/>
                    </a:lnTo>
                    <a:lnTo>
                      <a:pt x="800" y="123"/>
                    </a:lnTo>
                    <a:lnTo>
                      <a:pt x="801" y="116"/>
                    </a:lnTo>
                    <a:lnTo>
                      <a:pt x="801" y="107"/>
                    </a:lnTo>
                    <a:lnTo>
                      <a:pt x="801" y="99"/>
                    </a:lnTo>
                    <a:lnTo>
                      <a:pt x="800" y="92"/>
                    </a:lnTo>
                    <a:lnTo>
                      <a:pt x="798" y="85"/>
                    </a:lnTo>
                    <a:lnTo>
                      <a:pt x="794" y="80"/>
                    </a:lnTo>
                    <a:lnTo>
                      <a:pt x="791" y="76"/>
                    </a:lnTo>
                    <a:lnTo>
                      <a:pt x="786" y="73"/>
                    </a:lnTo>
                    <a:lnTo>
                      <a:pt x="781" y="71"/>
                    </a:lnTo>
                    <a:lnTo>
                      <a:pt x="777" y="71"/>
                    </a:lnTo>
                    <a:lnTo>
                      <a:pt x="774" y="71"/>
                    </a:lnTo>
                    <a:lnTo>
                      <a:pt x="769" y="73"/>
                    </a:lnTo>
                    <a:lnTo>
                      <a:pt x="765" y="76"/>
                    </a:lnTo>
                    <a:lnTo>
                      <a:pt x="762" y="78"/>
                    </a:lnTo>
                    <a:lnTo>
                      <a:pt x="758" y="85"/>
                    </a:lnTo>
                    <a:lnTo>
                      <a:pt x="755" y="92"/>
                    </a:lnTo>
                    <a:lnTo>
                      <a:pt x="753" y="99"/>
                    </a:lnTo>
                    <a:lnTo>
                      <a:pt x="753" y="107"/>
                    </a:lnTo>
                    <a:close/>
                    <a:moveTo>
                      <a:pt x="941" y="168"/>
                    </a:moveTo>
                    <a:lnTo>
                      <a:pt x="914" y="168"/>
                    </a:lnTo>
                    <a:lnTo>
                      <a:pt x="914" y="107"/>
                    </a:lnTo>
                    <a:lnTo>
                      <a:pt x="914" y="99"/>
                    </a:lnTo>
                    <a:lnTo>
                      <a:pt x="914" y="92"/>
                    </a:lnTo>
                    <a:lnTo>
                      <a:pt x="914" y="85"/>
                    </a:lnTo>
                    <a:lnTo>
                      <a:pt x="914" y="82"/>
                    </a:lnTo>
                    <a:lnTo>
                      <a:pt x="912" y="80"/>
                    </a:lnTo>
                    <a:lnTo>
                      <a:pt x="910" y="76"/>
                    </a:lnTo>
                    <a:lnTo>
                      <a:pt x="908" y="75"/>
                    </a:lnTo>
                    <a:lnTo>
                      <a:pt x="907" y="73"/>
                    </a:lnTo>
                    <a:lnTo>
                      <a:pt x="905" y="71"/>
                    </a:lnTo>
                    <a:lnTo>
                      <a:pt x="903" y="69"/>
                    </a:lnTo>
                    <a:lnTo>
                      <a:pt x="900" y="68"/>
                    </a:lnTo>
                    <a:lnTo>
                      <a:pt x="898" y="68"/>
                    </a:lnTo>
                    <a:lnTo>
                      <a:pt x="895" y="68"/>
                    </a:lnTo>
                    <a:lnTo>
                      <a:pt x="893" y="69"/>
                    </a:lnTo>
                    <a:lnTo>
                      <a:pt x="889" y="71"/>
                    </a:lnTo>
                    <a:lnTo>
                      <a:pt x="886" y="73"/>
                    </a:lnTo>
                    <a:lnTo>
                      <a:pt x="884" y="75"/>
                    </a:lnTo>
                    <a:lnTo>
                      <a:pt x="883" y="78"/>
                    </a:lnTo>
                    <a:lnTo>
                      <a:pt x="881" y="80"/>
                    </a:lnTo>
                    <a:lnTo>
                      <a:pt x="879" y="85"/>
                    </a:lnTo>
                    <a:lnTo>
                      <a:pt x="877" y="90"/>
                    </a:lnTo>
                    <a:lnTo>
                      <a:pt x="877" y="95"/>
                    </a:lnTo>
                    <a:lnTo>
                      <a:pt x="877" y="104"/>
                    </a:lnTo>
                    <a:lnTo>
                      <a:pt x="877" y="113"/>
                    </a:lnTo>
                    <a:lnTo>
                      <a:pt x="877" y="168"/>
                    </a:lnTo>
                    <a:lnTo>
                      <a:pt x="851" y="168"/>
                    </a:lnTo>
                    <a:lnTo>
                      <a:pt x="851" y="47"/>
                    </a:lnTo>
                    <a:lnTo>
                      <a:pt x="876" y="47"/>
                    </a:lnTo>
                    <a:lnTo>
                      <a:pt x="876" y="64"/>
                    </a:lnTo>
                    <a:lnTo>
                      <a:pt x="879" y="59"/>
                    </a:lnTo>
                    <a:lnTo>
                      <a:pt x="881" y="56"/>
                    </a:lnTo>
                    <a:lnTo>
                      <a:pt x="884" y="52"/>
                    </a:lnTo>
                    <a:lnTo>
                      <a:pt x="889" y="49"/>
                    </a:lnTo>
                    <a:lnTo>
                      <a:pt x="893" y="47"/>
                    </a:lnTo>
                    <a:lnTo>
                      <a:pt x="898" y="45"/>
                    </a:lnTo>
                    <a:lnTo>
                      <a:pt x="903" y="44"/>
                    </a:lnTo>
                    <a:lnTo>
                      <a:pt x="908" y="44"/>
                    </a:lnTo>
                    <a:lnTo>
                      <a:pt x="914" y="44"/>
                    </a:lnTo>
                    <a:lnTo>
                      <a:pt x="919" y="45"/>
                    </a:lnTo>
                    <a:lnTo>
                      <a:pt x="922" y="49"/>
                    </a:lnTo>
                    <a:lnTo>
                      <a:pt x="927" y="51"/>
                    </a:lnTo>
                    <a:lnTo>
                      <a:pt x="931" y="54"/>
                    </a:lnTo>
                    <a:lnTo>
                      <a:pt x="933" y="57"/>
                    </a:lnTo>
                    <a:lnTo>
                      <a:pt x="936" y="61"/>
                    </a:lnTo>
                    <a:lnTo>
                      <a:pt x="938" y="66"/>
                    </a:lnTo>
                    <a:lnTo>
                      <a:pt x="939" y="71"/>
                    </a:lnTo>
                    <a:lnTo>
                      <a:pt x="939" y="76"/>
                    </a:lnTo>
                    <a:lnTo>
                      <a:pt x="941" y="85"/>
                    </a:lnTo>
                    <a:lnTo>
                      <a:pt x="941" y="94"/>
                    </a:lnTo>
                    <a:lnTo>
                      <a:pt x="941" y="168"/>
                    </a:lnTo>
                    <a:close/>
                    <a:moveTo>
                      <a:pt x="1022" y="168"/>
                    </a:moveTo>
                    <a:lnTo>
                      <a:pt x="1022" y="0"/>
                    </a:lnTo>
                    <a:lnTo>
                      <a:pt x="1048" y="0"/>
                    </a:lnTo>
                    <a:lnTo>
                      <a:pt x="1048" y="140"/>
                    </a:lnTo>
                    <a:lnTo>
                      <a:pt x="1119" y="140"/>
                    </a:lnTo>
                    <a:lnTo>
                      <a:pt x="1119" y="168"/>
                    </a:lnTo>
                    <a:lnTo>
                      <a:pt x="1022" y="168"/>
                    </a:lnTo>
                    <a:close/>
                    <a:moveTo>
                      <a:pt x="1159" y="85"/>
                    </a:moveTo>
                    <a:lnTo>
                      <a:pt x="1135" y="78"/>
                    </a:lnTo>
                    <a:lnTo>
                      <a:pt x="1138" y="71"/>
                    </a:lnTo>
                    <a:lnTo>
                      <a:pt x="1140" y="63"/>
                    </a:lnTo>
                    <a:lnTo>
                      <a:pt x="1143" y="57"/>
                    </a:lnTo>
                    <a:lnTo>
                      <a:pt x="1148" y="52"/>
                    </a:lnTo>
                    <a:lnTo>
                      <a:pt x="1154" y="49"/>
                    </a:lnTo>
                    <a:lnTo>
                      <a:pt x="1160" y="45"/>
                    </a:lnTo>
                    <a:lnTo>
                      <a:pt x="1167" y="44"/>
                    </a:lnTo>
                    <a:lnTo>
                      <a:pt x="1176" y="44"/>
                    </a:lnTo>
                    <a:lnTo>
                      <a:pt x="1185" y="44"/>
                    </a:lnTo>
                    <a:lnTo>
                      <a:pt x="1192" y="45"/>
                    </a:lnTo>
                    <a:lnTo>
                      <a:pt x="1198" y="47"/>
                    </a:lnTo>
                    <a:lnTo>
                      <a:pt x="1204" y="49"/>
                    </a:lnTo>
                    <a:lnTo>
                      <a:pt x="1207" y="52"/>
                    </a:lnTo>
                    <a:lnTo>
                      <a:pt x="1211" y="54"/>
                    </a:lnTo>
                    <a:lnTo>
                      <a:pt x="1212" y="57"/>
                    </a:lnTo>
                    <a:lnTo>
                      <a:pt x="1214" y="61"/>
                    </a:lnTo>
                    <a:lnTo>
                      <a:pt x="1216" y="66"/>
                    </a:lnTo>
                    <a:lnTo>
                      <a:pt x="1217" y="73"/>
                    </a:lnTo>
                    <a:lnTo>
                      <a:pt x="1219" y="82"/>
                    </a:lnTo>
                    <a:lnTo>
                      <a:pt x="1219" y="92"/>
                    </a:lnTo>
                    <a:lnTo>
                      <a:pt x="1219" y="128"/>
                    </a:lnTo>
                    <a:lnTo>
                      <a:pt x="1219" y="135"/>
                    </a:lnTo>
                    <a:lnTo>
                      <a:pt x="1219" y="142"/>
                    </a:lnTo>
                    <a:lnTo>
                      <a:pt x="1219" y="147"/>
                    </a:lnTo>
                    <a:lnTo>
                      <a:pt x="1221" y="151"/>
                    </a:lnTo>
                    <a:lnTo>
                      <a:pt x="1221" y="156"/>
                    </a:lnTo>
                    <a:lnTo>
                      <a:pt x="1223" y="159"/>
                    </a:lnTo>
                    <a:lnTo>
                      <a:pt x="1223" y="164"/>
                    </a:lnTo>
                    <a:lnTo>
                      <a:pt x="1224" y="168"/>
                    </a:lnTo>
                    <a:lnTo>
                      <a:pt x="1198" y="168"/>
                    </a:lnTo>
                    <a:lnTo>
                      <a:pt x="1195" y="156"/>
                    </a:lnTo>
                    <a:lnTo>
                      <a:pt x="1192" y="159"/>
                    </a:lnTo>
                    <a:lnTo>
                      <a:pt x="1188" y="163"/>
                    </a:lnTo>
                    <a:lnTo>
                      <a:pt x="1185" y="166"/>
                    </a:lnTo>
                    <a:lnTo>
                      <a:pt x="1181" y="168"/>
                    </a:lnTo>
                    <a:lnTo>
                      <a:pt x="1178" y="168"/>
                    </a:lnTo>
                    <a:lnTo>
                      <a:pt x="1173" y="168"/>
                    </a:lnTo>
                    <a:lnTo>
                      <a:pt x="1169" y="168"/>
                    </a:lnTo>
                    <a:lnTo>
                      <a:pt x="1164" y="168"/>
                    </a:lnTo>
                    <a:lnTo>
                      <a:pt x="1157" y="168"/>
                    </a:lnTo>
                    <a:lnTo>
                      <a:pt x="1152" y="166"/>
                    </a:lnTo>
                    <a:lnTo>
                      <a:pt x="1147" y="164"/>
                    </a:lnTo>
                    <a:lnTo>
                      <a:pt x="1141" y="161"/>
                    </a:lnTo>
                    <a:lnTo>
                      <a:pt x="1138" y="156"/>
                    </a:lnTo>
                    <a:lnTo>
                      <a:pt x="1135" y="151"/>
                    </a:lnTo>
                    <a:lnTo>
                      <a:pt x="1133" y="144"/>
                    </a:lnTo>
                    <a:lnTo>
                      <a:pt x="1133" y="135"/>
                    </a:lnTo>
                    <a:lnTo>
                      <a:pt x="1133" y="130"/>
                    </a:lnTo>
                    <a:lnTo>
                      <a:pt x="1133" y="126"/>
                    </a:lnTo>
                    <a:lnTo>
                      <a:pt x="1135" y="121"/>
                    </a:lnTo>
                    <a:lnTo>
                      <a:pt x="1136" y="118"/>
                    </a:lnTo>
                    <a:lnTo>
                      <a:pt x="1138" y="113"/>
                    </a:lnTo>
                    <a:lnTo>
                      <a:pt x="1140" y="109"/>
                    </a:lnTo>
                    <a:lnTo>
                      <a:pt x="1143" y="107"/>
                    </a:lnTo>
                    <a:lnTo>
                      <a:pt x="1145" y="106"/>
                    </a:lnTo>
                    <a:lnTo>
                      <a:pt x="1148" y="104"/>
                    </a:lnTo>
                    <a:lnTo>
                      <a:pt x="1154" y="101"/>
                    </a:lnTo>
                    <a:lnTo>
                      <a:pt x="1160" y="99"/>
                    </a:lnTo>
                    <a:lnTo>
                      <a:pt x="1167" y="97"/>
                    </a:lnTo>
                    <a:lnTo>
                      <a:pt x="1176" y="95"/>
                    </a:lnTo>
                    <a:lnTo>
                      <a:pt x="1183" y="92"/>
                    </a:lnTo>
                    <a:lnTo>
                      <a:pt x="1188" y="90"/>
                    </a:lnTo>
                    <a:lnTo>
                      <a:pt x="1193" y="88"/>
                    </a:lnTo>
                    <a:lnTo>
                      <a:pt x="1193" y="83"/>
                    </a:lnTo>
                    <a:lnTo>
                      <a:pt x="1193" y="80"/>
                    </a:lnTo>
                    <a:lnTo>
                      <a:pt x="1193" y="78"/>
                    </a:lnTo>
                    <a:lnTo>
                      <a:pt x="1192" y="75"/>
                    </a:lnTo>
                    <a:lnTo>
                      <a:pt x="1192" y="75"/>
                    </a:lnTo>
                    <a:lnTo>
                      <a:pt x="1190" y="73"/>
                    </a:lnTo>
                    <a:lnTo>
                      <a:pt x="1188" y="73"/>
                    </a:lnTo>
                    <a:lnTo>
                      <a:pt x="1186" y="71"/>
                    </a:lnTo>
                    <a:lnTo>
                      <a:pt x="1185" y="69"/>
                    </a:lnTo>
                    <a:lnTo>
                      <a:pt x="1181" y="69"/>
                    </a:lnTo>
                    <a:lnTo>
                      <a:pt x="1179" y="68"/>
                    </a:lnTo>
                    <a:lnTo>
                      <a:pt x="1176" y="68"/>
                    </a:lnTo>
                    <a:lnTo>
                      <a:pt x="1173" y="68"/>
                    </a:lnTo>
                    <a:lnTo>
                      <a:pt x="1171" y="69"/>
                    </a:lnTo>
                    <a:lnTo>
                      <a:pt x="1167" y="71"/>
                    </a:lnTo>
                    <a:lnTo>
                      <a:pt x="1166" y="73"/>
                    </a:lnTo>
                    <a:lnTo>
                      <a:pt x="1164" y="75"/>
                    </a:lnTo>
                    <a:lnTo>
                      <a:pt x="1162" y="76"/>
                    </a:lnTo>
                    <a:lnTo>
                      <a:pt x="1160" y="80"/>
                    </a:lnTo>
                    <a:lnTo>
                      <a:pt x="1159" y="85"/>
                    </a:lnTo>
                    <a:close/>
                    <a:moveTo>
                      <a:pt x="1193" y="111"/>
                    </a:moveTo>
                    <a:lnTo>
                      <a:pt x="1190" y="111"/>
                    </a:lnTo>
                    <a:lnTo>
                      <a:pt x="1186" y="113"/>
                    </a:lnTo>
                    <a:lnTo>
                      <a:pt x="1181" y="114"/>
                    </a:lnTo>
                    <a:lnTo>
                      <a:pt x="1176" y="116"/>
                    </a:lnTo>
                    <a:lnTo>
                      <a:pt x="1173" y="118"/>
                    </a:lnTo>
                    <a:lnTo>
                      <a:pt x="1167" y="120"/>
                    </a:lnTo>
                    <a:lnTo>
                      <a:pt x="1164" y="121"/>
                    </a:lnTo>
                    <a:lnTo>
                      <a:pt x="1162" y="123"/>
                    </a:lnTo>
                    <a:lnTo>
                      <a:pt x="1160" y="125"/>
                    </a:lnTo>
                    <a:lnTo>
                      <a:pt x="1160" y="126"/>
                    </a:lnTo>
                    <a:lnTo>
                      <a:pt x="1159" y="130"/>
                    </a:lnTo>
                    <a:lnTo>
                      <a:pt x="1159" y="132"/>
                    </a:lnTo>
                    <a:lnTo>
                      <a:pt x="1159" y="135"/>
                    </a:lnTo>
                    <a:lnTo>
                      <a:pt x="1160" y="139"/>
                    </a:lnTo>
                    <a:lnTo>
                      <a:pt x="1160" y="140"/>
                    </a:lnTo>
                    <a:lnTo>
                      <a:pt x="1162" y="144"/>
                    </a:lnTo>
                    <a:lnTo>
                      <a:pt x="1166" y="145"/>
                    </a:lnTo>
                    <a:lnTo>
                      <a:pt x="1167" y="147"/>
                    </a:lnTo>
                    <a:lnTo>
                      <a:pt x="1171" y="149"/>
                    </a:lnTo>
                    <a:lnTo>
                      <a:pt x="1173" y="149"/>
                    </a:lnTo>
                    <a:lnTo>
                      <a:pt x="1176" y="149"/>
                    </a:lnTo>
                    <a:lnTo>
                      <a:pt x="1178" y="147"/>
                    </a:lnTo>
                    <a:lnTo>
                      <a:pt x="1181" y="147"/>
                    </a:lnTo>
                    <a:lnTo>
                      <a:pt x="1183" y="145"/>
                    </a:lnTo>
                    <a:lnTo>
                      <a:pt x="1185" y="142"/>
                    </a:lnTo>
                    <a:lnTo>
                      <a:pt x="1188" y="140"/>
                    </a:lnTo>
                    <a:lnTo>
                      <a:pt x="1190" y="137"/>
                    </a:lnTo>
                    <a:lnTo>
                      <a:pt x="1192" y="135"/>
                    </a:lnTo>
                    <a:lnTo>
                      <a:pt x="1193" y="132"/>
                    </a:lnTo>
                    <a:lnTo>
                      <a:pt x="1193" y="128"/>
                    </a:lnTo>
                    <a:lnTo>
                      <a:pt x="1193" y="123"/>
                    </a:lnTo>
                    <a:lnTo>
                      <a:pt x="1193" y="118"/>
                    </a:lnTo>
                    <a:lnTo>
                      <a:pt x="1193" y="111"/>
                    </a:lnTo>
                    <a:close/>
                    <a:moveTo>
                      <a:pt x="1233" y="47"/>
                    </a:moveTo>
                    <a:lnTo>
                      <a:pt x="1259" y="47"/>
                    </a:lnTo>
                    <a:lnTo>
                      <a:pt x="1283" y="133"/>
                    </a:lnTo>
                    <a:lnTo>
                      <a:pt x="1307" y="47"/>
                    </a:lnTo>
                    <a:lnTo>
                      <a:pt x="1333" y="47"/>
                    </a:lnTo>
                    <a:lnTo>
                      <a:pt x="1300" y="164"/>
                    </a:lnTo>
                    <a:lnTo>
                      <a:pt x="1293" y="185"/>
                    </a:lnTo>
                    <a:lnTo>
                      <a:pt x="1292" y="190"/>
                    </a:lnTo>
                    <a:lnTo>
                      <a:pt x="1288" y="195"/>
                    </a:lnTo>
                    <a:lnTo>
                      <a:pt x="1286" y="201"/>
                    </a:lnTo>
                    <a:lnTo>
                      <a:pt x="1283" y="204"/>
                    </a:lnTo>
                    <a:lnTo>
                      <a:pt x="1281" y="206"/>
                    </a:lnTo>
                    <a:lnTo>
                      <a:pt x="1280" y="208"/>
                    </a:lnTo>
                    <a:lnTo>
                      <a:pt x="1276" y="209"/>
                    </a:lnTo>
                    <a:lnTo>
                      <a:pt x="1273" y="211"/>
                    </a:lnTo>
                    <a:lnTo>
                      <a:pt x="1269" y="213"/>
                    </a:lnTo>
                    <a:lnTo>
                      <a:pt x="1266" y="214"/>
                    </a:lnTo>
                    <a:lnTo>
                      <a:pt x="1261" y="216"/>
                    </a:lnTo>
                    <a:lnTo>
                      <a:pt x="1255" y="216"/>
                    </a:lnTo>
                    <a:lnTo>
                      <a:pt x="1252" y="216"/>
                    </a:lnTo>
                    <a:lnTo>
                      <a:pt x="1249" y="214"/>
                    </a:lnTo>
                    <a:lnTo>
                      <a:pt x="1245" y="214"/>
                    </a:lnTo>
                    <a:lnTo>
                      <a:pt x="1242" y="213"/>
                    </a:lnTo>
                    <a:lnTo>
                      <a:pt x="1238" y="187"/>
                    </a:lnTo>
                    <a:lnTo>
                      <a:pt x="1242" y="189"/>
                    </a:lnTo>
                    <a:lnTo>
                      <a:pt x="1245" y="189"/>
                    </a:lnTo>
                    <a:lnTo>
                      <a:pt x="1247" y="189"/>
                    </a:lnTo>
                    <a:lnTo>
                      <a:pt x="1250" y="189"/>
                    </a:lnTo>
                    <a:lnTo>
                      <a:pt x="1254" y="189"/>
                    </a:lnTo>
                    <a:lnTo>
                      <a:pt x="1257" y="187"/>
                    </a:lnTo>
                    <a:lnTo>
                      <a:pt x="1259" y="187"/>
                    </a:lnTo>
                    <a:lnTo>
                      <a:pt x="1262" y="185"/>
                    </a:lnTo>
                    <a:lnTo>
                      <a:pt x="1264" y="182"/>
                    </a:lnTo>
                    <a:lnTo>
                      <a:pt x="1267" y="178"/>
                    </a:lnTo>
                    <a:lnTo>
                      <a:pt x="1269" y="173"/>
                    </a:lnTo>
                    <a:lnTo>
                      <a:pt x="1269" y="168"/>
                    </a:lnTo>
                    <a:lnTo>
                      <a:pt x="1233" y="47"/>
                    </a:lnTo>
                    <a:close/>
                    <a:moveTo>
                      <a:pt x="1411" y="130"/>
                    </a:moveTo>
                    <a:lnTo>
                      <a:pt x="1437" y="135"/>
                    </a:lnTo>
                    <a:lnTo>
                      <a:pt x="1433" y="144"/>
                    </a:lnTo>
                    <a:lnTo>
                      <a:pt x="1430" y="151"/>
                    </a:lnTo>
                    <a:lnTo>
                      <a:pt x="1425" y="157"/>
                    </a:lnTo>
                    <a:lnTo>
                      <a:pt x="1419" y="163"/>
                    </a:lnTo>
                    <a:lnTo>
                      <a:pt x="1414" y="166"/>
                    </a:lnTo>
                    <a:lnTo>
                      <a:pt x="1407" y="168"/>
                    </a:lnTo>
                    <a:lnTo>
                      <a:pt x="1400" y="168"/>
                    </a:lnTo>
                    <a:lnTo>
                      <a:pt x="1394" y="168"/>
                    </a:lnTo>
                    <a:lnTo>
                      <a:pt x="1383" y="168"/>
                    </a:lnTo>
                    <a:lnTo>
                      <a:pt x="1373" y="166"/>
                    </a:lnTo>
                    <a:lnTo>
                      <a:pt x="1366" y="163"/>
                    </a:lnTo>
                    <a:lnTo>
                      <a:pt x="1359" y="157"/>
                    </a:lnTo>
                    <a:lnTo>
                      <a:pt x="1352" y="147"/>
                    </a:lnTo>
                    <a:lnTo>
                      <a:pt x="1347" y="135"/>
                    </a:lnTo>
                    <a:lnTo>
                      <a:pt x="1345" y="123"/>
                    </a:lnTo>
                    <a:lnTo>
                      <a:pt x="1343" y="107"/>
                    </a:lnTo>
                    <a:lnTo>
                      <a:pt x="1345" y="94"/>
                    </a:lnTo>
                    <a:lnTo>
                      <a:pt x="1347" y="80"/>
                    </a:lnTo>
                    <a:lnTo>
                      <a:pt x="1352" y="69"/>
                    </a:lnTo>
                    <a:lnTo>
                      <a:pt x="1359" y="59"/>
                    </a:lnTo>
                    <a:lnTo>
                      <a:pt x="1364" y="52"/>
                    </a:lnTo>
                    <a:lnTo>
                      <a:pt x="1373" y="47"/>
                    </a:lnTo>
                    <a:lnTo>
                      <a:pt x="1380" y="45"/>
                    </a:lnTo>
                    <a:lnTo>
                      <a:pt x="1390" y="44"/>
                    </a:lnTo>
                    <a:lnTo>
                      <a:pt x="1400" y="45"/>
                    </a:lnTo>
                    <a:lnTo>
                      <a:pt x="1409" y="47"/>
                    </a:lnTo>
                    <a:lnTo>
                      <a:pt x="1416" y="52"/>
                    </a:lnTo>
                    <a:lnTo>
                      <a:pt x="1423" y="59"/>
                    </a:lnTo>
                    <a:lnTo>
                      <a:pt x="1430" y="69"/>
                    </a:lnTo>
                    <a:lnTo>
                      <a:pt x="1435" y="82"/>
                    </a:lnTo>
                    <a:lnTo>
                      <a:pt x="1437" y="95"/>
                    </a:lnTo>
                    <a:lnTo>
                      <a:pt x="1438" y="113"/>
                    </a:lnTo>
                    <a:lnTo>
                      <a:pt x="1438" y="116"/>
                    </a:lnTo>
                    <a:lnTo>
                      <a:pt x="1371" y="116"/>
                    </a:lnTo>
                    <a:lnTo>
                      <a:pt x="1371" y="123"/>
                    </a:lnTo>
                    <a:lnTo>
                      <a:pt x="1373" y="130"/>
                    </a:lnTo>
                    <a:lnTo>
                      <a:pt x="1375" y="135"/>
                    </a:lnTo>
                    <a:lnTo>
                      <a:pt x="1378" y="139"/>
                    </a:lnTo>
                    <a:lnTo>
                      <a:pt x="1381" y="142"/>
                    </a:lnTo>
                    <a:lnTo>
                      <a:pt x="1385" y="145"/>
                    </a:lnTo>
                    <a:lnTo>
                      <a:pt x="1388" y="147"/>
                    </a:lnTo>
                    <a:lnTo>
                      <a:pt x="1394" y="147"/>
                    </a:lnTo>
                    <a:lnTo>
                      <a:pt x="1399" y="145"/>
                    </a:lnTo>
                    <a:lnTo>
                      <a:pt x="1404" y="142"/>
                    </a:lnTo>
                    <a:lnTo>
                      <a:pt x="1407" y="137"/>
                    </a:lnTo>
                    <a:lnTo>
                      <a:pt x="1411" y="130"/>
                    </a:lnTo>
                    <a:close/>
                    <a:moveTo>
                      <a:pt x="1411" y="95"/>
                    </a:moveTo>
                    <a:lnTo>
                      <a:pt x="1411" y="90"/>
                    </a:lnTo>
                    <a:lnTo>
                      <a:pt x="1409" y="85"/>
                    </a:lnTo>
                    <a:lnTo>
                      <a:pt x="1407" y="80"/>
                    </a:lnTo>
                    <a:lnTo>
                      <a:pt x="1404" y="75"/>
                    </a:lnTo>
                    <a:lnTo>
                      <a:pt x="1400" y="73"/>
                    </a:lnTo>
                    <a:lnTo>
                      <a:pt x="1399" y="69"/>
                    </a:lnTo>
                    <a:lnTo>
                      <a:pt x="1395" y="68"/>
                    </a:lnTo>
                    <a:lnTo>
                      <a:pt x="1392" y="68"/>
                    </a:lnTo>
                    <a:lnTo>
                      <a:pt x="1387" y="68"/>
                    </a:lnTo>
                    <a:lnTo>
                      <a:pt x="1383" y="69"/>
                    </a:lnTo>
                    <a:lnTo>
                      <a:pt x="1381" y="73"/>
                    </a:lnTo>
                    <a:lnTo>
                      <a:pt x="1378" y="76"/>
                    </a:lnTo>
                    <a:lnTo>
                      <a:pt x="1375" y="80"/>
                    </a:lnTo>
                    <a:lnTo>
                      <a:pt x="1373" y="85"/>
                    </a:lnTo>
                    <a:lnTo>
                      <a:pt x="1373" y="90"/>
                    </a:lnTo>
                    <a:lnTo>
                      <a:pt x="1373" y="95"/>
                    </a:lnTo>
                    <a:lnTo>
                      <a:pt x="1411" y="95"/>
                    </a:lnTo>
                    <a:close/>
                    <a:moveTo>
                      <a:pt x="1483" y="168"/>
                    </a:moveTo>
                    <a:lnTo>
                      <a:pt x="1457" y="168"/>
                    </a:lnTo>
                    <a:lnTo>
                      <a:pt x="1457" y="47"/>
                    </a:lnTo>
                    <a:lnTo>
                      <a:pt x="1483" y="47"/>
                    </a:lnTo>
                    <a:lnTo>
                      <a:pt x="1483" y="64"/>
                    </a:lnTo>
                    <a:lnTo>
                      <a:pt x="1487" y="59"/>
                    </a:lnTo>
                    <a:lnTo>
                      <a:pt x="1488" y="54"/>
                    </a:lnTo>
                    <a:lnTo>
                      <a:pt x="1492" y="51"/>
                    </a:lnTo>
                    <a:lnTo>
                      <a:pt x="1494" y="47"/>
                    </a:lnTo>
                    <a:lnTo>
                      <a:pt x="1495" y="45"/>
                    </a:lnTo>
                    <a:lnTo>
                      <a:pt x="1499" y="45"/>
                    </a:lnTo>
                    <a:lnTo>
                      <a:pt x="1501" y="44"/>
                    </a:lnTo>
                    <a:lnTo>
                      <a:pt x="1504" y="44"/>
                    </a:lnTo>
                    <a:lnTo>
                      <a:pt x="1509" y="44"/>
                    </a:lnTo>
                    <a:lnTo>
                      <a:pt x="1514" y="45"/>
                    </a:lnTo>
                    <a:lnTo>
                      <a:pt x="1518" y="49"/>
                    </a:lnTo>
                    <a:lnTo>
                      <a:pt x="1523" y="51"/>
                    </a:lnTo>
                    <a:lnTo>
                      <a:pt x="1513" y="78"/>
                    </a:lnTo>
                    <a:lnTo>
                      <a:pt x="1509" y="76"/>
                    </a:lnTo>
                    <a:lnTo>
                      <a:pt x="1507" y="76"/>
                    </a:lnTo>
                    <a:lnTo>
                      <a:pt x="1504" y="75"/>
                    </a:lnTo>
                    <a:lnTo>
                      <a:pt x="1502" y="75"/>
                    </a:lnTo>
                    <a:lnTo>
                      <a:pt x="1499" y="75"/>
                    </a:lnTo>
                    <a:lnTo>
                      <a:pt x="1495" y="75"/>
                    </a:lnTo>
                    <a:lnTo>
                      <a:pt x="1494" y="76"/>
                    </a:lnTo>
                    <a:lnTo>
                      <a:pt x="1494" y="78"/>
                    </a:lnTo>
                    <a:lnTo>
                      <a:pt x="1492" y="80"/>
                    </a:lnTo>
                    <a:lnTo>
                      <a:pt x="1488" y="83"/>
                    </a:lnTo>
                    <a:lnTo>
                      <a:pt x="1487" y="88"/>
                    </a:lnTo>
                    <a:lnTo>
                      <a:pt x="1485" y="94"/>
                    </a:lnTo>
                    <a:lnTo>
                      <a:pt x="1485" y="99"/>
                    </a:lnTo>
                    <a:lnTo>
                      <a:pt x="1485" y="107"/>
                    </a:lnTo>
                    <a:lnTo>
                      <a:pt x="1483" y="118"/>
                    </a:lnTo>
                    <a:lnTo>
                      <a:pt x="1483" y="130"/>
                    </a:lnTo>
                    <a:lnTo>
                      <a:pt x="1483" y="168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5" name="Freeform 893"/>
              <p:cNvSpPr>
                <a:spLocks noEditPoints="1"/>
              </p:cNvSpPr>
              <p:nvPr/>
            </p:nvSpPr>
            <p:spPr bwMode="auto">
              <a:xfrm>
                <a:off x="1167" y="1973"/>
                <a:ext cx="647" cy="109"/>
              </a:xfrm>
              <a:custGeom>
                <a:avLst/>
                <a:gdLst>
                  <a:gd name="T0" fmla="*/ 81 w 1295"/>
                  <a:gd name="T1" fmla="*/ 129 h 217"/>
                  <a:gd name="T2" fmla="*/ 64 w 1295"/>
                  <a:gd name="T3" fmla="*/ 101 h 217"/>
                  <a:gd name="T4" fmla="*/ 5 w 1295"/>
                  <a:gd name="T5" fmla="*/ 56 h 217"/>
                  <a:gd name="T6" fmla="*/ 38 w 1295"/>
                  <a:gd name="T7" fmla="*/ 0 h 217"/>
                  <a:gd name="T8" fmla="*/ 80 w 1295"/>
                  <a:gd name="T9" fmla="*/ 46 h 217"/>
                  <a:gd name="T10" fmla="*/ 35 w 1295"/>
                  <a:gd name="T11" fmla="*/ 34 h 217"/>
                  <a:gd name="T12" fmla="*/ 71 w 1295"/>
                  <a:gd name="T13" fmla="*/ 69 h 217"/>
                  <a:gd name="T14" fmla="*/ 109 w 1295"/>
                  <a:gd name="T15" fmla="*/ 131 h 217"/>
                  <a:gd name="T16" fmla="*/ 9 w 1295"/>
                  <a:gd name="T17" fmla="*/ 148 h 217"/>
                  <a:gd name="T18" fmla="*/ 181 w 1295"/>
                  <a:gd name="T19" fmla="*/ 169 h 217"/>
                  <a:gd name="T20" fmla="*/ 133 w 1295"/>
                  <a:gd name="T21" fmla="*/ 70 h 217"/>
                  <a:gd name="T22" fmla="*/ 218 w 1295"/>
                  <a:gd name="T23" fmla="*/ 96 h 217"/>
                  <a:gd name="T24" fmla="*/ 180 w 1295"/>
                  <a:gd name="T25" fmla="*/ 144 h 217"/>
                  <a:gd name="T26" fmla="*/ 173 w 1295"/>
                  <a:gd name="T27" fmla="*/ 69 h 217"/>
                  <a:gd name="T28" fmla="*/ 261 w 1295"/>
                  <a:gd name="T29" fmla="*/ 139 h 217"/>
                  <a:gd name="T30" fmla="*/ 295 w 1295"/>
                  <a:gd name="T31" fmla="*/ 134 h 217"/>
                  <a:gd name="T32" fmla="*/ 238 w 1295"/>
                  <a:gd name="T33" fmla="*/ 103 h 217"/>
                  <a:gd name="T34" fmla="*/ 285 w 1295"/>
                  <a:gd name="T35" fmla="*/ 44 h 217"/>
                  <a:gd name="T36" fmla="*/ 275 w 1295"/>
                  <a:gd name="T37" fmla="*/ 67 h 217"/>
                  <a:gd name="T38" fmla="*/ 261 w 1295"/>
                  <a:gd name="T39" fmla="*/ 86 h 217"/>
                  <a:gd name="T40" fmla="*/ 323 w 1295"/>
                  <a:gd name="T41" fmla="*/ 131 h 217"/>
                  <a:gd name="T42" fmla="*/ 247 w 1295"/>
                  <a:gd name="T43" fmla="*/ 163 h 217"/>
                  <a:gd name="T44" fmla="*/ 392 w 1295"/>
                  <a:gd name="T45" fmla="*/ 148 h 217"/>
                  <a:gd name="T46" fmla="*/ 397 w 1295"/>
                  <a:gd name="T47" fmla="*/ 127 h 217"/>
                  <a:gd name="T48" fmla="*/ 344 w 1295"/>
                  <a:gd name="T49" fmla="*/ 67 h 217"/>
                  <a:gd name="T50" fmla="*/ 421 w 1295"/>
                  <a:gd name="T51" fmla="*/ 62 h 217"/>
                  <a:gd name="T52" fmla="*/ 366 w 1295"/>
                  <a:gd name="T53" fmla="*/ 72 h 217"/>
                  <a:gd name="T54" fmla="*/ 401 w 1295"/>
                  <a:gd name="T55" fmla="*/ 96 h 217"/>
                  <a:gd name="T56" fmla="*/ 411 w 1295"/>
                  <a:gd name="T57" fmla="*/ 163 h 217"/>
                  <a:gd name="T58" fmla="*/ 452 w 1295"/>
                  <a:gd name="T59" fmla="*/ 31 h 217"/>
                  <a:gd name="T60" fmla="*/ 501 w 1295"/>
                  <a:gd name="T61" fmla="*/ 89 h 217"/>
                  <a:gd name="T62" fmla="*/ 572 w 1295"/>
                  <a:gd name="T63" fmla="*/ 50 h 217"/>
                  <a:gd name="T64" fmla="*/ 587 w 1295"/>
                  <a:gd name="T65" fmla="*/ 155 h 217"/>
                  <a:gd name="T66" fmla="*/ 503 w 1295"/>
                  <a:gd name="T67" fmla="*/ 134 h 217"/>
                  <a:gd name="T68" fmla="*/ 554 w 1295"/>
                  <a:gd name="T69" fmla="*/ 146 h 217"/>
                  <a:gd name="T70" fmla="*/ 563 w 1295"/>
                  <a:gd name="T71" fmla="*/ 77 h 217"/>
                  <a:gd name="T72" fmla="*/ 713 w 1295"/>
                  <a:gd name="T73" fmla="*/ 167 h 217"/>
                  <a:gd name="T74" fmla="*/ 677 w 1295"/>
                  <a:gd name="T75" fmla="*/ 70 h 217"/>
                  <a:gd name="T76" fmla="*/ 651 w 1295"/>
                  <a:gd name="T77" fmla="*/ 96 h 217"/>
                  <a:gd name="T78" fmla="*/ 665 w 1295"/>
                  <a:gd name="T79" fmla="*/ 48 h 217"/>
                  <a:gd name="T80" fmla="*/ 711 w 1295"/>
                  <a:gd name="T81" fmla="*/ 72 h 217"/>
                  <a:gd name="T82" fmla="*/ 932 w 1295"/>
                  <a:gd name="T83" fmla="*/ 86 h 217"/>
                  <a:gd name="T84" fmla="*/ 970 w 1295"/>
                  <a:gd name="T85" fmla="*/ 48 h 217"/>
                  <a:gd name="T86" fmla="*/ 993 w 1295"/>
                  <a:gd name="T87" fmla="*/ 143 h 217"/>
                  <a:gd name="T88" fmla="*/ 953 w 1295"/>
                  <a:gd name="T89" fmla="*/ 167 h 217"/>
                  <a:gd name="T90" fmla="*/ 905 w 1295"/>
                  <a:gd name="T91" fmla="*/ 136 h 217"/>
                  <a:gd name="T92" fmla="*/ 941 w 1295"/>
                  <a:gd name="T93" fmla="*/ 96 h 217"/>
                  <a:gd name="T94" fmla="*/ 960 w 1295"/>
                  <a:gd name="T95" fmla="*/ 72 h 217"/>
                  <a:gd name="T96" fmla="*/ 932 w 1295"/>
                  <a:gd name="T97" fmla="*/ 86 h 217"/>
                  <a:gd name="T98" fmla="*/ 932 w 1295"/>
                  <a:gd name="T99" fmla="*/ 131 h 217"/>
                  <a:gd name="T100" fmla="*/ 953 w 1295"/>
                  <a:gd name="T101" fmla="*/ 148 h 217"/>
                  <a:gd name="T102" fmla="*/ 1032 w 1295"/>
                  <a:gd name="T103" fmla="*/ 46 h 217"/>
                  <a:gd name="T104" fmla="*/ 1050 w 1295"/>
                  <a:gd name="T105" fmla="*/ 210 h 217"/>
                  <a:gd name="T106" fmla="*/ 1017 w 1295"/>
                  <a:gd name="T107" fmla="*/ 188 h 217"/>
                  <a:gd name="T108" fmla="*/ 1183 w 1295"/>
                  <a:gd name="T109" fmla="*/ 131 h 217"/>
                  <a:gd name="T110" fmla="*/ 1139 w 1295"/>
                  <a:gd name="T111" fmla="*/ 163 h 217"/>
                  <a:gd name="T112" fmla="*/ 1153 w 1295"/>
                  <a:gd name="T113" fmla="*/ 46 h 217"/>
                  <a:gd name="T114" fmla="*/ 1143 w 1295"/>
                  <a:gd name="T115" fmla="*/ 124 h 217"/>
                  <a:gd name="T116" fmla="*/ 1183 w 1295"/>
                  <a:gd name="T117" fmla="*/ 96 h 217"/>
                  <a:gd name="T118" fmla="*/ 1152 w 1295"/>
                  <a:gd name="T119" fmla="*/ 77 h 217"/>
                  <a:gd name="T120" fmla="*/ 1260 w 1295"/>
                  <a:gd name="T121" fmla="*/ 55 h 217"/>
                  <a:gd name="T122" fmla="*/ 1283 w 1295"/>
                  <a:gd name="T123" fmla="*/ 77 h 217"/>
                  <a:gd name="T124" fmla="*/ 1259 w 1295"/>
                  <a:gd name="T125" fmla="*/ 10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295" h="217">
                    <a:moveTo>
                      <a:pt x="0" y="115"/>
                    </a:moveTo>
                    <a:lnTo>
                      <a:pt x="28" y="112"/>
                    </a:lnTo>
                    <a:lnTo>
                      <a:pt x="31" y="124"/>
                    </a:lnTo>
                    <a:lnTo>
                      <a:pt x="36" y="134"/>
                    </a:lnTo>
                    <a:lnTo>
                      <a:pt x="45" y="141"/>
                    </a:lnTo>
                    <a:lnTo>
                      <a:pt x="57" y="143"/>
                    </a:lnTo>
                    <a:lnTo>
                      <a:pt x="62" y="143"/>
                    </a:lnTo>
                    <a:lnTo>
                      <a:pt x="67" y="141"/>
                    </a:lnTo>
                    <a:lnTo>
                      <a:pt x="73" y="138"/>
                    </a:lnTo>
                    <a:lnTo>
                      <a:pt x="76" y="136"/>
                    </a:lnTo>
                    <a:lnTo>
                      <a:pt x="80" y="132"/>
                    </a:lnTo>
                    <a:lnTo>
                      <a:pt x="81" y="129"/>
                    </a:lnTo>
                    <a:lnTo>
                      <a:pt x="83" y="125"/>
                    </a:lnTo>
                    <a:lnTo>
                      <a:pt x="83" y="120"/>
                    </a:lnTo>
                    <a:lnTo>
                      <a:pt x="83" y="119"/>
                    </a:lnTo>
                    <a:lnTo>
                      <a:pt x="83" y="115"/>
                    </a:lnTo>
                    <a:lnTo>
                      <a:pt x="83" y="113"/>
                    </a:lnTo>
                    <a:lnTo>
                      <a:pt x="81" y="112"/>
                    </a:lnTo>
                    <a:lnTo>
                      <a:pt x="80" y="110"/>
                    </a:lnTo>
                    <a:lnTo>
                      <a:pt x="78" y="108"/>
                    </a:lnTo>
                    <a:lnTo>
                      <a:pt x="74" y="107"/>
                    </a:lnTo>
                    <a:lnTo>
                      <a:pt x="73" y="105"/>
                    </a:lnTo>
                    <a:lnTo>
                      <a:pt x="69" y="103"/>
                    </a:lnTo>
                    <a:lnTo>
                      <a:pt x="64" y="101"/>
                    </a:lnTo>
                    <a:lnTo>
                      <a:pt x="57" y="98"/>
                    </a:lnTo>
                    <a:lnTo>
                      <a:pt x="48" y="96"/>
                    </a:lnTo>
                    <a:lnTo>
                      <a:pt x="40" y="93"/>
                    </a:lnTo>
                    <a:lnTo>
                      <a:pt x="33" y="89"/>
                    </a:lnTo>
                    <a:lnTo>
                      <a:pt x="26" y="88"/>
                    </a:lnTo>
                    <a:lnTo>
                      <a:pt x="21" y="84"/>
                    </a:lnTo>
                    <a:lnTo>
                      <a:pt x="17" y="81"/>
                    </a:lnTo>
                    <a:lnTo>
                      <a:pt x="14" y="77"/>
                    </a:lnTo>
                    <a:lnTo>
                      <a:pt x="12" y="72"/>
                    </a:lnTo>
                    <a:lnTo>
                      <a:pt x="11" y="67"/>
                    </a:lnTo>
                    <a:lnTo>
                      <a:pt x="7" y="62"/>
                    </a:lnTo>
                    <a:lnTo>
                      <a:pt x="5" y="56"/>
                    </a:lnTo>
                    <a:lnTo>
                      <a:pt x="4" y="51"/>
                    </a:lnTo>
                    <a:lnTo>
                      <a:pt x="4" y="46"/>
                    </a:lnTo>
                    <a:lnTo>
                      <a:pt x="4" y="39"/>
                    </a:lnTo>
                    <a:lnTo>
                      <a:pt x="5" y="32"/>
                    </a:lnTo>
                    <a:lnTo>
                      <a:pt x="7" y="25"/>
                    </a:lnTo>
                    <a:lnTo>
                      <a:pt x="11" y="20"/>
                    </a:lnTo>
                    <a:lnTo>
                      <a:pt x="12" y="15"/>
                    </a:lnTo>
                    <a:lnTo>
                      <a:pt x="17" y="10"/>
                    </a:lnTo>
                    <a:lnTo>
                      <a:pt x="23" y="6"/>
                    </a:lnTo>
                    <a:lnTo>
                      <a:pt x="28" y="5"/>
                    </a:lnTo>
                    <a:lnTo>
                      <a:pt x="33" y="1"/>
                    </a:lnTo>
                    <a:lnTo>
                      <a:pt x="38" y="0"/>
                    </a:lnTo>
                    <a:lnTo>
                      <a:pt x="47" y="0"/>
                    </a:lnTo>
                    <a:lnTo>
                      <a:pt x="54" y="0"/>
                    </a:lnTo>
                    <a:lnTo>
                      <a:pt x="66" y="0"/>
                    </a:lnTo>
                    <a:lnTo>
                      <a:pt x="76" y="3"/>
                    </a:lnTo>
                    <a:lnTo>
                      <a:pt x="85" y="6"/>
                    </a:lnTo>
                    <a:lnTo>
                      <a:pt x="92" y="12"/>
                    </a:lnTo>
                    <a:lnTo>
                      <a:pt x="99" y="19"/>
                    </a:lnTo>
                    <a:lnTo>
                      <a:pt x="102" y="27"/>
                    </a:lnTo>
                    <a:lnTo>
                      <a:pt x="105" y="37"/>
                    </a:lnTo>
                    <a:lnTo>
                      <a:pt x="107" y="48"/>
                    </a:lnTo>
                    <a:lnTo>
                      <a:pt x="81" y="51"/>
                    </a:lnTo>
                    <a:lnTo>
                      <a:pt x="80" y="46"/>
                    </a:lnTo>
                    <a:lnTo>
                      <a:pt x="78" y="41"/>
                    </a:lnTo>
                    <a:lnTo>
                      <a:pt x="74" y="37"/>
                    </a:lnTo>
                    <a:lnTo>
                      <a:pt x="71" y="34"/>
                    </a:lnTo>
                    <a:lnTo>
                      <a:pt x="67" y="31"/>
                    </a:lnTo>
                    <a:lnTo>
                      <a:pt x="64" y="29"/>
                    </a:lnTo>
                    <a:lnTo>
                      <a:pt x="59" y="27"/>
                    </a:lnTo>
                    <a:lnTo>
                      <a:pt x="54" y="27"/>
                    </a:lnTo>
                    <a:lnTo>
                      <a:pt x="48" y="27"/>
                    </a:lnTo>
                    <a:lnTo>
                      <a:pt x="45" y="29"/>
                    </a:lnTo>
                    <a:lnTo>
                      <a:pt x="40" y="31"/>
                    </a:lnTo>
                    <a:lnTo>
                      <a:pt x="38" y="32"/>
                    </a:lnTo>
                    <a:lnTo>
                      <a:pt x="35" y="34"/>
                    </a:lnTo>
                    <a:lnTo>
                      <a:pt x="33" y="37"/>
                    </a:lnTo>
                    <a:lnTo>
                      <a:pt x="31" y="39"/>
                    </a:lnTo>
                    <a:lnTo>
                      <a:pt x="31" y="43"/>
                    </a:lnTo>
                    <a:lnTo>
                      <a:pt x="31" y="46"/>
                    </a:lnTo>
                    <a:lnTo>
                      <a:pt x="31" y="48"/>
                    </a:lnTo>
                    <a:lnTo>
                      <a:pt x="33" y="51"/>
                    </a:lnTo>
                    <a:lnTo>
                      <a:pt x="36" y="55"/>
                    </a:lnTo>
                    <a:lnTo>
                      <a:pt x="40" y="56"/>
                    </a:lnTo>
                    <a:lnTo>
                      <a:pt x="45" y="58"/>
                    </a:lnTo>
                    <a:lnTo>
                      <a:pt x="52" y="62"/>
                    </a:lnTo>
                    <a:lnTo>
                      <a:pt x="61" y="65"/>
                    </a:lnTo>
                    <a:lnTo>
                      <a:pt x="71" y="69"/>
                    </a:lnTo>
                    <a:lnTo>
                      <a:pt x="78" y="70"/>
                    </a:lnTo>
                    <a:lnTo>
                      <a:pt x="85" y="74"/>
                    </a:lnTo>
                    <a:lnTo>
                      <a:pt x="90" y="77"/>
                    </a:lnTo>
                    <a:lnTo>
                      <a:pt x="95" y="81"/>
                    </a:lnTo>
                    <a:lnTo>
                      <a:pt x="100" y="86"/>
                    </a:lnTo>
                    <a:lnTo>
                      <a:pt x="102" y="89"/>
                    </a:lnTo>
                    <a:lnTo>
                      <a:pt x="105" y="94"/>
                    </a:lnTo>
                    <a:lnTo>
                      <a:pt x="107" y="100"/>
                    </a:lnTo>
                    <a:lnTo>
                      <a:pt x="109" y="107"/>
                    </a:lnTo>
                    <a:lnTo>
                      <a:pt x="111" y="113"/>
                    </a:lnTo>
                    <a:lnTo>
                      <a:pt x="111" y="120"/>
                    </a:lnTo>
                    <a:lnTo>
                      <a:pt x="109" y="131"/>
                    </a:lnTo>
                    <a:lnTo>
                      <a:pt x="107" y="139"/>
                    </a:lnTo>
                    <a:lnTo>
                      <a:pt x="104" y="148"/>
                    </a:lnTo>
                    <a:lnTo>
                      <a:pt x="99" y="157"/>
                    </a:lnTo>
                    <a:lnTo>
                      <a:pt x="90" y="163"/>
                    </a:lnTo>
                    <a:lnTo>
                      <a:pt x="80" y="167"/>
                    </a:lnTo>
                    <a:lnTo>
                      <a:pt x="69" y="169"/>
                    </a:lnTo>
                    <a:lnTo>
                      <a:pt x="55" y="169"/>
                    </a:lnTo>
                    <a:lnTo>
                      <a:pt x="43" y="169"/>
                    </a:lnTo>
                    <a:lnTo>
                      <a:pt x="33" y="165"/>
                    </a:lnTo>
                    <a:lnTo>
                      <a:pt x="23" y="162"/>
                    </a:lnTo>
                    <a:lnTo>
                      <a:pt x="16" y="157"/>
                    </a:lnTo>
                    <a:lnTo>
                      <a:pt x="9" y="148"/>
                    </a:lnTo>
                    <a:lnTo>
                      <a:pt x="5" y="139"/>
                    </a:lnTo>
                    <a:lnTo>
                      <a:pt x="2" y="129"/>
                    </a:lnTo>
                    <a:lnTo>
                      <a:pt x="0" y="115"/>
                    </a:lnTo>
                    <a:close/>
                    <a:moveTo>
                      <a:pt x="192" y="131"/>
                    </a:moveTo>
                    <a:lnTo>
                      <a:pt x="218" y="136"/>
                    </a:lnTo>
                    <a:lnTo>
                      <a:pt x="214" y="144"/>
                    </a:lnTo>
                    <a:lnTo>
                      <a:pt x="211" y="151"/>
                    </a:lnTo>
                    <a:lnTo>
                      <a:pt x="206" y="158"/>
                    </a:lnTo>
                    <a:lnTo>
                      <a:pt x="200" y="163"/>
                    </a:lnTo>
                    <a:lnTo>
                      <a:pt x="195" y="165"/>
                    </a:lnTo>
                    <a:lnTo>
                      <a:pt x="188" y="167"/>
                    </a:lnTo>
                    <a:lnTo>
                      <a:pt x="181" y="169"/>
                    </a:lnTo>
                    <a:lnTo>
                      <a:pt x="175" y="169"/>
                    </a:lnTo>
                    <a:lnTo>
                      <a:pt x="164" y="169"/>
                    </a:lnTo>
                    <a:lnTo>
                      <a:pt x="156" y="167"/>
                    </a:lnTo>
                    <a:lnTo>
                      <a:pt x="147" y="163"/>
                    </a:lnTo>
                    <a:lnTo>
                      <a:pt x="140" y="157"/>
                    </a:lnTo>
                    <a:lnTo>
                      <a:pt x="133" y="148"/>
                    </a:lnTo>
                    <a:lnTo>
                      <a:pt x="130" y="136"/>
                    </a:lnTo>
                    <a:lnTo>
                      <a:pt x="126" y="124"/>
                    </a:lnTo>
                    <a:lnTo>
                      <a:pt x="124" y="108"/>
                    </a:lnTo>
                    <a:lnTo>
                      <a:pt x="126" y="94"/>
                    </a:lnTo>
                    <a:lnTo>
                      <a:pt x="130" y="81"/>
                    </a:lnTo>
                    <a:lnTo>
                      <a:pt x="133" y="70"/>
                    </a:lnTo>
                    <a:lnTo>
                      <a:pt x="140" y="60"/>
                    </a:lnTo>
                    <a:lnTo>
                      <a:pt x="147" y="53"/>
                    </a:lnTo>
                    <a:lnTo>
                      <a:pt x="154" y="48"/>
                    </a:lnTo>
                    <a:lnTo>
                      <a:pt x="162" y="46"/>
                    </a:lnTo>
                    <a:lnTo>
                      <a:pt x="171" y="44"/>
                    </a:lnTo>
                    <a:lnTo>
                      <a:pt x="181" y="46"/>
                    </a:lnTo>
                    <a:lnTo>
                      <a:pt x="190" y="48"/>
                    </a:lnTo>
                    <a:lnTo>
                      <a:pt x="197" y="53"/>
                    </a:lnTo>
                    <a:lnTo>
                      <a:pt x="204" y="60"/>
                    </a:lnTo>
                    <a:lnTo>
                      <a:pt x="211" y="70"/>
                    </a:lnTo>
                    <a:lnTo>
                      <a:pt x="216" y="82"/>
                    </a:lnTo>
                    <a:lnTo>
                      <a:pt x="218" y="96"/>
                    </a:lnTo>
                    <a:lnTo>
                      <a:pt x="219" y="113"/>
                    </a:lnTo>
                    <a:lnTo>
                      <a:pt x="219" y="117"/>
                    </a:lnTo>
                    <a:lnTo>
                      <a:pt x="152" y="117"/>
                    </a:lnTo>
                    <a:lnTo>
                      <a:pt x="152" y="124"/>
                    </a:lnTo>
                    <a:lnTo>
                      <a:pt x="154" y="131"/>
                    </a:lnTo>
                    <a:lnTo>
                      <a:pt x="157" y="136"/>
                    </a:lnTo>
                    <a:lnTo>
                      <a:pt x="161" y="139"/>
                    </a:lnTo>
                    <a:lnTo>
                      <a:pt x="162" y="143"/>
                    </a:lnTo>
                    <a:lnTo>
                      <a:pt x="166" y="144"/>
                    </a:lnTo>
                    <a:lnTo>
                      <a:pt x="171" y="146"/>
                    </a:lnTo>
                    <a:lnTo>
                      <a:pt x="175" y="146"/>
                    </a:lnTo>
                    <a:lnTo>
                      <a:pt x="180" y="144"/>
                    </a:lnTo>
                    <a:lnTo>
                      <a:pt x="185" y="143"/>
                    </a:lnTo>
                    <a:lnTo>
                      <a:pt x="190" y="138"/>
                    </a:lnTo>
                    <a:lnTo>
                      <a:pt x="192" y="131"/>
                    </a:lnTo>
                    <a:close/>
                    <a:moveTo>
                      <a:pt x="192" y="96"/>
                    </a:moveTo>
                    <a:lnTo>
                      <a:pt x="192" y="89"/>
                    </a:lnTo>
                    <a:lnTo>
                      <a:pt x="190" y="84"/>
                    </a:lnTo>
                    <a:lnTo>
                      <a:pt x="188" y="79"/>
                    </a:lnTo>
                    <a:lnTo>
                      <a:pt x="187" y="75"/>
                    </a:lnTo>
                    <a:lnTo>
                      <a:pt x="183" y="74"/>
                    </a:lnTo>
                    <a:lnTo>
                      <a:pt x="180" y="70"/>
                    </a:lnTo>
                    <a:lnTo>
                      <a:pt x="178" y="69"/>
                    </a:lnTo>
                    <a:lnTo>
                      <a:pt x="173" y="69"/>
                    </a:lnTo>
                    <a:lnTo>
                      <a:pt x="169" y="69"/>
                    </a:lnTo>
                    <a:lnTo>
                      <a:pt x="164" y="70"/>
                    </a:lnTo>
                    <a:lnTo>
                      <a:pt x="162" y="74"/>
                    </a:lnTo>
                    <a:lnTo>
                      <a:pt x="161" y="77"/>
                    </a:lnTo>
                    <a:lnTo>
                      <a:pt x="157" y="81"/>
                    </a:lnTo>
                    <a:lnTo>
                      <a:pt x="156" y="84"/>
                    </a:lnTo>
                    <a:lnTo>
                      <a:pt x="154" y="89"/>
                    </a:lnTo>
                    <a:lnTo>
                      <a:pt x="154" y="96"/>
                    </a:lnTo>
                    <a:lnTo>
                      <a:pt x="192" y="96"/>
                    </a:lnTo>
                    <a:close/>
                    <a:moveTo>
                      <a:pt x="231" y="134"/>
                    </a:moveTo>
                    <a:lnTo>
                      <a:pt x="257" y="131"/>
                    </a:lnTo>
                    <a:lnTo>
                      <a:pt x="261" y="139"/>
                    </a:lnTo>
                    <a:lnTo>
                      <a:pt x="264" y="144"/>
                    </a:lnTo>
                    <a:lnTo>
                      <a:pt x="269" y="148"/>
                    </a:lnTo>
                    <a:lnTo>
                      <a:pt x="278" y="150"/>
                    </a:lnTo>
                    <a:lnTo>
                      <a:pt x="282" y="150"/>
                    </a:lnTo>
                    <a:lnTo>
                      <a:pt x="285" y="148"/>
                    </a:lnTo>
                    <a:lnTo>
                      <a:pt x="288" y="148"/>
                    </a:lnTo>
                    <a:lnTo>
                      <a:pt x="290" y="146"/>
                    </a:lnTo>
                    <a:lnTo>
                      <a:pt x="292" y="143"/>
                    </a:lnTo>
                    <a:lnTo>
                      <a:pt x="294" y="141"/>
                    </a:lnTo>
                    <a:lnTo>
                      <a:pt x="295" y="138"/>
                    </a:lnTo>
                    <a:lnTo>
                      <a:pt x="295" y="136"/>
                    </a:lnTo>
                    <a:lnTo>
                      <a:pt x="295" y="134"/>
                    </a:lnTo>
                    <a:lnTo>
                      <a:pt x="294" y="132"/>
                    </a:lnTo>
                    <a:lnTo>
                      <a:pt x="294" y="131"/>
                    </a:lnTo>
                    <a:lnTo>
                      <a:pt x="292" y="129"/>
                    </a:lnTo>
                    <a:lnTo>
                      <a:pt x="290" y="127"/>
                    </a:lnTo>
                    <a:lnTo>
                      <a:pt x="290" y="127"/>
                    </a:lnTo>
                    <a:lnTo>
                      <a:pt x="288" y="127"/>
                    </a:lnTo>
                    <a:lnTo>
                      <a:pt x="287" y="127"/>
                    </a:lnTo>
                    <a:lnTo>
                      <a:pt x="271" y="122"/>
                    </a:lnTo>
                    <a:lnTo>
                      <a:pt x="259" y="117"/>
                    </a:lnTo>
                    <a:lnTo>
                      <a:pt x="250" y="112"/>
                    </a:lnTo>
                    <a:lnTo>
                      <a:pt x="244" y="108"/>
                    </a:lnTo>
                    <a:lnTo>
                      <a:pt x="238" y="103"/>
                    </a:lnTo>
                    <a:lnTo>
                      <a:pt x="237" y="98"/>
                    </a:lnTo>
                    <a:lnTo>
                      <a:pt x="233" y="91"/>
                    </a:lnTo>
                    <a:lnTo>
                      <a:pt x="233" y="82"/>
                    </a:lnTo>
                    <a:lnTo>
                      <a:pt x="233" y="74"/>
                    </a:lnTo>
                    <a:lnTo>
                      <a:pt x="237" y="67"/>
                    </a:lnTo>
                    <a:lnTo>
                      <a:pt x="238" y="62"/>
                    </a:lnTo>
                    <a:lnTo>
                      <a:pt x="244" y="56"/>
                    </a:lnTo>
                    <a:lnTo>
                      <a:pt x="249" y="51"/>
                    </a:lnTo>
                    <a:lnTo>
                      <a:pt x="257" y="48"/>
                    </a:lnTo>
                    <a:lnTo>
                      <a:pt x="264" y="44"/>
                    </a:lnTo>
                    <a:lnTo>
                      <a:pt x="275" y="44"/>
                    </a:lnTo>
                    <a:lnTo>
                      <a:pt x="285" y="44"/>
                    </a:lnTo>
                    <a:lnTo>
                      <a:pt x="294" y="46"/>
                    </a:lnTo>
                    <a:lnTo>
                      <a:pt x="301" y="50"/>
                    </a:lnTo>
                    <a:lnTo>
                      <a:pt x="306" y="53"/>
                    </a:lnTo>
                    <a:lnTo>
                      <a:pt x="309" y="56"/>
                    </a:lnTo>
                    <a:lnTo>
                      <a:pt x="314" y="62"/>
                    </a:lnTo>
                    <a:lnTo>
                      <a:pt x="318" y="69"/>
                    </a:lnTo>
                    <a:lnTo>
                      <a:pt x="321" y="77"/>
                    </a:lnTo>
                    <a:lnTo>
                      <a:pt x="295" y="82"/>
                    </a:lnTo>
                    <a:lnTo>
                      <a:pt x="292" y="75"/>
                    </a:lnTo>
                    <a:lnTo>
                      <a:pt x="288" y="72"/>
                    </a:lnTo>
                    <a:lnTo>
                      <a:pt x="283" y="69"/>
                    </a:lnTo>
                    <a:lnTo>
                      <a:pt x="275" y="67"/>
                    </a:lnTo>
                    <a:lnTo>
                      <a:pt x="271" y="67"/>
                    </a:lnTo>
                    <a:lnTo>
                      <a:pt x="268" y="69"/>
                    </a:lnTo>
                    <a:lnTo>
                      <a:pt x="264" y="69"/>
                    </a:lnTo>
                    <a:lnTo>
                      <a:pt x="261" y="70"/>
                    </a:lnTo>
                    <a:lnTo>
                      <a:pt x="259" y="72"/>
                    </a:lnTo>
                    <a:lnTo>
                      <a:pt x="259" y="74"/>
                    </a:lnTo>
                    <a:lnTo>
                      <a:pt x="257" y="75"/>
                    </a:lnTo>
                    <a:lnTo>
                      <a:pt x="257" y="77"/>
                    </a:lnTo>
                    <a:lnTo>
                      <a:pt x="257" y="79"/>
                    </a:lnTo>
                    <a:lnTo>
                      <a:pt x="259" y="81"/>
                    </a:lnTo>
                    <a:lnTo>
                      <a:pt x="259" y="84"/>
                    </a:lnTo>
                    <a:lnTo>
                      <a:pt x="261" y="86"/>
                    </a:lnTo>
                    <a:lnTo>
                      <a:pt x="263" y="88"/>
                    </a:lnTo>
                    <a:lnTo>
                      <a:pt x="268" y="89"/>
                    </a:lnTo>
                    <a:lnTo>
                      <a:pt x="276" y="91"/>
                    </a:lnTo>
                    <a:lnTo>
                      <a:pt x="285" y="94"/>
                    </a:lnTo>
                    <a:lnTo>
                      <a:pt x="295" y="96"/>
                    </a:lnTo>
                    <a:lnTo>
                      <a:pt x="304" y="100"/>
                    </a:lnTo>
                    <a:lnTo>
                      <a:pt x="311" y="103"/>
                    </a:lnTo>
                    <a:lnTo>
                      <a:pt x="314" y="107"/>
                    </a:lnTo>
                    <a:lnTo>
                      <a:pt x="318" y="112"/>
                    </a:lnTo>
                    <a:lnTo>
                      <a:pt x="321" y="119"/>
                    </a:lnTo>
                    <a:lnTo>
                      <a:pt x="323" y="124"/>
                    </a:lnTo>
                    <a:lnTo>
                      <a:pt x="323" y="131"/>
                    </a:lnTo>
                    <a:lnTo>
                      <a:pt x="323" y="139"/>
                    </a:lnTo>
                    <a:lnTo>
                      <a:pt x="320" y="148"/>
                    </a:lnTo>
                    <a:lnTo>
                      <a:pt x="316" y="155"/>
                    </a:lnTo>
                    <a:lnTo>
                      <a:pt x="311" y="160"/>
                    </a:lnTo>
                    <a:lnTo>
                      <a:pt x="304" y="163"/>
                    </a:lnTo>
                    <a:lnTo>
                      <a:pt x="295" y="167"/>
                    </a:lnTo>
                    <a:lnTo>
                      <a:pt x="287" y="169"/>
                    </a:lnTo>
                    <a:lnTo>
                      <a:pt x="278" y="169"/>
                    </a:lnTo>
                    <a:lnTo>
                      <a:pt x="268" y="169"/>
                    </a:lnTo>
                    <a:lnTo>
                      <a:pt x="259" y="167"/>
                    </a:lnTo>
                    <a:lnTo>
                      <a:pt x="252" y="165"/>
                    </a:lnTo>
                    <a:lnTo>
                      <a:pt x="247" y="163"/>
                    </a:lnTo>
                    <a:lnTo>
                      <a:pt x="242" y="158"/>
                    </a:lnTo>
                    <a:lnTo>
                      <a:pt x="237" y="151"/>
                    </a:lnTo>
                    <a:lnTo>
                      <a:pt x="233" y="143"/>
                    </a:lnTo>
                    <a:lnTo>
                      <a:pt x="231" y="134"/>
                    </a:lnTo>
                    <a:close/>
                    <a:moveTo>
                      <a:pt x="337" y="134"/>
                    </a:moveTo>
                    <a:lnTo>
                      <a:pt x="364" y="131"/>
                    </a:lnTo>
                    <a:lnTo>
                      <a:pt x="366" y="139"/>
                    </a:lnTo>
                    <a:lnTo>
                      <a:pt x="370" y="144"/>
                    </a:lnTo>
                    <a:lnTo>
                      <a:pt x="375" y="148"/>
                    </a:lnTo>
                    <a:lnTo>
                      <a:pt x="383" y="150"/>
                    </a:lnTo>
                    <a:lnTo>
                      <a:pt x="389" y="150"/>
                    </a:lnTo>
                    <a:lnTo>
                      <a:pt x="392" y="148"/>
                    </a:lnTo>
                    <a:lnTo>
                      <a:pt x="394" y="148"/>
                    </a:lnTo>
                    <a:lnTo>
                      <a:pt x="397" y="146"/>
                    </a:lnTo>
                    <a:lnTo>
                      <a:pt x="399" y="143"/>
                    </a:lnTo>
                    <a:lnTo>
                      <a:pt x="401" y="141"/>
                    </a:lnTo>
                    <a:lnTo>
                      <a:pt x="402" y="138"/>
                    </a:lnTo>
                    <a:lnTo>
                      <a:pt x="402" y="136"/>
                    </a:lnTo>
                    <a:lnTo>
                      <a:pt x="402" y="134"/>
                    </a:lnTo>
                    <a:lnTo>
                      <a:pt x="402" y="132"/>
                    </a:lnTo>
                    <a:lnTo>
                      <a:pt x="401" y="131"/>
                    </a:lnTo>
                    <a:lnTo>
                      <a:pt x="401" y="129"/>
                    </a:lnTo>
                    <a:lnTo>
                      <a:pt x="399" y="127"/>
                    </a:lnTo>
                    <a:lnTo>
                      <a:pt x="397" y="127"/>
                    </a:lnTo>
                    <a:lnTo>
                      <a:pt x="395" y="127"/>
                    </a:lnTo>
                    <a:lnTo>
                      <a:pt x="392" y="127"/>
                    </a:lnTo>
                    <a:lnTo>
                      <a:pt x="378" y="122"/>
                    </a:lnTo>
                    <a:lnTo>
                      <a:pt x="366" y="117"/>
                    </a:lnTo>
                    <a:lnTo>
                      <a:pt x="356" y="112"/>
                    </a:lnTo>
                    <a:lnTo>
                      <a:pt x="351" y="108"/>
                    </a:lnTo>
                    <a:lnTo>
                      <a:pt x="345" y="103"/>
                    </a:lnTo>
                    <a:lnTo>
                      <a:pt x="344" y="98"/>
                    </a:lnTo>
                    <a:lnTo>
                      <a:pt x="340" y="91"/>
                    </a:lnTo>
                    <a:lnTo>
                      <a:pt x="340" y="82"/>
                    </a:lnTo>
                    <a:lnTo>
                      <a:pt x="340" y="74"/>
                    </a:lnTo>
                    <a:lnTo>
                      <a:pt x="344" y="67"/>
                    </a:lnTo>
                    <a:lnTo>
                      <a:pt x="345" y="62"/>
                    </a:lnTo>
                    <a:lnTo>
                      <a:pt x="351" y="56"/>
                    </a:lnTo>
                    <a:lnTo>
                      <a:pt x="356" y="51"/>
                    </a:lnTo>
                    <a:lnTo>
                      <a:pt x="364" y="48"/>
                    </a:lnTo>
                    <a:lnTo>
                      <a:pt x="371" y="44"/>
                    </a:lnTo>
                    <a:lnTo>
                      <a:pt x="382" y="44"/>
                    </a:lnTo>
                    <a:lnTo>
                      <a:pt x="390" y="44"/>
                    </a:lnTo>
                    <a:lnTo>
                      <a:pt x="399" y="46"/>
                    </a:lnTo>
                    <a:lnTo>
                      <a:pt x="406" y="50"/>
                    </a:lnTo>
                    <a:lnTo>
                      <a:pt x="411" y="53"/>
                    </a:lnTo>
                    <a:lnTo>
                      <a:pt x="416" y="56"/>
                    </a:lnTo>
                    <a:lnTo>
                      <a:pt x="421" y="62"/>
                    </a:lnTo>
                    <a:lnTo>
                      <a:pt x="423" y="69"/>
                    </a:lnTo>
                    <a:lnTo>
                      <a:pt x="427" y="77"/>
                    </a:lnTo>
                    <a:lnTo>
                      <a:pt x="402" y="82"/>
                    </a:lnTo>
                    <a:lnTo>
                      <a:pt x="401" y="75"/>
                    </a:lnTo>
                    <a:lnTo>
                      <a:pt x="395" y="72"/>
                    </a:lnTo>
                    <a:lnTo>
                      <a:pt x="389" y="69"/>
                    </a:lnTo>
                    <a:lnTo>
                      <a:pt x="382" y="67"/>
                    </a:lnTo>
                    <a:lnTo>
                      <a:pt x="378" y="67"/>
                    </a:lnTo>
                    <a:lnTo>
                      <a:pt x="375" y="69"/>
                    </a:lnTo>
                    <a:lnTo>
                      <a:pt x="371" y="69"/>
                    </a:lnTo>
                    <a:lnTo>
                      <a:pt x="368" y="70"/>
                    </a:lnTo>
                    <a:lnTo>
                      <a:pt x="366" y="72"/>
                    </a:lnTo>
                    <a:lnTo>
                      <a:pt x="366" y="74"/>
                    </a:lnTo>
                    <a:lnTo>
                      <a:pt x="364" y="75"/>
                    </a:lnTo>
                    <a:lnTo>
                      <a:pt x="364" y="77"/>
                    </a:lnTo>
                    <a:lnTo>
                      <a:pt x="364" y="79"/>
                    </a:lnTo>
                    <a:lnTo>
                      <a:pt x="366" y="81"/>
                    </a:lnTo>
                    <a:lnTo>
                      <a:pt x="366" y="84"/>
                    </a:lnTo>
                    <a:lnTo>
                      <a:pt x="368" y="86"/>
                    </a:lnTo>
                    <a:lnTo>
                      <a:pt x="370" y="88"/>
                    </a:lnTo>
                    <a:lnTo>
                      <a:pt x="375" y="89"/>
                    </a:lnTo>
                    <a:lnTo>
                      <a:pt x="382" y="91"/>
                    </a:lnTo>
                    <a:lnTo>
                      <a:pt x="390" y="94"/>
                    </a:lnTo>
                    <a:lnTo>
                      <a:pt x="401" y="96"/>
                    </a:lnTo>
                    <a:lnTo>
                      <a:pt x="409" y="100"/>
                    </a:lnTo>
                    <a:lnTo>
                      <a:pt x="416" y="103"/>
                    </a:lnTo>
                    <a:lnTo>
                      <a:pt x="421" y="107"/>
                    </a:lnTo>
                    <a:lnTo>
                      <a:pt x="425" y="112"/>
                    </a:lnTo>
                    <a:lnTo>
                      <a:pt x="428" y="119"/>
                    </a:lnTo>
                    <a:lnTo>
                      <a:pt x="430" y="124"/>
                    </a:lnTo>
                    <a:lnTo>
                      <a:pt x="430" y="131"/>
                    </a:lnTo>
                    <a:lnTo>
                      <a:pt x="428" y="139"/>
                    </a:lnTo>
                    <a:lnTo>
                      <a:pt x="427" y="148"/>
                    </a:lnTo>
                    <a:lnTo>
                      <a:pt x="423" y="155"/>
                    </a:lnTo>
                    <a:lnTo>
                      <a:pt x="418" y="160"/>
                    </a:lnTo>
                    <a:lnTo>
                      <a:pt x="411" y="163"/>
                    </a:lnTo>
                    <a:lnTo>
                      <a:pt x="404" y="167"/>
                    </a:lnTo>
                    <a:lnTo>
                      <a:pt x="394" y="169"/>
                    </a:lnTo>
                    <a:lnTo>
                      <a:pt x="383" y="169"/>
                    </a:lnTo>
                    <a:lnTo>
                      <a:pt x="375" y="169"/>
                    </a:lnTo>
                    <a:lnTo>
                      <a:pt x="366" y="167"/>
                    </a:lnTo>
                    <a:lnTo>
                      <a:pt x="359" y="165"/>
                    </a:lnTo>
                    <a:lnTo>
                      <a:pt x="352" y="163"/>
                    </a:lnTo>
                    <a:lnTo>
                      <a:pt x="347" y="158"/>
                    </a:lnTo>
                    <a:lnTo>
                      <a:pt x="344" y="151"/>
                    </a:lnTo>
                    <a:lnTo>
                      <a:pt x="340" y="143"/>
                    </a:lnTo>
                    <a:lnTo>
                      <a:pt x="337" y="134"/>
                    </a:lnTo>
                    <a:close/>
                    <a:moveTo>
                      <a:pt x="452" y="31"/>
                    </a:moveTo>
                    <a:lnTo>
                      <a:pt x="452" y="1"/>
                    </a:lnTo>
                    <a:lnTo>
                      <a:pt x="478" y="1"/>
                    </a:lnTo>
                    <a:lnTo>
                      <a:pt x="478" y="31"/>
                    </a:lnTo>
                    <a:lnTo>
                      <a:pt x="452" y="31"/>
                    </a:lnTo>
                    <a:close/>
                    <a:moveTo>
                      <a:pt x="452" y="167"/>
                    </a:moveTo>
                    <a:lnTo>
                      <a:pt x="452" y="46"/>
                    </a:lnTo>
                    <a:lnTo>
                      <a:pt x="478" y="46"/>
                    </a:lnTo>
                    <a:lnTo>
                      <a:pt x="478" y="167"/>
                    </a:lnTo>
                    <a:lnTo>
                      <a:pt x="452" y="167"/>
                    </a:lnTo>
                    <a:close/>
                    <a:moveTo>
                      <a:pt x="499" y="107"/>
                    </a:moveTo>
                    <a:lnTo>
                      <a:pt x="499" y="98"/>
                    </a:lnTo>
                    <a:lnTo>
                      <a:pt x="501" y="89"/>
                    </a:lnTo>
                    <a:lnTo>
                      <a:pt x="503" y="82"/>
                    </a:lnTo>
                    <a:lnTo>
                      <a:pt x="506" y="75"/>
                    </a:lnTo>
                    <a:lnTo>
                      <a:pt x="509" y="69"/>
                    </a:lnTo>
                    <a:lnTo>
                      <a:pt x="515" y="62"/>
                    </a:lnTo>
                    <a:lnTo>
                      <a:pt x="520" y="56"/>
                    </a:lnTo>
                    <a:lnTo>
                      <a:pt x="525" y="53"/>
                    </a:lnTo>
                    <a:lnTo>
                      <a:pt x="530" y="50"/>
                    </a:lnTo>
                    <a:lnTo>
                      <a:pt x="537" y="46"/>
                    </a:lnTo>
                    <a:lnTo>
                      <a:pt x="544" y="44"/>
                    </a:lnTo>
                    <a:lnTo>
                      <a:pt x="551" y="44"/>
                    </a:lnTo>
                    <a:lnTo>
                      <a:pt x="561" y="46"/>
                    </a:lnTo>
                    <a:lnTo>
                      <a:pt x="572" y="50"/>
                    </a:lnTo>
                    <a:lnTo>
                      <a:pt x="580" y="55"/>
                    </a:lnTo>
                    <a:lnTo>
                      <a:pt x="589" y="63"/>
                    </a:lnTo>
                    <a:lnTo>
                      <a:pt x="594" y="74"/>
                    </a:lnTo>
                    <a:lnTo>
                      <a:pt x="597" y="84"/>
                    </a:lnTo>
                    <a:lnTo>
                      <a:pt x="601" y="94"/>
                    </a:lnTo>
                    <a:lnTo>
                      <a:pt x="601" y="107"/>
                    </a:lnTo>
                    <a:lnTo>
                      <a:pt x="601" y="117"/>
                    </a:lnTo>
                    <a:lnTo>
                      <a:pt x="599" y="125"/>
                    </a:lnTo>
                    <a:lnTo>
                      <a:pt x="597" y="132"/>
                    </a:lnTo>
                    <a:lnTo>
                      <a:pt x="594" y="141"/>
                    </a:lnTo>
                    <a:lnTo>
                      <a:pt x="591" y="148"/>
                    </a:lnTo>
                    <a:lnTo>
                      <a:pt x="587" y="155"/>
                    </a:lnTo>
                    <a:lnTo>
                      <a:pt x="582" y="160"/>
                    </a:lnTo>
                    <a:lnTo>
                      <a:pt x="575" y="165"/>
                    </a:lnTo>
                    <a:lnTo>
                      <a:pt x="570" y="167"/>
                    </a:lnTo>
                    <a:lnTo>
                      <a:pt x="565" y="167"/>
                    </a:lnTo>
                    <a:lnTo>
                      <a:pt x="558" y="169"/>
                    </a:lnTo>
                    <a:lnTo>
                      <a:pt x="551" y="169"/>
                    </a:lnTo>
                    <a:lnTo>
                      <a:pt x="540" y="169"/>
                    </a:lnTo>
                    <a:lnTo>
                      <a:pt x="530" y="167"/>
                    </a:lnTo>
                    <a:lnTo>
                      <a:pt x="521" y="162"/>
                    </a:lnTo>
                    <a:lnTo>
                      <a:pt x="515" y="155"/>
                    </a:lnTo>
                    <a:lnTo>
                      <a:pt x="508" y="146"/>
                    </a:lnTo>
                    <a:lnTo>
                      <a:pt x="503" y="134"/>
                    </a:lnTo>
                    <a:lnTo>
                      <a:pt x="499" y="122"/>
                    </a:lnTo>
                    <a:lnTo>
                      <a:pt x="499" y="107"/>
                    </a:lnTo>
                    <a:close/>
                    <a:moveTo>
                      <a:pt x="527" y="108"/>
                    </a:moveTo>
                    <a:lnTo>
                      <a:pt x="527" y="117"/>
                    </a:lnTo>
                    <a:lnTo>
                      <a:pt x="528" y="124"/>
                    </a:lnTo>
                    <a:lnTo>
                      <a:pt x="532" y="131"/>
                    </a:lnTo>
                    <a:lnTo>
                      <a:pt x="534" y="136"/>
                    </a:lnTo>
                    <a:lnTo>
                      <a:pt x="537" y="141"/>
                    </a:lnTo>
                    <a:lnTo>
                      <a:pt x="542" y="143"/>
                    </a:lnTo>
                    <a:lnTo>
                      <a:pt x="546" y="146"/>
                    </a:lnTo>
                    <a:lnTo>
                      <a:pt x="551" y="146"/>
                    </a:lnTo>
                    <a:lnTo>
                      <a:pt x="554" y="146"/>
                    </a:lnTo>
                    <a:lnTo>
                      <a:pt x="559" y="143"/>
                    </a:lnTo>
                    <a:lnTo>
                      <a:pt x="563" y="141"/>
                    </a:lnTo>
                    <a:lnTo>
                      <a:pt x="568" y="136"/>
                    </a:lnTo>
                    <a:lnTo>
                      <a:pt x="570" y="131"/>
                    </a:lnTo>
                    <a:lnTo>
                      <a:pt x="572" y="124"/>
                    </a:lnTo>
                    <a:lnTo>
                      <a:pt x="573" y="117"/>
                    </a:lnTo>
                    <a:lnTo>
                      <a:pt x="573" y="108"/>
                    </a:lnTo>
                    <a:lnTo>
                      <a:pt x="573" y="100"/>
                    </a:lnTo>
                    <a:lnTo>
                      <a:pt x="572" y="93"/>
                    </a:lnTo>
                    <a:lnTo>
                      <a:pt x="570" y="86"/>
                    </a:lnTo>
                    <a:lnTo>
                      <a:pt x="568" y="81"/>
                    </a:lnTo>
                    <a:lnTo>
                      <a:pt x="563" y="77"/>
                    </a:lnTo>
                    <a:lnTo>
                      <a:pt x="559" y="74"/>
                    </a:lnTo>
                    <a:lnTo>
                      <a:pt x="554" y="72"/>
                    </a:lnTo>
                    <a:lnTo>
                      <a:pt x="551" y="72"/>
                    </a:lnTo>
                    <a:lnTo>
                      <a:pt x="546" y="72"/>
                    </a:lnTo>
                    <a:lnTo>
                      <a:pt x="542" y="74"/>
                    </a:lnTo>
                    <a:lnTo>
                      <a:pt x="537" y="77"/>
                    </a:lnTo>
                    <a:lnTo>
                      <a:pt x="534" y="79"/>
                    </a:lnTo>
                    <a:lnTo>
                      <a:pt x="532" y="86"/>
                    </a:lnTo>
                    <a:lnTo>
                      <a:pt x="528" y="93"/>
                    </a:lnTo>
                    <a:lnTo>
                      <a:pt x="527" y="100"/>
                    </a:lnTo>
                    <a:lnTo>
                      <a:pt x="527" y="108"/>
                    </a:lnTo>
                    <a:close/>
                    <a:moveTo>
                      <a:pt x="713" y="167"/>
                    </a:moveTo>
                    <a:lnTo>
                      <a:pt x="687" y="167"/>
                    </a:lnTo>
                    <a:lnTo>
                      <a:pt x="687" y="107"/>
                    </a:lnTo>
                    <a:lnTo>
                      <a:pt x="687" y="98"/>
                    </a:lnTo>
                    <a:lnTo>
                      <a:pt x="687" y="91"/>
                    </a:lnTo>
                    <a:lnTo>
                      <a:pt x="685" y="86"/>
                    </a:lnTo>
                    <a:lnTo>
                      <a:pt x="685" y="82"/>
                    </a:lnTo>
                    <a:lnTo>
                      <a:pt x="684" y="79"/>
                    </a:lnTo>
                    <a:lnTo>
                      <a:pt x="684" y="77"/>
                    </a:lnTo>
                    <a:lnTo>
                      <a:pt x="682" y="75"/>
                    </a:lnTo>
                    <a:lnTo>
                      <a:pt x="680" y="74"/>
                    </a:lnTo>
                    <a:lnTo>
                      <a:pt x="679" y="72"/>
                    </a:lnTo>
                    <a:lnTo>
                      <a:pt x="677" y="70"/>
                    </a:lnTo>
                    <a:lnTo>
                      <a:pt x="673" y="69"/>
                    </a:lnTo>
                    <a:lnTo>
                      <a:pt x="672" y="69"/>
                    </a:lnTo>
                    <a:lnTo>
                      <a:pt x="668" y="69"/>
                    </a:lnTo>
                    <a:lnTo>
                      <a:pt x="665" y="70"/>
                    </a:lnTo>
                    <a:lnTo>
                      <a:pt x="663" y="72"/>
                    </a:lnTo>
                    <a:lnTo>
                      <a:pt x="660" y="74"/>
                    </a:lnTo>
                    <a:lnTo>
                      <a:pt x="658" y="75"/>
                    </a:lnTo>
                    <a:lnTo>
                      <a:pt x="654" y="79"/>
                    </a:lnTo>
                    <a:lnTo>
                      <a:pt x="653" y="81"/>
                    </a:lnTo>
                    <a:lnTo>
                      <a:pt x="651" y="86"/>
                    </a:lnTo>
                    <a:lnTo>
                      <a:pt x="651" y="91"/>
                    </a:lnTo>
                    <a:lnTo>
                      <a:pt x="651" y="96"/>
                    </a:lnTo>
                    <a:lnTo>
                      <a:pt x="649" y="105"/>
                    </a:lnTo>
                    <a:lnTo>
                      <a:pt x="649" y="113"/>
                    </a:lnTo>
                    <a:lnTo>
                      <a:pt x="649" y="167"/>
                    </a:lnTo>
                    <a:lnTo>
                      <a:pt x="623" y="167"/>
                    </a:lnTo>
                    <a:lnTo>
                      <a:pt x="623" y="46"/>
                    </a:lnTo>
                    <a:lnTo>
                      <a:pt x="648" y="46"/>
                    </a:lnTo>
                    <a:lnTo>
                      <a:pt x="648" y="65"/>
                    </a:lnTo>
                    <a:lnTo>
                      <a:pt x="651" y="60"/>
                    </a:lnTo>
                    <a:lnTo>
                      <a:pt x="654" y="56"/>
                    </a:lnTo>
                    <a:lnTo>
                      <a:pt x="658" y="53"/>
                    </a:lnTo>
                    <a:lnTo>
                      <a:pt x="661" y="50"/>
                    </a:lnTo>
                    <a:lnTo>
                      <a:pt x="665" y="48"/>
                    </a:lnTo>
                    <a:lnTo>
                      <a:pt x="670" y="46"/>
                    </a:lnTo>
                    <a:lnTo>
                      <a:pt x="675" y="44"/>
                    </a:lnTo>
                    <a:lnTo>
                      <a:pt x="682" y="44"/>
                    </a:lnTo>
                    <a:lnTo>
                      <a:pt x="685" y="44"/>
                    </a:lnTo>
                    <a:lnTo>
                      <a:pt x="691" y="46"/>
                    </a:lnTo>
                    <a:lnTo>
                      <a:pt x="696" y="48"/>
                    </a:lnTo>
                    <a:lnTo>
                      <a:pt x="701" y="51"/>
                    </a:lnTo>
                    <a:lnTo>
                      <a:pt x="704" y="55"/>
                    </a:lnTo>
                    <a:lnTo>
                      <a:pt x="706" y="58"/>
                    </a:lnTo>
                    <a:lnTo>
                      <a:pt x="710" y="62"/>
                    </a:lnTo>
                    <a:lnTo>
                      <a:pt x="711" y="67"/>
                    </a:lnTo>
                    <a:lnTo>
                      <a:pt x="711" y="72"/>
                    </a:lnTo>
                    <a:lnTo>
                      <a:pt x="713" y="77"/>
                    </a:lnTo>
                    <a:lnTo>
                      <a:pt x="713" y="86"/>
                    </a:lnTo>
                    <a:lnTo>
                      <a:pt x="713" y="94"/>
                    </a:lnTo>
                    <a:lnTo>
                      <a:pt x="713" y="167"/>
                    </a:lnTo>
                    <a:close/>
                    <a:moveTo>
                      <a:pt x="794" y="167"/>
                    </a:moveTo>
                    <a:lnTo>
                      <a:pt x="794" y="1"/>
                    </a:lnTo>
                    <a:lnTo>
                      <a:pt x="822" y="1"/>
                    </a:lnTo>
                    <a:lnTo>
                      <a:pt x="822" y="141"/>
                    </a:lnTo>
                    <a:lnTo>
                      <a:pt x="891" y="141"/>
                    </a:lnTo>
                    <a:lnTo>
                      <a:pt x="891" y="167"/>
                    </a:lnTo>
                    <a:lnTo>
                      <a:pt x="794" y="167"/>
                    </a:lnTo>
                    <a:close/>
                    <a:moveTo>
                      <a:pt x="932" y="86"/>
                    </a:moveTo>
                    <a:lnTo>
                      <a:pt x="908" y="79"/>
                    </a:lnTo>
                    <a:lnTo>
                      <a:pt x="910" y="70"/>
                    </a:lnTo>
                    <a:lnTo>
                      <a:pt x="913" y="63"/>
                    </a:lnTo>
                    <a:lnTo>
                      <a:pt x="917" y="56"/>
                    </a:lnTo>
                    <a:lnTo>
                      <a:pt x="922" y="53"/>
                    </a:lnTo>
                    <a:lnTo>
                      <a:pt x="927" y="50"/>
                    </a:lnTo>
                    <a:lnTo>
                      <a:pt x="934" y="46"/>
                    </a:lnTo>
                    <a:lnTo>
                      <a:pt x="941" y="44"/>
                    </a:lnTo>
                    <a:lnTo>
                      <a:pt x="950" y="44"/>
                    </a:lnTo>
                    <a:lnTo>
                      <a:pt x="958" y="44"/>
                    </a:lnTo>
                    <a:lnTo>
                      <a:pt x="965" y="46"/>
                    </a:lnTo>
                    <a:lnTo>
                      <a:pt x="970" y="48"/>
                    </a:lnTo>
                    <a:lnTo>
                      <a:pt x="976" y="50"/>
                    </a:lnTo>
                    <a:lnTo>
                      <a:pt x="981" y="53"/>
                    </a:lnTo>
                    <a:lnTo>
                      <a:pt x="982" y="55"/>
                    </a:lnTo>
                    <a:lnTo>
                      <a:pt x="986" y="58"/>
                    </a:lnTo>
                    <a:lnTo>
                      <a:pt x="988" y="62"/>
                    </a:lnTo>
                    <a:lnTo>
                      <a:pt x="989" y="67"/>
                    </a:lnTo>
                    <a:lnTo>
                      <a:pt x="991" y="74"/>
                    </a:lnTo>
                    <a:lnTo>
                      <a:pt x="993" y="82"/>
                    </a:lnTo>
                    <a:lnTo>
                      <a:pt x="993" y="93"/>
                    </a:lnTo>
                    <a:lnTo>
                      <a:pt x="993" y="129"/>
                    </a:lnTo>
                    <a:lnTo>
                      <a:pt x="993" y="136"/>
                    </a:lnTo>
                    <a:lnTo>
                      <a:pt x="993" y="143"/>
                    </a:lnTo>
                    <a:lnTo>
                      <a:pt x="993" y="148"/>
                    </a:lnTo>
                    <a:lnTo>
                      <a:pt x="993" y="151"/>
                    </a:lnTo>
                    <a:lnTo>
                      <a:pt x="993" y="155"/>
                    </a:lnTo>
                    <a:lnTo>
                      <a:pt x="994" y="160"/>
                    </a:lnTo>
                    <a:lnTo>
                      <a:pt x="996" y="163"/>
                    </a:lnTo>
                    <a:lnTo>
                      <a:pt x="998" y="167"/>
                    </a:lnTo>
                    <a:lnTo>
                      <a:pt x="972" y="167"/>
                    </a:lnTo>
                    <a:lnTo>
                      <a:pt x="967" y="157"/>
                    </a:lnTo>
                    <a:lnTo>
                      <a:pt x="963" y="160"/>
                    </a:lnTo>
                    <a:lnTo>
                      <a:pt x="962" y="163"/>
                    </a:lnTo>
                    <a:lnTo>
                      <a:pt x="958" y="165"/>
                    </a:lnTo>
                    <a:lnTo>
                      <a:pt x="953" y="167"/>
                    </a:lnTo>
                    <a:lnTo>
                      <a:pt x="950" y="167"/>
                    </a:lnTo>
                    <a:lnTo>
                      <a:pt x="946" y="167"/>
                    </a:lnTo>
                    <a:lnTo>
                      <a:pt x="941" y="169"/>
                    </a:lnTo>
                    <a:lnTo>
                      <a:pt x="938" y="169"/>
                    </a:lnTo>
                    <a:lnTo>
                      <a:pt x="931" y="169"/>
                    </a:lnTo>
                    <a:lnTo>
                      <a:pt x="924" y="167"/>
                    </a:lnTo>
                    <a:lnTo>
                      <a:pt x="919" y="165"/>
                    </a:lnTo>
                    <a:lnTo>
                      <a:pt x="913" y="162"/>
                    </a:lnTo>
                    <a:lnTo>
                      <a:pt x="910" y="157"/>
                    </a:lnTo>
                    <a:lnTo>
                      <a:pt x="906" y="151"/>
                    </a:lnTo>
                    <a:lnTo>
                      <a:pt x="905" y="143"/>
                    </a:lnTo>
                    <a:lnTo>
                      <a:pt x="905" y="136"/>
                    </a:lnTo>
                    <a:lnTo>
                      <a:pt x="905" y="131"/>
                    </a:lnTo>
                    <a:lnTo>
                      <a:pt x="906" y="125"/>
                    </a:lnTo>
                    <a:lnTo>
                      <a:pt x="906" y="122"/>
                    </a:lnTo>
                    <a:lnTo>
                      <a:pt x="908" y="117"/>
                    </a:lnTo>
                    <a:lnTo>
                      <a:pt x="910" y="113"/>
                    </a:lnTo>
                    <a:lnTo>
                      <a:pt x="912" y="110"/>
                    </a:lnTo>
                    <a:lnTo>
                      <a:pt x="915" y="108"/>
                    </a:lnTo>
                    <a:lnTo>
                      <a:pt x="919" y="107"/>
                    </a:lnTo>
                    <a:lnTo>
                      <a:pt x="922" y="103"/>
                    </a:lnTo>
                    <a:lnTo>
                      <a:pt x="927" y="101"/>
                    </a:lnTo>
                    <a:lnTo>
                      <a:pt x="934" y="98"/>
                    </a:lnTo>
                    <a:lnTo>
                      <a:pt x="941" y="96"/>
                    </a:lnTo>
                    <a:lnTo>
                      <a:pt x="948" y="94"/>
                    </a:lnTo>
                    <a:lnTo>
                      <a:pt x="955" y="93"/>
                    </a:lnTo>
                    <a:lnTo>
                      <a:pt x="960" y="91"/>
                    </a:lnTo>
                    <a:lnTo>
                      <a:pt x="963" y="89"/>
                    </a:lnTo>
                    <a:lnTo>
                      <a:pt x="963" y="84"/>
                    </a:lnTo>
                    <a:lnTo>
                      <a:pt x="963" y="81"/>
                    </a:lnTo>
                    <a:lnTo>
                      <a:pt x="963" y="77"/>
                    </a:lnTo>
                    <a:lnTo>
                      <a:pt x="963" y="75"/>
                    </a:lnTo>
                    <a:lnTo>
                      <a:pt x="963" y="75"/>
                    </a:lnTo>
                    <a:lnTo>
                      <a:pt x="962" y="74"/>
                    </a:lnTo>
                    <a:lnTo>
                      <a:pt x="962" y="74"/>
                    </a:lnTo>
                    <a:lnTo>
                      <a:pt x="960" y="72"/>
                    </a:lnTo>
                    <a:lnTo>
                      <a:pt x="957" y="70"/>
                    </a:lnTo>
                    <a:lnTo>
                      <a:pt x="955" y="70"/>
                    </a:lnTo>
                    <a:lnTo>
                      <a:pt x="951" y="69"/>
                    </a:lnTo>
                    <a:lnTo>
                      <a:pt x="948" y="69"/>
                    </a:lnTo>
                    <a:lnTo>
                      <a:pt x="946" y="69"/>
                    </a:lnTo>
                    <a:lnTo>
                      <a:pt x="943" y="70"/>
                    </a:lnTo>
                    <a:lnTo>
                      <a:pt x="941" y="72"/>
                    </a:lnTo>
                    <a:lnTo>
                      <a:pt x="939" y="74"/>
                    </a:lnTo>
                    <a:lnTo>
                      <a:pt x="938" y="75"/>
                    </a:lnTo>
                    <a:lnTo>
                      <a:pt x="934" y="77"/>
                    </a:lnTo>
                    <a:lnTo>
                      <a:pt x="932" y="81"/>
                    </a:lnTo>
                    <a:lnTo>
                      <a:pt x="932" y="86"/>
                    </a:lnTo>
                    <a:close/>
                    <a:moveTo>
                      <a:pt x="963" y="112"/>
                    </a:moveTo>
                    <a:lnTo>
                      <a:pt x="962" y="112"/>
                    </a:lnTo>
                    <a:lnTo>
                      <a:pt x="958" y="113"/>
                    </a:lnTo>
                    <a:lnTo>
                      <a:pt x="955" y="115"/>
                    </a:lnTo>
                    <a:lnTo>
                      <a:pt x="950" y="117"/>
                    </a:lnTo>
                    <a:lnTo>
                      <a:pt x="944" y="117"/>
                    </a:lnTo>
                    <a:lnTo>
                      <a:pt x="941" y="119"/>
                    </a:lnTo>
                    <a:lnTo>
                      <a:pt x="938" y="122"/>
                    </a:lnTo>
                    <a:lnTo>
                      <a:pt x="936" y="124"/>
                    </a:lnTo>
                    <a:lnTo>
                      <a:pt x="934" y="125"/>
                    </a:lnTo>
                    <a:lnTo>
                      <a:pt x="932" y="127"/>
                    </a:lnTo>
                    <a:lnTo>
                      <a:pt x="932" y="131"/>
                    </a:lnTo>
                    <a:lnTo>
                      <a:pt x="932" y="132"/>
                    </a:lnTo>
                    <a:lnTo>
                      <a:pt x="932" y="136"/>
                    </a:lnTo>
                    <a:lnTo>
                      <a:pt x="932" y="139"/>
                    </a:lnTo>
                    <a:lnTo>
                      <a:pt x="934" y="141"/>
                    </a:lnTo>
                    <a:lnTo>
                      <a:pt x="936" y="144"/>
                    </a:lnTo>
                    <a:lnTo>
                      <a:pt x="939" y="146"/>
                    </a:lnTo>
                    <a:lnTo>
                      <a:pt x="941" y="148"/>
                    </a:lnTo>
                    <a:lnTo>
                      <a:pt x="944" y="150"/>
                    </a:lnTo>
                    <a:lnTo>
                      <a:pt x="946" y="150"/>
                    </a:lnTo>
                    <a:lnTo>
                      <a:pt x="948" y="150"/>
                    </a:lnTo>
                    <a:lnTo>
                      <a:pt x="950" y="148"/>
                    </a:lnTo>
                    <a:lnTo>
                      <a:pt x="953" y="148"/>
                    </a:lnTo>
                    <a:lnTo>
                      <a:pt x="957" y="146"/>
                    </a:lnTo>
                    <a:lnTo>
                      <a:pt x="958" y="143"/>
                    </a:lnTo>
                    <a:lnTo>
                      <a:pt x="960" y="141"/>
                    </a:lnTo>
                    <a:lnTo>
                      <a:pt x="962" y="138"/>
                    </a:lnTo>
                    <a:lnTo>
                      <a:pt x="963" y="136"/>
                    </a:lnTo>
                    <a:lnTo>
                      <a:pt x="963" y="132"/>
                    </a:lnTo>
                    <a:lnTo>
                      <a:pt x="963" y="129"/>
                    </a:lnTo>
                    <a:lnTo>
                      <a:pt x="963" y="124"/>
                    </a:lnTo>
                    <a:lnTo>
                      <a:pt x="963" y="117"/>
                    </a:lnTo>
                    <a:lnTo>
                      <a:pt x="963" y="112"/>
                    </a:lnTo>
                    <a:close/>
                    <a:moveTo>
                      <a:pt x="1003" y="46"/>
                    </a:moveTo>
                    <a:lnTo>
                      <a:pt x="1032" y="46"/>
                    </a:lnTo>
                    <a:lnTo>
                      <a:pt x="1057" y="134"/>
                    </a:lnTo>
                    <a:lnTo>
                      <a:pt x="1079" y="46"/>
                    </a:lnTo>
                    <a:lnTo>
                      <a:pt x="1107" y="46"/>
                    </a:lnTo>
                    <a:lnTo>
                      <a:pt x="1072" y="165"/>
                    </a:lnTo>
                    <a:lnTo>
                      <a:pt x="1065" y="186"/>
                    </a:lnTo>
                    <a:lnTo>
                      <a:pt x="1064" y="191"/>
                    </a:lnTo>
                    <a:lnTo>
                      <a:pt x="1062" y="196"/>
                    </a:lnTo>
                    <a:lnTo>
                      <a:pt x="1058" y="201"/>
                    </a:lnTo>
                    <a:lnTo>
                      <a:pt x="1057" y="205"/>
                    </a:lnTo>
                    <a:lnTo>
                      <a:pt x="1055" y="207"/>
                    </a:lnTo>
                    <a:lnTo>
                      <a:pt x="1051" y="208"/>
                    </a:lnTo>
                    <a:lnTo>
                      <a:pt x="1050" y="210"/>
                    </a:lnTo>
                    <a:lnTo>
                      <a:pt x="1045" y="212"/>
                    </a:lnTo>
                    <a:lnTo>
                      <a:pt x="1041" y="213"/>
                    </a:lnTo>
                    <a:lnTo>
                      <a:pt x="1038" y="215"/>
                    </a:lnTo>
                    <a:lnTo>
                      <a:pt x="1034" y="217"/>
                    </a:lnTo>
                    <a:lnTo>
                      <a:pt x="1029" y="217"/>
                    </a:lnTo>
                    <a:lnTo>
                      <a:pt x="1024" y="217"/>
                    </a:lnTo>
                    <a:lnTo>
                      <a:pt x="1020" y="215"/>
                    </a:lnTo>
                    <a:lnTo>
                      <a:pt x="1017" y="215"/>
                    </a:lnTo>
                    <a:lnTo>
                      <a:pt x="1013" y="213"/>
                    </a:lnTo>
                    <a:lnTo>
                      <a:pt x="1012" y="188"/>
                    </a:lnTo>
                    <a:lnTo>
                      <a:pt x="1015" y="188"/>
                    </a:lnTo>
                    <a:lnTo>
                      <a:pt x="1017" y="188"/>
                    </a:lnTo>
                    <a:lnTo>
                      <a:pt x="1020" y="188"/>
                    </a:lnTo>
                    <a:lnTo>
                      <a:pt x="1022" y="188"/>
                    </a:lnTo>
                    <a:lnTo>
                      <a:pt x="1026" y="188"/>
                    </a:lnTo>
                    <a:lnTo>
                      <a:pt x="1029" y="188"/>
                    </a:lnTo>
                    <a:lnTo>
                      <a:pt x="1032" y="188"/>
                    </a:lnTo>
                    <a:lnTo>
                      <a:pt x="1034" y="186"/>
                    </a:lnTo>
                    <a:lnTo>
                      <a:pt x="1038" y="182"/>
                    </a:lnTo>
                    <a:lnTo>
                      <a:pt x="1039" y="179"/>
                    </a:lnTo>
                    <a:lnTo>
                      <a:pt x="1041" y="174"/>
                    </a:lnTo>
                    <a:lnTo>
                      <a:pt x="1043" y="167"/>
                    </a:lnTo>
                    <a:lnTo>
                      <a:pt x="1003" y="46"/>
                    </a:lnTo>
                    <a:close/>
                    <a:moveTo>
                      <a:pt x="1183" y="131"/>
                    </a:moveTo>
                    <a:lnTo>
                      <a:pt x="1209" y="136"/>
                    </a:lnTo>
                    <a:lnTo>
                      <a:pt x="1205" y="144"/>
                    </a:lnTo>
                    <a:lnTo>
                      <a:pt x="1202" y="151"/>
                    </a:lnTo>
                    <a:lnTo>
                      <a:pt x="1198" y="158"/>
                    </a:lnTo>
                    <a:lnTo>
                      <a:pt x="1193" y="163"/>
                    </a:lnTo>
                    <a:lnTo>
                      <a:pt x="1186" y="165"/>
                    </a:lnTo>
                    <a:lnTo>
                      <a:pt x="1179" y="167"/>
                    </a:lnTo>
                    <a:lnTo>
                      <a:pt x="1172" y="169"/>
                    </a:lnTo>
                    <a:lnTo>
                      <a:pt x="1165" y="169"/>
                    </a:lnTo>
                    <a:lnTo>
                      <a:pt x="1155" y="169"/>
                    </a:lnTo>
                    <a:lnTo>
                      <a:pt x="1146" y="167"/>
                    </a:lnTo>
                    <a:lnTo>
                      <a:pt x="1139" y="163"/>
                    </a:lnTo>
                    <a:lnTo>
                      <a:pt x="1133" y="157"/>
                    </a:lnTo>
                    <a:lnTo>
                      <a:pt x="1126" y="148"/>
                    </a:lnTo>
                    <a:lnTo>
                      <a:pt x="1121" y="136"/>
                    </a:lnTo>
                    <a:lnTo>
                      <a:pt x="1117" y="124"/>
                    </a:lnTo>
                    <a:lnTo>
                      <a:pt x="1115" y="108"/>
                    </a:lnTo>
                    <a:lnTo>
                      <a:pt x="1117" y="94"/>
                    </a:lnTo>
                    <a:lnTo>
                      <a:pt x="1121" y="81"/>
                    </a:lnTo>
                    <a:lnTo>
                      <a:pt x="1126" y="70"/>
                    </a:lnTo>
                    <a:lnTo>
                      <a:pt x="1133" y="60"/>
                    </a:lnTo>
                    <a:lnTo>
                      <a:pt x="1138" y="53"/>
                    </a:lnTo>
                    <a:lnTo>
                      <a:pt x="1145" y="48"/>
                    </a:lnTo>
                    <a:lnTo>
                      <a:pt x="1153" y="46"/>
                    </a:lnTo>
                    <a:lnTo>
                      <a:pt x="1162" y="44"/>
                    </a:lnTo>
                    <a:lnTo>
                      <a:pt x="1172" y="46"/>
                    </a:lnTo>
                    <a:lnTo>
                      <a:pt x="1181" y="48"/>
                    </a:lnTo>
                    <a:lnTo>
                      <a:pt x="1190" y="53"/>
                    </a:lnTo>
                    <a:lnTo>
                      <a:pt x="1195" y="60"/>
                    </a:lnTo>
                    <a:lnTo>
                      <a:pt x="1202" y="70"/>
                    </a:lnTo>
                    <a:lnTo>
                      <a:pt x="1207" y="82"/>
                    </a:lnTo>
                    <a:lnTo>
                      <a:pt x="1209" y="96"/>
                    </a:lnTo>
                    <a:lnTo>
                      <a:pt x="1210" y="113"/>
                    </a:lnTo>
                    <a:lnTo>
                      <a:pt x="1210" y="117"/>
                    </a:lnTo>
                    <a:lnTo>
                      <a:pt x="1143" y="117"/>
                    </a:lnTo>
                    <a:lnTo>
                      <a:pt x="1143" y="124"/>
                    </a:lnTo>
                    <a:lnTo>
                      <a:pt x="1145" y="131"/>
                    </a:lnTo>
                    <a:lnTo>
                      <a:pt x="1148" y="136"/>
                    </a:lnTo>
                    <a:lnTo>
                      <a:pt x="1152" y="139"/>
                    </a:lnTo>
                    <a:lnTo>
                      <a:pt x="1153" y="143"/>
                    </a:lnTo>
                    <a:lnTo>
                      <a:pt x="1157" y="144"/>
                    </a:lnTo>
                    <a:lnTo>
                      <a:pt x="1162" y="146"/>
                    </a:lnTo>
                    <a:lnTo>
                      <a:pt x="1165" y="146"/>
                    </a:lnTo>
                    <a:lnTo>
                      <a:pt x="1171" y="144"/>
                    </a:lnTo>
                    <a:lnTo>
                      <a:pt x="1176" y="143"/>
                    </a:lnTo>
                    <a:lnTo>
                      <a:pt x="1181" y="138"/>
                    </a:lnTo>
                    <a:lnTo>
                      <a:pt x="1183" y="131"/>
                    </a:lnTo>
                    <a:close/>
                    <a:moveTo>
                      <a:pt x="1183" y="96"/>
                    </a:moveTo>
                    <a:lnTo>
                      <a:pt x="1183" y="89"/>
                    </a:lnTo>
                    <a:lnTo>
                      <a:pt x="1183" y="84"/>
                    </a:lnTo>
                    <a:lnTo>
                      <a:pt x="1181" y="79"/>
                    </a:lnTo>
                    <a:lnTo>
                      <a:pt x="1177" y="75"/>
                    </a:lnTo>
                    <a:lnTo>
                      <a:pt x="1174" y="74"/>
                    </a:lnTo>
                    <a:lnTo>
                      <a:pt x="1171" y="70"/>
                    </a:lnTo>
                    <a:lnTo>
                      <a:pt x="1169" y="69"/>
                    </a:lnTo>
                    <a:lnTo>
                      <a:pt x="1164" y="69"/>
                    </a:lnTo>
                    <a:lnTo>
                      <a:pt x="1160" y="69"/>
                    </a:lnTo>
                    <a:lnTo>
                      <a:pt x="1155" y="70"/>
                    </a:lnTo>
                    <a:lnTo>
                      <a:pt x="1153" y="74"/>
                    </a:lnTo>
                    <a:lnTo>
                      <a:pt x="1152" y="77"/>
                    </a:lnTo>
                    <a:lnTo>
                      <a:pt x="1148" y="81"/>
                    </a:lnTo>
                    <a:lnTo>
                      <a:pt x="1146" y="84"/>
                    </a:lnTo>
                    <a:lnTo>
                      <a:pt x="1145" y="89"/>
                    </a:lnTo>
                    <a:lnTo>
                      <a:pt x="1145" y="96"/>
                    </a:lnTo>
                    <a:lnTo>
                      <a:pt x="1183" y="96"/>
                    </a:lnTo>
                    <a:close/>
                    <a:moveTo>
                      <a:pt x="1257" y="167"/>
                    </a:moveTo>
                    <a:lnTo>
                      <a:pt x="1231" y="167"/>
                    </a:lnTo>
                    <a:lnTo>
                      <a:pt x="1231" y="46"/>
                    </a:lnTo>
                    <a:lnTo>
                      <a:pt x="1255" y="46"/>
                    </a:lnTo>
                    <a:lnTo>
                      <a:pt x="1255" y="65"/>
                    </a:lnTo>
                    <a:lnTo>
                      <a:pt x="1259" y="60"/>
                    </a:lnTo>
                    <a:lnTo>
                      <a:pt x="1260" y="55"/>
                    </a:lnTo>
                    <a:lnTo>
                      <a:pt x="1264" y="51"/>
                    </a:lnTo>
                    <a:lnTo>
                      <a:pt x="1266" y="48"/>
                    </a:lnTo>
                    <a:lnTo>
                      <a:pt x="1269" y="46"/>
                    </a:lnTo>
                    <a:lnTo>
                      <a:pt x="1271" y="46"/>
                    </a:lnTo>
                    <a:lnTo>
                      <a:pt x="1274" y="44"/>
                    </a:lnTo>
                    <a:lnTo>
                      <a:pt x="1278" y="44"/>
                    </a:lnTo>
                    <a:lnTo>
                      <a:pt x="1281" y="44"/>
                    </a:lnTo>
                    <a:lnTo>
                      <a:pt x="1286" y="46"/>
                    </a:lnTo>
                    <a:lnTo>
                      <a:pt x="1291" y="48"/>
                    </a:lnTo>
                    <a:lnTo>
                      <a:pt x="1295" y="51"/>
                    </a:lnTo>
                    <a:lnTo>
                      <a:pt x="1286" y="79"/>
                    </a:lnTo>
                    <a:lnTo>
                      <a:pt x="1283" y="77"/>
                    </a:lnTo>
                    <a:lnTo>
                      <a:pt x="1281" y="77"/>
                    </a:lnTo>
                    <a:lnTo>
                      <a:pt x="1278" y="75"/>
                    </a:lnTo>
                    <a:lnTo>
                      <a:pt x="1274" y="75"/>
                    </a:lnTo>
                    <a:lnTo>
                      <a:pt x="1272" y="75"/>
                    </a:lnTo>
                    <a:lnTo>
                      <a:pt x="1269" y="75"/>
                    </a:lnTo>
                    <a:lnTo>
                      <a:pt x="1267" y="75"/>
                    </a:lnTo>
                    <a:lnTo>
                      <a:pt x="1264" y="77"/>
                    </a:lnTo>
                    <a:lnTo>
                      <a:pt x="1262" y="81"/>
                    </a:lnTo>
                    <a:lnTo>
                      <a:pt x="1262" y="84"/>
                    </a:lnTo>
                    <a:lnTo>
                      <a:pt x="1260" y="89"/>
                    </a:lnTo>
                    <a:lnTo>
                      <a:pt x="1259" y="94"/>
                    </a:lnTo>
                    <a:lnTo>
                      <a:pt x="1259" y="100"/>
                    </a:lnTo>
                    <a:lnTo>
                      <a:pt x="1259" y="108"/>
                    </a:lnTo>
                    <a:lnTo>
                      <a:pt x="1257" y="119"/>
                    </a:lnTo>
                    <a:lnTo>
                      <a:pt x="1257" y="131"/>
                    </a:lnTo>
                    <a:lnTo>
                      <a:pt x="1257" y="1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6" name="Freeform 894"/>
              <p:cNvSpPr>
                <a:spLocks noEditPoints="1"/>
              </p:cNvSpPr>
              <p:nvPr/>
            </p:nvSpPr>
            <p:spPr bwMode="auto">
              <a:xfrm>
                <a:off x="1162" y="1096"/>
                <a:ext cx="806" cy="108"/>
              </a:xfrm>
              <a:custGeom>
                <a:avLst/>
                <a:gdLst>
                  <a:gd name="T0" fmla="*/ 88 w 1612"/>
                  <a:gd name="T1" fmla="*/ 102 h 215"/>
                  <a:gd name="T2" fmla="*/ 224 w 1612"/>
                  <a:gd name="T3" fmla="*/ 48 h 215"/>
                  <a:gd name="T4" fmla="*/ 215 w 1612"/>
                  <a:gd name="T5" fmla="*/ 169 h 215"/>
                  <a:gd name="T6" fmla="*/ 179 w 1612"/>
                  <a:gd name="T7" fmla="*/ 105 h 215"/>
                  <a:gd name="T8" fmla="*/ 217 w 1612"/>
                  <a:gd name="T9" fmla="*/ 129 h 215"/>
                  <a:gd name="T10" fmla="*/ 191 w 1612"/>
                  <a:gd name="T11" fmla="*/ 70 h 215"/>
                  <a:gd name="T12" fmla="*/ 307 w 1612"/>
                  <a:gd name="T13" fmla="*/ 50 h 215"/>
                  <a:gd name="T14" fmla="*/ 365 w 1612"/>
                  <a:gd name="T15" fmla="*/ 121 h 215"/>
                  <a:gd name="T16" fmla="*/ 303 w 1612"/>
                  <a:gd name="T17" fmla="*/ 162 h 215"/>
                  <a:gd name="T18" fmla="*/ 314 w 1612"/>
                  <a:gd name="T19" fmla="*/ 145 h 215"/>
                  <a:gd name="T20" fmla="*/ 333 w 1612"/>
                  <a:gd name="T21" fmla="*/ 77 h 215"/>
                  <a:gd name="T22" fmla="*/ 388 w 1612"/>
                  <a:gd name="T23" fmla="*/ 167 h 215"/>
                  <a:gd name="T24" fmla="*/ 467 w 1612"/>
                  <a:gd name="T25" fmla="*/ 167 h 215"/>
                  <a:gd name="T26" fmla="*/ 516 w 1612"/>
                  <a:gd name="T27" fmla="*/ 88 h 215"/>
                  <a:gd name="T28" fmla="*/ 545 w 1612"/>
                  <a:gd name="T29" fmla="*/ 141 h 215"/>
                  <a:gd name="T30" fmla="*/ 505 w 1612"/>
                  <a:gd name="T31" fmla="*/ 160 h 215"/>
                  <a:gd name="T32" fmla="*/ 535 w 1612"/>
                  <a:gd name="T33" fmla="*/ 43 h 215"/>
                  <a:gd name="T34" fmla="*/ 604 w 1612"/>
                  <a:gd name="T35" fmla="*/ 57 h 215"/>
                  <a:gd name="T36" fmla="*/ 676 w 1612"/>
                  <a:gd name="T37" fmla="*/ 60 h 215"/>
                  <a:gd name="T38" fmla="*/ 687 w 1612"/>
                  <a:gd name="T39" fmla="*/ 167 h 215"/>
                  <a:gd name="T40" fmla="*/ 607 w 1612"/>
                  <a:gd name="T41" fmla="*/ 164 h 215"/>
                  <a:gd name="T42" fmla="*/ 607 w 1612"/>
                  <a:gd name="T43" fmla="*/ 105 h 215"/>
                  <a:gd name="T44" fmla="*/ 652 w 1612"/>
                  <a:gd name="T45" fmla="*/ 74 h 215"/>
                  <a:gd name="T46" fmla="*/ 623 w 1612"/>
                  <a:gd name="T47" fmla="*/ 76 h 215"/>
                  <a:gd name="T48" fmla="*/ 621 w 1612"/>
                  <a:gd name="T49" fmla="*/ 127 h 215"/>
                  <a:gd name="T50" fmla="*/ 642 w 1612"/>
                  <a:gd name="T51" fmla="*/ 146 h 215"/>
                  <a:gd name="T52" fmla="*/ 733 w 1612"/>
                  <a:gd name="T53" fmla="*/ 72 h 215"/>
                  <a:gd name="T54" fmla="*/ 752 w 1612"/>
                  <a:gd name="T55" fmla="*/ 141 h 215"/>
                  <a:gd name="T56" fmla="*/ 709 w 1612"/>
                  <a:gd name="T57" fmla="*/ 152 h 215"/>
                  <a:gd name="T58" fmla="*/ 769 w 1612"/>
                  <a:gd name="T59" fmla="*/ 29 h 215"/>
                  <a:gd name="T60" fmla="*/ 821 w 1612"/>
                  <a:gd name="T61" fmla="*/ 81 h 215"/>
                  <a:gd name="T62" fmla="*/ 906 w 1612"/>
                  <a:gd name="T63" fmla="*/ 62 h 215"/>
                  <a:gd name="T64" fmla="*/ 889 w 1612"/>
                  <a:gd name="T65" fmla="*/ 165 h 215"/>
                  <a:gd name="T66" fmla="*/ 844 w 1612"/>
                  <a:gd name="T67" fmla="*/ 117 h 215"/>
                  <a:gd name="T68" fmla="*/ 890 w 1612"/>
                  <a:gd name="T69" fmla="*/ 124 h 215"/>
                  <a:gd name="T70" fmla="*/ 856 w 1612"/>
                  <a:gd name="T71" fmla="*/ 76 h 215"/>
                  <a:gd name="T72" fmla="*/ 1002 w 1612"/>
                  <a:gd name="T73" fmla="*/ 79 h 215"/>
                  <a:gd name="T74" fmla="*/ 973 w 1612"/>
                  <a:gd name="T75" fmla="*/ 77 h 215"/>
                  <a:gd name="T76" fmla="*/ 971 w 1612"/>
                  <a:gd name="T77" fmla="*/ 55 h 215"/>
                  <a:gd name="T78" fmla="*/ 1027 w 1612"/>
                  <a:gd name="T79" fmla="*/ 60 h 215"/>
                  <a:gd name="T80" fmla="*/ 1111 w 1612"/>
                  <a:gd name="T81" fmla="*/ 167 h 215"/>
                  <a:gd name="T82" fmla="*/ 1289 w 1612"/>
                  <a:gd name="T83" fmla="*/ 46 h 215"/>
                  <a:gd name="T84" fmla="*/ 1310 w 1612"/>
                  <a:gd name="T85" fmla="*/ 148 h 215"/>
                  <a:gd name="T86" fmla="*/ 1263 w 1612"/>
                  <a:gd name="T87" fmla="*/ 167 h 215"/>
                  <a:gd name="T88" fmla="*/ 1225 w 1612"/>
                  <a:gd name="T89" fmla="*/ 121 h 215"/>
                  <a:gd name="T90" fmla="*/ 1282 w 1612"/>
                  <a:gd name="T91" fmla="*/ 89 h 215"/>
                  <a:gd name="T92" fmla="*/ 1263 w 1612"/>
                  <a:gd name="T93" fmla="*/ 69 h 215"/>
                  <a:gd name="T94" fmla="*/ 1263 w 1612"/>
                  <a:gd name="T95" fmla="*/ 117 h 215"/>
                  <a:gd name="T96" fmla="*/ 1258 w 1612"/>
                  <a:gd name="T97" fmla="*/ 148 h 215"/>
                  <a:gd name="T98" fmla="*/ 1282 w 1612"/>
                  <a:gd name="T99" fmla="*/ 122 h 215"/>
                  <a:gd name="T100" fmla="*/ 1374 w 1612"/>
                  <a:gd name="T101" fmla="*/ 203 h 215"/>
                  <a:gd name="T102" fmla="*/ 1329 w 1612"/>
                  <a:gd name="T103" fmla="*/ 186 h 215"/>
                  <a:gd name="T104" fmla="*/ 1322 w 1612"/>
                  <a:gd name="T105" fmla="*/ 46 h 215"/>
                  <a:gd name="T106" fmla="*/ 1457 w 1612"/>
                  <a:gd name="T107" fmla="*/ 164 h 215"/>
                  <a:gd name="T108" fmla="*/ 1481 w 1612"/>
                  <a:gd name="T109" fmla="*/ 43 h 215"/>
                  <a:gd name="T110" fmla="*/ 1465 w 1612"/>
                  <a:gd name="T111" fmla="*/ 134 h 215"/>
                  <a:gd name="T112" fmla="*/ 1498 w 1612"/>
                  <a:gd name="T113" fmla="*/ 79 h 215"/>
                  <a:gd name="T114" fmla="*/ 1462 w 1612"/>
                  <a:gd name="T115" fmla="*/ 95 h 215"/>
                  <a:gd name="T116" fmla="*/ 1593 w 1612"/>
                  <a:gd name="T117" fmla="*/ 43 h 215"/>
                  <a:gd name="T118" fmla="*/ 1584 w 1612"/>
                  <a:gd name="T119" fmla="*/ 76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612" h="215">
                    <a:moveTo>
                      <a:pt x="138" y="167"/>
                    </a:moveTo>
                    <a:lnTo>
                      <a:pt x="108" y="167"/>
                    </a:lnTo>
                    <a:lnTo>
                      <a:pt x="96" y="129"/>
                    </a:lnTo>
                    <a:lnTo>
                      <a:pt x="39" y="129"/>
                    </a:lnTo>
                    <a:lnTo>
                      <a:pt x="29" y="167"/>
                    </a:lnTo>
                    <a:lnTo>
                      <a:pt x="0" y="167"/>
                    </a:lnTo>
                    <a:lnTo>
                      <a:pt x="53" y="0"/>
                    </a:lnTo>
                    <a:lnTo>
                      <a:pt x="82" y="0"/>
                    </a:lnTo>
                    <a:lnTo>
                      <a:pt x="138" y="167"/>
                    </a:lnTo>
                    <a:close/>
                    <a:moveTo>
                      <a:pt x="88" y="102"/>
                    </a:moveTo>
                    <a:lnTo>
                      <a:pt x="69" y="39"/>
                    </a:lnTo>
                    <a:lnTo>
                      <a:pt x="48" y="102"/>
                    </a:lnTo>
                    <a:lnTo>
                      <a:pt x="88" y="102"/>
                    </a:lnTo>
                    <a:close/>
                    <a:moveTo>
                      <a:pt x="151" y="46"/>
                    </a:moveTo>
                    <a:lnTo>
                      <a:pt x="177" y="46"/>
                    </a:lnTo>
                    <a:lnTo>
                      <a:pt x="177" y="64"/>
                    </a:lnTo>
                    <a:lnTo>
                      <a:pt x="179" y="60"/>
                    </a:lnTo>
                    <a:lnTo>
                      <a:pt x="183" y="57"/>
                    </a:lnTo>
                    <a:lnTo>
                      <a:pt x="186" y="53"/>
                    </a:lnTo>
                    <a:lnTo>
                      <a:pt x="189" y="50"/>
                    </a:lnTo>
                    <a:lnTo>
                      <a:pt x="193" y="46"/>
                    </a:lnTo>
                    <a:lnTo>
                      <a:pt x="198" y="45"/>
                    </a:lnTo>
                    <a:lnTo>
                      <a:pt x="203" y="43"/>
                    </a:lnTo>
                    <a:lnTo>
                      <a:pt x="207" y="43"/>
                    </a:lnTo>
                    <a:lnTo>
                      <a:pt x="215" y="45"/>
                    </a:lnTo>
                    <a:lnTo>
                      <a:pt x="224" y="48"/>
                    </a:lnTo>
                    <a:lnTo>
                      <a:pt x="231" y="53"/>
                    </a:lnTo>
                    <a:lnTo>
                      <a:pt x="238" y="60"/>
                    </a:lnTo>
                    <a:lnTo>
                      <a:pt x="243" y="69"/>
                    </a:lnTo>
                    <a:lnTo>
                      <a:pt x="246" y="79"/>
                    </a:lnTo>
                    <a:lnTo>
                      <a:pt x="248" y="93"/>
                    </a:lnTo>
                    <a:lnTo>
                      <a:pt x="248" y="107"/>
                    </a:lnTo>
                    <a:lnTo>
                      <a:pt x="248" y="121"/>
                    </a:lnTo>
                    <a:lnTo>
                      <a:pt x="246" y="134"/>
                    </a:lnTo>
                    <a:lnTo>
                      <a:pt x="243" y="145"/>
                    </a:lnTo>
                    <a:lnTo>
                      <a:pt x="238" y="153"/>
                    </a:lnTo>
                    <a:lnTo>
                      <a:pt x="231" y="160"/>
                    </a:lnTo>
                    <a:lnTo>
                      <a:pt x="224" y="165"/>
                    </a:lnTo>
                    <a:lnTo>
                      <a:pt x="215" y="169"/>
                    </a:lnTo>
                    <a:lnTo>
                      <a:pt x="207" y="169"/>
                    </a:lnTo>
                    <a:lnTo>
                      <a:pt x="203" y="169"/>
                    </a:lnTo>
                    <a:lnTo>
                      <a:pt x="200" y="167"/>
                    </a:lnTo>
                    <a:lnTo>
                      <a:pt x="196" y="167"/>
                    </a:lnTo>
                    <a:lnTo>
                      <a:pt x="193" y="167"/>
                    </a:lnTo>
                    <a:lnTo>
                      <a:pt x="189" y="165"/>
                    </a:lnTo>
                    <a:lnTo>
                      <a:pt x="186" y="162"/>
                    </a:lnTo>
                    <a:lnTo>
                      <a:pt x="183" y="157"/>
                    </a:lnTo>
                    <a:lnTo>
                      <a:pt x="179" y="152"/>
                    </a:lnTo>
                    <a:lnTo>
                      <a:pt x="179" y="212"/>
                    </a:lnTo>
                    <a:lnTo>
                      <a:pt x="151" y="212"/>
                    </a:lnTo>
                    <a:lnTo>
                      <a:pt x="151" y="46"/>
                    </a:lnTo>
                    <a:close/>
                    <a:moveTo>
                      <a:pt x="179" y="105"/>
                    </a:moveTo>
                    <a:lnTo>
                      <a:pt x="179" y="115"/>
                    </a:lnTo>
                    <a:lnTo>
                      <a:pt x="181" y="122"/>
                    </a:lnTo>
                    <a:lnTo>
                      <a:pt x="183" y="129"/>
                    </a:lnTo>
                    <a:lnTo>
                      <a:pt x="186" y="134"/>
                    </a:lnTo>
                    <a:lnTo>
                      <a:pt x="189" y="139"/>
                    </a:lnTo>
                    <a:lnTo>
                      <a:pt x="193" y="141"/>
                    </a:lnTo>
                    <a:lnTo>
                      <a:pt x="196" y="145"/>
                    </a:lnTo>
                    <a:lnTo>
                      <a:pt x="200" y="145"/>
                    </a:lnTo>
                    <a:lnTo>
                      <a:pt x="205" y="145"/>
                    </a:lnTo>
                    <a:lnTo>
                      <a:pt x="208" y="141"/>
                    </a:lnTo>
                    <a:lnTo>
                      <a:pt x="212" y="139"/>
                    </a:lnTo>
                    <a:lnTo>
                      <a:pt x="215" y="134"/>
                    </a:lnTo>
                    <a:lnTo>
                      <a:pt x="217" y="129"/>
                    </a:lnTo>
                    <a:lnTo>
                      <a:pt x="220" y="124"/>
                    </a:lnTo>
                    <a:lnTo>
                      <a:pt x="222" y="115"/>
                    </a:lnTo>
                    <a:lnTo>
                      <a:pt x="222" y="107"/>
                    </a:lnTo>
                    <a:lnTo>
                      <a:pt x="222" y="98"/>
                    </a:lnTo>
                    <a:lnTo>
                      <a:pt x="220" y="89"/>
                    </a:lnTo>
                    <a:lnTo>
                      <a:pt x="217" y="83"/>
                    </a:lnTo>
                    <a:lnTo>
                      <a:pt x="215" y="77"/>
                    </a:lnTo>
                    <a:lnTo>
                      <a:pt x="212" y="74"/>
                    </a:lnTo>
                    <a:lnTo>
                      <a:pt x="208" y="70"/>
                    </a:lnTo>
                    <a:lnTo>
                      <a:pt x="203" y="69"/>
                    </a:lnTo>
                    <a:lnTo>
                      <a:pt x="200" y="69"/>
                    </a:lnTo>
                    <a:lnTo>
                      <a:pt x="195" y="69"/>
                    </a:lnTo>
                    <a:lnTo>
                      <a:pt x="191" y="70"/>
                    </a:lnTo>
                    <a:lnTo>
                      <a:pt x="188" y="74"/>
                    </a:lnTo>
                    <a:lnTo>
                      <a:pt x="184" y="77"/>
                    </a:lnTo>
                    <a:lnTo>
                      <a:pt x="181" y="83"/>
                    </a:lnTo>
                    <a:lnTo>
                      <a:pt x="179" y="88"/>
                    </a:lnTo>
                    <a:lnTo>
                      <a:pt x="179" y="96"/>
                    </a:lnTo>
                    <a:lnTo>
                      <a:pt x="179" y="105"/>
                    </a:lnTo>
                    <a:close/>
                    <a:moveTo>
                      <a:pt x="269" y="46"/>
                    </a:moveTo>
                    <a:lnTo>
                      <a:pt x="295" y="46"/>
                    </a:lnTo>
                    <a:lnTo>
                      <a:pt x="295" y="64"/>
                    </a:lnTo>
                    <a:lnTo>
                      <a:pt x="296" y="60"/>
                    </a:lnTo>
                    <a:lnTo>
                      <a:pt x="300" y="57"/>
                    </a:lnTo>
                    <a:lnTo>
                      <a:pt x="303" y="53"/>
                    </a:lnTo>
                    <a:lnTo>
                      <a:pt x="307" y="50"/>
                    </a:lnTo>
                    <a:lnTo>
                      <a:pt x="310" y="46"/>
                    </a:lnTo>
                    <a:lnTo>
                      <a:pt x="315" y="45"/>
                    </a:lnTo>
                    <a:lnTo>
                      <a:pt x="321" y="43"/>
                    </a:lnTo>
                    <a:lnTo>
                      <a:pt x="324" y="43"/>
                    </a:lnTo>
                    <a:lnTo>
                      <a:pt x="333" y="45"/>
                    </a:lnTo>
                    <a:lnTo>
                      <a:pt x="341" y="48"/>
                    </a:lnTo>
                    <a:lnTo>
                      <a:pt x="348" y="53"/>
                    </a:lnTo>
                    <a:lnTo>
                      <a:pt x="355" y="60"/>
                    </a:lnTo>
                    <a:lnTo>
                      <a:pt x="360" y="69"/>
                    </a:lnTo>
                    <a:lnTo>
                      <a:pt x="364" y="79"/>
                    </a:lnTo>
                    <a:lnTo>
                      <a:pt x="365" y="93"/>
                    </a:lnTo>
                    <a:lnTo>
                      <a:pt x="367" y="107"/>
                    </a:lnTo>
                    <a:lnTo>
                      <a:pt x="365" y="121"/>
                    </a:lnTo>
                    <a:lnTo>
                      <a:pt x="364" y="134"/>
                    </a:lnTo>
                    <a:lnTo>
                      <a:pt x="360" y="145"/>
                    </a:lnTo>
                    <a:lnTo>
                      <a:pt x="355" y="153"/>
                    </a:lnTo>
                    <a:lnTo>
                      <a:pt x="348" y="160"/>
                    </a:lnTo>
                    <a:lnTo>
                      <a:pt x="341" y="165"/>
                    </a:lnTo>
                    <a:lnTo>
                      <a:pt x="333" y="169"/>
                    </a:lnTo>
                    <a:lnTo>
                      <a:pt x="324" y="169"/>
                    </a:lnTo>
                    <a:lnTo>
                      <a:pt x="321" y="169"/>
                    </a:lnTo>
                    <a:lnTo>
                      <a:pt x="317" y="167"/>
                    </a:lnTo>
                    <a:lnTo>
                      <a:pt x="314" y="167"/>
                    </a:lnTo>
                    <a:lnTo>
                      <a:pt x="310" y="167"/>
                    </a:lnTo>
                    <a:lnTo>
                      <a:pt x="307" y="165"/>
                    </a:lnTo>
                    <a:lnTo>
                      <a:pt x="303" y="162"/>
                    </a:lnTo>
                    <a:lnTo>
                      <a:pt x="300" y="157"/>
                    </a:lnTo>
                    <a:lnTo>
                      <a:pt x="296" y="152"/>
                    </a:lnTo>
                    <a:lnTo>
                      <a:pt x="296" y="212"/>
                    </a:lnTo>
                    <a:lnTo>
                      <a:pt x="269" y="212"/>
                    </a:lnTo>
                    <a:lnTo>
                      <a:pt x="269" y="46"/>
                    </a:lnTo>
                    <a:close/>
                    <a:moveTo>
                      <a:pt x="296" y="105"/>
                    </a:moveTo>
                    <a:lnTo>
                      <a:pt x="296" y="115"/>
                    </a:lnTo>
                    <a:lnTo>
                      <a:pt x="298" y="122"/>
                    </a:lnTo>
                    <a:lnTo>
                      <a:pt x="300" y="129"/>
                    </a:lnTo>
                    <a:lnTo>
                      <a:pt x="302" y="134"/>
                    </a:lnTo>
                    <a:lnTo>
                      <a:pt x="305" y="139"/>
                    </a:lnTo>
                    <a:lnTo>
                      <a:pt x="310" y="141"/>
                    </a:lnTo>
                    <a:lnTo>
                      <a:pt x="314" y="145"/>
                    </a:lnTo>
                    <a:lnTo>
                      <a:pt x="319" y="145"/>
                    </a:lnTo>
                    <a:lnTo>
                      <a:pt x="322" y="145"/>
                    </a:lnTo>
                    <a:lnTo>
                      <a:pt x="326" y="141"/>
                    </a:lnTo>
                    <a:lnTo>
                      <a:pt x="329" y="139"/>
                    </a:lnTo>
                    <a:lnTo>
                      <a:pt x="333" y="134"/>
                    </a:lnTo>
                    <a:lnTo>
                      <a:pt x="334" y="129"/>
                    </a:lnTo>
                    <a:lnTo>
                      <a:pt x="338" y="124"/>
                    </a:lnTo>
                    <a:lnTo>
                      <a:pt x="340" y="115"/>
                    </a:lnTo>
                    <a:lnTo>
                      <a:pt x="340" y="107"/>
                    </a:lnTo>
                    <a:lnTo>
                      <a:pt x="340" y="98"/>
                    </a:lnTo>
                    <a:lnTo>
                      <a:pt x="338" y="89"/>
                    </a:lnTo>
                    <a:lnTo>
                      <a:pt x="334" y="83"/>
                    </a:lnTo>
                    <a:lnTo>
                      <a:pt x="333" y="77"/>
                    </a:lnTo>
                    <a:lnTo>
                      <a:pt x="329" y="74"/>
                    </a:lnTo>
                    <a:lnTo>
                      <a:pt x="326" y="70"/>
                    </a:lnTo>
                    <a:lnTo>
                      <a:pt x="322" y="69"/>
                    </a:lnTo>
                    <a:lnTo>
                      <a:pt x="319" y="69"/>
                    </a:lnTo>
                    <a:lnTo>
                      <a:pt x="314" y="69"/>
                    </a:lnTo>
                    <a:lnTo>
                      <a:pt x="309" y="70"/>
                    </a:lnTo>
                    <a:lnTo>
                      <a:pt x="303" y="74"/>
                    </a:lnTo>
                    <a:lnTo>
                      <a:pt x="300" y="77"/>
                    </a:lnTo>
                    <a:lnTo>
                      <a:pt x="298" y="83"/>
                    </a:lnTo>
                    <a:lnTo>
                      <a:pt x="298" y="88"/>
                    </a:lnTo>
                    <a:lnTo>
                      <a:pt x="296" y="96"/>
                    </a:lnTo>
                    <a:lnTo>
                      <a:pt x="296" y="105"/>
                    </a:lnTo>
                    <a:close/>
                    <a:moveTo>
                      <a:pt x="388" y="167"/>
                    </a:moveTo>
                    <a:lnTo>
                      <a:pt x="388" y="0"/>
                    </a:lnTo>
                    <a:lnTo>
                      <a:pt x="412" y="0"/>
                    </a:lnTo>
                    <a:lnTo>
                      <a:pt x="412" y="167"/>
                    </a:lnTo>
                    <a:lnTo>
                      <a:pt x="388" y="167"/>
                    </a:lnTo>
                    <a:close/>
                    <a:moveTo>
                      <a:pt x="440" y="29"/>
                    </a:moveTo>
                    <a:lnTo>
                      <a:pt x="440" y="0"/>
                    </a:lnTo>
                    <a:lnTo>
                      <a:pt x="467" y="0"/>
                    </a:lnTo>
                    <a:lnTo>
                      <a:pt x="467" y="29"/>
                    </a:lnTo>
                    <a:lnTo>
                      <a:pt x="440" y="29"/>
                    </a:lnTo>
                    <a:close/>
                    <a:moveTo>
                      <a:pt x="440" y="167"/>
                    </a:moveTo>
                    <a:lnTo>
                      <a:pt x="440" y="46"/>
                    </a:lnTo>
                    <a:lnTo>
                      <a:pt x="467" y="46"/>
                    </a:lnTo>
                    <a:lnTo>
                      <a:pt x="467" y="167"/>
                    </a:lnTo>
                    <a:lnTo>
                      <a:pt x="440" y="167"/>
                    </a:lnTo>
                    <a:close/>
                    <a:moveTo>
                      <a:pt x="580" y="81"/>
                    </a:moveTo>
                    <a:lnTo>
                      <a:pt x="554" y="88"/>
                    </a:lnTo>
                    <a:lnTo>
                      <a:pt x="552" y="79"/>
                    </a:lnTo>
                    <a:lnTo>
                      <a:pt x="548" y="72"/>
                    </a:lnTo>
                    <a:lnTo>
                      <a:pt x="543" y="70"/>
                    </a:lnTo>
                    <a:lnTo>
                      <a:pt x="536" y="69"/>
                    </a:lnTo>
                    <a:lnTo>
                      <a:pt x="531" y="69"/>
                    </a:lnTo>
                    <a:lnTo>
                      <a:pt x="526" y="70"/>
                    </a:lnTo>
                    <a:lnTo>
                      <a:pt x="523" y="72"/>
                    </a:lnTo>
                    <a:lnTo>
                      <a:pt x="519" y="76"/>
                    </a:lnTo>
                    <a:lnTo>
                      <a:pt x="517" y="81"/>
                    </a:lnTo>
                    <a:lnTo>
                      <a:pt x="516" y="88"/>
                    </a:lnTo>
                    <a:lnTo>
                      <a:pt x="514" y="95"/>
                    </a:lnTo>
                    <a:lnTo>
                      <a:pt x="514" y="105"/>
                    </a:lnTo>
                    <a:lnTo>
                      <a:pt x="514" y="115"/>
                    </a:lnTo>
                    <a:lnTo>
                      <a:pt x="516" y="122"/>
                    </a:lnTo>
                    <a:lnTo>
                      <a:pt x="517" y="129"/>
                    </a:lnTo>
                    <a:lnTo>
                      <a:pt x="519" y="134"/>
                    </a:lnTo>
                    <a:lnTo>
                      <a:pt x="523" y="139"/>
                    </a:lnTo>
                    <a:lnTo>
                      <a:pt x="526" y="141"/>
                    </a:lnTo>
                    <a:lnTo>
                      <a:pt x="531" y="145"/>
                    </a:lnTo>
                    <a:lnTo>
                      <a:pt x="536" y="145"/>
                    </a:lnTo>
                    <a:lnTo>
                      <a:pt x="540" y="145"/>
                    </a:lnTo>
                    <a:lnTo>
                      <a:pt x="542" y="143"/>
                    </a:lnTo>
                    <a:lnTo>
                      <a:pt x="545" y="141"/>
                    </a:lnTo>
                    <a:lnTo>
                      <a:pt x="548" y="139"/>
                    </a:lnTo>
                    <a:lnTo>
                      <a:pt x="550" y="136"/>
                    </a:lnTo>
                    <a:lnTo>
                      <a:pt x="552" y="133"/>
                    </a:lnTo>
                    <a:lnTo>
                      <a:pt x="554" y="127"/>
                    </a:lnTo>
                    <a:lnTo>
                      <a:pt x="555" y="121"/>
                    </a:lnTo>
                    <a:lnTo>
                      <a:pt x="580" y="127"/>
                    </a:lnTo>
                    <a:lnTo>
                      <a:pt x="574" y="146"/>
                    </a:lnTo>
                    <a:lnTo>
                      <a:pt x="566" y="158"/>
                    </a:lnTo>
                    <a:lnTo>
                      <a:pt x="552" y="167"/>
                    </a:lnTo>
                    <a:lnTo>
                      <a:pt x="535" y="169"/>
                    </a:lnTo>
                    <a:lnTo>
                      <a:pt x="523" y="169"/>
                    </a:lnTo>
                    <a:lnTo>
                      <a:pt x="514" y="165"/>
                    </a:lnTo>
                    <a:lnTo>
                      <a:pt x="505" y="160"/>
                    </a:lnTo>
                    <a:lnTo>
                      <a:pt x="498" y="152"/>
                    </a:lnTo>
                    <a:lnTo>
                      <a:pt x="493" y="143"/>
                    </a:lnTo>
                    <a:lnTo>
                      <a:pt x="490" y="133"/>
                    </a:lnTo>
                    <a:lnTo>
                      <a:pt x="486" y="121"/>
                    </a:lnTo>
                    <a:lnTo>
                      <a:pt x="486" y="108"/>
                    </a:lnTo>
                    <a:lnTo>
                      <a:pt x="486" y="93"/>
                    </a:lnTo>
                    <a:lnTo>
                      <a:pt x="490" y="81"/>
                    </a:lnTo>
                    <a:lnTo>
                      <a:pt x="493" y="69"/>
                    </a:lnTo>
                    <a:lnTo>
                      <a:pt x="500" y="60"/>
                    </a:lnTo>
                    <a:lnTo>
                      <a:pt x="507" y="53"/>
                    </a:lnTo>
                    <a:lnTo>
                      <a:pt x="516" y="48"/>
                    </a:lnTo>
                    <a:lnTo>
                      <a:pt x="524" y="45"/>
                    </a:lnTo>
                    <a:lnTo>
                      <a:pt x="535" y="43"/>
                    </a:lnTo>
                    <a:lnTo>
                      <a:pt x="543" y="43"/>
                    </a:lnTo>
                    <a:lnTo>
                      <a:pt x="552" y="45"/>
                    </a:lnTo>
                    <a:lnTo>
                      <a:pt x="557" y="48"/>
                    </a:lnTo>
                    <a:lnTo>
                      <a:pt x="562" y="53"/>
                    </a:lnTo>
                    <a:lnTo>
                      <a:pt x="567" y="58"/>
                    </a:lnTo>
                    <a:lnTo>
                      <a:pt x="573" y="65"/>
                    </a:lnTo>
                    <a:lnTo>
                      <a:pt x="576" y="72"/>
                    </a:lnTo>
                    <a:lnTo>
                      <a:pt x="580" y="81"/>
                    </a:lnTo>
                    <a:close/>
                    <a:moveTo>
                      <a:pt x="619" y="84"/>
                    </a:moveTo>
                    <a:lnTo>
                      <a:pt x="597" y="79"/>
                    </a:lnTo>
                    <a:lnTo>
                      <a:pt x="599" y="70"/>
                    </a:lnTo>
                    <a:lnTo>
                      <a:pt x="600" y="62"/>
                    </a:lnTo>
                    <a:lnTo>
                      <a:pt x="604" y="57"/>
                    </a:lnTo>
                    <a:lnTo>
                      <a:pt x="609" y="51"/>
                    </a:lnTo>
                    <a:lnTo>
                      <a:pt x="616" y="48"/>
                    </a:lnTo>
                    <a:lnTo>
                      <a:pt x="623" y="45"/>
                    </a:lnTo>
                    <a:lnTo>
                      <a:pt x="630" y="43"/>
                    </a:lnTo>
                    <a:lnTo>
                      <a:pt x="638" y="43"/>
                    </a:lnTo>
                    <a:lnTo>
                      <a:pt x="647" y="43"/>
                    </a:lnTo>
                    <a:lnTo>
                      <a:pt x="654" y="45"/>
                    </a:lnTo>
                    <a:lnTo>
                      <a:pt x="659" y="46"/>
                    </a:lnTo>
                    <a:lnTo>
                      <a:pt x="664" y="50"/>
                    </a:lnTo>
                    <a:lnTo>
                      <a:pt x="668" y="51"/>
                    </a:lnTo>
                    <a:lnTo>
                      <a:pt x="671" y="53"/>
                    </a:lnTo>
                    <a:lnTo>
                      <a:pt x="673" y="57"/>
                    </a:lnTo>
                    <a:lnTo>
                      <a:pt x="676" y="60"/>
                    </a:lnTo>
                    <a:lnTo>
                      <a:pt x="678" y="65"/>
                    </a:lnTo>
                    <a:lnTo>
                      <a:pt x="680" y="72"/>
                    </a:lnTo>
                    <a:lnTo>
                      <a:pt x="680" y="81"/>
                    </a:lnTo>
                    <a:lnTo>
                      <a:pt x="680" y="91"/>
                    </a:lnTo>
                    <a:lnTo>
                      <a:pt x="680" y="129"/>
                    </a:lnTo>
                    <a:lnTo>
                      <a:pt x="680" y="136"/>
                    </a:lnTo>
                    <a:lnTo>
                      <a:pt x="680" y="143"/>
                    </a:lnTo>
                    <a:lnTo>
                      <a:pt x="680" y="148"/>
                    </a:lnTo>
                    <a:lnTo>
                      <a:pt x="681" y="150"/>
                    </a:lnTo>
                    <a:lnTo>
                      <a:pt x="681" y="155"/>
                    </a:lnTo>
                    <a:lnTo>
                      <a:pt x="683" y="158"/>
                    </a:lnTo>
                    <a:lnTo>
                      <a:pt x="685" y="164"/>
                    </a:lnTo>
                    <a:lnTo>
                      <a:pt x="687" y="167"/>
                    </a:lnTo>
                    <a:lnTo>
                      <a:pt x="659" y="167"/>
                    </a:lnTo>
                    <a:lnTo>
                      <a:pt x="656" y="155"/>
                    </a:lnTo>
                    <a:lnTo>
                      <a:pt x="652" y="158"/>
                    </a:lnTo>
                    <a:lnTo>
                      <a:pt x="650" y="162"/>
                    </a:lnTo>
                    <a:lnTo>
                      <a:pt x="647" y="165"/>
                    </a:lnTo>
                    <a:lnTo>
                      <a:pt x="642" y="167"/>
                    </a:lnTo>
                    <a:lnTo>
                      <a:pt x="638" y="167"/>
                    </a:lnTo>
                    <a:lnTo>
                      <a:pt x="635" y="167"/>
                    </a:lnTo>
                    <a:lnTo>
                      <a:pt x="630" y="169"/>
                    </a:lnTo>
                    <a:lnTo>
                      <a:pt x="626" y="169"/>
                    </a:lnTo>
                    <a:lnTo>
                      <a:pt x="619" y="169"/>
                    </a:lnTo>
                    <a:lnTo>
                      <a:pt x="614" y="167"/>
                    </a:lnTo>
                    <a:lnTo>
                      <a:pt x="607" y="164"/>
                    </a:lnTo>
                    <a:lnTo>
                      <a:pt x="602" y="160"/>
                    </a:lnTo>
                    <a:lnTo>
                      <a:pt x="599" y="155"/>
                    </a:lnTo>
                    <a:lnTo>
                      <a:pt x="595" y="150"/>
                    </a:lnTo>
                    <a:lnTo>
                      <a:pt x="593" y="143"/>
                    </a:lnTo>
                    <a:lnTo>
                      <a:pt x="593" y="134"/>
                    </a:lnTo>
                    <a:lnTo>
                      <a:pt x="593" y="131"/>
                    </a:lnTo>
                    <a:lnTo>
                      <a:pt x="595" y="126"/>
                    </a:lnTo>
                    <a:lnTo>
                      <a:pt x="597" y="121"/>
                    </a:lnTo>
                    <a:lnTo>
                      <a:pt x="599" y="117"/>
                    </a:lnTo>
                    <a:lnTo>
                      <a:pt x="599" y="112"/>
                    </a:lnTo>
                    <a:lnTo>
                      <a:pt x="600" y="110"/>
                    </a:lnTo>
                    <a:lnTo>
                      <a:pt x="604" y="107"/>
                    </a:lnTo>
                    <a:lnTo>
                      <a:pt x="607" y="105"/>
                    </a:lnTo>
                    <a:lnTo>
                      <a:pt x="611" y="103"/>
                    </a:lnTo>
                    <a:lnTo>
                      <a:pt x="616" y="100"/>
                    </a:lnTo>
                    <a:lnTo>
                      <a:pt x="623" y="98"/>
                    </a:lnTo>
                    <a:lnTo>
                      <a:pt x="630" y="96"/>
                    </a:lnTo>
                    <a:lnTo>
                      <a:pt x="637" y="95"/>
                    </a:lnTo>
                    <a:lnTo>
                      <a:pt x="645" y="93"/>
                    </a:lnTo>
                    <a:lnTo>
                      <a:pt x="650" y="91"/>
                    </a:lnTo>
                    <a:lnTo>
                      <a:pt x="654" y="89"/>
                    </a:lnTo>
                    <a:lnTo>
                      <a:pt x="654" y="84"/>
                    </a:lnTo>
                    <a:lnTo>
                      <a:pt x="654" y="79"/>
                    </a:lnTo>
                    <a:lnTo>
                      <a:pt x="654" y="77"/>
                    </a:lnTo>
                    <a:lnTo>
                      <a:pt x="652" y="74"/>
                    </a:lnTo>
                    <a:lnTo>
                      <a:pt x="652" y="74"/>
                    </a:lnTo>
                    <a:lnTo>
                      <a:pt x="650" y="72"/>
                    </a:lnTo>
                    <a:lnTo>
                      <a:pt x="650" y="72"/>
                    </a:lnTo>
                    <a:lnTo>
                      <a:pt x="649" y="70"/>
                    </a:lnTo>
                    <a:lnTo>
                      <a:pt x="645" y="70"/>
                    </a:lnTo>
                    <a:lnTo>
                      <a:pt x="643" y="69"/>
                    </a:lnTo>
                    <a:lnTo>
                      <a:pt x="640" y="69"/>
                    </a:lnTo>
                    <a:lnTo>
                      <a:pt x="637" y="69"/>
                    </a:lnTo>
                    <a:lnTo>
                      <a:pt x="635" y="69"/>
                    </a:lnTo>
                    <a:lnTo>
                      <a:pt x="631" y="70"/>
                    </a:lnTo>
                    <a:lnTo>
                      <a:pt x="630" y="70"/>
                    </a:lnTo>
                    <a:lnTo>
                      <a:pt x="628" y="72"/>
                    </a:lnTo>
                    <a:lnTo>
                      <a:pt x="626" y="74"/>
                    </a:lnTo>
                    <a:lnTo>
                      <a:pt x="623" y="76"/>
                    </a:lnTo>
                    <a:lnTo>
                      <a:pt x="621" y="79"/>
                    </a:lnTo>
                    <a:lnTo>
                      <a:pt x="619" y="84"/>
                    </a:lnTo>
                    <a:close/>
                    <a:moveTo>
                      <a:pt x="654" y="110"/>
                    </a:moveTo>
                    <a:lnTo>
                      <a:pt x="650" y="110"/>
                    </a:lnTo>
                    <a:lnTo>
                      <a:pt x="647" y="112"/>
                    </a:lnTo>
                    <a:lnTo>
                      <a:pt x="643" y="114"/>
                    </a:lnTo>
                    <a:lnTo>
                      <a:pt x="638" y="115"/>
                    </a:lnTo>
                    <a:lnTo>
                      <a:pt x="633" y="117"/>
                    </a:lnTo>
                    <a:lnTo>
                      <a:pt x="630" y="119"/>
                    </a:lnTo>
                    <a:lnTo>
                      <a:pt x="626" y="121"/>
                    </a:lnTo>
                    <a:lnTo>
                      <a:pt x="624" y="122"/>
                    </a:lnTo>
                    <a:lnTo>
                      <a:pt x="623" y="124"/>
                    </a:lnTo>
                    <a:lnTo>
                      <a:pt x="621" y="127"/>
                    </a:lnTo>
                    <a:lnTo>
                      <a:pt x="619" y="129"/>
                    </a:lnTo>
                    <a:lnTo>
                      <a:pt x="619" y="131"/>
                    </a:lnTo>
                    <a:lnTo>
                      <a:pt x="619" y="134"/>
                    </a:lnTo>
                    <a:lnTo>
                      <a:pt x="621" y="138"/>
                    </a:lnTo>
                    <a:lnTo>
                      <a:pt x="623" y="139"/>
                    </a:lnTo>
                    <a:lnTo>
                      <a:pt x="624" y="143"/>
                    </a:lnTo>
                    <a:lnTo>
                      <a:pt x="626" y="146"/>
                    </a:lnTo>
                    <a:lnTo>
                      <a:pt x="630" y="148"/>
                    </a:lnTo>
                    <a:lnTo>
                      <a:pt x="631" y="150"/>
                    </a:lnTo>
                    <a:lnTo>
                      <a:pt x="635" y="150"/>
                    </a:lnTo>
                    <a:lnTo>
                      <a:pt x="637" y="150"/>
                    </a:lnTo>
                    <a:lnTo>
                      <a:pt x="638" y="148"/>
                    </a:lnTo>
                    <a:lnTo>
                      <a:pt x="642" y="146"/>
                    </a:lnTo>
                    <a:lnTo>
                      <a:pt x="645" y="145"/>
                    </a:lnTo>
                    <a:lnTo>
                      <a:pt x="647" y="143"/>
                    </a:lnTo>
                    <a:lnTo>
                      <a:pt x="649" y="139"/>
                    </a:lnTo>
                    <a:lnTo>
                      <a:pt x="650" y="138"/>
                    </a:lnTo>
                    <a:lnTo>
                      <a:pt x="652" y="134"/>
                    </a:lnTo>
                    <a:lnTo>
                      <a:pt x="654" y="131"/>
                    </a:lnTo>
                    <a:lnTo>
                      <a:pt x="654" y="127"/>
                    </a:lnTo>
                    <a:lnTo>
                      <a:pt x="654" y="122"/>
                    </a:lnTo>
                    <a:lnTo>
                      <a:pt x="654" y="117"/>
                    </a:lnTo>
                    <a:lnTo>
                      <a:pt x="654" y="110"/>
                    </a:lnTo>
                    <a:close/>
                    <a:moveTo>
                      <a:pt x="752" y="46"/>
                    </a:moveTo>
                    <a:lnTo>
                      <a:pt x="752" y="72"/>
                    </a:lnTo>
                    <a:lnTo>
                      <a:pt x="733" y="72"/>
                    </a:lnTo>
                    <a:lnTo>
                      <a:pt x="733" y="121"/>
                    </a:lnTo>
                    <a:lnTo>
                      <a:pt x="733" y="127"/>
                    </a:lnTo>
                    <a:lnTo>
                      <a:pt x="733" y="133"/>
                    </a:lnTo>
                    <a:lnTo>
                      <a:pt x="733" y="138"/>
                    </a:lnTo>
                    <a:lnTo>
                      <a:pt x="733" y="139"/>
                    </a:lnTo>
                    <a:lnTo>
                      <a:pt x="735" y="141"/>
                    </a:lnTo>
                    <a:lnTo>
                      <a:pt x="737" y="143"/>
                    </a:lnTo>
                    <a:lnTo>
                      <a:pt x="740" y="145"/>
                    </a:lnTo>
                    <a:lnTo>
                      <a:pt x="742" y="145"/>
                    </a:lnTo>
                    <a:lnTo>
                      <a:pt x="745" y="145"/>
                    </a:lnTo>
                    <a:lnTo>
                      <a:pt x="747" y="143"/>
                    </a:lnTo>
                    <a:lnTo>
                      <a:pt x="750" y="143"/>
                    </a:lnTo>
                    <a:lnTo>
                      <a:pt x="752" y="141"/>
                    </a:lnTo>
                    <a:lnTo>
                      <a:pt x="756" y="167"/>
                    </a:lnTo>
                    <a:lnTo>
                      <a:pt x="750" y="167"/>
                    </a:lnTo>
                    <a:lnTo>
                      <a:pt x="745" y="167"/>
                    </a:lnTo>
                    <a:lnTo>
                      <a:pt x="740" y="169"/>
                    </a:lnTo>
                    <a:lnTo>
                      <a:pt x="733" y="169"/>
                    </a:lnTo>
                    <a:lnTo>
                      <a:pt x="730" y="169"/>
                    </a:lnTo>
                    <a:lnTo>
                      <a:pt x="725" y="167"/>
                    </a:lnTo>
                    <a:lnTo>
                      <a:pt x="721" y="167"/>
                    </a:lnTo>
                    <a:lnTo>
                      <a:pt x="718" y="167"/>
                    </a:lnTo>
                    <a:lnTo>
                      <a:pt x="714" y="164"/>
                    </a:lnTo>
                    <a:lnTo>
                      <a:pt x="711" y="160"/>
                    </a:lnTo>
                    <a:lnTo>
                      <a:pt x="709" y="157"/>
                    </a:lnTo>
                    <a:lnTo>
                      <a:pt x="709" y="152"/>
                    </a:lnTo>
                    <a:lnTo>
                      <a:pt x="709" y="148"/>
                    </a:lnTo>
                    <a:lnTo>
                      <a:pt x="709" y="143"/>
                    </a:lnTo>
                    <a:lnTo>
                      <a:pt x="707" y="136"/>
                    </a:lnTo>
                    <a:lnTo>
                      <a:pt x="707" y="126"/>
                    </a:lnTo>
                    <a:lnTo>
                      <a:pt x="707" y="72"/>
                    </a:lnTo>
                    <a:lnTo>
                      <a:pt x="693" y="72"/>
                    </a:lnTo>
                    <a:lnTo>
                      <a:pt x="693" y="46"/>
                    </a:lnTo>
                    <a:lnTo>
                      <a:pt x="707" y="46"/>
                    </a:lnTo>
                    <a:lnTo>
                      <a:pt x="707" y="20"/>
                    </a:lnTo>
                    <a:lnTo>
                      <a:pt x="733" y="3"/>
                    </a:lnTo>
                    <a:lnTo>
                      <a:pt x="733" y="46"/>
                    </a:lnTo>
                    <a:lnTo>
                      <a:pt x="752" y="46"/>
                    </a:lnTo>
                    <a:close/>
                    <a:moveTo>
                      <a:pt x="769" y="29"/>
                    </a:moveTo>
                    <a:lnTo>
                      <a:pt x="769" y="0"/>
                    </a:lnTo>
                    <a:lnTo>
                      <a:pt x="797" y="0"/>
                    </a:lnTo>
                    <a:lnTo>
                      <a:pt x="797" y="29"/>
                    </a:lnTo>
                    <a:lnTo>
                      <a:pt x="769" y="29"/>
                    </a:lnTo>
                    <a:close/>
                    <a:moveTo>
                      <a:pt x="769" y="167"/>
                    </a:moveTo>
                    <a:lnTo>
                      <a:pt x="769" y="46"/>
                    </a:lnTo>
                    <a:lnTo>
                      <a:pt x="797" y="46"/>
                    </a:lnTo>
                    <a:lnTo>
                      <a:pt x="797" y="167"/>
                    </a:lnTo>
                    <a:lnTo>
                      <a:pt x="769" y="167"/>
                    </a:lnTo>
                    <a:close/>
                    <a:moveTo>
                      <a:pt x="818" y="107"/>
                    </a:moveTo>
                    <a:lnTo>
                      <a:pt x="818" y="96"/>
                    </a:lnTo>
                    <a:lnTo>
                      <a:pt x="820" y="88"/>
                    </a:lnTo>
                    <a:lnTo>
                      <a:pt x="821" y="81"/>
                    </a:lnTo>
                    <a:lnTo>
                      <a:pt x="823" y="74"/>
                    </a:lnTo>
                    <a:lnTo>
                      <a:pt x="826" y="67"/>
                    </a:lnTo>
                    <a:lnTo>
                      <a:pt x="832" y="60"/>
                    </a:lnTo>
                    <a:lnTo>
                      <a:pt x="837" y="55"/>
                    </a:lnTo>
                    <a:lnTo>
                      <a:pt x="842" y="51"/>
                    </a:lnTo>
                    <a:lnTo>
                      <a:pt x="849" y="48"/>
                    </a:lnTo>
                    <a:lnTo>
                      <a:pt x="856" y="45"/>
                    </a:lnTo>
                    <a:lnTo>
                      <a:pt x="861" y="43"/>
                    </a:lnTo>
                    <a:lnTo>
                      <a:pt x="868" y="43"/>
                    </a:lnTo>
                    <a:lnTo>
                      <a:pt x="880" y="45"/>
                    </a:lnTo>
                    <a:lnTo>
                      <a:pt x="890" y="48"/>
                    </a:lnTo>
                    <a:lnTo>
                      <a:pt x="899" y="53"/>
                    </a:lnTo>
                    <a:lnTo>
                      <a:pt x="906" y="62"/>
                    </a:lnTo>
                    <a:lnTo>
                      <a:pt x="913" y="72"/>
                    </a:lnTo>
                    <a:lnTo>
                      <a:pt x="916" y="83"/>
                    </a:lnTo>
                    <a:lnTo>
                      <a:pt x="920" y="95"/>
                    </a:lnTo>
                    <a:lnTo>
                      <a:pt x="920" y="107"/>
                    </a:lnTo>
                    <a:lnTo>
                      <a:pt x="920" y="115"/>
                    </a:lnTo>
                    <a:lnTo>
                      <a:pt x="918" y="124"/>
                    </a:lnTo>
                    <a:lnTo>
                      <a:pt x="914" y="133"/>
                    </a:lnTo>
                    <a:lnTo>
                      <a:pt x="913" y="139"/>
                    </a:lnTo>
                    <a:lnTo>
                      <a:pt x="909" y="146"/>
                    </a:lnTo>
                    <a:lnTo>
                      <a:pt x="904" y="153"/>
                    </a:lnTo>
                    <a:lnTo>
                      <a:pt x="899" y="158"/>
                    </a:lnTo>
                    <a:lnTo>
                      <a:pt x="894" y="164"/>
                    </a:lnTo>
                    <a:lnTo>
                      <a:pt x="889" y="165"/>
                    </a:lnTo>
                    <a:lnTo>
                      <a:pt x="882" y="167"/>
                    </a:lnTo>
                    <a:lnTo>
                      <a:pt x="876" y="169"/>
                    </a:lnTo>
                    <a:lnTo>
                      <a:pt x="870" y="169"/>
                    </a:lnTo>
                    <a:lnTo>
                      <a:pt x="857" y="169"/>
                    </a:lnTo>
                    <a:lnTo>
                      <a:pt x="849" y="165"/>
                    </a:lnTo>
                    <a:lnTo>
                      <a:pt x="838" y="160"/>
                    </a:lnTo>
                    <a:lnTo>
                      <a:pt x="832" y="153"/>
                    </a:lnTo>
                    <a:lnTo>
                      <a:pt x="825" y="145"/>
                    </a:lnTo>
                    <a:lnTo>
                      <a:pt x="821" y="134"/>
                    </a:lnTo>
                    <a:lnTo>
                      <a:pt x="818" y="121"/>
                    </a:lnTo>
                    <a:lnTo>
                      <a:pt x="818" y="107"/>
                    </a:lnTo>
                    <a:close/>
                    <a:moveTo>
                      <a:pt x="844" y="108"/>
                    </a:moveTo>
                    <a:lnTo>
                      <a:pt x="844" y="117"/>
                    </a:lnTo>
                    <a:lnTo>
                      <a:pt x="845" y="124"/>
                    </a:lnTo>
                    <a:lnTo>
                      <a:pt x="849" y="129"/>
                    </a:lnTo>
                    <a:lnTo>
                      <a:pt x="851" y="134"/>
                    </a:lnTo>
                    <a:lnTo>
                      <a:pt x="856" y="139"/>
                    </a:lnTo>
                    <a:lnTo>
                      <a:pt x="859" y="141"/>
                    </a:lnTo>
                    <a:lnTo>
                      <a:pt x="864" y="145"/>
                    </a:lnTo>
                    <a:lnTo>
                      <a:pt x="870" y="145"/>
                    </a:lnTo>
                    <a:lnTo>
                      <a:pt x="873" y="145"/>
                    </a:lnTo>
                    <a:lnTo>
                      <a:pt x="878" y="141"/>
                    </a:lnTo>
                    <a:lnTo>
                      <a:pt x="882" y="139"/>
                    </a:lnTo>
                    <a:lnTo>
                      <a:pt x="885" y="134"/>
                    </a:lnTo>
                    <a:lnTo>
                      <a:pt x="889" y="129"/>
                    </a:lnTo>
                    <a:lnTo>
                      <a:pt x="890" y="124"/>
                    </a:lnTo>
                    <a:lnTo>
                      <a:pt x="892" y="117"/>
                    </a:lnTo>
                    <a:lnTo>
                      <a:pt x="892" y="108"/>
                    </a:lnTo>
                    <a:lnTo>
                      <a:pt x="892" y="100"/>
                    </a:lnTo>
                    <a:lnTo>
                      <a:pt x="890" y="91"/>
                    </a:lnTo>
                    <a:lnTo>
                      <a:pt x="889" y="84"/>
                    </a:lnTo>
                    <a:lnTo>
                      <a:pt x="885" y="79"/>
                    </a:lnTo>
                    <a:lnTo>
                      <a:pt x="882" y="76"/>
                    </a:lnTo>
                    <a:lnTo>
                      <a:pt x="876" y="72"/>
                    </a:lnTo>
                    <a:lnTo>
                      <a:pt x="873" y="70"/>
                    </a:lnTo>
                    <a:lnTo>
                      <a:pt x="868" y="70"/>
                    </a:lnTo>
                    <a:lnTo>
                      <a:pt x="863" y="70"/>
                    </a:lnTo>
                    <a:lnTo>
                      <a:pt x="859" y="72"/>
                    </a:lnTo>
                    <a:lnTo>
                      <a:pt x="856" y="76"/>
                    </a:lnTo>
                    <a:lnTo>
                      <a:pt x="851" y="79"/>
                    </a:lnTo>
                    <a:lnTo>
                      <a:pt x="849" y="84"/>
                    </a:lnTo>
                    <a:lnTo>
                      <a:pt x="845" y="91"/>
                    </a:lnTo>
                    <a:lnTo>
                      <a:pt x="844" y="100"/>
                    </a:lnTo>
                    <a:lnTo>
                      <a:pt x="844" y="108"/>
                    </a:lnTo>
                    <a:close/>
                    <a:moveTo>
                      <a:pt x="1030" y="167"/>
                    </a:moveTo>
                    <a:lnTo>
                      <a:pt x="1006" y="167"/>
                    </a:lnTo>
                    <a:lnTo>
                      <a:pt x="1006" y="107"/>
                    </a:lnTo>
                    <a:lnTo>
                      <a:pt x="1006" y="98"/>
                    </a:lnTo>
                    <a:lnTo>
                      <a:pt x="1006" y="91"/>
                    </a:lnTo>
                    <a:lnTo>
                      <a:pt x="1004" y="84"/>
                    </a:lnTo>
                    <a:lnTo>
                      <a:pt x="1004" y="81"/>
                    </a:lnTo>
                    <a:lnTo>
                      <a:pt x="1002" y="79"/>
                    </a:lnTo>
                    <a:lnTo>
                      <a:pt x="1001" y="76"/>
                    </a:lnTo>
                    <a:lnTo>
                      <a:pt x="999" y="74"/>
                    </a:lnTo>
                    <a:lnTo>
                      <a:pt x="997" y="72"/>
                    </a:lnTo>
                    <a:lnTo>
                      <a:pt x="996" y="70"/>
                    </a:lnTo>
                    <a:lnTo>
                      <a:pt x="994" y="70"/>
                    </a:lnTo>
                    <a:lnTo>
                      <a:pt x="990" y="69"/>
                    </a:lnTo>
                    <a:lnTo>
                      <a:pt x="990" y="69"/>
                    </a:lnTo>
                    <a:lnTo>
                      <a:pt x="987" y="69"/>
                    </a:lnTo>
                    <a:lnTo>
                      <a:pt x="984" y="70"/>
                    </a:lnTo>
                    <a:lnTo>
                      <a:pt x="980" y="70"/>
                    </a:lnTo>
                    <a:lnTo>
                      <a:pt x="977" y="72"/>
                    </a:lnTo>
                    <a:lnTo>
                      <a:pt x="975" y="76"/>
                    </a:lnTo>
                    <a:lnTo>
                      <a:pt x="973" y="77"/>
                    </a:lnTo>
                    <a:lnTo>
                      <a:pt x="971" y="81"/>
                    </a:lnTo>
                    <a:lnTo>
                      <a:pt x="970" y="84"/>
                    </a:lnTo>
                    <a:lnTo>
                      <a:pt x="970" y="89"/>
                    </a:lnTo>
                    <a:lnTo>
                      <a:pt x="970" y="95"/>
                    </a:lnTo>
                    <a:lnTo>
                      <a:pt x="968" y="103"/>
                    </a:lnTo>
                    <a:lnTo>
                      <a:pt x="968" y="112"/>
                    </a:lnTo>
                    <a:lnTo>
                      <a:pt x="968" y="167"/>
                    </a:lnTo>
                    <a:lnTo>
                      <a:pt x="940" y="167"/>
                    </a:lnTo>
                    <a:lnTo>
                      <a:pt x="940" y="46"/>
                    </a:lnTo>
                    <a:lnTo>
                      <a:pt x="966" y="46"/>
                    </a:lnTo>
                    <a:lnTo>
                      <a:pt x="966" y="64"/>
                    </a:lnTo>
                    <a:lnTo>
                      <a:pt x="970" y="58"/>
                    </a:lnTo>
                    <a:lnTo>
                      <a:pt x="971" y="55"/>
                    </a:lnTo>
                    <a:lnTo>
                      <a:pt x="975" y="53"/>
                    </a:lnTo>
                    <a:lnTo>
                      <a:pt x="980" y="50"/>
                    </a:lnTo>
                    <a:lnTo>
                      <a:pt x="984" y="46"/>
                    </a:lnTo>
                    <a:lnTo>
                      <a:pt x="989" y="45"/>
                    </a:lnTo>
                    <a:lnTo>
                      <a:pt x="994" y="43"/>
                    </a:lnTo>
                    <a:lnTo>
                      <a:pt x="999" y="43"/>
                    </a:lnTo>
                    <a:lnTo>
                      <a:pt x="1004" y="43"/>
                    </a:lnTo>
                    <a:lnTo>
                      <a:pt x="1009" y="45"/>
                    </a:lnTo>
                    <a:lnTo>
                      <a:pt x="1013" y="48"/>
                    </a:lnTo>
                    <a:lnTo>
                      <a:pt x="1018" y="50"/>
                    </a:lnTo>
                    <a:lnTo>
                      <a:pt x="1021" y="53"/>
                    </a:lnTo>
                    <a:lnTo>
                      <a:pt x="1025" y="57"/>
                    </a:lnTo>
                    <a:lnTo>
                      <a:pt x="1027" y="60"/>
                    </a:lnTo>
                    <a:lnTo>
                      <a:pt x="1028" y="65"/>
                    </a:lnTo>
                    <a:lnTo>
                      <a:pt x="1030" y="70"/>
                    </a:lnTo>
                    <a:lnTo>
                      <a:pt x="1030" y="76"/>
                    </a:lnTo>
                    <a:lnTo>
                      <a:pt x="1030" y="84"/>
                    </a:lnTo>
                    <a:lnTo>
                      <a:pt x="1030" y="93"/>
                    </a:lnTo>
                    <a:lnTo>
                      <a:pt x="1030" y="167"/>
                    </a:lnTo>
                    <a:close/>
                    <a:moveTo>
                      <a:pt x="1111" y="167"/>
                    </a:moveTo>
                    <a:lnTo>
                      <a:pt x="1111" y="0"/>
                    </a:lnTo>
                    <a:lnTo>
                      <a:pt x="1141" y="0"/>
                    </a:lnTo>
                    <a:lnTo>
                      <a:pt x="1141" y="139"/>
                    </a:lnTo>
                    <a:lnTo>
                      <a:pt x="1210" y="139"/>
                    </a:lnTo>
                    <a:lnTo>
                      <a:pt x="1210" y="167"/>
                    </a:lnTo>
                    <a:lnTo>
                      <a:pt x="1111" y="167"/>
                    </a:lnTo>
                    <a:close/>
                    <a:moveTo>
                      <a:pt x="1251" y="84"/>
                    </a:moveTo>
                    <a:lnTo>
                      <a:pt x="1225" y="79"/>
                    </a:lnTo>
                    <a:lnTo>
                      <a:pt x="1229" y="70"/>
                    </a:lnTo>
                    <a:lnTo>
                      <a:pt x="1230" y="62"/>
                    </a:lnTo>
                    <a:lnTo>
                      <a:pt x="1234" y="57"/>
                    </a:lnTo>
                    <a:lnTo>
                      <a:pt x="1239" y="51"/>
                    </a:lnTo>
                    <a:lnTo>
                      <a:pt x="1244" y="48"/>
                    </a:lnTo>
                    <a:lnTo>
                      <a:pt x="1251" y="45"/>
                    </a:lnTo>
                    <a:lnTo>
                      <a:pt x="1260" y="43"/>
                    </a:lnTo>
                    <a:lnTo>
                      <a:pt x="1268" y="43"/>
                    </a:lnTo>
                    <a:lnTo>
                      <a:pt x="1275" y="43"/>
                    </a:lnTo>
                    <a:lnTo>
                      <a:pt x="1284" y="45"/>
                    </a:lnTo>
                    <a:lnTo>
                      <a:pt x="1289" y="46"/>
                    </a:lnTo>
                    <a:lnTo>
                      <a:pt x="1293" y="50"/>
                    </a:lnTo>
                    <a:lnTo>
                      <a:pt x="1298" y="51"/>
                    </a:lnTo>
                    <a:lnTo>
                      <a:pt x="1301" y="53"/>
                    </a:lnTo>
                    <a:lnTo>
                      <a:pt x="1303" y="57"/>
                    </a:lnTo>
                    <a:lnTo>
                      <a:pt x="1306" y="60"/>
                    </a:lnTo>
                    <a:lnTo>
                      <a:pt x="1308" y="65"/>
                    </a:lnTo>
                    <a:lnTo>
                      <a:pt x="1310" y="72"/>
                    </a:lnTo>
                    <a:lnTo>
                      <a:pt x="1310" y="81"/>
                    </a:lnTo>
                    <a:lnTo>
                      <a:pt x="1310" y="91"/>
                    </a:lnTo>
                    <a:lnTo>
                      <a:pt x="1310" y="129"/>
                    </a:lnTo>
                    <a:lnTo>
                      <a:pt x="1310" y="136"/>
                    </a:lnTo>
                    <a:lnTo>
                      <a:pt x="1310" y="143"/>
                    </a:lnTo>
                    <a:lnTo>
                      <a:pt x="1310" y="148"/>
                    </a:lnTo>
                    <a:lnTo>
                      <a:pt x="1310" y="150"/>
                    </a:lnTo>
                    <a:lnTo>
                      <a:pt x="1310" y="155"/>
                    </a:lnTo>
                    <a:lnTo>
                      <a:pt x="1311" y="158"/>
                    </a:lnTo>
                    <a:lnTo>
                      <a:pt x="1313" y="164"/>
                    </a:lnTo>
                    <a:lnTo>
                      <a:pt x="1315" y="167"/>
                    </a:lnTo>
                    <a:lnTo>
                      <a:pt x="1291" y="167"/>
                    </a:lnTo>
                    <a:lnTo>
                      <a:pt x="1286" y="155"/>
                    </a:lnTo>
                    <a:lnTo>
                      <a:pt x="1282" y="158"/>
                    </a:lnTo>
                    <a:lnTo>
                      <a:pt x="1279" y="162"/>
                    </a:lnTo>
                    <a:lnTo>
                      <a:pt x="1275" y="165"/>
                    </a:lnTo>
                    <a:lnTo>
                      <a:pt x="1272" y="167"/>
                    </a:lnTo>
                    <a:lnTo>
                      <a:pt x="1268" y="167"/>
                    </a:lnTo>
                    <a:lnTo>
                      <a:pt x="1263" y="167"/>
                    </a:lnTo>
                    <a:lnTo>
                      <a:pt x="1258" y="169"/>
                    </a:lnTo>
                    <a:lnTo>
                      <a:pt x="1255" y="169"/>
                    </a:lnTo>
                    <a:lnTo>
                      <a:pt x="1248" y="169"/>
                    </a:lnTo>
                    <a:lnTo>
                      <a:pt x="1242" y="167"/>
                    </a:lnTo>
                    <a:lnTo>
                      <a:pt x="1237" y="164"/>
                    </a:lnTo>
                    <a:lnTo>
                      <a:pt x="1232" y="160"/>
                    </a:lnTo>
                    <a:lnTo>
                      <a:pt x="1227" y="155"/>
                    </a:lnTo>
                    <a:lnTo>
                      <a:pt x="1225" y="150"/>
                    </a:lnTo>
                    <a:lnTo>
                      <a:pt x="1222" y="143"/>
                    </a:lnTo>
                    <a:lnTo>
                      <a:pt x="1222" y="134"/>
                    </a:lnTo>
                    <a:lnTo>
                      <a:pt x="1222" y="131"/>
                    </a:lnTo>
                    <a:lnTo>
                      <a:pt x="1223" y="126"/>
                    </a:lnTo>
                    <a:lnTo>
                      <a:pt x="1225" y="121"/>
                    </a:lnTo>
                    <a:lnTo>
                      <a:pt x="1227" y="117"/>
                    </a:lnTo>
                    <a:lnTo>
                      <a:pt x="1229" y="112"/>
                    </a:lnTo>
                    <a:lnTo>
                      <a:pt x="1230" y="110"/>
                    </a:lnTo>
                    <a:lnTo>
                      <a:pt x="1234" y="107"/>
                    </a:lnTo>
                    <a:lnTo>
                      <a:pt x="1236" y="105"/>
                    </a:lnTo>
                    <a:lnTo>
                      <a:pt x="1241" y="103"/>
                    </a:lnTo>
                    <a:lnTo>
                      <a:pt x="1246" y="100"/>
                    </a:lnTo>
                    <a:lnTo>
                      <a:pt x="1251" y="98"/>
                    </a:lnTo>
                    <a:lnTo>
                      <a:pt x="1258" y="96"/>
                    </a:lnTo>
                    <a:lnTo>
                      <a:pt x="1267" y="95"/>
                    </a:lnTo>
                    <a:lnTo>
                      <a:pt x="1274" y="93"/>
                    </a:lnTo>
                    <a:lnTo>
                      <a:pt x="1279" y="91"/>
                    </a:lnTo>
                    <a:lnTo>
                      <a:pt x="1282" y="89"/>
                    </a:lnTo>
                    <a:lnTo>
                      <a:pt x="1282" y="84"/>
                    </a:lnTo>
                    <a:lnTo>
                      <a:pt x="1282" y="79"/>
                    </a:lnTo>
                    <a:lnTo>
                      <a:pt x="1282" y="77"/>
                    </a:lnTo>
                    <a:lnTo>
                      <a:pt x="1280" y="74"/>
                    </a:lnTo>
                    <a:lnTo>
                      <a:pt x="1280" y="74"/>
                    </a:lnTo>
                    <a:lnTo>
                      <a:pt x="1279" y="72"/>
                    </a:lnTo>
                    <a:lnTo>
                      <a:pt x="1279" y="72"/>
                    </a:lnTo>
                    <a:lnTo>
                      <a:pt x="1277" y="70"/>
                    </a:lnTo>
                    <a:lnTo>
                      <a:pt x="1275" y="70"/>
                    </a:lnTo>
                    <a:lnTo>
                      <a:pt x="1272" y="69"/>
                    </a:lnTo>
                    <a:lnTo>
                      <a:pt x="1270" y="69"/>
                    </a:lnTo>
                    <a:lnTo>
                      <a:pt x="1267" y="69"/>
                    </a:lnTo>
                    <a:lnTo>
                      <a:pt x="1263" y="69"/>
                    </a:lnTo>
                    <a:lnTo>
                      <a:pt x="1260" y="70"/>
                    </a:lnTo>
                    <a:lnTo>
                      <a:pt x="1258" y="70"/>
                    </a:lnTo>
                    <a:lnTo>
                      <a:pt x="1256" y="72"/>
                    </a:lnTo>
                    <a:lnTo>
                      <a:pt x="1255" y="74"/>
                    </a:lnTo>
                    <a:lnTo>
                      <a:pt x="1253" y="76"/>
                    </a:lnTo>
                    <a:lnTo>
                      <a:pt x="1251" y="79"/>
                    </a:lnTo>
                    <a:lnTo>
                      <a:pt x="1251" y="84"/>
                    </a:lnTo>
                    <a:close/>
                    <a:moveTo>
                      <a:pt x="1282" y="110"/>
                    </a:moveTo>
                    <a:lnTo>
                      <a:pt x="1280" y="110"/>
                    </a:lnTo>
                    <a:lnTo>
                      <a:pt x="1277" y="112"/>
                    </a:lnTo>
                    <a:lnTo>
                      <a:pt x="1272" y="114"/>
                    </a:lnTo>
                    <a:lnTo>
                      <a:pt x="1268" y="115"/>
                    </a:lnTo>
                    <a:lnTo>
                      <a:pt x="1263" y="117"/>
                    </a:lnTo>
                    <a:lnTo>
                      <a:pt x="1258" y="119"/>
                    </a:lnTo>
                    <a:lnTo>
                      <a:pt x="1255" y="121"/>
                    </a:lnTo>
                    <a:lnTo>
                      <a:pt x="1253" y="122"/>
                    </a:lnTo>
                    <a:lnTo>
                      <a:pt x="1251" y="124"/>
                    </a:lnTo>
                    <a:lnTo>
                      <a:pt x="1251" y="127"/>
                    </a:lnTo>
                    <a:lnTo>
                      <a:pt x="1251" y="129"/>
                    </a:lnTo>
                    <a:lnTo>
                      <a:pt x="1251" y="131"/>
                    </a:lnTo>
                    <a:lnTo>
                      <a:pt x="1251" y="134"/>
                    </a:lnTo>
                    <a:lnTo>
                      <a:pt x="1251" y="138"/>
                    </a:lnTo>
                    <a:lnTo>
                      <a:pt x="1251" y="139"/>
                    </a:lnTo>
                    <a:lnTo>
                      <a:pt x="1253" y="143"/>
                    </a:lnTo>
                    <a:lnTo>
                      <a:pt x="1256" y="146"/>
                    </a:lnTo>
                    <a:lnTo>
                      <a:pt x="1258" y="148"/>
                    </a:lnTo>
                    <a:lnTo>
                      <a:pt x="1261" y="150"/>
                    </a:lnTo>
                    <a:lnTo>
                      <a:pt x="1263" y="150"/>
                    </a:lnTo>
                    <a:lnTo>
                      <a:pt x="1267" y="150"/>
                    </a:lnTo>
                    <a:lnTo>
                      <a:pt x="1268" y="148"/>
                    </a:lnTo>
                    <a:lnTo>
                      <a:pt x="1272" y="146"/>
                    </a:lnTo>
                    <a:lnTo>
                      <a:pt x="1274" y="145"/>
                    </a:lnTo>
                    <a:lnTo>
                      <a:pt x="1275" y="143"/>
                    </a:lnTo>
                    <a:lnTo>
                      <a:pt x="1279" y="139"/>
                    </a:lnTo>
                    <a:lnTo>
                      <a:pt x="1280" y="138"/>
                    </a:lnTo>
                    <a:lnTo>
                      <a:pt x="1280" y="134"/>
                    </a:lnTo>
                    <a:lnTo>
                      <a:pt x="1282" y="131"/>
                    </a:lnTo>
                    <a:lnTo>
                      <a:pt x="1282" y="127"/>
                    </a:lnTo>
                    <a:lnTo>
                      <a:pt x="1282" y="122"/>
                    </a:lnTo>
                    <a:lnTo>
                      <a:pt x="1282" y="117"/>
                    </a:lnTo>
                    <a:lnTo>
                      <a:pt x="1282" y="110"/>
                    </a:lnTo>
                    <a:close/>
                    <a:moveTo>
                      <a:pt x="1322" y="46"/>
                    </a:moveTo>
                    <a:lnTo>
                      <a:pt x="1349" y="46"/>
                    </a:lnTo>
                    <a:lnTo>
                      <a:pt x="1374" y="133"/>
                    </a:lnTo>
                    <a:lnTo>
                      <a:pt x="1398" y="46"/>
                    </a:lnTo>
                    <a:lnTo>
                      <a:pt x="1424" y="46"/>
                    </a:lnTo>
                    <a:lnTo>
                      <a:pt x="1391" y="164"/>
                    </a:lnTo>
                    <a:lnTo>
                      <a:pt x="1384" y="184"/>
                    </a:lnTo>
                    <a:lnTo>
                      <a:pt x="1382" y="190"/>
                    </a:lnTo>
                    <a:lnTo>
                      <a:pt x="1379" y="195"/>
                    </a:lnTo>
                    <a:lnTo>
                      <a:pt x="1377" y="200"/>
                    </a:lnTo>
                    <a:lnTo>
                      <a:pt x="1374" y="203"/>
                    </a:lnTo>
                    <a:lnTo>
                      <a:pt x="1372" y="205"/>
                    </a:lnTo>
                    <a:lnTo>
                      <a:pt x="1368" y="209"/>
                    </a:lnTo>
                    <a:lnTo>
                      <a:pt x="1367" y="210"/>
                    </a:lnTo>
                    <a:lnTo>
                      <a:pt x="1363" y="210"/>
                    </a:lnTo>
                    <a:lnTo>
                      <a:pt x="1360" y="212"/>
                    </a:lnTo>
                    <a:lnTo>
                      <a:pt x="1356" y="214"/>
                    </a:lnTo>
                    <a:lnTo>
                      <a:pt x="1351" y="215"/>
                    </a:lnTo>
                    <a:lnTo>
                      <a:pt x="1346" y="215"/>
                    </a:lnTo>
                    <a:lnTo>
                      <a:pt x="1343" y="215"/>
                    </a:lnTo>
                    <a:lnTo>
                      <a:pt x="1339" y="214"/>
                    </a:lnTo>
                    <a:lnTo>
                      <a:pt x="1334" y="214"/>
                    </a:lnTo>
                    <a:lnTo>
                      <a:pt x="1330" y="212"/>
                    </a:lnTo>
                    <a:lnTo>
                      <a:pt x="1329" y="186"/>
                    </a:lnTo>
                    <a:lnTo>
                      <a:pt x="1332" y="188"/>
                    </a:lnTo>
                    <a:lnTo>
                      <a:pt x="1336" y="188"/>
                    </a:lnTo>
                    <a:lnTo>
                      <a:pt x="1337" y="188"/>
                    </a:lnTo>
                    <a:lnTo>
                      <a:pt x="1341" y="188"/>
                    </a:lnTo>
                    <a:lnTo>
                      <a:pt x="1344" y="188"/>
                    </a:lnTo>
                    <a:lnTo>
                      <a:pt x="1348" y="186"/>
                    </a:lnTo>
                    <a:lnTo>
                      <a:pt x="1349" y="186"/>
                    </a:lnTo>
                    <a:lnTo>
                      <a:pt x="1351" y="184"/>
                    </a:lnTo>
                    <a:lnTo>
                      <a:pt x="1355" y="181"/>
                    </a:lnTo>
                    <a:lnTo>
                      <a:pt x="1358" y="177"/>
                    </a:lnTo>
                    <a:lnTo>
                      <a:pt x="1360" y="172"/>
                    </a:lnTo>
                    <a:lnTo>
                      <a:pt x="1362" y="167"/>
                    </a:lnTo>
                    <a:lnTo>
                      <a:pt x="1322" y="46"/>
                    </a:lnTo>
                    <a:close/>
                    <a:moveTo>
                      <a:pt x="1501" y="129"/>
                    </a:moveTo>
                    <a:lnTo>
                      <a:pt x="1527" y="134"/>
                    </a:lnTo>
                    <a:lnTo>
                      <a:pt x="1524" y="143"/>
                    </a:lnTo>
                    <a:lnTo>
                      <a:pt x="1520" y="152"/>
                    </a:lnTo>
                    <a:lnTo>
                      <a:pt x="1515" y="157"/>
                    </a:lnTo>
                    <a:lnTo>
                      <a:pt x="1512" y="162"/>
                    </a:lnTo>
                    <a:lnTo>
                      <a:pt x="1505" y="165"/>
                    </a:lnTo>
                    <a:lnTo>
                      <a:pt x="1498" y="167"/>
                    </a:lnTo>
                    <a:lnTo>
                      <a:pt x="1491" y="169"/>
                    </a:lnTo>
                    <a:lnTo>
                      <a:pt x="1482" y="169"/>
                    </a:lnTo>
                    <a:lnTo>
                      <a:pt x="1472" y="169"/>
                    </a:lnTo>
                    <a:lnTo>
                      <a:pt x="1463" y="167"/>
                    </a:lnTo>
                    <a:lnTo>
                      <a:pt x="1457" y="164"/>
                    </a:lnTo>
                    <a:lnTo>
                      <a:pt x="1450" y="157"/>
                    </a:lnTo>
                    <a:lnTo>
                      <a:pt x="1443" y="146"/>
                    </a:lnTo>
                    <a:lnTo>
                      <a:pt x="1439" y="136"/>
                    </a:lnTo>
                    <a:lnTo>
                      <a:pt x="1436" y="122"/>
                    </a:lnTo>
                    <a:lnTo>
                      <a:pt x="1434" y="108"/>
                    </a:lnTo>
                    <a:lnTo>
                      <a:pt x="1436" y="93"/>
                    </a:lnTo>
                    <a:lnTo>
                      <a:pt x="1439" y="81"/>
                    </a:lnTo>
                    <a:lnTo>
                      <a:pt x="1443" y="69"/>
                    </a:lnTo>
                    <a:lnTo>
                      <a:pt x="1450" y="60"/>
                    </a:lnTo>
                    <a:lnTo>
                      <a:pt x="1457" y="53"/>
                    </a:lnTo>
                    <a:lnTo>
                      <a:pt x="1463" y="48"/>
                    </a:lnTo>
                    <a:lnTo>
                      <a:pt x="1472" y="45"/>
                    </a:lnTo>
                    <a:lnTo>
                      <a:pt x="1481" y="43"/>
                    </a:lnTo>
                    <a:lnTo>
                      <a:pt x="1491" y="45"/>
                    </a:lnTo>
                    <a:lnTo>
                      <a:pt x="1500" y="48"/>
                    </a:lnTo>
                    <a:lnTo>
                      <a:pt x="1507" y="53"/>
                    </a:lnTo>
                    <a:lnTo>
                      <a:pt x="1513" y="60"/>
                    </a:lnTo>
                    <a:lnTo>
                      <a:pt x="1520" y="69"/>
                    </a:lnTo>
                    <a:lnTo>
                      <a:pt x="1524" y="81"/>
                    </a:lnTo>
                    <a:lnTo>
                      <a:pt x="1527" y="96"/>
                    </a:lnTo>
                    <a:lnTo>
                      <a:pt x="1529" y="112"/>
                    </a:lnTo>
                    <a:lnTo>
                      <a:pt x="1529" y="115"/>
                    </a:lnTo>
                    <a:lnTo>
                      <a:pt x="1462" y="115"/>
                    </a:lnTo>
                    <a:lnTo>
                      <a:pt x="1462" y="122"/>
                    </a:lnTo>
                    <a:lnTo>
                      <a:pt x="1463" y="129"/>
                    </a:lnTo>
                    <a:lnTo>
                      <a:pt x="1465" y="134"/>
                    </a:lnTo>
                    <a:lnTo>
                      <a:pt x="1469" y="139"/>
                    </a:lnTo>
                    <a:lnTo>
                      <a:pt x="1472" y="141"/>
                    </a:lnTo>
                    <a:lnTo>
                      <a:pt x="1475" y="145"/>
                    </a:lnTo>
                    <a:lnTo>
                      <a:pt x="1479" y="146"/>
                    </a:lnTo>
                    <a:lnTo>
                      <a:pt x="1482" y="146"/>
                    </a:lnTo>
                    <a:lnTo>
                      <a:pt x="1489" y="145"/>
                    </a:lnTo>
                    <a:lnTo>
                      <a:pt x="1494" y="141"/>
                    </a:lnTo>
                    <a:lnTo>
                      <a:pt x="1498" y="136"/>
                    </a:lnTo>
                    <a:lnTo>
                      <a:pt x="1501" y="129"/>
                    </a:lnTo>
                    <a:close/>
                    <a:moveTo>
                      <a:pt x="1501" y="95"/>
                    </a:moveTo>
                    <a:lnTo>
                      <a:pt x="1501" y="89"/>
                    </a:lnTo>
                    <a:lnTo>
                      <a:pt x="1500" y="84"/>
                    </a:lnTo>
                    <a:lnTo>
                      <a:pt x="1498" y="79"/>
                    </a:lnTo>
                    <a:lnTo>
                      <a:pt x="1496" y="74"/>
                    </a:lnTo>
                    <a:lnTo>
                      <a:pt x="1493" y="72"/>
                    </a:lnTo>
                    <a:lnTo>
                      <a:pt x="1489" y="70"/>
                    </a:lnTo>
                    <a:lnTo>
                      <a:pt x="1486" y="69"/>
                    </a:lnTo>
                    <a:lnTo>
                      <a:pt x="1481" y="69"/>
                    </a:lnTo>
                    <a:lnTo>
                      <a:pt x="1477" y="69"/>
                    </a:lnTo>
                    <a:lnTo>
                      <a:pt x="1474" y="70"/>
                    </a:lnTo>
                    <a:lnTo>
                      <a:pt x="1470" y="72"/>
                    </a:lnTo>
                    <a:lnTo>
                      <a:pt x="1469" y="76"/>
                    </a:lnTo>
                    <a:lnTo>
                      <a:pt x="1465" y="79"/>
                    </a:lnTo>
                    <a:lnTo>
                      <a:pt x="1463" y="84"/>
                    </a:lnTo>
                    <a:lnTo>
                      <a:pt x="1462" y="89"/>
                    </a:lnTo>
                    <a:lnTo>
                      <a:pt x="1462" y="95"/>
                    </a:lnTo>
                    <a:lnTo>
                      <a:pt x="1501" y="95"/>
                    </a:lnTo>
                    <a:close/>
                    <a:moveTo>
                      <a:pt x="1574" y="167"/>
                    </a:moveTo>
                    <a:lnTo>
                      <a:pt x="1550" y="167"/>
                    </a:lnTo>
                    <a:lnTo>
                      <a:pt x="1550" y="46"/>
                    </a:lnTo>
                    <a:lnTo>
                      <a:pt x="1572" y="46"/>
                    </a:lnTo>
                    <a:lnTo>
                      <a:pt x="1572" y="64"/>
                    </a:lnTo>
                    <a:lnTo>
                      <a:pt x="1576" y="58"/>
                    </a:lnTo>
                    <a:lnTo>
                      <a:pt x="1579" y="53"/>
                    </a:lnTo>
                    <a:lnTo>
                      <a:pt x="1581" y="50"/>
                    </a:lnTo>
                    <a:lnTo>
                      <a:pt x="1584" y="48"/>
                    </a:lnTo>
                    <a:lnTo>
                      <a:pt x="1588" y="46"/>
                    </a:lnTo>
                    <a:lnTo>
                      <a:pt x="1589" y="45"/>
                    </a:lnTo>
                    <a:lnTo>
                      <a:pt x="1593" y="43"/>
                    </a:lnTo>
                    <a:lnTo>
                      <a:pt x="1595" y="43"/>
                    </a:lnTo>
                    <a:lnTo>
                      <a:pt x="1600" y="43"/>
                    </a:lnTo>
                    <a:lnTo>
                      <a:pt x="1605" y="45"/>
                    </a:lnTo>
                    <a:lnTo>
                      <a:pt x="1608" y="48"/>
                    </a:lnTo>
                    <a:lnTo>
                      <a:pt x="1612" y="50"/>
                    </a:lnTo>
                    <a:lnTo>
                      <a:pt x="1605" y="79"/>
                    </a:lnTo>
                    <a:lnTo>
                      <a:pt x="1602" y="77"/>
                    </a:lnTo>
                    <a:lnTo>
                      <a:pt x="1598" y="76"/>
                    </a:lnTo>
                    <a:lnTo>
                      <a:pt x="1595" y="74"/>
                    </a:lnTo>
                    <a:lnTo>
                      <a:pt x="1591" y="74"/>
                    </a:lnTo>
                    <a:lnTo>
                      <a:pt x="1589" y="74"/>
                    </a:lnTo>
                    <a:lnTo>
                      <a:pt x="1588" y="74"/>
                    </a:lnTo>
                    <a:lnTo>
                      <a:pt x="1584" y="76"/>
                    </a:lnTo>
                    <a:lnTo>
                      <a:pt x="1583" y="77"/>
                    </a:lnTo>
                    <a:lnTo>
                      <a:pt x="1581" y="79"/>
                    </a:lnTo>
                    <a:lnTo>
                      <a:pt x="1579" y="83"/>
                    </a:lnTo>
                    <a:lnTo>
                      <a:pt x="1577" y="88"/>
                    </a:lnTo>
                    <a:lnTo>
                      <a:pt x="1576" y="93"/>
                    </a:lnTo>
                    <a:lnTo>
                      <a:pt x="1576" y="100"/>
                    </a:lnTo>
                    <a:lnTo>
                      <a:pt x="1576" y="107"/>
                    </a:lnTo>
                    <a:lnTo>
                      <a:pt x="1574" y="117"/>
                    </a:lnTo>
                    <a:lnTo>
                      <a:pt x="1574" y="129"/>
                    </a:lnTo>
                    <a:lnTo>
                      <a:pt x="1574" y="1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7" name="Freeform 895"/>
              <p:cNvSpPr>
                <a:spLocks noEditPoints="1"/>
              </p:cNvSpPr>
              <p:nvPr/>
            </p:nvSpPr>
            <p:spPr bwMode="auto">
              <a:xfrm>
                <a:off x="1169" y="3759"/>
                <a:ext cx="654" cy="105"/>
              </a:xfrm>
              <a:custGeom>
                <a:avLst/>
                <a:gdLst>
                  <a:gd name="T0" fmla="*/ 95 w 1307"/>
                  <a:gd name="T1" fmla="*/ 19 h 211"/>
                  <a:gd name="T2" fmla="*/ 83 w 1307"/>
                  <a:gd name="T3" fmla="*/ 95 h 211"/>
                  <a:gd name="T4" fmla="*/ 43 w 1307"/>
                  <a:gd name="T5" fmla="*/ 76 h 211"/>
                  <a:gd name="T6" fmla="*/ 76 w 1307"/>
                  <a:gd name="T7" fmla="*/ 57 h 211"/>
                  <a:gd name="T8" fmla="*/ 54 w 1307"/>
                  <a:gd name="T9" fmla="*/ 30 h 211"/>
                  <a:gd name="T10" fmla="*/ 173 w 1307"/>
                  <a:gd name="T11" fmla="*/ 45 h 211"/>
                  <a:gd name="T12" fmla="*/ 213 w 1307"/>
                  <a:gd name="T13" fmla="*/ 73 h 211"/>
                  <a:gd name="T14" fmla="*/ 182 w 1307"/>
                  <a:gd name="T15" fmla="*/ 73 h 211"/>
                  <a:gd name="T16" fmla="*/ 151 w 1307"/>
                  <a:gd name="T17" fmla="*/ 107 h 211"/>
                  <a:gd name="T18" fmla="*/ 285 w 1307"/>
                  <a:gd name="T19" fmla="*/ 181 h 211"/>
                  <a:gd name="T20" fmla="*/ 254 w 1307"/>
                  <a:gd name="T21" fmla="*/ 211 h 211"/>
                  <a:gd name="T22" fmla="*/ 247 w 1307"/>
                  <a:gd name="T23" fmla="*/ 185 h 211"/>
                  <a:gd name="T24" fmla="*/ 365 w 1307"/>
                  <a:gd name="T25" fmla="*/ 135 h 211"/>
                  <a:gd name="T26" fmla="*/ 397 w 1307"/>
                  <a:gd name="T27" fmla="*/ 133 h 211"/>
                  <a:gd name="T28" fmla="*/ 356 w 1307"/>
                  <a:gd name="T29" fmla="*/ 111 h 211"/>
                  <a:gd name="T30" fmla="*/ 361 w 1307"/>
                  <a:gd name="T31" fmla="*/ 47 h 211"/>
                  <a:gd name="T32" fmla="*/ 397 w 1307"/>
                  <a:gd name="T33" fmla="*/ 80 h 211"/>
                  <a:gd name="T34" fmla="*/ 361 w 1307"/>
                  <a:gd name="T35" fmla="*/ 74 h 211"/>
                  <a:gd name="T36" fmla="*/ 408 w 1307"/>
                  <a:gd name="T37" fmla="*/ 97 h 211"/>
                  <a:gd name="T38" fmla="*/ 408 w 1307"/>
                  <a:gd name="T39" fmla="*/ 161 h 211"/>
                  <a:gd name="T40" fmla="*/ 335 w 1307"/>
                  <a:gd name="T41" fmla="*/ 131 h 211"/>
                  <a:gd name="T42" fmla="*/ 586 w 1307"/>
                  <a:gd name="T43" fmla="*/ 81 h 211"/>
                  <a:gd name="T44" fmla="*/ 523 w 1307"/>
                  <a:gd name="T45" fmla="*/ 87 h 211"/>
                  <a:gd name="T46" fmla="*/ 548 w 1307"/>
                  <a:gd name="T47" fmla="*/ 142 h 211"/>
                  <a:gd name="T48" fmla="*/ 560 w 1307"/>
                  <a:gd name="T49" fmla="*/ 162 h 211"/>
                  <a:gd name="T50" fmla="*/ 499 w 1307"/>
                  <a:gd name="T51" fmla="*/ 80 h 211"/>
                  <a:gd name="T52" fmla="*/ 575 w 1307"/>
                  <a:gd name="T53" fmla="*/ 57 h 211"/>
                  <a:gd name="T54" fmla="*/ 629 w 1307"/>
                  <a:gd name="T55" fmla="*/ 45 h 211"/>
                  <a:gd name="T56" fmla="*/ 682 w 1307"/>
                  <a:gd name="T57" fmla="*/ 66 h 211"/>
                  <a:gd name="T58" fmla="*/ 691 w 1307"/>
                  <a:gd name="T59" fmla="*/ 161 h 211"/>
                  <a:gd name="T60" fmla="*/ 632 w 1307"/>
                  <a:gd name="T61" fmla="*/ 164 h 211"/>
                  <a:gd name="T62" fmla="*/ 603 w 1307"/>
                  <a:gd name="T63" fmla="*/ 119 h 211"/>
                  <a:gd name="T64" fmla="*/ 651 w 1307"/>
                  <a:gd name="T65" fmla="*/ 92 h 211"/>
                  <a:gd name="T66" fmla="*/ 651 w 1307"/>
                  <a:gd name="T67" fmla="*/ 68 h 211"/>
                  <a:gd name="T68" fmla="*/ 627 w 1307"/>
                  <a:gd name="T69" fmla="*/ 83 h 211"/>
                  <a:gd name="T70" fmla="*/ 627 w 1307"/>
                  <a:gd name="T71" fmla="*/ 125 h 211"/>
                  <a:gd name="T72" fmla="*/ 643 w 1307"/>
                  <a:gd name="T73" fmla="*/ 147 h 211"/>
                  <a:gd name="T74" fmla="*/ 660 w 1307"/>
                  <a:gd name="T75" fmla="*/ 116 h 211"/>
                  <a:gd name="T76" fmla="*/ 912 w 1307"/>
                  <a:gd name="T77" fmla="*/ 138 h 211"/>
                  <a:gd name="T78" fmla="*/ 960 w 1307"/>
                  <a:gd name="T79" fmla="*/ 43 h 211"/>
                  <a:gd name="T80" fmla="*/ 1007 w 1307"/>
                  <a:gd name="T81" fmla="*/ 73 h 211"/>
                  <a:gd name="T82" fmla="*/ 1015 w 1307"/>
                  <a:gd name="T83" fmla="*/ 164 h 211"/>
                  <a:gd name="T84" fmla="*/ 950 w 1307"/>
                  <a:gd name="T85" fmla="*/ 164 h 211"/>
                  <a:gd name="T86" fmla="*/ 927 w 1307"/>
                  <a:gd name="T87" fmla="*/ 116 h 211"/>
                  <a:gd name="T88" fmla="*/ 979 w 1307"/>
                  <a:gd name="T89" fmla="*/ 90 h 211"/>
                  <a:gd name="T90" fmla="*/ 972 w 1307"/>
                  <a:gd name="T91" fmla="*/ 68 h 211"/>
                  <a:gd name="T92" fmla="*/ 983 w 1307"/>
                  <a:gd name="T93" fmla="*/ 109 h 211"/>
                  <a:gd name="T94" fmla="*/ 950 w 1307"/>
                  <a:gd name="T95" fmla="*/ 128 h 211"/>
                  <a:gd name="T96" fmla="*/ 969 w 1307"/>
                  <a:gd name="T97" fmla="*/ 145 h 211"/>
                  <a:gd name="T98" fmla="*/ 983 w 1307"/>
                  <a:gd name="T99" fmla="*/ 109 h 211"/>
                  <a:gd name="T100" fmla="*/ 1074 w 1307"/>
                  <a:gd name="T101" fmla="*/ 199 h 211"/>
                  <a:gd name="T102" fmla="*/ 1036 w 1307"/>
                  <a:gd name="T103" fmla="*/ 209 h 211"/>
                  <a:gd name="T104" fmla="*/ 1055 w 1307"/>
                  <a:gd name="T105" fmla="*/ 178 h 211"/>
                  <a:gd name="T106" fmla="*/ 1202 w 1307"/>
                  <a:gd name="T107" fmla="*/ 162 h 211"/>
                  <a:gd name="T108" fmla="*/ 1133 w 1307"/>
                  <a:gd name="T109" fmla="*/ 107 h 211"/>
                  <a:gd name="T110" fmla="*/ 1204 w 1307"/>
                  <a:gd name="T111" fmla="*/ 52 h 211"/>
                  <a:gd name="T112" fmla="*/ 1166 w 1307"/>
                  <a:gd name="T113" fmla="*/ 137 h 211"/>
                  <a:gd name="T114" fmla="*/ 1197 w 1307"/>
                  <a:gd name="T115" fmla="*/ 83 h 211"/>
                  <a:gd name="T116" fmla="*/ 1164 w 1307"/>
                  <a:gd name="T117" fmla="*/ 80 h 211"/>
                  <a:gd name="T118" fmla="*/ 1276 w 1307"/>
                  <a:gd name="T119" fmla="*/ 54 h 211"/>
                  <a:gd name="T120" fmla="*/ 1298 w 1307"/>
                  <a:gd name="T121" fmla="*/ 78 h 211"/>
                  <a:gd name="T122" fmla="*/ 1276 w 1307"/>
                  <a:gd name="T123" fmla="*/ 87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307" h="211">
                    <a:moveTo>
                      <a:pt x="0" y="164"/>
                    </a:moveTo>
                    <a:lnTo>
                      <a:pt x="0" y="0"/>
                    </a:lnTo>
                    <a:lnTo>
                      <a:pt x="43" y="0"/>
                    </a:lnTo>
                    <a:lnTo>
                      <a:pt x="56" y="0"/>
                    </a:lnTo>
                    <a:lnTo>
                      <a:pt x="64" y="2"/>
                    </a:lnTo>
                    <a:lnTo>
                      <a:pt x="71" y="2"/>
                    </a:lnTo>
                    <a:lnTo>
                      <a:pt x="76" y="4"/>
                    </a:lnTo>
                    <a:lnTo>
                      <a:pt x="81" y="7"/>
                    </a:lnTo>
                    <a:lnTo>
                      <a:pt x="87" y="11"/>
                    </a:lnTo>
                    <a:lnTo>
                      <a:pt x="92" y="14"/>
                    </a:lnTo>
                    <a:lnTo>
                      <a:pt x="95" y="19"/>
                    </a:lnTo>
                    <a:lnTo>
                      <a:pt x="99" y="26"/>
                    </a:lnTo>
                    <a:lnTo>
                      <a:pt x="100" y="33"/>
                    </a:lnTo>
                    <a:lnTo>
                      <a:pt x="102" y="42"/>
                    </a:lnTo>
                    <a:lnTo>
                      <a:pt x="102" y="52"/>
                    </a:lnTo>
                    <a:lnTo>
                      <a:pt x="102" y="61"/>
                    </a:lnTo>
                    <a:lnTo>
                      <a:pt x="100" y="68"/>
                    </a:lnTo>
                    <a:lnTo>
                      <a:pt x="99" y="74"/>
                    </a:lnTo>
                    <a:lnTo>
                      <a:pt x="97" y="81"/>
                    </a:lnTo>
                    <a:lnTo>
                      <a:pt x="94" y="87"/>
                    </a:lnTo>
                    <a:lnTo>
                      <a:pt x="88" y="92"/>
                    </a:lnTo>
                    <a:lnTo>
                      <a:pt x="83" y="95"/>
                    </a:lnTo>
                    <a:lnTo>
                      <a:pt x="80" y="99"/>
                    </a:lnTo>
                    <a:lnTo>
                      <a:pt x="73" y="100"/>
                    </a:lnTo>
                    <a:lnTo>
                      <a:pt x="66" y="102"/>
                    </a:lnTo>
                    <a:lnTo>
                      <a:pt x="56" y="104"/>
                    </a:lnTo>
                    <a:lnTo>
                      <a:pt x="45" y="104"/>
                    </a:lnTo>
                    <a:lnTo>
                      <a:pt x="26" y="104"/>
                    </a:lnTo>
                    <a:lnTo>
                      <a:pt x="26" y="164"/>
                    </a:lnTo>
                    <a:lnTo>
                      <a:pt x="0" y="164"/>
                    </a:lnTo>
                    <a:close/>
                    <a:moveTo>
                      <a:pt x="26" y="30"/>
                    </a:moveTo>
                    <a:lnTo>
                      <a:pt x="26" y="76"/>
                    </a:lnTo>
                    <a:lnTo>
                      <a:pt x="43" y="76"/>
                    </a:lnTo>
                    <a:lnTo>
                      <a:pt x="50" y="76"/>
                    </a:lnTo>
                    <a:lnTo>
                      <a:pt x="56" y="74"/>
                    </a:lnTo>
                    <a:lnTo>
                      <a:pt x="59" y="74"/>
                    </a:lnTo>
                    <a:lnTo>
                      <a:pt x="62" y="73"/>
                    </a:lnTo>
                    <a:lnTo>
                      <a:pt x="66" y="71"/>
                    </a:lnTo>
                    <a:lnTo>
                      <a:pt x="68" y="69"/>
                    </a:lnTo>
                    <a:lnTo>
                      <a:pt x="71" y="69"/>
                    </a:lnTo>
                    <a:lnTo>
                      <a:pt x="73" y="68"/>
                    </a:lnTo>
                    <a:lnTo>
                      <a:pt x="75" y="64"/>
                    </a:lnTo>
                    <a:lnTo>
                      <a:pt x="75" y="61"/>
                    </a:lnTo>
                    <a:lnTo>
                      <a:pt x="76" y="57"/>
                    </a:lnTo>
                    <a:lnTo>
                      <a:pt x="76" y="52"/>
                    </a:lnTo>
                    <a:lnTo>
                      <a:pt x="76" y="49"/>
                    </a:lnTo>
                    <a:lnTo>
                      <a:pt x="75" y="45"/>
                    </a:lnTo>
                    <a:lnTo>
                      <a:pt x="75" y="42"/>
                    </a:lnTo>
                    <a:lnTo>
                      <a:pt x="73" y="38"/>
                    </a:lnTo>
                    <a:lnTo>
                      <a:pt x="71" y="37"/>
                    </a:lnTo>
                    <a:lnTo>
                      <a:pt x="68" y="35"/>
                    </a:lnTo>
                    <a:lnTo>
                      <a:pt x="66" y="33"/>
                    </a:lnTo>
                    <a:lnTo>
                      <a:pt x="62" y="31"/>
                    </a:lnTo>
                    <a:lnTo>
                      <a:pt x="59" y="30"/>
                    </a:lnTo>
                    <a:lnTo>
                      <a:pt x="54" y="30"/>
                    </a:lnTo>
                    <a:lnTo>
                      <a:pt x="49" y="30"/>
                    </a:lnTo>
                    <a:lnTo>
                      <a:pt x="40" y="30"/>
                    </a:lnTo>
                    <a:lnTo>
                      <a:pt x="26" y="30"/>
                    </a:lnTo>
                    <a:close/>
                    <a:moveTo>
                      <a:pt x="151" y="0"/>
                    </a:moveTo>
                    <a:lnTo>
                      <a:pt x="151" y="61"/>
                    </a:lnTo>
                    <a:lnTo>
                      <a:pt x="154" y="57"/>
                    </a:lnTo>
                    <a:lnTo>
                      <a:pt x="157" y="54"/>
                    </a:lnTo>
                    <a:lnTo>
                      <a:pt x="161" y="52"/>
                    </a:lnTo>
                    <a:lnTo>
                      <a:pt x="164" y="49"/>
                    </a:lnTo>
                    <a:lnTo>
                      <a:pt x="168" y="47"/>
                    </a:lnTo>
                    <a:lnTo>
                      <a:pt x="173" y="45"/>
                    </a:lnTo>
                    <a:lnTo>
                      <a:pt x="176" y="43"/>
                    </a:lnTo>
                    <a:lnTo>
                      <a:pt x="180" y="43"/>
                    </a:lnTo>
                    <a:lnTo>
                      <a:pt x="187" y="43"/>
                    </a:lnTo>
                    <a:lnTo>
                      <a:pt x="192" y="45"/>
                    </a:lnTo>
                    <a:lnTo>
                      <a:pt x="195" y="49"/>
                    </a:lnTo>
                    <a:lnTo>
                      <a:pt x="199" y="50"/>
                    </a:lnTo>
                    <a:lnTo>
                      <a:pt x="204" y="54"/>
                    </a:lnTo>
                    <a:lnTo>
                      <a:pt x="207" y="57"/>
                    </a:lnTo>
                    <a:lnTo>
                      <a:pt x="209" y="62"/>
                    </a:lnTo>
                    <a:lnTo>
                      <a:pt x="211" y="68"/>
                    </a:lnTo>
                    <a:lnTo>
                      <a:pt x="213" y="73"/>
                    </a:lnTo>
                    <a:lnTo>
                      <a:pt x="213" y="78"/>
                    </a:lnTo>
                    <a:lnTo>
                      <a:pt x="213" y="87"/>
                    </a:lnTo>
                    <a:lnTo>
                      <a:pt x="213" y="95"/>
                    </a:lnTo>
                    <a:lnTo>
                      <a:pt x="213" y="164"/>
                    </a:lnTo>
                    <a:lnTo>
                      <a:pt x="187" y="164"/>
                    </a:lnTo>
                    <a:lnTo>
                      <a:pt x="187" y="102"/>
                    </a:lnTo>
                    <a:lnTo>
                      <a:pt x="187" y="92"/>
                    </a:lnTo>
                    <a:lnTo>
                      <a:pt x="187" y="85"/>
                    </a:lnTo>
                    <a:lnTo>
                      <a:pt x="187" y="78"/>
                    </a:lnTo>
                    <a:lnTo>
                      <a:pt x="185" y="74"/>
                    </a:lnTo>
                    <a:lnTo>
                      <a:pt x="182" y="73"/>
                    </a:lnTo>
                    <a:lnTo>
                      <a:pt x="180" y="69"/>
                    </a:lnTo>
                    <a:lnTo>
                      <a:pt x="176" y="68"/>
                    </a:lnTo>
                    <a:lnTo>
                      <a:pt x="173" y="68"/>
                    </a:lnTo>
                    <a:lnTo>
                      <a:pt x="168" y="68"/>
                    </a:lnTo>
                    <a:lnTo>
                      <a:pt x="163" y="69"/>
                    </a:lnTo>
                    <a:lnTo>
                      <a:pt x="159" y="73"/>
                    </a:lnTo>
                    <a:lnTo>
                      <a:pt x="156" y="76"/>
                    </a:lnTo>
                    <a:lnTo>
                      <a:pt x="154" y="81"/>
                    </a:lnTo>
                    <a:lnTo>
                      <a:pt x="152" y="87"/>
                    </a:lnTo>
                    <a:lnTo>
                      <a:pt x="151" y="95"/>
                    </a:lnTo>
                    <a:lnTo>
                      <a:pt x="151" y="107"/>
                    </a:lnTo>
                    <a:lnTo>
                      <a:pt x="151" y="164"/>
                    </a:lnTo>
                    <a:lnTo>
                      <a:pt x="125" y="164"/>
                    </a:lnTo>
                    <a:lnTo>
                      <a:pt x="125" y="0"/>
                    </a:lnTo>
                    <a:lnTo>
                      <a:pt x="151" y="0"/>
                    </a:lnTo>
                    <a:close/>
                    <a:moveTo>
                      <a:pt x="226" y="47"/>
                    </a:moveTo>
                    <a:lnTo>
                      <a:pt x="254" y="47"/>
                    </a:lnTo>
                    <a:lnTo>
                      <a:pt x="277" y="131"/>
                    </a:lnTo>
                    <a:lnTo>
                      <a:pt x="301" y="47"/>
                    </a:lnTo>
                    <a:lnTo>
                      <a:pt x="327" y="47"/>
                    </a:lnTo>
                    <a:lnTo>
                      <a:pt x="294" y="161"/>
                    </a:lnTo>
                    <a:lnTo>
                      <a:pt x="285" y="181"/>
                    </a:lnTo>
                    <a:lnTo>
                      <a:pt x="285" y="187"/>
                    </a:lnTo>
                    <a:lnTo>
                      <a:pt x="283" y="192"/>
                    </a:lnTo>
                    <a:lnTo>
                      <a:pt x="280" y="195"/>
                    </a:lnTo>
                    <a:lnTo>
                      <a:pt x="278" y="199"/>
                    </a:lnTo>
                    <a:lnTo>
                      <a:pt x="275" y="200"/>
                    </a:lnTo>
                    <a:lnTo>
                      <a:pt x="273" y="204"/>
                    </a:lnTo>
                    <a:lnTo>
                      <a:pt x="270" y="206"/>
                    </a:lnTo>
                    <a:lnTo>
                      <a:pt x="266" y="209"/>
                    </a:lnTo>
                    <a:lnTo>
                      <a:pt x="263" y="209"/>
                    </a:lnTo>
                    <a:lnTo>
                      <a:pt x="259" y="209"/>
                    </a:lnTo>
                    <a:lnTo>
                      <a:pt x="254" y="211"/>
                    </a:lnTo>
                    <a:lnTo>
                      <a:pt x="249" y="211"/>
                    </a:lnTo>
                    <a:lnTo>
                      <a:pt x="245" y="211"/>
                    </a:lnTo>
                    <a:lnTo>
                      <a:pt x="242" y="209"/>
                    </a:lnTo>
                    <a:lnTo>
                      <a:pt x="239" y="209"/>
                    </a:lnTo>
                    <a:lnTo>
                      <a:pt x="235" y="209"/>
                    </a:lnTo>
                    <a:lnTo>
                      <a:pt x="233" y="183"/>
                    </a:lnTo>
                    <a:lnTo>
                      <a:pt x="237" y="183"/>
                    </a:lnTo>
                    <a:lnTo>
                      <a:pt x="239" y="183"/>
                    </a:lnTo>
                    <a:lnTo>
                      <a:pt x="242" y="185"/>
                    </a:lnTo>
                    <a:lnTo>
                      <a:pt x="245" y="185"/>
                    </a:lnTo>
                    <a:lnTo>
                      <a:pt x="247" y="185"/>
                    </a:lnTo>
                    <a:lnTo>
                      <a:pt x="251" y="183"/>
                    </a:lnTo>
                    <a:lnTo>
                      <a:pt x="252" y="183"/>
                    </a:lnTo>
                    <a:lnTo>
                      <a:pt x="256" y="181"/>
                    </a:lnTo>
                    <a:lnTo>
                      <a:pt x="259" y="178"/>
                    </a:lnTo>
                    <a:lnTo>
                      <a:pt x="261" y="175"/>
                    </a:lnTo>
                    <a:lnTo>
                      <a:pt x="264" y="169"/>
                    </a:lnTo>
                    <a:lnTo>
                      <a:pt x="266" y="164"/>
                    </a:lnTo>
                    <a:lnTo>
                      <a:pt x="226" y="47"/>
                    </a:lnTo>
                    <a:close/>
                    <a:moveTo>
                      <a:pt x="335" y="131"/>
                    </a:moveTo>
                    <a:lnTo>
                      <a:pt x="361" y="128"/>
                    </a:lnTo>
                    <a:lnTo>
                      <a:pt x="365" y="135"/>
                    </a:lnTo>
                    <a:lnTo>
                      <a:pt x="370" y="142"/>
                    </a:lnTo>
                    <a:lnTo>
                      <a:pt x="375" y="145"/>
                    </a:lnTo>
                    <a:lnTo>
                      <a:pt x="382" y="147"/>
                    </a:lnTo>
                    <a:lnTo>
                      <a:pt x="385" y="147"/>
                    </a:lnTo>
                    <a:lnTo>
                      <a:pt x="389" y="145"/>
                    </a:lnTo>
                    <a:lnTo>
                      <a:pt x="392" y="143"/>
                    </a:lnTo>
                    <a:lnTo>
                      <a:pt x="396" y="142"/>
                    </a:lnTo>
                    <a:lnTo>
                      <a:pt x="397" y="140"/>
                    </a:lnTo>
                    <a:lnTo>
                      <a:pt x="397" y="138"/>
                    </a:lnTo>
                    <a:lnTo>
                      <a:pt x="397" y="135"/>
                    </a:lnTo>
                    <a:lnTo>
                      <a:pt x="397" y="133"/>
                    </a:lnTo>
                    <a:lnTo>
                      <a:pt x="397" y="131"/>
                    </a:lnTo>
                    <a:lnTo>
                      <a:pt x="397" y="130"/>
                    </a:lnTo>
                    <a:lnTo>
                      <a:pt x="397" y="128"/>
                    </a:lnTo>
                    <a:lnTo>
                      <a:pt x="397" y="128"/>
                    </a:lnTo>
                    <a:lnTo>
                      <a:pt x="396" y="126"/>
                    </a:lnTo>
                    <a:lnTo>
                      <a:pt x="396" y="125"/>
                    </a:lnTo>
                    <a:lnTo>
                      <a:pt x="394" y="125"/>
                    </a:lnTo>
                    <a:lnTo>
                      <a:pt x="390" y="123"/>
                    </a:lnTo>
                    <a:lnTo>
                      <a:pt x="375" y="119"/>
                    </a:lnTo>
                    <a:lnTo>
                      <a:pt x="365" y="114"/>
                    </a:lnTo>
                    <a:lnTo>
                      <a:pt x="356" y="111"/>
                    </a:lnTo>
                    <a:lnTo>
                      <a:pt x="349" y="107"/>
                    </a:lnTo>
                    <a:lnTo>
                      <a:pt x="344" y="102"/>
                    </a:lnTo>
                    <a:lnTo>
                      <a:pt x="342" y="95"/>
                    </a:lnTo>
                    <a:lnTo>
                      <a:pt x="339" y="87"/>
                    </a:lnTo>
                    <a:lnTo>
                      <a:pt x="339" y="80"/>
                    </a:lnTo>
                    <a:lnTo>
                      <a:pt x="339" y="73"/>
                    </a:lnTo>
                    <a:lnTo>
                      <a:pt x="342" y="64"/>
                    </a:lnTo>
                    <a:lnTo>
                      <a:pt x="344" y="59"/>
                    </a:lnTo>
                    <a:lnTo>
                      <a:pt x="349" y="54"/>
                    </a:lnTo>
                    <a:lnTo>
                      <a:pt x="354" y="50"/>
                    </a:lnTo>
                    <a:lnTo>
                      <a:pt x="361" y="47"/>
                    </a:lnTo>
                    <a:lnTo>
                      <a:pt x="370" y="45"/>
                    </a:lnTo>
                    <a:lnTo>
                      <a:pt x="378" y="43"/>
                    </a:lnTo>
                    <a:lnTo>
                      <a:pt x="389" y="43"/>
                    </a:lnTo>
                    <a:lnTo>
                      <a:pt x="397" y="45"/>
                    </a:lnTo>
                    <a:lnTo>
                      <a:pt x="404" y="49"/>
                    </a:lnTo>
                    <a:lnTo>
                      <a:pt x="409" y="52"/>
                    </a:lnTo>
                    <a:lnTo>
                      <a:pt x="415" y="55"/>
                    </a:lnTo>
                    <a:lnTo>
                      <a:pt x="418" y="61"/>
                    </a:lnTo>
                    <a:lnTo>
                      <a:pt x="420" y="68"/>
                    </a:lnTo>
                    <a:lnTo>
                      <a:pt x="423" y="74"/>
                    </a:lnTo>
                    <a:lnTo>
                      <a:pt x="397" y="80"/>
                    </a:lnTo>
                    <a:lnTo>
                      <a:pt x="396" y="74"/>
                    </a:lnTo>
                    <a:lnTo>
                      <a:pt x="392" y="71"/>
                    </a:lnTo>
                    <a:lnTo>
                      <a:pt x="387" y="68"/>
                    </a:lnTo>
                    <a:lnTo>
                      <a:pt x="380" y="68"/>
                    </a:lnTo>
                    <a:lnTo>
                      <a:pt x="377" y="68"/>
                    </a:lnTo>
                    <a:lnTo>
                      <a:pt x="371" y="68"/>
                    </a:lnTo>
                    <a:lnTo>
                      <a:pt x="368" y="68"/>
                    </a:lnTo>
                    <a:lnTo>
                      <a:pt x="366" y="69"/>
                    </a:lnTo>
                    <a:lnTo>
                      <a:pt x="365" y="71"/>
                    </a:lnTo>
                    <a:lnTo>
                      <a:pt x="363" y="73"/>
                    </a:lnTo>
                    <a:lnTo>
                      <a:pt x="361" y="74"/>
                    </a:lnTo>
                    <a:lnTo>
                      <a:pt x="361" y="76"/>
                    </a:lnTo>
                    <a:lnTo>
                      <a:pt x="361" y="78"/>
                    </a:lnTo>
                    <a:lnTo>
                      <a:pt x="363" y="80"/>
                    </a:lnTo>
                    <a:lnTo>
                      <a:pt x="365" y="81"/>
                    </a:lnTo>
                    <a:lnTo>
                      <a:pt x="366" y="83"/>
                    </a:lnTo>
                    <a:lnTo>
                      <a:pt x="368" y="85"/>
                    </a:lnTo>
                    <a:lnTo>
                      <a:pt x="373" y="87"/>
                    </a:lnTo>
                    <a:lnTo>
                      <a:pt x="380" y="88"/>
                    </a:lnTo>
                    <a:lnTo>
                      <a:pt x="389" y="90"/>
                    </a:lnTo>
                    <a:lnTo>
                      <a:pt x="399" y="93"/>
                    </a:lnTo>
                    <a:lnTo>
                      <a:pt x="408" y="97"/>
                    </a:lnTo>
                    <a:lnTo>
                      <a:pt x="413" y="102"/>
                    </a:lnTo>
                    <a:lnTo>
                      <a:pt x="416" y="107"/>
                    </a:lnTo>
                    <a:lnTo>
                      <a:pt x="422" y="111"/>
                    </a:lnTo>
                    <a:lnTo>
                      <a:pt x="425" y="116"/>
                    </a:lnTo>
                    <a:lnTo>
                      <a:pt x="427" y="121"/>
                    </a:lnTo>
                    <a:lnTo>
                      <a:pt x="427" y="128"/>
                    </a:lnTo>
                    <a:lnTo>
                      <a:pt x="425" y="137"/>
                    </a:lnTo>
                    <a:lnTo>
                      <a:pt x="423" y="143"/>
                    </a:lnTo>
                    <a:lnTo>
                      <a:pt x="420" y="150"/>
                    </a:lnTo>
                    <a:lnTo>
                      <a:pt x="415" y="157"/>
                    </a:lnTo>
                    <a:lnTo>
                      <a:pt x="408" y="161"/>
                    </a:lnTo>
                    <a:lnTo>
                      <a:pt x="401" y="162"/>
                    </a:lnTo>
                    <a:lnTo>
                      <a:pt x="392" y="164"/>
                    </a:lnTo>
                    <a:lnTo>
                      <a:pt x="382" y="164"/>
                    </a:lnTo>
                    <a:lnTo>
                      <a:pt x="373" y="164"/>
                    </a:lnTo>
                    <a:lnTo>
                      <a:pt x="365" y="164"/>
                    </a:lnTo>
                    <a:lnTo>
                      <a:pt x="358" y="162"/>
                    </a:lnTo>
                    <a:lnTo>
                      <a:pt x="351" y="159"/>
                    </a:lnTo>
                    <a:lnTo>
                      <a:pt x="346" y="154"/>
                    </a:lnTo>
                    <a:lnTo>
                      <a:pt x="340" y="147"/>
                    </a:lnTo>
                    <a:lnTo>
                      <a:pt x="339" y="140"/>
                    </a:lnTo>
                    <a:lnTo>
                      <a:pt x="335" y="131"/>
                    </a:lnTo>
                    <a:close/>
                    <a:moveTo>
                      <a:pt x="449" y="30"/>
                    </a:moveTo>
                    <a:lnTo>
                      <a:pt x="449" y="0"/>
                    </a:lnTo>
                    <a:lnTo>
                      <a:pt x="475" y="0"/>
                    </a:lnTo>
                    <a:lnTo>
                      <a:pt x="475" y="30"/>
                    </a:lnTo>
                    <a:lnTo>
                      <a:pt x="449" y="30"/>
                    </a:lnTo>
                    <a:close/>
                    <a:moveTo>
                      <a:pt x="449" y="164"/>
                    </a:moveTo>
                    <a:lnTo>
                      <a:pt x="449" y="47"/>
                    </a:lnTo>
                    <a:lnTo>
                      <a:pt x="475" y="47"/>
                    </a:lnTo>
                    <a:lnTo>
                      <a:pt x="475" y="164"/>
                    </a:lnTo>
                    <a:lnTo>
                      <a:pt x="449" y="164"/>
                    </a:lnTo>
                    <a:close/>
                    <a:moveTo>
                      <a:pt x="586" y="81"/>
                    </a:moveTo>
                    <a:lnTo>
                      <a:pt x="561" y="88"/>
                    </a:lnTo>
                    <a:lnTo>
                      <a:pt x="558" y="80"/>
                    </a:lnTo>
                    <a:lnTo>
                      <a:pt x="554" y="73"/>
                    </a:lnTo>
                    <a:lnTo>
                      <a:pt x="549" y="69"/>
                    </a:lnTo>
                    <a:lnTo>
                      <a:pt x="544" y="68"/>
                    </a:lnTo>
                    <a:lnTo>
                      <a:pt x="539" y="68"/>
                    </a:lnTo>
                    <a:lnTo>
                      <a:pt x="534" y="69"/>
                    </a:lnTo>
                    <a:lnTo>
                      <a:pt x="530" y="73"/>
                    </a:lnTo>
                    <a:lnTo>
                      <a:pt x="529" y="76"/>
                    </a:lnTo>
                    <a:lnTo>
                      <a:pt x="527" y="81"/>
                    </a:lnTo>
                    <a:lnTo>
                      <a:pt x="523" y="87"/>
                    </a:lnTo>
                    <a:lnTo>
                      <a:pt x="522" y="95"/>
                    </a:lnTo>
                    <a:lnTo>
                      <a:pt x="522" y="104"/>
                    </a:lnTo>
                    <a:lnTo>
                      <a:pt x="522" y="114"/>
                    </a:lnTo>
                    <a:lnTo>
                      <a:pt x="523" y="121"/>
                    </a:lnTo>
                    <a:lnTo>
                      <a:pt x="527" y="128"/>
                    </a:lnTo>
                    <a:lnTo>
                      <a:pt x="529" y="133"/>
                    </a:lnTo>
                    <a:lnTo>
                      <a:pt x="530" y="137"/>
                    </a:lnTo>
                    <a:lnTo>
                      <a:pt x="534" y="140"/>
                    </a:lnTo>
                    <a:lnTo>
                      <a:pt x="539" y="142"/>
                    </a:lnTo>
                    <a:lnTo>
                      <a:pt x="544" y="142"/>
                    </a:lnTo>
                    <a:lnTo>
                      <a:pt x="548" y="142"/>
                    </a:lnTo>
                    <a:lnTo>
                      <a:pt x="549" y="140"/>
                    </a:lnTo>
                    <a:lnTo>
                      <a:pt x="553" y="140"/>
                    </a:lnTo>
                    <a:lnTo>
                      <a:pt x="554" y="138"/>
                    </a:lnTo>
                    <a:lnTo>
                      <a:pt x="556" y="135"/>
                    </a:lnTo>
                    <a:lnTo>
                      <a:pt x="558" y="130"/>
                    </a:lnTo>
                    <a:lnTo>
                      <a:pt x="560" y="125"/>
                    </a:lnTo>
                    <a:lnTo>
                      <a:pt x="561" y="119"/>
                    </a:lnTo>
                    <a:lnTo>
                      <a:pt x="587" y="126"/>
                    </a:lnTo>
                    <a:lnTo>
                      <a:pt x="582" y="143"/>
                    </a:lnTo>
                    <a:lnTo>
                      <a:pt x="572" y="156"/>
                    </a:lnTo>
                    <a:lnTo>
                      <a:pt x="560" y="162"/>
                    </a:lnTo>
                    <a:lnTo>
                      <a:pt x="542" y="164"/>
                    </a:lnTo>
                    <a:lnTo>
                      <a:pt x="532" y="164"/>
                    </a:lnTo>
                    <a:lnTo>
                      <a:pt x="522" y="161"/>
                    </a:lnTo>
                    <a:lnTo>
                      <a:pt x="513" y="157"/>
                    </a:lnTo>
                    <a:lnTo>
                      <a:pt x="506" y="149"/>
                    </a:lnTo>
                    <a:lnTo>
                      <a:pt x="501" y="140"/>
                    </a:lnTo>
                    <a:lnTo>
                      <a:pt x="499" y="130"/>
                    </a:lnTo>
                    <a:lnTo>
                      <a:pt x="496" y="119"/>
                    </a:lnTo>
                    <a:lnTo>
                      <a:pt x="496" y="107"/>
                    </a:lnTo>
                    <a:lnTo>
                      <a:pt x="496" y="93"/>
                    </a:lnTo>
                    <a:lnTo>
                      <a:pt x="499" y="80"/>
                    </a:lnTo>
                    <a:lnTo>
                      <a:pt x="503" y="69"/>
                    </a:lnTo>
                    <a:lnTo>
                      <a:pt x="508" y="59"/>
                    </a:lnTo>
                    <a:lnTo>
                      <a:pt x="515" y="52"/>
                    </a:lnTo>
                    <a:lnTo>
                      <a:pt x="523" y="47"/>
                    </a:lnTo>
                    <a:lnTo>
                      <a:pt x="532" y="45"/>
                    </a:lnTo>
                    <a:lnTo>
                      <a:pt x="542" y="43"/>
                    </a:lnTo>
                    <a:lnTo>
                      <a:pt x="551" y="43"/>
                    </a:lnTo>
                    <a:lnTo>
                      <a:pt x="558" y="45"/>
                    </a:lnTo>
                    <a:lnTo>
                      <a:pt x="565" y="49"/>
                    </a:lnTo>
                    <a:lnTo>
                      <a:pt x="570" y="52"/>
                    </a:lnTo>
                    <a:lnTo>
                      <a:pt x="575" y="57"/>
                    </a:lnTo>
                    <a:lnTo>
                      <a:pt x="580" y="64"/>
                    </a:lnTo>
                    <a:lnTo>
                      <a:pt x="584" y="73"/>
                    </a:lnTo>
                    <a:lnTo>
                      <a:pt x="586" y="81"/>
                    </a:lnTo>
                    <a:close/>
                    <a:moveTo>
                      <a:pt x="627" y="83"/>
                    </a:moveTo>
                    <a:lnTo>
                      <a:pt x="605" y="78"/>
                    </a:lnTo>
                    <a:lnTo>
                      <a:pt x="606" y="69"/>
                    </a:lnTo>
                    <a:lnTo>
                      <a:pt x="608" y="62"/>
                    </a:lnTo>
                    <a:lnTo>
                      <a:pt x="611" y="57"/>
                    </a:lnTo>
                    <a:lnTo>
                      <a:pt x="617" y="52"/>
                    </a:lnTo>
                    <a:lnTo>
                      <a:pt x="622" y="49"/>
                    </a:lnTo>
                    <a:lnTo>
                      <a:pt x="629" y="45"/>
                    </a:lnTo>
                    <a:lnTo>
                      <a:pt x="636" y="43"/>
                    </a:lnTo>
                    <a:lnTo>
                      <a:pt x="644" y="43"/>
                    </a:lnTo>
                    <a:lnTo>
                      <a:pt x="653" y="43"/>
                    </a:lnTo>
                    <a:lnTo>
                      <a:pt x="660" y="45"/>
                    </a:lnTo>
                    <a:lnTo>
                      <a:pt x="665" y="47"/>
                    </a:lnTo>
                    <a:lnTo>
                      <a:pt x="668" y="49"/>
                    </a:lnTo>
                    <a:lnTo>
                      <a:pt x="674" y="52"/>
                    </a:lnTo>
                    <a:lnTo>
                      <a:pt x="677" y="54"/>
                    </a:lnTo>
                    <a:lnTo>
                      <a:pt x="679" y="57"/>
                    </a:lnTo>
                    <a:lnTo>
                      <a:pt x="680" y="61"/>
                    </a:lnTo>
                    <a:lnTo>
                      <a:pt x="682" y="66"/>
                    </a:lnTo>
                    <a:lnTo>
                      <a:pt x="684" y="73"/>
                    </a:lnTo>
                    <a:lnTo>
                      <a:pt x="686" y="81"/>
                    </a:lnTo>
                    <a:lnTo>
                      <a:pt x="686" y="90"/>
                    </a:lnTo>
                    <a:lnTo>
                      <a:pt x="686" y="128"/>
                    </a:lnTo>
                    <a:lnTo>
                      <a:pt x="686" y="135"/>
                    </a:lnTo>
                    <a:lnTo>
                      <a:pt x="686" y="140"/>
                    </a:lnTo>
                    <a:lnTo>
                      <a:pt x="686" y="145"/>
                    </a:lnTo>
                    <a:lnTo>
                      <a:pt x="687" y="149"/>
                    </a:lnTo>
                    <a:lnTo>
                      <a:pt x="687" y="152"/>
                    </a:lnTo>
                    <a:lnTo>
                      <a:pt x="689" y="156"/>
                    </a:lnTo>
                    <a:lnTo>
                      <a:pt x="691" y="161"/>
                    </a:lnTo>
                    <a:lnTo>
                      <a:pt x="693" y="164"/>
                    </a:lnTo>
                    <a:lnTo>
                      <a:pt x="667" y="164"/>
                    </a:lnTo>
                    <a:lnTo>
                      <a:pt x="661" y="152"/>
                    </a:lnTo>
                    <a:lnTo>
                      <a:pt x="658" y="157"/>
                    </a:lnTo>
                    <a:lnTo>
                      <a:pt x="655" y="161"/>
                    </a:lnTo>
                    <a:lnTo>
                      <a:pt x="651" y="162"/>
                    </a:lnTo>
                    <a:lnTo>
                      <a:pt x="648" y="164"/>
                    </a:lnTo>
                    <a:lnTo>
                      <a:pt x="644" y="164"/>
                    </a:lnTo>
                    <a:lnTo>
                      <a:pt x="641" y="164"/>
                    </a:lnTo>
                    <a:lnTo>
                      <a:pt x="636" y="164"/>
                    </a:lnTo>
                    <a:lnTo>
                      <a:pt x="632" y="164"/>
                    </a:lnTo>
                    <a:lnTo>
                      <a:pt x="625" y="164"/>
                    </a:lnTo>
                    <a:lnTo>
                      <a:pt x="620" y="164"/>
                    </a:lnTo>
                    <a:lnTo>
                      <a:pt x="615" y="162"/>
                    </a:lnTo>
                    <a:lnTo>
                      <a:pt x="608" y="159"/>
                    </a:lnTo>
                    <a:lnTo>
                      <a:pt x="606" y="154"/>
                    </a:lnTo>
                    <a:lnTo>
                      <a:pt x="603" y="149"/>
                    </a:lnTo>
                    <a:lnTo>
                      <a:pt x="601" y="142"/>
                    </a:lnTo>
                    <a:lnTo>
                      <a:pt x="601" y="133"/>
                    </a:lnTo>
                    <a:lnTo>
                      <a:pt x="601" y="128"/>
                    </a:lnTo>
                    <a:lnTo>
                      <a:pt x="603" y="125"/>
                    </a:lnTo>
                    <a:lnTo>
                      <a:pt x="603" y="119"/>
                    </a:lnTo>
                    <a:lnTo>
                      <a:pt x="605" y="116"/>
                    </a:lnTo>
                    <a:lnTo>
                      <a:pt x="606" y="111"/>
                    </a:lnTo>
                    <a:lnTo>
                      <a:pt x="608" y="109"/>
                    </a:lnTo>
                    <a:lnTo>
                      <a:pt x="611" y="106"/>
                    </a:lnTo>
                    <a:lnTo>
                      <a:pt x="615" y="104"/>
                    </a:lnTo>
                    <a:lnTo>
                      <a:pt x="618" y="102"/>
                    </a:lnTo>
                    <a:lnTo>
                      <a:pt x="624" y="99"/>
                    </a:lnTo>
                    <a:lnTo>
                      <a:pt x="629" y="97"/>
                    </a:lnTo>
                    <a:lnTo>
                      <a:pt x="636" y="95"/>
                    </a:lnTo>
                    <a:lnTo>
                      <a:pt x="643" y="93"/>
                    </a:lnTo>
                    <a:lnTo>
                      <a:pt x="651" y="92"/>
                    </a:lnTo>
                    <a:lnTo>
                      <a:pt x="656" y="90"/>
                    </a:lnTo>
                    <a:lnTo>
                      <a:pt x="660" y="88"/>
                    </a:lnTo>
                    <a:lnTo>
                      <a:pt x="660" y="83"/>
                    </a:lnTo>
                    <a:lnTo>
                      <a:pt x="660" y="80"/>
                    </a:lnTo>
                    <a:lnTo>
                      <a:pt x="660" y="78"/>
                    </a:lnTo>
                    <a:lnTo>
                      <a:pt x="658" y="74"/>
                    </a:lnTo>
                    <a:lnTo>
                      <a:pt x="656" y="73"/>
                    </a:lnTo>
                    <a:lnTo>
                      <a:pt x="656" y="71"/>
                    </a:lnTo>
                    <a:lnTo>
                      <a:pt x="656" y="71"/>
                    </a:lnTo>
                    <a:lnTo>
                      <a:pt x="655" y="69"/>
                    </a:lnTo>
                    <a:lnTo>
                      <a:pt x="651" y="68"/>
                    </a:lnTo>
                    <a:lnTo>
                      <a:pt x="649" y="68"/>
                    </a:lnTo>
                    <a:lnTo>
                      <a:pt x="646" y="68"/>
                    </a:lnTo>
                    <a:lnTo>
                      <a:pt x="643" y="68"/>
                    </a:lnTo>
                    <a:lnTo>
                      <a:pt x="641" y="68"/>
                    </a:lnTo>
                    <a:lnTo>
                      <a:pt x="639" y="69"/>
                    </a:lnTo>
                    <a:lnTo>
                      <a:pt x="636" y="69"/>
                    </a:lnTo>
                    <a:lnTo>
                      <a:pt x="634" y="71"/>
                    </a:lnTo>
                    <a:lnTo>
                      <a:pt x="632" y="73"/>
                    </a:lnTo>
                    <a:lnTo>
                      <a:pt x="630" y="76"/>
                    </a:lnTo>
                    <a:lnTo>
                      <a:pt x="629" y="80"/>
                    </a:lnTo>
                    <a:lnTo>
                      <a:pt x="627" y="83"/>
                    </a:lnTo>
                    <a:close/>
                    <a:moveTo>
                      <a:pt x="660" y="109"/>
                    </a:moveTo>
                    <a:lnTo>
                      <a:pt x="656" y="109"/>
                    </a:lnTo>
                    <a:lnTo>
                      <a:pt x="653" y="111"/>
                    </a:lnTo>
                    <a:lnTo>
                      <a:pt x="649" y="112"/>
                    </a:lnTo>
                    <a:lnTo>
                      <a:pt x="646" y="114"/>
                    </a:lnTo>
                    <a:lnTo>
                      <a:pt x="641" y="116"/>
                    </a:lnTo>
                    <a:lnTo>
                      <a:pt x="636" y="118"/>
                    </a:lnTo>
                    <a:lnTo>
                      <a:pt x="634" y="119"/>
                    </a:lnTo>
                    <a:lnTo>
                      <a:pt x="630" y="121"/>
                    </a:lnTo>
                    <a:lnTo>
                      <a:pt x="629" y="123"/>
                    </a:lnTo>
                    <a:lnTo>
                      <a:pt x="627" y="125"/>
                    </a:lnTo>
                    <a:lnTo>
                      <a:pt x="627" y="128"/>
                    </a:lnTo>
                    <a:lnTo>
                      <a:pt x="627" y="130"/>
                    </a:lnTo>
                    <a:lnTo>
                      <a:pt x="627" y="133"/>
                    </a:lnTo>
                    <a:lnTo>
                      <a:pt x="627" y="137"/>
                    </a:lnTo>
                    <a:lnTo>
                      <a:pt x="629" y="138"/>
                    </a:lnTo>
                    <a:lnTo>
                      <a:pt x="630" y="142"/>
                    </a:lnTo>
                    <a:lnTo>
                      <a:pt x="634" y="143"/>
                    </a:lnTo>
                    <a:lnTo>
                      <a:pt x="636" y="145"/>
                    </a:lnTo>
                    <a:lnTo>
                      <a:pt x="639" y="147"/>
                    </a:lnTo>
                    <a:lnTo>
                      <a:pt x="641" y="147"/>
                    </a:lnTo>
                    <a:lnTo>
                      <a:pt x="643" y="147"/>
                    </a:lnTo>
                    <a:lnTo>
                      <a:pt x="646" y="145"/>
                    </a:lnTo>
                    <a:lnTo>
                      <a:pt x="648" y="143"/>
                    </a:lnTo>
                    <a:lnTo>
                      <a:pt x="651" y="142"/>
                    </a:lnTo>
                    <a:lnTo>
                      <a:pt x="653" y="140"/>
                    </a:lnTo>
                    <a:lnTo>
                      <a:pt x="655" y="138"/>
                    </a:lnTo>
                    <a:lnTo>
                      <a:pt x="656" y="135"/>
                    </a:lnTo>
                    <a:lnTo>
                      <a:pt x="658" y="133"/>
                    </a:lnTo>
                    <a:lnTo>
                      <a:pt x="660" y="130"/>
                    </a:lnTo>
                    <a:lnTo>
                      <a:pt x="660" y="126"/>
                    </a:lnTo>
                    <a:lnTo>
                      <a:pt x="660" y="121"/>
                    </a:lnTo>
                    <a:lnTo>
                      <a:pt x="660" y="116"/>
                    </a:lnTo>
                    <a:lnTo>
                      <a:pt x="660" y="109"/>
                    </a:lnTo>
                    <a:close/>
                    <a:moveTo>
                      <a:pt x="712" y="164"/>
                    </a:moveTo>
                    <a:lnTo>
                      <a:pt x="712" y="0"/>
                    </a:lnTo>
                    <a:lnTo>
                      <a:pt x="737" y="0"/>
                    </a:lnTo>
                    <a:lnTo>
                      <a:pt x="737" y="164"/>
                    </a:lnTo>
                    <a:lnTo>
                      <a:pt x="712" y="164"/>
                    </a:lnTo>
                    <a:close/>
                    <a:moveTo>
                      <a:pt x="817" y="164"/>
                    </a:moveTo>
                    <a:lnTo>
                      <a:pt x="817" y="0"/>
                    </a:lnTo>
                    <a:lnTo>
                      <a:pt x="844" y="0"/>
                    </a:lnTo>
                    <a:lnTo>
                      <a:pt x="844" y="138"/>
                    </a:lnTo>
                    <a:lnTo>
                      <a:pt x="912" y="138"/>
                    </a:lnTo>
                    <a:lnTo>
                      <a:pt x="912" y="164"/>
                    </a:lnTo>
                    <a:lnTo>
                      <a:pt x="817" y="164"/>
                    </a:lnTo>
                    <a:close/>
                    <a:moveTo>
                      <a:pt x="950" y="83"/>
                    </a:moveTo>
                    <a:lnTo>
                      <a:pt x="927" y="78"/>
                    </a:lnTo>
                    <a:lnTo>
                      <a:pt x="929" y="69"/>
                    </a:lnTo>
                    <a:lnTo>
                      <a:pt x="933" y="62"/>
                    </a:lnTo>
                    <a:lnTo>
                      <a:pt x="936" y="57"/>
                    </a:lnTo>
                    <a:lnTo>
                      <a:pt x="941" y="52"/>
                    </a:lnTo>
                    <a:lnTo>
                      <a:pt x="946" y="49"/>
                    </a:lnTo>
                    <a:lnTo>
                      <a:pt x="952" y="45"/>
                    </a:lnTo>
                    <a:lnTo>
                      <a:pt x="960" y="43"/>
                    </a:lnTo>
                    <a:lnTo>
                      <a:pt x="967" y="43"/>
                    </a:lnTo>
                    <a:lnTo>
                      <a:pt x="974" y="43"/>
                    </a:lnTo>
                    <a:lnTo>
                      <a:pt x="983" y="45"/>
                    </a:lnTo>
                    <a:lnTo>
                      <a:pt x="988" y="47"/>
                    </a:lnTo>
                    <a:lnTo>
                      <a:pt x="993" y="49"/>
                    </a:lnTo>
                    <a:lnTo>
                      <a:pt x="996" y="52"/>
                    </a:lnTo>
                    <a:lnTo>
                      <a:pt x="1000" y="54"/>
                    </a:lnTo>
                    <a:lnTo>
                      <a:pt x="1003" y="57"/>
                    </a:lnTo>
                    <a:lnTo>
                      <a:pt x="1005" y="61"/>
                    </a:lnTo>
                    <a:lnTo>
                      <a:pt x="1007" y="66"/>
                    </a:lnTo>
                    <a:lnTo>
                      <a:pt x="1007" y="73"/>
                    </a:lnTo>
                    <a:lnTo>
                      <a:pt x="1008" y="81"/>
                    </a:lnTo>
                    <a:lnTo>
                      <a:pt x="1008" y="90"/>
                    </a:lnTo>
                    <a:lnTo>
                      <a:pt x="1008" y="128"/>
                    </a:lnTo>
                    <a:lnTo>
                      <a:pt x="1008" y="135"/>
                    </a:lnTo>
                    <a:lnTo>
                      <a:pt x="1008" y="140"/>
                    </a:lnTo>
                    <a:lnTo>
                      <a:pt x="1008" y="145"/>
                    </a:lnTo>
                    <a:lnTo>
                      <a:pt x="1010" y="149"/>
                    </a:lnTo>
                    <a:lnTo>
                      <a:pt x="1012" y="152"/>
                    </a:lnTo>
                    <a:lnTo>
                      <a:pt x="1014" y="156"/>
                    </a:lnTo>
                    <a:lnTo>
                      <a:pt x="1014" y="161"/>
                    </a:lnTo>
                    <a:lnTo>
                      <a:pt x="1015" y="164"/>
                    </a:lnTo>
                    <a:lnTo>
                      <a:pt x="989" y="164"/>
                    </a:lnTo>
                    <a:lnTo>
                      <a:pt x="986" y="152"/>
                    </a:lnTo>
                    <a:lnTo>
                      <a:pt x="983" y="157"/>
                    </a:lnTo>
                    <a:lnTo>
                      <a:pt x="979" y="161"/>
                    </a:lnTo>
                    <a:lnTo>
                      <a:pt x="976" y="162"/>
                    </a:lnTo>
                    <a:lnTo>
                      <a:pt x="972" y="164"/>
                    </a:lnTo>
                    <a:lnTo>
                      <a:pt x="969" y="164"/>
                    </a:lnTo>
                    <a:lnTo>
                      <a:pt x="964" y="164"/>
                    </a:lnTo>
                    <a:lnTo>
                      <a:pt x="960" y="164"/>
                    </a:lnTo>
                    <a:lnTo>
                      <a:pt x="957" y="164"/>
                    </a:lnTo>
                    <a:lnTo>
                      <a:pt x="950" y="164"/>
                    </a:lnTo>
                    <a:lnTo>
                      <a:pt x="943" y="164"/>
                    </a:lnTo>
                    <a:lnTo>
                      <a:pt x="938" y="162"/>
                    </a:lnTo>
                    <a:lnTo>
                      <a:pt x="933" y="159"/>
                    </a:lnTo>
                    <a:lnTo>
                      <a:pt x="929" y="154"/>
                    </a:lnTo>
                    <a:lnTo>
                      <a:pt x="926" y="149"/>
                    </a:lnTo>
                    <a:lnTo>
                      <a:pt x="924" y="142"/>
                    </a:lnTo>
                    <a:lnTo>
                      <a:pt x="924" y="133"/>
                    </a:lnTo>
                    <a:lnTo>
                      <a:pt x="924" y="128"/>
                    </a:lnTo>
                    <a:lnTo>
                      <a:pt x="926" y="125"/>
                    </a:lnTo>
                    <a:lnTo>
                      <a:pt x="926" y="119"/>
                    </a:lnTo>
                    <a:lnTo>
                      <a:pt x="927" y="116"/>
                    </a:lnTo>
                    <a:lnTo>
                      <a:pt x="929" y="111"/>
                    </a:lnTo>
                    <a:lnTo>
                      <a:pt x="933" y="109"/>
                    </a:lnTo>
                    <a:lnTo>
                      <a:pt x="934" y="106"/>
                    </a:lnTo>
                    <a:lnTo>
                      <a:pt x="938" y="104"/>
                    </a:lnTo>
                    <a:lnTo>
                      <a:pt x="941" y="102"/>
                    </a:lnTo>
                    <a:lnTo>
                      <a:pt x="946" y="99"/>
                    </a:lnTo>
                    <a:lnTo>
                      <a:pt x="952" y="97"/>
                    </a:lnTo>
                    <a:lnTo>
                      <a:pt x="958" y="95"/>
                    </a:lnTo>
                    <a:lnTo>
                      <a:pt x="967" y="93"/>
                    </a:lnTo>
                    <a:lnTo>
                      <a:pt x="974" y="92"/>
                    </a:lnTo>
                    <a:lnTo>
                      <a:pt x="979" y="90"/>
                    </a:lnTo>
                    <a:lnTo>
                      <a:pt x="983" y="88"/>
                    </a:lnTo>
                    <a:lnTo>
                      <a:pt x="983" y="83"/>
                    </a:lnTo>
                    <a:lnTo>
                      <a:pt x="983" y="80"/>
                    </a:lnTo>
                    <a:lnTo>
                      <a:pt x="983" y="78"/>
                    </a:lnTo>
                    <a:lnTo>
                      <a:pt x="981" y="74"/>
                    </a:lnTo>
                    <a:lnTo>
                      <a:pt x="979" y="73"/>
                    </a:lnTo>
                    <a:lnTo>
                      <a:pt x="979" y="71"/>
                    </a:lnTo>
                    <a:lnTo>
                      <a:pt x="977" y="71"/>
                    </a:lnTo>
                    <a:lnTo>
                      <a:pt x="977" y="69"/>
                    </a:lnTo>
                    <a:lnTo>
                      <a:pt x="976" y="68"/>
                    </a:lnTo>
                    <a:lnTo>
                      <a:pt x="972" y="68"/>
                    </a:lnTo>
                    <a:lnTo>
                      <a:pt x="971" y="68"/>
                    </a:lnTo>
                    <a:lnTo>
                      <a:pt x="967" y="68"/>
                    </a:lnTo>
                    <a:lnTo>
                      <a:pt x="964" y="68"/>
                    </a:lnTo>
                    <a:lnTo>
                      <a:pt x="960" y="69"/>
                    </a:lnTo>
                    <a:lnTo>
                      <a:pt x="958" y="69"/>
                    </a:lnTo>
                    <a:lnTo>
                      <a:pt x="957" y="71"/>
                    </a:lnTo>
                    <a:lnTo>
                      <a:pt x="955" y="73"/>
                    </a:lnTo>
                    <a:lnTo>
                      <a:pt x="953" y="76"/>
                    </a:lnTo>
                    <a:lnTo>
                      <a:pt x="952" y="80"/>
                    </a:lnTo>
                    <a:lnTo>
                      <a:pt x="950" y="83"/>
                    </a:lnTo>
                    <a:close/>
                    <a:moveTo>
                      <a:pt x="983" y="109"/>
                    </a:moveTo>
                    <a:lnTo>
                      <a:pt x="979" y="109"/>
                    </a:lnTo>
                    <a:lnTo>
                      <a:pt x="977" y="111"/>
                    </a:lnTo>
                    <a:lnTo>
                      <a:pt x="974" y="112"/>
                    </a:lnTo>
                    <a:lnTo>
                      <a:pt x="969" y="114"/>
                    </a:lnTo>
                    <a:lnTo>
                      <a:pt x="964" y="116"/>
                    </a:lnTo>
                    <a:lnTo>
                      <a:pt x="960" y="118"/>
                    </a:lnTo>
                    <a:lnTo>
                      <a:pt x="957" y="119"/>
                    </a:lnTo>
                    <a:lnTo>
                      <a:pt x="955" y="121"/>
                    </a:lnTo>
                    <a:lnTo>
                      <a:pt x="953" y="123"/>
                    </a:lnTo>
                    <a:lnTo>
                      <a:pt x="952" y="125"/>
                    </a:lnTo>
                    <a:lnTo>
                      <a:pt x="950" y="128"/>
                    </a:lnTo>
                    <a:lnTo>
                      <a:pt x="950" y="130"/>
                    </a:lnTo>
                    <a:lnTo>
                      <a:pt x="950" y="133"/>
                    </a:lnTo>
                    <a:lnTo>
                      <a:pt x="952" y="137"/>
                    </a:lnTo>
                    <a:lnTo>
                      <a:pt x="953" y="138"/>
                    </a:lnTo>
                    <a:lnTo>
                      <a:pt x="955" y="142"/>
                    </a:lnTo>
                    <a:lnTo>
                      <a:pt x="957" y="143"/>
                    </a:lnTo>
                    <a:lnTo>
                      <a:pt x="958" y="145"/>
                    </a:lnTo>
                    <a:lnTo>
                      <a:pt x="960" y="147"/>
                    </a:lnTo>
                    <a:lnTo>
                      <a:pt x="964" y="147"/>
                    </a:lnTo>
                    <a:lnTo>
                      <a:pt x="967" y="147"/>
                    </a:lnTo>
                    <a:lnTo>
                      <a:pt x="969" y="145"/>
                    </a:lnTo>
                    <a:lnTo>
                      <a:pt x="972" y="143"/>
                    </a:lnTo>
                    <a:lnTo>
                      <a:pt x="976" y="142"/>
                    </a:lnTo>
                    <a:lnTo>
                      <a:pt x="977" y="140"/>
                    </a:lnTo>
                    <a:lnTo>
                      <a:pt x="979" y="138"/>
                    </a:lnTo>
                    <a:lnTo>
                      <a:pt x="979" y="135"/>
                    </a:lnTo>
                    <a:lnTo>
                      <a:pt x="981" y="133"/>
                    </a:lnTo>
                    <a:lnTo>
                      <a:pt x="983" y="130"/>
                    </a:lnTo>
                    <a:lnTo>
                      <a:pt x="983" y="126"/>
                    </a:lnTo>
                    <a:lnTo>
                      <a:pt x="983" y="121"/>
                    </a:lnTo>
                    <a:lnTo>
                      <a:pt x="983" y="116"/>
                    </a:lnTo>
                    <a:lnTo>
                      <a:pt x="983" y="109"/>
                    </a:lnTo>
                    <a:close/>
                    <a:moveTo>
                      <a:pt x="1022" y="47"/>
                    </a:moveTo>
                    <a:lnTo>
                      <a:pt x="1050" y="47"/>
                    </a:lnTo>
                    <a:lnTo>
                      <a:pt x="1072" y="131"/>
                    </a:lnTo>
                    <a:lnTo>
                      <a:pt x="1097" y="47"/>
                    </a:lnTo>
                    <a:lnTo>
                      <a:pt x="1124" y="47"/>
                    </a:lnTo>
                    <a:lnTo>
                      <a:pt x="1090" y="161"/>
                    </a:lnTo>
                    <a:lnTo>
                      <a:pt x="1083" y="181"/>
                    </a:lnTo>
                    <a:lnTo>
                      <a:pt x="1081" y="187"/>
                    </a:lnTo>
                    <a:lnTo>
                      <a:pt x="1079" y="192"/>
                    </a:lnTo>
                    <a:lnTo>
                      <a:pt x="1076" y="195"/>
                    </a:lnTo>
                    <a:lnTo>
                      <a:pt x="1074" y="199"/>
                    </a:lnTo>
                    <a:lnTo>
                      <a:pt x="1072" y="200"/>
                    </a:lnTo>
                    <a:lnTo>
                      <a:pt x="1069" y="204"/>
                    </a:lnTo>
                    <a:lnTo>
                      <a:pt x="1067" y="206"/>
                    </a:lnTo>
                    <a:lnTo>
                      <a:pt x="1064" y="209"/>
                    </a:lnTo>
                    <a:lnTo>
                      <a:pt x="1059" y="209"/>
                    </a:lnTo>
                    <a:lnTo>
                      <a:pt x="1055" y="209"/>
                    </a:lnTo>
                    <a:lnTo>
                      <a:pt x="1052" y="211"/>
                    </a:lnTo>
                    <a:lnTo>
                      <a:pt x="1046" y="211"/>
                    </a:lnTo>
                    <a:lnTo>
                      <a:pt x="1043" y="211"/>
                    </a:lnTo>
                    <a:lnTo>
                      <a:pt x="1040" y="209"/>
                    </a:lnTo>
                    <a:lnTo>
                      <a:pt x="1036" y="209"/>
                    </a:lnTo>
                    <a:lnTo>
                      <a:pt x="1033" y="209"/>
                    </a:lnTo>
                    <a:lnTo>
                      <a:pt x="1029" y="183"/>
                    </a:lnTo>
                    <a:lnTo>
                      <a:pt x="1033" y="183"/>
                    </a:lnTo>
                    <a:lnTo>
                      <a:pt x="1034" y="183"/>
                    </a:lnTo>
                    <a:lnTo>
                      <a:pt x="1038" y="185"/>
                    </a:lnTo>
                    <a:lnTo>
                      <a:pt x="1040" y="185"/>
                    </a:lnTo>
                    <a:lnTo>
                      <a:pt x="1043" y="185"/>
                    </a:lnTo>
                    <a:lnTo>
                      <a:pt x="1046" y="183"/>
                    </a:lnTo>
                    <a:lnTo>
                      <a:pt x="1050" y="183"/>
                    </a:lnTo>
                    <a:lnTo>
                      <a:pt x="1053" y="181"/>
                    </a:lnTo>
                    <a:lnTo>
                      <a:pt x="1055" y="178"/>
                    </a:lnTo>
                    <a:lnTo>
                      <a:pt x="1057" y="175"/>
                    </a:lnTo>
                    <a:lnTo>
                      <a:pt x="1059" y="169"/>
                    </a:lnTo>
                    <a:lnTo>
                      <a:pt x="1060" y="164"/>
                    </a:lnTo>
                    <a:lnTo>
                      <a:pt x="1022" y="47"/>
                    </a:lnTo>
                    <a:close/>
                    <a:moveTo>
                      <a:pt x="1197" y="128"/>
                    </a:moveTo>
                    <a:lnTo>
                      <a:pt x="1223" y="133"/>
                    </a:lnTo>
                    <a:lnTo>
                      <a:pt x="1221" y="142"/>
                    </a:lnTo>
                    <a:lnTo>
                      <a:pt x="1217" y="149"/>
                    </a:lnTo>
                    <a:lnTo>
                      <a:pt x="1212" y="156"/>
                    </a:lnTo>
                    <a:lnTo>
                      <a:pt x="1207" y="159"/>
                    </a:lnTo>
                    <a:lnTo>
                      <a:pt x="1202" y="162"/>
                    </a:lnTo>
                    <a:lnTo>
                      <a:pt x="1195" y="164"/>
                    </a:lnTo>
                    <a:lnTo>
                      <a:pt x="1188" y="164"/>
                    </a:lnTo>
                    <a:lnTo>
                      <a:pt x="1181" y="164"/>
                    </a:lnTo>
                    <a:lnTo>
                      <a:pt x="1171" y="164"/>
                    </a:lnTo>
                    <a:lnTo>
                      <a:pt x="1162" y="162"/>
                    </a:lnTo>
                    <a:lnTo>
                      <a:pt x="1153" y="159"/>
                    </a:lnTo>
                    <a:lnTo>
                      <a:pt x="1147" y="154"/>
                    </a:lnTo>
                    <a:lnTo>
                      <a:pt x="1141" y="145"/>
                    </a:lnTo>
                    <a:lnTo>
                      <a:pt x="1136" y="135"/>
                    </a:lnTo>
                    <a:lnTo>
                      <a:pt x="1134" y="121"/>
                    </a:lnTo>
                    <a:lnTo>
                      <a:pt x="1133" y="107"/>
                    </a:lnTo>
                    <a:lnTo>
                      <a:pt x="1134" y="93"/>
                    </a:lnTo>
                    <a:lnTo>
                      <a:pt x="1136" y="80"/>
                    </a:lnTo>
                    <a:lnTo>
                      <a:pt x="1141" y="69"/>
                    </a:lnTo>
                    <a:lnTo>
                      <a:pt x="1147" y="59"/>
                    </a:lnTo>
                    <a:lnTo>
                      <a:pt x="1153" y="52"/>
                    </a:lnTo>
                    <a:lnTo>
                      <a:pt x="1160" y="47"/>
                    </a:lnTo>
                    <a:lnTo>
                      <a:pt x="1169" y="45"/>
                    </a:lnTo>
                    <a:lnTo>
                      <a:pt x="1178" y="43"/>
                    </a:lnTo>
                    <a:lnTo>
                      <a:pt x="1188" y="45"/>
                    </a:lnTo>
                    <a:lnTo>
                      <a:pt x="1197" y="47"/>
                    </a:lnTo>
                    <a:lnTo>
                      <a:pt x="1204" y="52"/>
                    </a:lnTo>
                    <a:lnTo>
                      <a:pt x="1210" y="59"/>
                    </a:lnTo>
                    <a:lnTo>
                      <a:pt x="1217" y="69"/>
                    </a:lnTo>
                    <a:lnTo>
                      <a:pt x="1221" y="81"/>
                    </a:lnTo>
                    <a:lnTo>
                      <a:pt x="1224" y="95"/>
                    </a:lnTo>
                    <a:lnTo>
                      <a:pt x="1224" y="111"/>
                    </a:lnTo>
                    <a:lnTo>
                      <a:pt x="1224" y="114"/>
                    </a:lnTo>
                    <a:lnTo>
                      <a:pt x="1160" y="114"/>
                    </a:lnTo>
                    <a:lnTo>
                      <a:pt x="1160" y="121"/>
                    </a:lnTo>
                    <a:lnTo>
                      <a:pt x="1162" y="126"/>
                    </a:lnTo>
                    <a:lnTo>
                      <a:pt x="1164" y="131"/>
                    </a:lnTo>
                    <a:lnTo>
                      <a:pt x="1166" y="137"/>
                    </a:lnTo>
                    <a:lnTo>
                      <a:pt x="1169" y="140"/>
                    </a:lnTo>
                    <a:lnTo>
                      <a:pt x="1172" y="143"/>
                    </a:lnTo>
                    <a:lnTo>
                      <a:pt x="1178" y="145"/>
                    </a:lnTo>
                    <a:lnTo>
                      <a:pt x="1181" y="145"/>
                    </a:lnTo>
                    <a:lnTo>
                      <a:pt x="1186" y="143"/>
                    </a:lnTo>
                    <a:lnTo>
                      <a:pt x="1191" y="140"/>
                    </a:lnTo>
                    <a:lnTo>
                      <a:pt x="1195" y="135"/>
                    </a:lnTo>
                    <a:lnTo>
                      <a:pt x="1197" y="128"/>
                    </a:lnTo>
                    <a:close/>
                    <a:moveTo>
                      <a:pt x="1198" y="95"/>
                    </a:moveTo>
                    <a:lnTo>
                      <a:pt x="1198" y="88"/>
                    </a:lnTo>
                    <a:lnTo>
                      <a:pt x="1197" y="83"/>
                    </a:lnTo>
                    <a:lnTo>
                      <a:pt x="1195" y="78"/>
                    </a:lnTo>
                    <a:lnTo>
                      <a:pt x="1193" y="74"/>
                    </a:lnTo>
                    <a:lnTo>
                      <a:pt x="1190" y="73"/>
                    </a:lnTo>
                    <a:lnTo>
                      <a:pt x="1186" y="69"/>
                    </a:lnTo>
                    <a:lnTo>
                      <a:pt x="1183" y="68"/>
                    </a:lnTo>
                    <a:lnTo>
                      <a:pt x="1179" y="68"/>
                    </a:lnTo>
                    <a:lnTo>
                      <a:pt x="1176" y="68"/>
                    </a:lnTo>
                    <a:lnTo>
                      <a:pt x="1172" y="69"/>
                    </a:lnTo>
                    <a:lnTo>
                      <a:pt x="1169" y="73"/>
                    </a:lnTo>
                    <a:lnTo>
                      <a:pt x="1166" y="74"/>
                    </a:lnTo>
                    <a:lnTo>
                      <a:pt x="1164" y="80"/>
                    </a:lnTo>
                    <a:lnTo>
                      <a:pt x="1162" y="85"/>
                    </a:lnTo>
                    <a:lnTo>
                      <a:pt x="1160" y="90"/>
                    </a:lnTo>
                    <a:lnTo>
                      <a:pt x="1160" y="95"/>
                    </a:lnTo>
                    <a:lnTo>
                      <a:pt x="1198" y="95"/>
                    </a:lnTo>
                    <a:close/>
                    <a:moveTo>
                      <a:pt x="1271" y="164"/>
                    </a:moveTo>
                    <a:lnTo>
                      <a:pt x="1245" y="164"/>
                    </a:lnTo>
                    <a:lnTo>
                      <a:pt x="1245" y="47"/>
                    </a:lnTo>
                    <a:lnTo>
                      <a:pt x="1269" y="47"/>
                    </a:lnTo>
                    <a:lnTo>
                      <a:pt x="1269" y="64"/>
                    </a:lnTo>
                    <a:lnTo>
                      <a:pt x="1273" y="59"/>
                    </a:lnTo>
                    <a:lnTo>
                      <a:pt x="1276" y="54"/>
                    </a:lnTo>
                    <a:lnTo>
                      <a:pt x="1278" y="50"/>
                    </a:lnTo>
                    <a:lnTo>
                      <a:pt x="1280" y="49"/>
                    </a:lnTo>
                    <a:lnTo>
                      <a:pt x="1283" y="47"/>
                    </a:lnTo>
                    <a:lnTo>
                      <a:pt x="1286" y="45"/>
                    </a:lnTo>
                    <a:lnTo>
                      <a:pt x="1288" y="43"/>
                    </a:lnTo>
                    <a:lnTo>
                      <a:pt x="1292" y="43"/>
                    </a:lnTo>
                    <a:lnTo>
                      <a:pt x="1295" y="43"/>
                    </a:lnTo>
                    <a:lnTo>
                      <a:pt x="1300" y="45"/>
                    </a:lnTo>
                    <a:lnTo>
                      <a:pt x="1304" y="49"/>
                    </a:lnTo>
                    <a:lnTo>
                      <a:pt x="1307" y="50"/>
                    </a:lnTo>
                    <a:lnTo>
                      <a:pt x="1298" y="78"/>
                    </a:lnTo>
                    <a:lnTo>
                      <a:pt x="1297" y="76"/>
                    </a:lnTo>
                    <a:lnTo>
                      <a:pt x="1293" y="74"/>
                    </a:lnTo>
                    <a:lnTo>
                      <a:pt x="1292" y="73"/>
                    </a:lnTo>
                    <a:lnTo>
                      <a:pt x="1288" y="73"/>
                    </a:lnTo>
                    <a:lnTo>
                      <a:pt x="1286" y="73"/>
                    </a:lnTo>
                    <a:lnTo>
                      <a:pt x="1283" y="74"/>
                    </a:lnTo>
                    <a:lnTo>
                      <a:pt x="1281" y="76"/>
                    </a:lnTo>
                    <a:lnTo>
                      <a:pt x="1278" y="78"/>
                    </a:lnTo>
                    <a:lnTo>
                      <a:pt x="1278" y="80"/>
                    </a:lnTo>
                    <a:lnTo>
                      <a:pt x="1276" y="83"/>
                    </a:lnTo>
                    <a:lnTo>
                      <a:pt x="1276" y="87"/>
                    </a:lnTo>
                    <a:lnTo>
                      <a:pt x="1274" y="90"/>
                    </a:lnTo>
                    <a:lnTo>
                      <a:pt x="1273" y="97"/>
                    </a:lnTo>
                    <a:lnTo>
                      <a:pt x="1273" y="106"/>
                    </a:lnTo>
                    <a:lnTo>
                      <a:pt x="1271" y="116"/>
                    </a:lnTo>
                    <a:lnTo>
                      <a:pt x="1271" y="128"/>
                    </a:lnTo>
                    <a:lnTo>
                      <a:pt x="1271" y="16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8" name="Freeform 896"/>
              <p:cNvSpPr>
                <a:spLocks noEditPoints="1"/>
              </p:cNvSpPr>
              <p:nvPr/>
            </p:nvSpPr>
            <p:spPr bwMode="auto">
              <a:xfrm>
                <a:off x="1169" y="2868"/>
                <a:ext cx="320" cy="84"/>
              </a:xfrm>
              <a:custGeom>
                <a:avLst/>
                <a:gdLst>
                  <a:gd name="T0" fmla="*/ 83 w 641"/>
                  <a:gd name="T1" fmla="*/ 112 h 169"/>
                  <a:gd name="T2" fmla="*/ 81 w 641"/>
                  <a:gd name="T3" fmla="*/ 167 h 169"/>
                  <a:gd name="T4" fmla="*/ 197 w 641"/>
                  <a:gd name="T5" fmla="*/ 129 h 169"/>
                  <a:gd name="T6" fmla="*/ 213 w 641"/>
                  <a:gd name="T7" fmla="*/ 157 h 169"/>
                  <a:gd name="T8" fmla="*/ 189 w 641"/>
                  <a:gd name="T9" fmla="*/ 169 h 169"/>
                  <a:gd name="T10" fmla="*/ 154 w 641"/>
                  <a:gd name="T11" fmla="*/ 164 h 169"/>
                  <a:gd name="T12" fmla="*/ 132 w 641"/>
                  <a:gd name="T13" fmla="*/ 122 h 169"/>
                  <a:gd name="T14" fmla="*/ 138 w 641"/>
                  <a:gd name="T15" fmla="*/ 69 h 169"/>
                  <a:gd name="T16" fmla="*/ 168 w 641"/>
                  <a:gd name="T17" fmla="*/ 45 h 169"/>
                  <a:gd name="T18" fmla="*/ 204 w 641"/>
                  <a:gd name="T19" fmla="*/ 52 h 169"/>
                  <a:gd name="T20" fmla="*/ 225 w 641"/>
                  <a:gd name="T21" fmla="*/ 95 h 169"/>
                  <a:gd name="T22" fmla="*/ 157 w 641"/>
                  <a:gd name="T23" fmla="*/ 122 h 169"/>
                  <a:gd name="T24" fmla="*/ 170 w 641"/>
                  <a:gd name="T25" fmla="*/ 141 h 169"/>
                  <a:gd name="T26" fmla="*/ 187 w 641"/>
                  <a:gd name="T27" fmla="*/ 145 h 169"/>
                  <a:gd name="T28" fmla="*/ 197 w 641"/>
                  <a:gd name="T29" fmla="*/ 95 h 169"/>
                  <a:gd name="T30" fmla="*/ 192 w 641"/>
                  <a:gd name="T31" fmla="*/ 74 h 169"/>
                  <a:gd name="T32" fmla="*/ 178 w 641"/>
                  <a:gd name="T33" fmla="*/ 69 h 169"/>
                  <a:gd name="T34" fmla="*/ 166 w 641"/>
                  <a:gd name="T35" fmla="*/ 76 h 169"/>
                  <a:gd name="T36" fmla="*/ 159 w 641"/>
                  <a:gd name="T37" fmla="*/ 95 h 169"/>
                  <a:gd name="T38" fmla="*/ 273 w 641"/>
                  <a:gd name="T39" fmla="*/ 72 h 169"/>
                  <a:gd name="T40" fmla="*/ 273 w 641"/>
                  <a:gd name="T41" fmla="*/ 138 h 169"/>
                  <a:gd name="T42" fmla="*/ 278 w 641"/>
                  <a:gd name="T43" fmla="*/ 145 h 169"/>
                  <a:gd name="T44" fmla="*/ 289 w 641"/>
                  <a:gd name="T45" fmla="*/ 143 h 169"/>
                  <a:gd name="T46" fmla="*/ 285 w 641"/>
                  <a:gd name="T47" fmla="*/ 167 h 169"/>
                  <a:gd name="T48" fmla="*/ 264 w 641"/>
                  <a:gd name="T49" fmla="*/ 167 h 169"/>
                  <a:gd name="T50" fmla="*/ 251 w 641"/>
                  <a:gd name="T51" fmla="*/ 160 h 169"/>
                  <a:gd name="T52" fmla="*/ 247 w 641"/>
                  <a:gd name="T53" fmla="*/ 141 h 169"/>
                  <a:gd name="T54" fmla="*/ 233 w 641"/>
                  <a:gd name="T55" fmla="*/ 72 h 169"/>
                  <a:gd name="T56" fmla="*/ 273 w 641"/>
                  <a:gd name="T57" fmla="*/ 3 h 169"/>
                  <a:gd name="T58" fmla="*/ 296 w 641"/>
                  <a:gd name="T59" fmla="*/ 46 h 169"/>
                  <a:gd name="T60" fmla="*/ 384 w 641"/>
                  <a:gd name="T61" fmla="*/ 46 h 169"/>
                  <a:gd name="T62" fmla="*/ 415 w 641"/>
                  <a:gd name="T63" fmla="*/ 167 h 169"/>
                  <a:gd name="T64" fmla="*/ 328 w 641"/>
                  <a:gd name="T65" fmla="*/ 167 h 169"/>
                  <a:gd name="T66" fmla="*/ 458 w 641"/>
                  <a:gd name="T67" fmla="*/ 81 h 169"/>
                  <a:gd name="T68" fmla="*/ 473 w 641"/>
                  <a:gd name="T69" fmla="*/ 55 h 169"/>
                  <a:gd name="T70" fmla="*/ 498 w 641"/>
                  <a:gd name="T71" fmla="*/ 43 h 169"/>
                  <a:gd name="T72" fmla="*/ 534 w 641"/>
                  <a:gd name="T73" fmla="*/ 53 h 169"/>
                  <a:gd name="T74" fmla="*/ 554 w 641"/>
                  <a:gd name="T75" fmla="*/ 95 h 169"/>
                  <a:gd name="T76" fmla="*/ 551 w 641"/>
                  <a:gd name="T77" fmla="*/ 131 h 169"/>
                  <a:gd name="T78" fmla="*/ 535 w 641"/>
                  <a:gd name="T79" fmla="*/ 159 h 169"/>
                  <a:gd name="T80" fmla="*/ 511 w 641"/>
                  <a:gd name="T81" fmla="*/ 169 h 169"/>
                  <a:gd name="T82" fmla="*/ 475 w 641"/>
                  <a:gd name="T83" fmla="*/ 160 h 169"/>
                  <a:gd name="T84" fmla="*/ 454 w 641"/>
                  <a:gd name="T85" fmla="*/ 121 h 169"/>
                  <a:gd name="T86" fmla="*/ 482 w 641"/>
                  <a:gd name="T87" fmla="*/ 124 h 169"/>
                  <a:gd name="T88" fmla="*/ 496 w 641"/>
                  <a:gd name="T89" fmla="*/ 141 h 169"/>
                  <a:gd name="T90" fmla="*/ 513 w 641"/>
                  <a:gd name="T91" fmla="*/ 141 h 169"/>
                  <a:gd name="T92" fmla="*/ 527 w 641"/>
                  <a:gd name="T93" fmla="*/ 124 h 169"/>
                  <a:gd name="T94" fmla="*/ 527 w 641"/>
                  <a:gd name="T95" fmla="*/ 91 h 169"/>
                  <a:gd name="T96" fmla="*/ 513 w 641"/>
                  <a:gd name="T97" fmla="*/ 72 h 169"/>
                  <a:gd name="T98" fmla="*/ 496 w 641"/>
                  <a:gd name="T99" fmla="*/ 72 h 169"/>
                  <a:gd name="T100" fmla="*/ 482 w 641"/>
                  <a:gd name="T101" fmla="*/ 91 h 169"/>
                  <a:gd name="T102" fmla="*/ 577 w 641"/>
                  <a:gd name="T103" fmla="*/ 167 h 169"/>
                  <a:gd name="T104" fmla="*/ 605 w 641"/>
                  <a:gd name="T105" fmla="*/ 59 h 169"/>
                  <a:gd name="T106" fmla="*/ 617 w 641"/>
                  <a:gd name="T107" fmla="*/ 46 h 169"/>
                  <a:gd name="T108" fmla="*/ 629 w 641"/>
                  <a:gd name="T109" fmla="*/ 43 h 169"/>
                  <a:gd name="T110" fmla="*/ 634 w 641"/>
                  <a:gd name="T111" fmla="*/ 78 h 169"/>
                  <a:gd name="T112" fmla="*/ 622 w 641"/>
                  <a:gd name="T113" fmla="*/ 74 h 169"/>
                  <a:gd name="T114" fmla="*/ 611 w 641"/>
                  <a:gd name="T115" fmla="*/ 78 h 169"/>
                  <a:gd name="T116" fmla="*/ 605 w 641"/>
                  <a:gd name="T117" fmla="*/ 93 h 169"/>
                  <a:gd name="T118" fmla="*/ 605 w 641"/>
                  <a:gd name="T119" fmla="*/ 129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641" h="169">
                    <a:moveTo>
                      <a:pt x="0" y="167"/>
                    </a:moveTo>
                    <a:lnTo>
                      <a:pt x="0" y="0"/>
                    </a:lnTo>
                    <a:lnTo>
                      <a:pt x="26" y="0"/>
                    </a:lnTo>
                    <a:lnTo>
                      <a:pt x="83" y="112"/>
                    </a:lnTo>
                    <a:lnTo>
                      <a:pt x="83" y="0"/>
                    </a:lnTo>
                    <a:lnTo>
                      <a:pt x="111" y="0"/>
                    </a:lnTo>
                    <a:lnTo>
                      <a:pt x="111" y="167"/>
                    </a:lnTo>
                    <a:lnTo>
                      <a:pt x="81" y="167"/>
                    </a:lnTo>
                    <a:lnTo>
                      <a:pt x="26" y="59"/>
                    </a:lnTo>
                    <a:lnTo>
                      <a:pt x="26" y="167"/>
                    </a:lnTo>
                    <a:lnTo>
                      <a:pt x="0" y="167"/>
                    </a:lnTo>
                    <a:close/>
                    <a:moveTo>
                      <a:pt x="197" y="129"/>
                    </a:moveTo>
                    <a:lnTo>
                      <a:pt x="225" y="134"/>
                    </a:lnTo>
                    <a:lnTo>
                      <a:pt x="221" y="143"/>
                    </a:lnTo>
                    <a:lnTo>
                      <a:pt x="216" y="152"/>
                    </a:lnTo>
                    <a:lnTo>
                      <a:pt x="213" y="157"/>
                    </a:lnTo>
                    <a:lnTo>
                      <a:pt x="207" y="162"/>
                    </a:lnTo>
                    <a:lnTo>
                      <a:pt x="201" y="166"/>
                    </a:lnTo>
                    <a:lnTo>
                      <a:pt x="195" y="167"/>
                    </a:lnTo>
                    <a:lnTo>
                      <a:pt x="189" y="169"/>
                    </a:lnTo>
                    <a:lnTo>
                      <a:pt x="180" y="169"/>
                    </a:lnTo>
                    <a:lnTo>
                      <a:pt x="170" y="169"/>
                    </a:lnTo>
                    <a:lnTo>
                      <a:pt x="161" y="167"/>
                    </a:lnTo>
                    <a:lnTo>
                      <a:pt x="154" y="164"/>
                    </a:lnTo>
                    <a:lnTo>
                      <a:pt x="145" y="157"/>
                    </a:lnTo>
                    <a:lnTo>
                      <a:pt x="138" y="147"/>
                    </a:lnTo>
                    <a:lnTo>
                      <a:pt x="135" y="134"/>
                    </a:lnTo>
                    <a:lnTo>
                      <a:pt x="132" y="122"/>
                    </a:lnTo>
                    <a:lnTo>
                      <a:pt x="132" y="109"/>
                    </a:lnTo>
                    <a:lnTo>
                      <a:pt x="132" y="93"/>
                    </a:lnTo>
                    <a:lnTo>
                      <a:pt x="135" y="81"/>
                    </a:lnTo>
                    <a:lnTo>
                      <a:pt x="138" y="69"/>
                    </a:lnTo>
                    <a:lnTo>
                      <a:pt x="145" y="59"/>
                    </a:lnTo>
                    <a:lnTo>
                      <a:pt x="152" y="52"/>
                    </a:lnTo>
                    <a:lnTo>
                      <a:pt x="161" y="46"/>
                    </a:lnTo>
                    <a:lnTo>
                      <a:pt x="168" y="45"/>
                    </a:lnTo>
                    <a:lnTo>
                      <a:pt x="176" y="43"/>
                    </a:lnTo>
                    <a:lnTo>
                      <a:pt x="187" y="45"/>
                    </a:lnTo>
                    <a:lnTo>
                      <a:pt x="197" y="46"/>
                    </a:lnTo>
                    <a:lnTo>
                      <a:pt x="204" y="52"/>
                    </a:lnTo>
                    <a:lnTo>
                      <a:pt x="211" y="59"/>
                    </a:lnTo>
                    <a:lnTo>
                      <a:pt x="218" y="69"/>
                    </a:lnTo>
                    <a:lnTo>
                      <a:pt x="221" y="81"/>
                    </a:lnTo>
                    <a:lnTo>
                      <a:pt x="225" y="95"/>
                    </a:lnTo>
                    <a:lnTo>
                      <a:pt x="226" y="112"/>
                    </a:lnTo>
                    <a:lnTo>
                      <a:pt x="226" y="115"/>
                    </a:lnTo>
                    <a:lnTo>
                      <a:pt x="157" y="115"/>
                    </a:lnTo>
                    <a:lnTo>
                      <a:pt x="157" y="122"/>
                    </a:lnTo>
                    <a:lnTo>
                      <a:pt x="159" y="129"/>
                    </a:lnTo>
                    <a:lnTo>
                      <a:pt x="163" y="134"/>
                    </a:lnTo>
                    <a:lnTo>
                      <a:pt x="166" y="138"/>
                    </a:lnTo>
                    <a:lnTo>
                      <a:pt x="170" y="141"/>
                    </a:lnTo>
                    <a:lnTo>
                      <a:pt x="173" y="145"/>
                    </a:lnTo>
                    <a:lnTo>
                      <a:pt x="176" y="147"/>
                    </a:lnTo>
                    <a:lnTo>
                      <a:pt x="180" y="147"/>
                    </a:lnTo>
                    <a:lnTo>
                      <a:pt x="187" y="145"/>
                    </a:lnTo>
                    <a:lnTo>
                      <a:pt x="192" y="141"/>
                    </a:lnTo>
                    <a:lnTo>
                      <a:pt x="195" y="136"/>
                    </a:lnTo>
                    <a:lnTo>
                      <a:pt x="197" y="129"/>
                    </a:lnTo>
                    <a:close/>
                    <a:moveTo>
                      <a:pt x="197" y="95"/>
                    </a:moveTo>
                    <a:lnTo>
                      <a:pt x="197" y="90"/>
                    </a:lnTo>
                    <a:lnTo>
                      <a:pt x="195" y="84"/>
                    </a:lnTo>
                    <a:lnTo>
                      <a:pt x="194" y="79"/>
                    </a:lnTo>
                    <a:lnTo>
                      <a:pt x="192" y="74"/>
                    </a:lnTo>
                    <a:lnTo>
                      <a:pt x="189" y="72"/>
                    </a:lnTo>
                    <a:lnTo>
                      <a:pt x="187" y="71"/>
                    </a:lnTo>
                    <a:lnTo>
                      <a:pt x="183" y="69"/>
                    </a:lnTo>
                    <a:lnTo>
                      <a:pt x="178" y="69"/>
                    </a:lnTo>
                    <a:lnTo>
                      <a:pt x="175" y="69"/>
                    </a:lnTo>
                    <a:lnTo>
                      <a:pt x="171" y="71"/>
                    </a:lnTo>
                    <a:lnTo>
                      <a:pt x="168" y="72"/>
                    </a:lnTo>
                    <a:lnTo>
                      <a:pt x="166" y="76"/>
                    </a:lnTo>
                    <a:lnTo>
                      <a:pt x="163" y="79"/>
                    </a:lnTo>
                    <a:lnTo>
                      <a:pt x="161" y="84"/>
                    </a:lnTo>
                    <a:lnTo>
                      <a:pt x="159" y="90"/>
                    </a:lnTo>
                    <a:lnTo>
                      <a:pt x="159" y="95"/>
                    </a:lnTo>
                    <a:lnTo>
                      <a:pt x="197" y="95"/>
                    </a:lnTo>
                    <a:close/>
                    <a:moveTo>
                      <a:pt x="292" y="46"/>
                    </a:moveTo>
                    <a:lnTo>
                      <a:pt x="292" y="72"/>
                    </a:lnTo>
                    <a:lnTo>
                      <a:pt x="273" y="72"/>
                    </a:lnTo>
                    <a:lnTo>
                      <a:pt x="273" y="121"/>
                    </a:lnTo>
                    <a:lnTo>
                      <a:pt x="273" y="128"/>
                    </a:lnTo>
                    <a:lnTo>
                      <a:pt x="273" y="133"/>
                    </a:lnTo>
                    <a:lnTo>
                      <a:pt x="273" y="138"/>
                    </a:lnTo>
                    <a:lnTo>
                      <a:pt x="273" y="140"/>
                    </a:lnTo>
                    <a:lnTo>
                      <a:pt x="275" y="141"/>
                    </a:lnTo>
                    <a:lnTo>
                      <a:pt x="277" y="143"/>
                    </a:lnTo>
                    <a:lnTo>
                      <a:pt x="278" y="145"/>
                    </a:lnTo>
                    <a:lnTo>
                      <a:pt x="282" y="145"/>
                    </a:lnTo>
                    <a:lnTo>
                      <a:pt x="283" y="145"/>
                    </a:lnTo>
                    <a:lnTo>
                      <a:pt x="285" y="143"/>
                    </a:lnTo>
                    <a:lnTo>
                      <a:pt x="289" y="143"/>
                    </a:lnTo>
                    <a:lnTo>
                      <a:pt x="292" y="141"/>
                    </a:lnTo>
                    <a:lnTo>
                      <a:pt x="296" y="167"/>
                    </a:lnTo>
                    <a:lnTo>
                      <a:pt x="290" y="167"/>
                    </a:lnTo>
                    <a:lnTo>
                      <a:pt x="285" y="167"/>
                    </a:lnTo>
                    <a:lnTo>
                      <a:pt x="278" y="169"/>
                    </a:lnTo>
                    <a:lnTo>
                      <a:pt x="273" y="169"/>
                    </a:lnTo>
                    <a:lnTo>
                      <a:pt x="268" y="169"/>
                    </a:lnTo>
                    <a:lnTo>
                      <a:pt x="264" y="167"/>
                    </a:lnTo>
                    <a:lnTo>
                      <a:pt x="259" y="167"/>
                    </a:lnTo>
                    <a:lnTo>
                      <a:pt x="256" y="167"/>
                    </a:lnTo>
                    <a:lnTo>
                      <a:pt x="252" y="164"/>
                    </a:lnTo>
                    <a:lnTo>
                      <a:pt x="251" y="160"/>
                    </a:lnTo>
                    <a:lnTo>
                      <a:pt x="249" y="157"/>
                    </a:lnTo>
                    <a:lnTo>
                      <a:pt x="247" y="152"/>
                    </a:lnTo>
                    <a:lnTo>
                      <a:pt x="247" y="148"/>
                    </a:lnTo>
                    <a:lnTo>
                      <a:pt x="247" y="141"/>
                    </a:lnTo>
                    <a:lnTo>
                      <a:pt x="245" y="134"/>
                    </a:lnTo>
                    <a:lnTo>
                      <a:pt x="245" y="126"/>
                    </a:lnTo>
                    <a:lnTo>
                      <a:pt x="245" y="72"/>
                    </a:lnTo>
                    <a:lnTo>
                      <a:pt x="233" y="72"/>
                    </a:lnTo>
                    <a:lnTo>
                      <a:pt x="233" y="46"/>
                    </a:lnTo>
                    <a:lnTo>
                      <a:pt x="245" y="46"/>
                    </a:lnTo>
                    <a:lnTo>
                      <a:pt x="245" y="21"/>
                    </a:lnTo>
                    <a:lnTo>
                      <a:pt x="273" y="3"/>
                    </a:lnTo>
                    <a:lnTo>
                      <a:pt x="273" y="46"/>
                    </a:lnTo>
                    <a:lnTo>
                      <a:pt x="292" y="46"/>
                    </a:lnTo>
                    <a:close/>
                    <a:moveTo>
                      <a:pt x="328" y="167"/>
                    </a:moveTo>
                    <a:lnTo>
                      <a:pt x="296" y="46"/>
                    </a:lnTo>
                    <a:lnTo>
                      <a:pt x="321" y="46"/>
                    </a:lnTo>
                    <a:lnTo>
                      <a:pt x="342" y="128"/>
                    </a:lnTo>
                    <a:lnTo>
                      <a:pt x="361" y="46"/>
                    </a:lnTo>
                    <a:lnTo>
                      <a:pt x="384" y="46"/>
                    </a:lnTo>
                    <a:lnTo>
                      <a:pt x="401" y="128"/>
                    </a:lnTo>
                    <a:lnTo>
                      <a:pt x="420" y="46"/>
                    </a:lnTo>
                    <a:lnTo>
                      <a:pt x="446" y="46"/>
                    </a:lnTo>
                    <a:lnTo>
                      <a:pt x="415" y="167"/>
                    </a:lnTo>
                    <a:lnTo>
                      <a:pt x="390" y="167"/>
                    </a:lnTo>
                    <a:lnTo>
                      <a:pt x="373" y="90"/>
                    </a:lnTo>
                    <a:lnTo>
                      <a:pt x="352" y="167"/>
                    </a:lnTo>
                    <a:lnTo>
                      <a:pt x="328" y="167"/>
                    </a:lnTo>
                    <a:close/>
                    <a:moveTo>
                      <a:pt x="454" y="107"/>
                    </a:moveTo>
                    <a:lnTo>
                      <a:pt x="454" y="96"/>
                    </a:lnTo>
                    <a:lnTo>
                      <a:pt x="456" y="88"/>
                    </a:lnTo>
                    <a:lnTo>
                      <a:pt x="458" y="81"/>
                    </a:lnTo>
                    <a:lnTo>
                      <a:pt x="460" y="74"/>
                    </a:lnTo>
                    <a:lnTo>
                      <a:pt x="463" y="67"/>
                    </a:lnTo>
                    <a:lnTo>
                      <a:pt x="468" y="60"/>
                    </a:lnTo>
                    <a:lnTo>
                      <a:pt x="473" y="55"/>
                    </a:lnTo>
                    <a:lnTo>
                      <a:pt x="479" y="52"/>
                    </a:lnTo>
                    <a:lnTo>
                      <a:pt x="484" y="48"/>
                    </a:lnTo>
                    <a:lnTo>
                      <a:pt x="491" y="45"/>
                    </a:lnTo>
                    <a:lnTo>
                      <a:pt x="498" y="43"/>
                    </a:lnTo>
                    <a:lnTo>
                      <a:pt x="504" y="43"/>
                    </a:lnTo>
                    <a:lnTo>
                      <a:pt x="515" y="45"/>
                    </a:lnTo>
                    <a:lnTo>
                      <a:pt x="525" y="48"/>
                    </a:lnTo>
                    <a:lnTo>
                      <a:pt x="534" y="53"/>
                    </a:lnTo>
                    <a:lnTo>
                      <a:pt x="542" y="62"/>
                    </a:lnTo>
                    <a:lnTo>
                      <a:pt x="548" y="72"/>
                    </a:lnTo>
                    <a:lnTo>
                      <a:pt x="553" y="83"/>
                    </a:lnTo>
                    <a:lnTo>
                      <a:pt x="554" y="95"/>
                    </a:lnTo>
                    <a:lnTo>
                      <a:pt x="556" y="107"/>
                    </a:lnTo>
                    <a:lnTo>
                      <a:pt x="556" y="115"/>
                    </a:lnTo>
                    <a:lnTo>
                      <a:pt x="554" y="124"/>
                    </a:lnTo>
                    <a:lnTo>
                      <a:pt x="551" y="131"/>
                    </a:lnTo>
                    <a:lnTo>
                      <a:pt x="548" y="140"/>
                    </a:lnTo>
                    <a:lnTo>
                      <a:pt x="544" y="147"/>
                    </a:lnTo>
                    <a:lnTo>
                      <a:pt x="541" y="153"/>
                    </a:lnTo>
                    <a:lnTo>
                      <a:pt x="535" y="159"/>
                    </a:lnTo>
                    <a:lnTo>
                      <a:pt x="529" y="164"/>
                    </a:lnTo>
                    <a:lnTo>
                      <a:pt x="523" y="166"/>
                    </a:lnTo>
                    <a:lnTo>
                      <a:pt x="518" y="167"/>
                    </a:lnTo>
                    <a:lnTo>
                      <a:pt x="511" y="169"/>
                    </a:lnTo>
                    <a:lnTo>
                      <a:pt x="506" y="169"/>
                    </a:lnTo>
                    <a:lnTo>
                      <a:pt x="494" y="169"/>
                    </a:lnTo>
                    <a:lnTo>
                      <a:pt x="485" y="166"/>
                    </a:lnTo>
                    <a:lnTo>
                      <a:pt x="475" y="160"/>
                    </a:lnTo>
                    <a:lnTo>
                      <a:pt x="468" y="153"/>
                    </a:lnTo>
                    <a:lnTo>
                      <a:pt x="461" y="145"/>
                    </a:lnTo>
                    <a:lnTo>
                      <a:pt x="456" y="134"/>
                    </a:lnTo>
                    <a:lnTo>
                      <a:pt x="454" y="121"/>
                    </a:lnTo>
                    <a:lnTo>
                      <a:pt x="454" y="107"/>
                    </a:lnTo>
                    <a:close/>
                    <a:moveTo>
                      <a:pt x="480" y="109"/>
                    </a:moveTo>
                    <a:lnTo>
                      <a:pt x="480" y="115"/>
                    </a:lnTo>
                    <a:lnTo>
                      <a:pt x="482" y="124"/>
                    </a:lnTo>
                    <a:lnTo>
                      <a:pt x="485" y="129"/>
                    </a:lnTo>
                    <a:lnTo>
                      <a:pt x="487" y="134"/>
                    </a:lnTo>
                    <a:lnTo>
                      <a:pt x="491" y="140"/>
                    </a:lnTo>
                    <a:lnTo>
                      <a:pt x="496" y="141"/>
                    </a:lnTo>
                    <a:lnTo>
                      <a:pt x="501" y="145"/>
                    </a:lnTo>
                    <a:lnTo>
                      <a:pt x="506" y="145"/>
                    </a:lnTo>
                    <a:lnTo>
                      <a:pt x="510" y="145"/>
                    </a:lnTo>
                    <a:lnTo>
                      <a:pt x="513" y="141"/>
                    </a:lnTo>
                    <a:lnTo>
                      <a:pt x="518" y="140"/>
                    </a:lnTo>
                    <a:lnTo>
                      <a:pt x="522" y="134"/>
                    </a:lnTo>
                    <a:lnTo>
                      <a:pt x="525" y="129"/>
                    </a:lnTo>
                    <a:lnTo>
                      <a:pt x="527" y="124"/>
                    </a:lnTo>
                    <a:lnTo>
                      <a:pt x="529" y="115"/>
                    </a:lnTo>
                    <a:lnTo>
                      <a:pt x="529" y="109"/>
                    </a:lnTo>
                    <a:lnTo>
                      <a:pt x="529" y="100"/>
                    </a:lnTo>
                    <a:lnTo>
                      <a:pt x="527" y="91"/>
                    </a:lnTo>
                    <a:lnTo>
                      <a:pt x="525" y="84"/>
                    </a:lnTo>
                    <a:lnTo>
                      <a:pt x="522" y="79"/>
                    </a:lnTo>
                    <a:lnTo>
                      <a:pt x="518" y="76"/>
                    </a:lnTo>
                    <a:lnTo>
                      <a:pt x="513" y="72"/>
                    </a:lnTo>
                    <a:lnTo>
                      <a:pt x="508" y="71"/>
                    </a:lnTo>
                    <a:lnTo>
                      <a:pt x="504" y="71"/>
                    </a:lnTo>
                    <a:lnTo>
                      <a:pt x="499" y="71"/>
                    </a:lnTo>
                    <a:lnTo>
                      <a:pt x="496" y="72"/>
                    </a:lnTo>
                    <a:lnTo>
                      <a:pt x="491" y="76"/>
                    </a:lnTo>
                    <a:lnTo>
                      <a:pt x="487" y="78"/>
                    </a:lnTo>
                    <a:lnTo>
                      <a:pt x="485" y="84"/>
                    </a:lnTo>
                    <a:lnTo>
                      <a:pt x="482" y="91"/>
                    </a:lnTo>
                    <a:lnTo>
                      <a:pt x="480" y="100"/>
                    </a:lnTo>
                    <a:lnTo>
                      <a:pt x="480" y="109"/>
                    </a:lnTo>
                    <a:close/>
                    <a:moveTo>
                      <a:pt x="605" y="167"/>
                    </a:moveTo>
                    <a:lnTo>
                      <a:pt x="577" y="167"/>
                    </a:lnTo>
                    <a:lnTo>
                      <a:pt x="577" y="46"/>
                    </a:lnTo>
                    <a:lnTo>
                      <a:pt x="603" y="46"/>
                    </a:lnTo>
                    <a:lnTo>
                      <a:pt x="603" y="64"/>
                    </a:lnTo>
                    <a:lnTo>
                      <a:pt x="605" y="59"/>
                    </a:lnTo>
                    <a:lnTo>
                      <a:pt x="608" y="53"/>
                    </a:lnTo>
                    <a:lnTo>
                      <a:pt x="610" y="50"/>
                    </a:lnTo>
                    <a:lnTo>
                      <a:pt x="613" y="48"/>
                    </a:lnTo>
                    <a:lnTo>
                      <a:pt x="617" y="46"/>
                    </a:lnTo>
                    <a:lnTo>
                      <a:pt x="618" y="45"/>
                    </a:lnTo>
                    <a:lnTo>
                      <a:pt x="622" y="43"/>
                    </a:lnTo>
                    <a:lnTo>
                      <a:pt x="624" y="43"/>
                    </a:lnTo>
                    <a:lnTo>
                      <a:pt x="629" y="43"/>
                    </a:lnTo>
                    <a:lnTo>
                      <a:pt x="632" y="45"/>
                    </a:lnTo>
                    <a:lnTo>
                      <a:pt x="637" y="48"/>
                    </a:lnTo>
                    <a:lnTo>
                      <a:pt x="641" y="50"/>
                    </a:lnTo>
                    <a:lnTo>
                      <a:pt x="634" y="78"/>
                    </a:lnTo>
                    <a:lnTo>
                      <a:pt x="629" y="76"/>
                    </a:lnTo>
                    <a:lnTo>
                      <a:pt x="625" y="76"/>
                    </a:lnTo>
                    <a:lnTo>
                      <a:pt x="624" y="74"/>
                    </a:lnTo>
                    <a:lnTo>
                      <a:pt x="622" y="74"/>
                    </a:lnTo>
                    <a:lnTo>
                      <a:pt x="618" y="74"/>
                    </a:lnTo>
                    <a:lnTo>
                      <a:pt x="617" y="74"/>
                    </a:lnTo>
                    <a:lnTo>
                      <a:pt x="613" y="76"/>
                    </a:lnTo>
                    <a:lnTo>
                      <a:pt x="611" y="78"/>
                    </a:lnTo>
                    <a:lnTo>
                      <a:pt x="610" y="79"/>
                    </a:lnTo>
                    <a:lnTo>
                      <a:pt x="608" y="83"/>
                    </a:lnTo>
                    <a:lnTo>
                      <a:pt x="606" y="88"/>
                    </a:lnTo>
                    <a:lnTo>
                      <a:pt x="605" y="93"/>
                    </a:lnTo>
                    <a:lnTo>
                      <a:pt x="605" y="98"/>
                    </a:lnTo>
                    <a:lnTo>
                      <a:pt x="605" y="107"/>
                    </a:lnTo>
                    <a:lnTo>
                      <a:pt x="605" y="117"/>
                    </a:lnTo>
                    <a:lnTo>
                      <a:pt x="605" y="129"/>
                    </a:lnTo>
                    <a:lnTo>
                      <a:pt x="605" y="1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09" name="Freeform 897"/>
              <p:cNvSpPr>
                <a:spLocks noEditPoints="1"/>
              </p:cNvSpPr>
              <p:nvPr/>
            </p:nvSpPr>
            <p:spPr bwMode="auto">
              <a:xfrm>
                <a:off x="1495" y="2868"/>
                <a:ext cx="331" cy="108"/>
              </a:xfrm>
              <a:custGeom>
                <a:avLst/>
                <a:gdLst>
                  <a:gd name="T0" fmla="*/ 55 w 661"/>
                  <a:gd name="T1" fmla="*/ 46 h 216"/>
                  <a:gd name="T2" fmla="*/ 38 w 661"/>
                  <a:gd name="T3" fmla="*/ 114 h 216"/>
                  <a:gd name="T4" fmla="*/ 159 w 661"/>
                  <a:gd name="T5" fmla="*/ 0 h 216"/>
                  <a:gd name="T6" fmla="*/ 159 w 661"/>
                  <a:gd name="T7" fmla="*/ 167 h 216"/>
                  <a:gd name="T8" fmla="*/ 281 w 661"/>
                  <a:gd name="T9" fmla="*/ 57 h 216"/>
                  <a:gd name="T10" fmla="*/ 314 w 661"/>
                  <a:gd name="T11" fmla="*/ 43 h 216"/>
                  <a:gd name="T12" fmla="*/ 345 w 661"/>
                  <a:gd name="T13" fmla="*/ 52 h 216"/>
                  <a:gd name="T14" fmla="*/ 355 w 661"/>
                  <a:gd name="T15" fmla="*/ 72 h 216"/>
                  <a:gd name="T16" fmla="*/ 357 w 661"/>
                  <a:gd name="T17" fmla="*/ 141 h 216"/>
                  <a:gd name="T18" fmla="*/ 362 w 661"/>
                  <a:gd name="T19" fmla="*/ 164 h 216"/>
                  <a:gd name="T20" fmla="*/ 326 w 661"/>
                  <a:gd name="T21" fmla="*/ 162 h 216"/>
                  <a:gd name="T22" fmla="*/ 307 w 661"/>
                  <a:gd name="T23" fmla="*/ 169 h 216"/>
                  <a:gd name="T24" fmla="*/ 280 w 661"/>
                  <a:gd name="T25" fmla="*/ 160 h 216"/>
                  <a:gd name="T26" fmla="*/ 269 w 661"/>
                  <a:gd name="T27" fmla="*/ 129 h 216"/>
                  <a:gd name="T28" fmla="*/ 278 w 661"/>
                  <a:gd name="T29" fmla="*/ 110 h 216"/>
                  <a:gd name="T30" fmla="*/ 299 w 661"/>
                  <a:gd name="T31" fmla="*/ 98 h 216"/>
                  <a:gd name="T32" fmla="*/ 330 w 661"/>
                  <a:gd name="T33" fmla="*/ 88 h 216"/>
                  <a:gd name="T34" fmla="*/ 328 w 661"/>
                  <a:gd name="T35" fmla="*/ 74 h 216"/>
                  <a:gd name="T36" fmla="*/ 319 w 661"/>
                  <a:gd name="T37" fmla="*/ 69 h 216"/>
                  <a:gd name="T38" fmla="*/ 305 w 661"/>
                  <a:gd name="T39" fmla="*/ 71 h 216"/>
                  <a:gd name="T40" fmla="*/ 297 w 661"/>
                  <a:gd name="T41" fmla="*/ 84 h 216"/>
                  <a:gd name="T42" fmla="*/ 314 w 661"/>
                  <a:gd name="T43" fmla="*/ 115 h 216"/>
                  <a:gd name="T44" fmla="*/ 300 w 661"/>
                  <a:gd name="T45" fmla="*/ 124 h 216"/>
                  <a:gd name="T46" fmla="*/ 299 w 661"/>
                  <a:gd name="T47" fmla="*/ 138 h 216"/>
                  <a:gd name="T48" fmla="*/ 307 w 661"/>
                  <a:gd name="T49" fmla="*/ 148 h 216"/>
                  <a:gd name="T50" fmla="*/ 323 w 661"/>
                  <a:gd name="T51" fmla="*/ 145 h 216"/>
                  <a:gd name="T52" fmla="*/ 330 w 661"/>
                  <a:gd name="T53" fmla="*/ 131 h 216"/>
                  <a:gd name="T54" fmla="*/ 369 w 661"/>
                  <a:gd name="T55" fmla="*/ 46 h 216"/>
                  <a:gd name="T56" fmla="*/ 437 w 661"/>
                  <a:gd name="T57" fmla="*/ 164 h 216"/>
                  <a:gd name="T58" fmla="*/ 421 w 661"/>
                  <a:gd name="T59" fmla="*/ 203 h 216"/>
                  <a:gd name="T60" fmla="*/ 407 w 661"/>
                  <a:gd name="T61" fmla="*/ 212 h 216"/>
                  <a:gd name="T62" fmla="*/ 387 w 661"/>
                  <a:gd name="T63" fmla="*/ 214 h 216"/>
                  <a:gd name="T64" fmla="*/ 383 w 661"/>
                  <a:gd name="T65" fmla="*/ 188 h 216"/>
                  <a:gd name="T66" fmla="*/ 397 w 661"/>
                  <a:gd name="T67" fmla="*/ 186 h 216"/>
                  <a:gd name="T68" fmla="*/ 407 w 661"/>
                  <a:gd name="T69" fmla="*/ 167 h 216"/>
                  <a:gd name="T70" fmla="*/ 566 w 661"/>
                  <a:gd name="T71" fmla="*/ 152 h 216"/>
                  <a:gd name="T72" fmla="*/ 538 w 661"/>
                  <a:gd name="T73" fmla="*/ 169 h 216"/>
                  <a:gd name="T74" fmla="*/ 495 w 661"/>
                  <a:gd name="T75" fmla="*/ 157 h 216"/>
                  <a:gd name="T76" fmla="*/ 483 w 661"/>
                  <a:gd name="T77" fmla="*/ 93 h 216"/>
                  <a:gd name="T78" fmla="*/ 509 w 661"/>
                  <a:gd name="T79" fmla="*/ 46 h 216"/>
                  <a:gd name="T80" fmla="*/ 554 w 661"/>
                  <a:gd name="T81" fmla="*/ 52 h 216"/>
                  <a:gd name="T82" fmla="*/ 575 w 661"/>
                  <a:gd name="T83" fmla="*/ 112 h 216"/>
                  <a:gd name="T84" fmla="*/ 513 w 661"/>
                  <a:gd name="T85" fmla="*/ 134 h 216"/>
                  <a:gd name="T86" fmla="*/ 532 w 661"/>
                  <a:gd name="T87" fmla="*/ 147 h 216"/>
                  <a:gd name="T88" fmla="*/ 549 w 661"/>
                  <a:gd name="T89" fmla="*/ 95 h 216"/>
                  <a:gd name="T90" fmla="*/ 540 w 661"/>
                  <a:gd name="T91" fmla="*/ 72 h 216"/>
                  <a:gd name="T92" fmla="*/ 521 w 661"/>
                  <a:gd name="T93" fmla="*/ 71 h 216"/>
                  <a:gd name="T94" fmla="*/ 511 w 661"/>
                  <a:gd name="T95" fmla="*/ 90 h 216"/>
                  <a:gd name="T96" fmla="*/ 595 w 661"/>
                  <a:gd name="T97" fmla="*/ 46 h 216"/>
                  <a:gd name="T98" fmla="*/ 628 w 661"/>
                  <a:gd name="T99" fmla="*/ 50 h 216"/>
                  <a:gd name="T100" fmla="*/ 644 w 661"/>
                  <a:gd name="T101" fmla="*/ 43 h 216"/>
                  <a:gd name="T102" fmla="*/ 652 w 661"/>
                  <a:gd name="T103" fmla="*/ 78 h 216"/>
                  <a:gd name="T104" fmla="*/ 637 w 661"/>
                  <a:gd name="T105" fmla="*/ 74 h 216"/>
                  <a:gd name="T106" fmla="*/ 627 w 661"/>
                  <a:gd name="T107" fmla="*/ 83 h 216"/>
                  <a:gd name="T108" fmla="*/ 623 w 661"/>
                  <a:gd name="T109" fmla="*/ 117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661" h="216">
                    <a:moveTo>
                      <a:pt x="0" y="167"/>
                    </a:moveTo>
                    <a:lnTo>
                      <a:pt x="0" y="0"/>
                    </a:lnTo>
                    <a:lnTo>
                      <a:pt x="26" y="0"/>
                    </a:lnTo>
                    <a:lnTo>
                      <a:pt x="26" y="88"/>
                    </a:lnTo>
                    <a:lnTo>
                      <a:pt x="55" y="46"/>
                    </a:lnTo>
                    <a:lnTo>
                      <a:pt x="88" y="46"/>
                    </a:lnTo>
                    <a:lnTo>
                      <a:pt x="53" y="91"/>
                    </a:lnTo>
                    <a:lnTo>
                      <a:pt x="91" y="167"/>
                    </a:lnTo>
                    <a:lnTo>
                      <a:pt x="64" y="167"/>
                    </a:lnTo>
                    <a:lnTo>
                      <a:pt x="38" y="114"/>
                    </a:lnTo>
                    <a:lnTo>
                      <a:pt x="26" y="129"/>
                    </a:lnTo>
                    <a:lnTo>
                      <a:pt x="26" y="167"/>
                    </a:lnTo>
                    <a:lnTo>
                      <a:pt x="0" y="167"/>
                    </a:lnTo>
                    <a:close/>
                    <a:moveTo>
                      <a:pt x="159" y="167"/>
                    </a:moveTo>
                    <a:lnTo>
                      <a:pt x="159" y="0"/>
                    </a:lnTo>
                    <a:lnTo>
                      <a:pt x="186" y="0"/>
                    </a:lnTo>
                    <a:lnTo>
                      <a:pt x="186" y="140"/>
                    </a:lnTo>
                    <a:lnTo>
                      <a:pt x="255" y="140"/>
                    </a:lnTo>
                    <a:lnTo>
                      <a:pt x="255" y="167"/>
                    </a:lnTo>
                    <a:lnTo>
                      <a:pt x="159" y="167"/>
                    </a:lnTo>
                    <a:close/>
                    <a:moveTo>
                      <a:pt x="297" y="84"/>
                    </a:moveTo>
                    <a:lnTo>
                      <a:pt x="273" y="78"/>
                    </a:lnTo>
                    <a:lnTo>
                      <a:pt x="274" y="71"/>
                    </a:lnTo>
                    <a:lnTo>
                      <a:pt x="278" y="62"/>
                    </a:lnTo>
                    <a:lnTo>
                      <a:pt x="281" y="57"/>
                    </a:lnTo>
                    <a:lnTo>
                      <a:pt x="286" y="52"/>
                    </a:lnTo>
                    <a:lnTo>
                      <a:pt x="292" y="48"/>
                    </a:lnTo>
                    <a:lnTo>
                      <a:pt x="299" y="45"/>
                    </a:lnTo>
                    <a:lnTo>
                      <a:pt x="307" y="43"/>
                    </a:lnTo>
                    <a:lnTo>
                      <a:pt x="314" y="43"/>
                    </a:lnTo>
                    <a:lnTo>
                      <a:pt x="321" y="43"/>
                    </a:lnTo>
                    <a:lnTo>
                      <a:pt x="330" y="45"/>
                    </a:lnTo>
                    <a:lnTo>
                      <a:pt x="336" y="46"/>
                    </a:lnTo>
                    <a:lnTo>
                      <a:pt x="342" y="48"/>
                    </a:lnTo>
                    <a:lnTo>
                      <a:pt x="345" y="52"/>
                    </a:lnTo>
                    <a:lnTo>
                      <a:pt x="349" y="53"/>
                    </a:lnTo>
                    <a:lnTo>
                      <a:pt x="350" y="57"/>
                    </a:lnTo>
                    <a:lnTo>
                      <a:pt x="354" y="60"/>
                    </a:lnTo>
                    <a:lnTo>
                      <a:pt x="355" y="65"/>
                    </a:lnTo>
                    <a:lnTo>
                      <a:pt x="355" y="72"/>
                    </a:lnTo>
                    <a:lnTo>
                      <a:pt x="357" y="81"/>
                    </a:lnTo>
                    <a:lnTo>
                      <a:pt x="357" y="91"/>
                    </a:lnTo>
                    <a:lnTo>
                      <a:pt x="357" y="128"/>
                    </a:lnTo>
                    <a:lnTo>
                      <a:pt x="357" y="134"/>
                    </a:lnTo>
                    <a:lnTo>
                      <a:pt x="357" y="141"/>
                    </a:lnTo>
                    <a:lnTo>
                      <a:pt x="357" y="147"/>
                    </a:lnTo>
                    <a:lnTo>
                      <a:pt x="359" y="150"/>
                    </a:lnTo>
                    <a:lnTo>
                      <a:pt x="359" y="155"/>
                    </a:lnTo>
                    <a:lnTo>
                      <a:pt x="361" y="159"/>
                    </a:lnTo>
                    <a:lnTo>
                      <a:pt x="362" y="164"/>
                    </a:lnTo>
                    <a:lnTo>
                      <a:pt x="362" y="167"/>
                    </a:lnTo>
                    <a:lnTo>
                      <a:pt x="336" y="167"/>
                    </a:lnTo>
                    <a:lnTo>
                      <a:pt x="333" y="155"/>
                    </a:lnTo>
                    <a:lnTo>
                      <a:pt x="330" y="159"/>
                    </a:lnTo>
                    <a:lnTo>
                      <a:pt x="326" y="162"/>
                    </a:lnTo>
                    <a:lnTo>
                      <a:pt x="323" y="166"/>
                    </a:lnTo>
                    <a:lnTo>
                      <a:pt x="319" y="167"/>
                    </a:lnTo>
                    <a:lnTo>
                      <a:pt x="316" y="167"/>
                    </a:lnTo>
                    <a:lnTo>
                      <a:pt x="311" y="167"/>
                    </a:lnTo>
                    <a:lnTo>
                      <a:pt x="307" y="169"/>
                    </a:lnTo>
                    <a:lnTo>
                      <a:pt x="304" y="169"/>
                    </a:lnTo>
                    <a:lnTo>
                      <a:pt x="297" y="169"/>
                    </a:lnTo>
                    <a:lnTo>
                      <a:pt x="290" y="167"/>
                    </a:lnTo>
                    <a:lnTo>
                      <a:pt x="285" y="164"/>
                    </a:lnTo>
                    <a:lnTo>
                      <a:pt x="280" y="160"/>
                    </a:lnTo>
                    <a:lnTo>
                      <a:pt x="274" y="155"/>
                    </a:lnTo>
                    <a:lnTo>
                      <a:pt x="273" y="150"/>
                    </a:lnTo>
                    <a:lnTo>
                      <a:pt x="269" y="143"/>
                    </a:lnTo>
                    <a:lnTo>
                      <a:pt x="269" y="134"/>
                    </a:lnTo>
                    <a:lnTo>
                      <a:pt x="269" y="129"/>
                    </a:lnTo>
                    <a:lnTo>
                      <a:pt x="271" y="126"/>
                    </a:lnTo>
                    <a:lnTo>
                      <a:pt x="273" y="121"/>
                    </a:lnTo>
                    <a:lnTo>
                      <a:pt x="274" y="117"/>
                    </a:lnTo>
                    <a:lnTo>
                      <a:pt x="276" y="112"/>
                    </a:lnTo>
                    <a:lnTo>
                      <a:pt x="278" y="110"/>
                    </a:lnTo>
                    <a:lnTo>
                      <a:pt x="281" y="107"/>
                    </a:lnTo>
                    <a:lnTo>
                      <a:pt x="285" y="105"/>
                    </a:lnTo>
                    <a:lnTo>
                      <a:pt x="288" y="103"/>
                    </a:lnTo>
                    <a:lnTo>
                      <a:pt x="293" y="100"/>
                    </a:lnTo>
                    <a:lnTo>
                      <a:pt x="299" y="98"/>
                    </a:lnTo>
                    <a:lnTo>
                      <a:pt x="305" y="96"/>
                    </a:lnTo>
                    <a:lnTo>
                      <a:pt x="314" y="95"/>
                    </a:lnTo>
                    <a:lnTo>
                      <a:pt x="321" y="91"/>
                    </a:lnTo>
                    <a:lnTo>
                      <a:pt x="326" y="90"/>
                    </a:lnTo>
                    <a:lnTo>
                      <a:pt x="330" y="88"/>
                    </a:lnTo>
                    <a:lnTo>
                      <a:pt x="330" y="83"/>
                    </a:lnTo>
                    <a:lnTo>
                      <a:pt x="330" y="79"/>
                    </a:lnTo>
                    <a:lnTo>
                      <a:pt x="330" y="78"/>
                    </a:lnTo>
                    <a:lnTo>
                      <a:pt x="328" y="74"/>
                    </a:lnTo>
                    <a:lnTo>
                      <a:pt x="328" y="74"/>
                    </a:lnTo>
                    <a:lnTo>
                      <a:pt x="326" y="72"/>
                    </a:lnTo>
                    <a:lnTo>
                      <a:pt x="324" y="72"/>
                    </a:lnTo>
                    <a:lnTo>
                      <a:pt x="324" y="71"/>
                    </a:lnTo>
                    <a:lnTo>
                      <a:pt x="323" y="69"/>
                    </a:lnTo>
                    <a:lnTo>
                      <a:pt x="319" y="69"/>
                    </a:lnTo>
                    <a:lnTo>
                      <a:pt x="318" y="69"/>
                    </a:lnTo>
                    <a:lnTo>
                      <a:pt x="314" y="69"/>
                    </a:lnTo>
                    <a:lnTo>
                      <a:pt x="311" y="69"/>
                    </a:lnTo>
                    <a:lnTo>
                      <a:pt x="307" y="69"/>
                    </a:lnTo>
                    <a:lnTo>
                      <a:pt x="305" y="71"/>
                    </a:lnTo>
                    <a:lnTo>
                      <a:pt x="304" y="72"/>
                    </a:lnTo>
                    <a:lnTo>
                      <a:pt x="302" y="74"/>
                    </a:lnTo>
                    <a:lnTo>
                      <a:pt x="300" y="76"/>
                    </a:lnTo>
                    <a:lnTo>
                      <a:pt x="299" y="79"/>
                    </a:lnTo>
                    <a:lnTo>
                      <a:pt x="297" y="84"/>
                    </a:lnTo>
                    <a:close/>
                    <a:moveTo>
                      <a:pt x="330" y="110"/>
                    </a:moveTo>
                    <a:lnTo>
                      <a:pt x="326" y="110"/>
                    </a:lnTo>
                    <a:lnTo>
                      <a:pt x="324" y="112"/>
                    </a:lnTo>
                    <a:lnTo>
                      <a:pt x="319" y="114"/>
                    </a:lnTo>
                    <a:lnTo>
                      <a:pt x="314" y="115"/>
                    </a:lnTo>
                    <a:lnTo>
                      <a:pt x="309" y="117"/>
                    </a:lnTo>
                    <a:lnTo>
                      <a:pt x="305" y="119"/>
                    </a:lnTo>
                    <a:lnTo>
                      <a:pt x="304" y="121"/>
                    </a:lnTo>
                    <a:lnTo>
                      <a:pt x="302" y="122"/>
                    </a:lnTo>
                    <a:lnTo>
                      <a:pt x="300" y="124"/>
                    </a:lnTo>
                    <a:lnTo>
                      <a:pt x="299" y="126"/>
                    </a:lnTo>
                    <a:lnTo>
                      <a:pt x="297" y="129"/>
                    </a:lnTo>
                    <a:lnTo>
                      <a:pt x="297" y="131"/>
                    </a:lnTo>
                    <a:lnTo>
                      <a:pt x="297" y="134"/>
                    </a:lnTo>
                    <a:lnTo>
                      <a:pt x="299" y="138"/>
                    </a:lnTo>
                    <a:lnTo>
                      <a:pt x="300" y="140"/>
                    </a:lnTo>
                    <a:lnTo>
                      <a:pt x="302" y="143"/>
                    </a:lnTo>
                    <a:lnTo>
                      <a:pt x="304" y="147"/>
                    </a:lnTo>
                    <a:lnTo>
                      <a:pt x="305" y="148"/>
                    </a:lnTo>
                    <a:lnTo>
                      <a:pt x="307" y="148"/>
                    </a:lnTo>
                    <a:lnTo>
                      <a:pt x="311" y="148"/>
                    </a:lnTo>
                    <a:lnTo>
                      <a:pt x="314" y="148"/>
                    </a:lnTo>
                    <a:lnTo>
                      <a:pt x="316" y="148"/>
                    </a:lnTo>
                    <a:lnTo>
                      <a:pt x="319" y="147"/>
                    </a:lnTo>
                    <a:lnTo>
                      <a:pt x="323" y="145"/>
                    </a:lnTo>
                    <a:lnTo>
                      <a:pt x="324" y="141"/>
                    </a:lnTo>
                    <a:lnTo>
                      <a:pt x="326" y="140"/>
                    </a:lnTo>
                    <a:lnTo>
                      <a:pt x="326" y="136"/>
                    </a:lnTo>
                    <a:lnTo>
                      <a:pt x="328" y="134"/>
                    </a:lnTo>
                    <a:lnTo>
                      <a:pt x="330" y="131"/>
                    </a:lnTo>
                    <a:lnTo>
                      <a:pt x="330" y="128"/>
                    </a:lnTo>
                    <a:lnTo>
                      <a:pt x="330" y="122"/>
                    </a:lnTo>
                    <a:lnTo>
                      <a:pt x="330" y="117"/>
                    </a:lnTo>
                    <a:lnTo>
                      <a:pt x="330" y="110"/>
                    </a:lnTo>
                    <a:close/>
                    <a:moveTo>
                      <a:pt x="369" y="46"/>
                    </a:moveTo>
                    <a:lnTo>
                      <a:pt x="397" y="46"/>
                    </a:lnTo>
                    <a:lnTo>
                      <a:pt x="421" y="133"/>
                    </a:lnTo>
                    <a:lnTo>
                      <a:pt x="444" y="46"/>
                    </a:lnTo>
                    <a:lnTo>
                      <a:pt x="473" y="46"/>
                    </a:lnTo>
                    <a:lnTo>
                      <a:pt x="437" y="164"/>
                    </a:lnTo>
                    <a:lnTo>
                      <a:pt x="431" y="184"/>
                    </a:lnTo>
                    <a:lnTo>
                      <a:pt x="430" y="190"/>
                    </a:lnTo>
                    <a:lnTo>
                      <a:pt x="426" y="195"/>
                    </a:lnTo>
                    <a:lnTo>
                      <a:pt x="425" y="200"/>
                    </a:lnTo>
                    <a:lnTo>
                      <a:pt x="421" y="203"/>
                    </a:lnTo>
                    <a:lnTo>
                      <a:pt x="419" y="205"/>
                    </a:lnTo>
                    <a:lnTo>
                      <a:pt x="418" y="207"/>
                    </a:lnTo>
                    <a:lnTo>
                      <a:pt x="414" y="209"/>
                    </a:lnTo>
                    <a:lnTo>
                      <a:pt x="411" y="210"/>
                    </a:lnTo>
                    <a:lnTo>
                      <a:pt x="407" y="212"/>
                    </a:lnTo>
                    <a:lnTo>
                      <a:pt x="402" y="214"/>
                    </a:lnTo>
                    <a:lnTo>
                      <a:pt x="399" y="216"/>
                    </a:lnTo>
                    <a:lnTo>
                      <a:pt x="393" y="216"/>
                    </a:lnTo>
                    <a:lnTo>
                      <a:pt x="390" y="216"/>
                    </a:lnTo>
                    <a:lnTo>
                      <a:pt x="387" y="214"/>
                    </a:lnTo>
                    <a:lnTo>
                      <a:pt x="383" y="214"/>
                    </a:lnTo>
                    <a:lnTo>
                      <a:pt x="380" y="212"/>
                    </a:lnTo>
                    <a:lnTo>
                      <a:pt x="376" y="186"/>
                    </a:lnTo>
                    <a:lnTo>
                      <a:pt x="380" y="188"/>
                    </a:lnTo>
                    <a:lnTo>
                      <a:pt x="383" y="188"/>
                    </a:lnTo>
                    <a:lnTo>
                      <a:pt x="385" y="188"/>
                    </a:lnTo>
                    <a:lnTo>
                      <a:pt x="387" y="188"/>
                    </a:lnTo>
                    <a:lnTo>
                      <a:pt x="392" y="188"/>
                    </a:lnTo>
                    <a:lnTo>
                      <a:pt x="395" y="186"/>
                    </a:lnTo>
                    <a:lnTo>
                      <a:pt x="397" y="186"/>
                    </a:lnTo>
                    <a:lnTo>
                      <a:pt x="400" y="184"/>
                    </a:lnTo>
                    <a:lnTo>
                      <a:pt x="402" y="181"/>
                    </a:lnTo>
                    <a:lnTo>
                      <a:pt x="404" y="178"/>
                    </a:lnTo>
                    <a:lnTo>
                      <a:pt x="406" y="172"/>
                    </a:lnTo>
                    <a:lnTo>
                      <a:pt x="407" y="167"/>
                    </a:lnTo>
                    <a:lnTo>
                      <a:pt x="369" y="46"/>
                    </a:lnTo>
                    <a:close/>
                    <a:moveTo>
                      <a:pt x="549" y="129"/>
                    </a:moveTo>
                    <a:lnTo>
                      <a:pt x="575" y="134"/>
                    </a:lnTo>
                    <a:lnTo>
                      <a:pt x="571" y="143"/>
                    </a:lnTo>
                    <a:lnTo>
                      <a:pt x="566" y="152"/>
                    </a:lnTo>
                    <a:lnTo>
                      <a:pt x="563" y="157"/>
                    </a:lnTo>
                    <a:lnTo>
                      <a:pt x="557" y="162"/>
                    </a:lnTo>
                    <a:lnTo>
                      <a:pt x="551" y="166"/>
                    </a:lnTo>
                    <a:lnTo>
                      <a:pt x="545" y="167"/>
                    </a:lnTo>
                    <a:lnTo>
                      <a:pt x="538" y="169"/>
                    </a:lnTo>
                    <a:lnTo>
                      <a:pt x="532" y="169"/>
                    </a:lnTo>
                    <a:lnTo>
                      <a:pt x="519" y="169"/>
                    </a:lnTo>
                    <a:lnTo>
                      <a:pt x="511" y="167"/>
                    </a:lnTo>
                    <a:lnTo>
                      <a:pt x="502" y="164"/>
                    </a:lnTo>
                    <a:lnTo>
                      <a:pt x="495" y="157"/>
                    </a:lnTo>
                    <a:lnTo>
                      <a:pt x="490" y="147"/>
                    </a:lnTo>
                    <a:lnTo>
                      <a:pt x="485" y="134"/>
                    </a:lnTo>
                    <a:lnTo>
                      <a:pt x="483" y="122"/>
                    </a:lnTo>
                    <a:lnTo>
                      <a:pt x="481" y="109"/>
                    </a:lnTo>
                    <a:lnTo>
                      <a:pt x="483" y="93"/>
                    </a:lnTo>
                    <a:lnTo>
                      <a:pt x="485" y="81"/>
                    </a:lnTo>
                    <a:lnTo>
                      <a:pt x="490" y="69"/>
                    </a:lnTo>
                    <a:lnTo>
                      <a:pt x="495" y="59"/>
                    </a:lnTo>
                    <a:lnTo>
                      <a:pt x="502" y="52"/>
                    </a:lnTo>
                    <a:lnTo>
                      <a:pt x="509" y="46"/>
                    </a:lnTo>
                    <a:lnTo>
                      <a:pt x="518" y="45"/>
                    </a:lnTo>
                    <a:lnTo>
                      <a:pt x="528" y="43"/>
                    </a:lnTo>
                    <a:lnTo>
                      <a:pt x="538" y="45"/>
                    </a:lnTo>
                    <a:lnTo>
                      <a:pt x="547" y="46"/>
                    </a:lnTo>
                    <a:lnTo>
                      <a:pt x="554" y="52"/>
                    </a:lnTo>
                    <a:lnTo>
                      <a:pt x="561" y="59"/>
                    </a:lnTo>
                    <a:lnTo>
                      <a:pt x="566" y="69"/>
                    </a:lnTo>
                    <a:lnTo>
                      <a:pt x="571" y="81"/>
                    </a:lnTo>
                    <a:lnTo>
                      <a:pt x="573" y="95"/>
                    </a:lnTo>
                    <a:lnTo>
                      <a:pt x="575" y="112"/>
                    </a:lnTo>
                    <a:lnTo>
                      <a:pt x="575" y="115"/>
                    </a:lnTo>
                    <a:lnTo>
                      <a:pt x="509" y="115"/>
                    </a:lnTo>
                    <a:lnTo>
                      <a:pt x="509" y="122"/>
                    </a:lnTo>
                    <a:lnTo>
                      <a:pt x="511" y="129"/>
                    </a:lnTo>
                    <a:lnTo>
                      <a:pt x="513" y="134"/>
                    </a:lnTo>
                    <a:lnTo>
                      <a:pt x="514" y="138"/>
                    </a:lnTo>
                    <a:lnTo>
                      <a:pt x="518" y="141"/>
                    </a:lnTo>
                    <a:lnTo>
                      <a:pt x="523" y="145"/>
                    </a:lnTo>
                    <a:lnTo>
                      <a:pt x="526" y="147"/>
                    </a:lnTo>
                    <a:lnTo>
                      <a:pt x="532" y="147"/>
                    </a:lnTo>
                    <a:lnTo>
                      <a:pt x="537" y="145"/>
                    </a:lnTo>
                    <a:lnTo>
                      <a:pt x="542" y="141"/>
                    </a:lnTo>
                    <a:lnTo>
                      <a:pt x="545" y="136"/>
                    </a:lnTo>
                    <a:lnTo>
                      <a:pt x="549" y="129"/>
                    </a:lnTo>
                    <a:close/>
                    <a:moveTo>
                      <a:pt x="549" y="95"/>
                    </a:moveTo>
                    <a:lnTo>
                      <a:pt x="549" y="90"/>
                    </a:lnTo>
                    <a:lnTo>
                      <a:pt x="547" y="84"/>
                    </a:lnTo>
                    <a:lnTo>
                      <a:pt x="545" y="79"/>
                    </a:lnTo>
                    <a:lnTo>
                      <a:pt x="544" y="74"/>
                    </a:lnTo>
                    <a:lnTo>
                      <a:pt x="540" y="72"/>
                    </a:lnTo>
                    <a:lnTo>
                      <a:pt x="537" y="71"/>
                    </a:lnTo>
                    <a:lnTo>
                      <a:pt x="533" y="69"/>
                    </a:lnTo>
                    <a:lnTo>
                      <a:pt x="530" y="69"/>
                    </a:lnTo>
                    <a:lnTo>
                      <a:pt x="526" y="69"/>
                    </a:lnTo>
                    <a:lnTo>
                      <a:pt x="521" y="71"/>
                    </a:lnTo>
                    <a:lnTo>
                      <a:pt x="518" y="72"/>
                    </a:lnTo>
                    <a:lnTo>
                      <a:pt x="514" y="76"/>
                    </a:lnTo>
                    <a:lnTo>
                      <a:pt x="513" y="79"/>
                    </a:lnTo>
                    <a:lnTo>
                      <a:pt x="513" y="84"/>
                    </a:lnTo>
                    <a:lnTo>
                      <a:pt x="511" y="90"/>
                    </a:lnTo>
                    <a:lnTo>
                      <a:pt x="511" y="95"/>
                    </a:lnTo>
                    <a:lnTo>
                      <a:pt x="549" y="95"/>
                    </a:lnTo>
                    <a:close/>
                    <a:moveTo>
                      <a:pt x="623" y="167"/>
                    </a:moveTo>
                    <a:lnTo>
                      <a:pt x="595" y="167"/>
                    </a:lnTo>
                    <a:lnTo>
                      <a:pt x="595" y="46"/>
                    </a:lnTo>
                    <a:lnTo>
                      <a:pt x="621" y="46"/>
                    </a:lnTo>
                    <a:lnTo>
                      <a:pt x="621" y="64"/>
                    </a:lnTo>
                    <a:lnTo>
                      <a:pt x="623" y="59"/>
                    </a:lnTo>
                    <a:lnTo>
                      <a:pt x="627" y="53"/>
                    </a:lnTo>
                    <a:lnTo>
                      <a:pt x="628" y="50"/>
                    </a:lnTo>
                    <a:lnTo>
                      <a:pt x="632" y="48"/>
                    </a:lnTo>
                    <a:lnTo>
                      <a:pt x="635" y="46"/>
                    </a:lnTo>
                    <a:lnTo>
                      <a:pt x="637" y="45"/>
                    </a:lnTo>
                    <a:lnTo>
                      <a:pt x="640" y="43"/>
                    </a:lnTo>
                    <a:lnTo>
                      <a:pt x="644" y="43"/>
                    </a:lnTo>
                    <a:lnTo>
                      <a:pt x="647" y="43"/>
                    </a:lnTo>
                    <a:lnTo>
                      <a:pt x="651" y="45"/>
                    </a:lnTo>
                    <a:lnTo>
                      <a:pt x="656" y="48"/>
                    </a:lnTo>
                    <a:lnTo>
                      <a:pt x="661" y="50"/>
                    </a:lnTo>
                    <a:lnTo>
                      <a:pt x="652" y="78"/>
                    </a:lnTo>
                    <a:lnTo>
                      <a:pt x="649" y="76"/>
                    </a:lnTo>
                    <a:lnTo>
                      <a:pt x="645" y="76"/>
                    </a:lnTo>
                    <a:lnTo>
                      <a:pt x="642" y="74"/>
                    </a:lnTo>
                    <a:lnTo>
                      <a:pt x="640" y="74"/>
                    </a:lnTo>
                    <a:lnTo>
                      <a:pt x="637" y="74"/>
                    </a:lnTo>
                    <a:lnTo>
                      <a:pt x="635" y="74"/>
                    </a:lnTo>
                    <a:lnTo>
                      <a:pt x="632" y="76"/>
                    </a:lnTo>
                    <a:lnTo>
                      <a:pt x="630" y="78"/>
                    </a:lnTo>
                    <a:lnTo>
                      <a:pt x="628" y="79"/>
                    </a:lnTo>
                    <a:lnTo>
                      <a:pt x="627" y="83"/>
                    </a:lnTo>
                    <a:lnTo>
                      <a:pt x="625" y="88"/>
                    </a:lnTo>
                    <a:lnTo>
                      <a:pt x="625" y="93"/>
                    </a:lnTo>
                    <a:lnTo>
                      <a:pt x="625" y="98"/>
                    </a:lnTo>
                    <a:lnTo>
                      <a:pt x="625" y="107"/>
                    </a:lnTo>
                    <a:lnTo>
                      <a:pt x="623" y="117"/>
                    </a:lnTo>
                    <a:lnTo>
                      <a:pt x="623" y="129"/>
                    </a:lnTo>
                    <a:lnTo>
                      <a:pt x="623" y="1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0" name="Freeform 898"/>
              <p:cNvSpPr>
                <a:spLocks noEditPoints="1"/>
              </p:cNvSpPr>
              <p:nvPr/>
            </p:nvSpPr>
            <p:spPr bwMode="auto">
              <a:xfrm>
                <a:off x="1169" y="3295"/>
                <a:ext cx="709" cy="108"/>
              </a:xfrm>
              <a:custGeom>
                <a:avLst/>
                <a:gdLst>
                  <a:gd name="T0" fmla="*/ 102 w 1418"/>
                  <a:gd name="T1" fmla="*/ 24 h 216"/>
                  <a:gd name="T2" fmla="*/ 111 w 1418"/>
                  <a:gd name="T3" fmla="*/ 124 h 216"/>
                  <a:gd name="T4" fmla="*/ 61 w 1418"/>
                  <a:gd name="T5" fmla="*/ 166 h 216"/>
                  <a:gd name="T6" fmla="*/ 71 w 1418"/>
                  <a:gd name="T7" fmla="*/ 135 h 216"/>
                  <a:gd name="T8" fmla="*/ 87 w 1418"/>
                  <a:gd name="T9" fmla="*/ 85 h 216"/>
                  <a:gd name="T10" fmla="*/ 66 w 1418"/>
                  <a:gd name="T11" fmla="*/ 31 h 216"/>
                  <a:gd name="T12" fmla="*/ 144 w 1418"/>
                  <a:gd name="T13" fmla="*/ 55 h 216"/>
                  <a:gd name="T14" fmla="*/ 211 w 1418"/>
                  <a:gd name="T15" fmla="*/ 53 h 216"/>
                  <a:gd name="T16" fmla="*/ 221 w 1418"/>
                  <a:gd name="T17" fmla="*/ 150 h 216"/>
                  <a:gd name="T18" fmla="*/ 178 w 1418"/>
                  <a:gd name="T19" fmla="*/ 166 h 216"/>
                  <a:gd name="T20" fmla="*/ 133 w 1418"/>
                  <a:gd name="T21" fmla="*/ 135 h 216"/>
                  <a:gd name="T22" fmla="*/ 161 w 1418"/>
                  <a:gd name="T23" fmla="*/ 97 h 216"/>
                  <a:gd name="T24" fmla="*/ 190 w 1418"/>
                  <a:gd name="T25" fmla="*/ 72 h 216"/>
                  <a:gd name="T26" fmla="*/ 164 w 1418"/>
                  <a:gd name="T27" fmla="*/ 74 h 216"/>
                  <a:gd name="T28" fmla="*/ 166 w 1418"/>
                  <a:gd name="T29" fmla="*/ 121 h 216"/>
                  <a:gd name="T30" fmla="*/ 168 w 1418"/>
                  <a:gd name="T31" fmla="*/ 147 h 216"/>
                  <a:gd name="T32" fmla="*/ 192 w 1418"/>
                  <a:gd name="T33" fmla="*/ 131 h 216"/>
                  <a:gd name="T34" fmla="*/ 273 w 1418"/>
                  <a:gd name="T35" fmla="*/ 136 h 216"/>
                  <a:gd name="T36" fmla="*/ 290 w 1418"/>
                  <a:gd name="T37" fmla="*/ 166 h 216"/>
                  <a:gd name="T38" fmla="*/ 247 w 1418"/>
                  <a:gd name="T39" fmla="*/ 152 h 216"/>
                  <a:gd name="T40" fmla="*/ 273 w 1418"/>
                  <a:gd name="T41" fmla="*/ 45 h 216"/>
                  <a:gd name="T42" fmla="*/ 347 w 1418"/>
                  <a:gd name="T43" fmla="*/ 43 h 216"/>
                  <a:gd name="T44" fmla="*/ 390 w 1418"/>
                  <a:gd name="T45" fmla="*/ 81 h 216"/>
                  <a:gd name="T46" fmla="*/ 370 w 1418"/>
                  <a:gd name="T47" fmla="*/ 166 h 216"/>
                  <a:gd name="T48" fmla="*/ 323 w 1418"/>
                  <a:gd name="T49" fmla="*/ 166 h 216"/>
                  <a:gd name="T50" fmla="*/ 308 w 1418"/>
                  <a:gd name="T51" fmla="*/ 112 h 216"/>
                  <a:gd name="T52" fmla="*/ 363 w 1418"/>
                  <a:gd name="T53" fmla="*/ 88 h 216"/>
                  <a:gd name="T54" fmla="*/ 349 w 1418"/>
                  <a:gd name="T55" fmla="*/ 67 h 216"/>
                  <a:gd name="T56" fmla="*/ 361 w 1418"/>
                  <a:gd name="T57" fmla="*/ 110 h 216"/>
                  <a:gd name="T58" fmla="*/ 330 w 1418"/>
                  <a:gd name="T59" fmla="*/ 131 h 216"/>
                  <a:gd name="T60" fmla="*/ 352 w 1418"/>
                  <a:gd name="T61" fmla="*/ 147 h 216"/>
                  <a:gd name="T62" fmla="*/ 470 w 1418"/>
                  <a:gd name="T63" fmla="*/ 166 h 216"/>
                  <a:gd name="T64" fmla="*/ 587 w 1418"/>
                  <a:gd name="T65" fmla="*/ 29 h 216"/>
                  <a:gd name="T66" fmla="*/ 703 w 1418"/>
                  <a:gd name="T67" fmla="*/ 85 h 216"/>
                  <a:gd name="T68" fmla="*/ 682 w 1418"/>
                  <a:gd name="T69" fmla="*/ 69 h 216"/>
                  <a:gd name="T70" fmla="*/ 667 w 1418"/>
                  <a:gd name="T71" fmla="*/ 166 h 216"/>
                  <a:gd name="T72" fmla="*/ 693 w 1418"/>
                  <a:gd name="T73" fmla="*/ 43 h 216"/>
                  <a:gd name="T74" fmla="*/ 729 w 1418"/>
                  <a:gd name="T75" fmla="*/ 76 h 216"/>
                  <a:gd name="T76" fmla="*/ 848 w 1418"/>
                  <a:gd name="T77" fmla="*/ 166 h 216"/>
                  <a:gd name="T78" fmla="*/ 1015 w 1418"/>
                  <a:gd name="T79" fmla="*/ 166 h 216"/>
                  <a:gd name="T80" fmla="*/ 1072 w 1418"/>
                  <a:gd name="T81" fmla="*/ 43 h 216"/>
                  <a:gd name="T82" fmla="*/ 1116 w 1418"/>
                  <a:gd name="T83" fmla="*/ 81 h 216"/>
                  <a:gd name="T84" fmla="*/ 1095 w 1418"/>
                  <a:gd name="T85" fmla="*/ 166 h 216"/>
                  <a:gd name="T86" fmla="*/ 1048 w 1418"/>
                  <a:gd name="T87" fmla="*/ 166 h 216"/>
                  <a:gd name="T88" fmla="*/ 1034 w 1418"/>
                  <a:gd name="T89" fmla="*/ 112 h 216"/>
                  <a:gd name="T90" fmla="*/ 1088 w 1418"/>
                  <a:gd name="T91" fmla="*/ 88 h 216"/>
                  <a:gd name="T92" fmla="*/ 1076 w 1418"/>
                  <a:gd name="T93" fmla="*/ 67 h 216"/>
                  <a:gd name="T94" fmla="*/ 1086 w 1418"/>
                  <a:gd name="T95" fmla="*/ 110 h 216"/>
                  <a:gd name="T96" fmla="*/ 1055 w 1418"/>
                  <a:gd name="T97" fmla="*/ 131 h 216"/>
                  <a:gd name="T98" fmla="*/ 1078 w 1418"/>
                  <a:gd name="T99" fmla="*/ 147 h 216"/>
                  <a:gd name="T100" fmla="*/ 1128 w 1418"/>
                  <a:gd name="T101" fmla="*/ 45 h 216"/>
                  <a:gd name="T102" fmla="*/ 1178 w 1418"/>
                  <a:gd name="T103" fmla="*/ 205 h 216"/>
                  <a:gd name="T104" fmla="*/ 1138 w 1418"/>
                  <a:gd name="T105" fmla="*/ 212 h 216"/>
                  <a:gd name="T106" fmla="*/ 1164 w 1418"/>
                  <a:gd name="T107" fmla="*/ 178 h 216"/>
                  <a:gd name="T108" fmla="*/ 1302 w 1418"/>
                  <a:gd name="T109" fmla="*/ 166 h 216"/>
                  <a:gd name="T110" fmla="*/ 1242 w 1418"/>
                  <a:gd name="T111" fmla="*/ 93 h 216"/>
                  <a:gd name="T112" fmla="*/ 1317 w 1418"/>
                  <a:gd name="T113" fmla="*/ 59 h 216"/>
                  <a:gd name="T114" fmla="*/ 1278 w 1418"/>
                  <a:gd name="T115" fmla="*/ 141 h 216"/>
                  <a:gd name="T116" fmla="*/ 1304 w 1418"/>
                  <a:gd name="T117" fmla="*/ 78 h 216"/>
                  <a:gd name="T118" fmla="*/ 1269 w 1418"/>
                  <a:gd name="T119" fmla="*/ 83 h 216"/>
                  <a:gd name="T120" fmla="*/ 1387 w 1418"/>
                  <a:gd name="T121" fmla="*/ 50 h 216"/>
                  <a:gd name="T122" fmla="*/ 1406 w 1418"/>
                  <a:gd name="T123" fmla="*/ 76 h 216"/>
                  <a:gd name="T124" fmla="*/ 1381 w 1418"/>
                  <a:gd name="T125" fmla="*/ 93 h 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418" h="216">
                    <a:moveTo>
                      <a:pt x="0" y="0"/>
                    </a:moveTo>
                    <a:lnTo>
                      <a:pt x="50" y="0"/>
                    </a:lnTo>
                    <a:lnTo>
                      <a:pt x="61" y="0"/>
                    </a:lnTo>
                    <a:lnTo>
                      <a:pt x="68" y="2"/>
                    </a:lnTo>
                    <a:lnTo>
                      <a:pt x="75" y="3"/>
                    </a:lnTo>
                    <a:lnTo>
                      <a:pt x="80" y="5"/>
                    </a:lnTo>
                    <a:lnTo>
                      <a:pt x="85" y="7"/>
                    </a:lnTo>
                    <a:lnTo>
                      <a:pt x="90" y="10"/>
                    </a:lnTo>
                    <a:lnTo>
                      <a:pt x="94" y="14"/>
                    </a:lnTo>
                    <a:lnTo>
                      <a:pt x="99" y="17"/>
                    </a:lnTo>
                    <a:lnTo>
                      <a:pt x="102" y="24"/>
                    </a:lnTo>
                    <a:lnTo>
                      <a:pt x="106" y="31"/>
                    </a:lnTo>
                    <a:lnTo>
                      <a:pt x="107" y="38"/>
                    </a:lnTo>
                    <a:lnTo>
                      <a:pt x="111" y="45"/>
                    </a:lnTo>
                    <a:lnTo>
                      <a:pt x="114" y="53"/>
                    </a:lnTo>
                    <a:lnTo>
                      <a:pt x="116" y="64"/>
                    </a:lnTo>
                    <a:lnTo>
                      <a:pt x="116" y="74"/>
                    </a:lnTo>
                    <a:lnTo>
                      <a:pt x="116" y="85"/>
                    </a:lnTo>
                    <a:lnTo>
                      <a:pt x="116" y="95"/>
                    </a:lnTo>
                    <a:lnTo>
                      <a:pt x="116" y="105"/>
                    </a:lnTo>
                    <a:lnTo>
                      <a:pt x="114" y="116"/>
                    </a:lnTo>
                    <a:lnTo>
                      <a:pt x="111" y="124"/>
                    </a:lnTo>
                    <a:lnTo>
                      <a:pt x="107" y="131"/>
                    </a:lnTo>
                    <a:lnTo>
                      <a:pt x="106" y="138"/>
                    </a:lnTo>
                    <a:lnTo>
                      <a:pt x="102" y="143"/>
                    </a:lnTo>
                    <a:lnTo>
                      <a:pt x="99" y="148"/>
                    </a:lnTo>
                    <a:lnTo>
                      <a:pt x="95" y="154"/>
                    </a:lnTo>
                    <a:lnTo>
                      <a:pt x="90" y="157"/>
                    </a:lnTo>
                    <a:lnTo>
                      <a:pt x="85" y="160"/>
                    </a:lnTo>
                    <a:lnTo>
                      <a:pt x="80" y="164"/>
                    </a:lnTo>
                    <a:lnTo>
                      <a:pt x="75" y="166"/>
                    </a:lnTo>
                    <a:lnTo>
                      <a:pt x="69" y="166"/>
                    </a:lnTo>
                    <a:lnTo>
                      <a:pt x="61" y="166"/>
                    </a:lnTo>
                    <a:lnTo>
                      <a:pt x="54" y="166"/>
                    </a:lnTo>
                    <a:lnTo>
                      <a:pt x="0" y="166"/>
                    </a:lnTo>
                    <a:lnTo>
                      <a:pt x="0" y="0"/>
                    </a:lnTo>
                    <a:close/>
                    <a:moveTo>
                      <a:pt x="26" y="28"/>
                    </a:moveTo>
                    <a:lnTo>
                      <a:pt x="26" y="140"/>
                    </a:lnTo>
                    <a:lnTo>
                      <a:pt x="49" y="140"/>
                    </a:lnTo>
                    <a:lnTo>
                      <a:pt x="56" y="140"/>
                    </a:lnTo>
                    <a:lnTo>
                      <a:pt x="61" y="138"/>
                    </a:lnTo>
                    <a:lnTo>
                      <a:pt x="64" y="138"/>
                    </a:lnTo>
                    <a:lnTo>
                      <a:pt x="68" y="136"/>
                    </a:lnTo>
                    <a:lnTo>
                      <a:pt x="71" y="135"/>
                    </a:lnTo>
                    <a:lnTo>
                      <a:pt x="75" y="133"/>
                    </a:lnTo>
                    <a:lnTo>
                      <a:pt x="76" y="131"/>
                    </a:lnTo>
                    <a:lnTo>
                      <a:pt x="78" y="129"/>
                    </a:lnTo>
                    <a:lnTo>
                      <a:pt x="80" y="126"/>
                    </a:lnTo>
                    <a:lnTo>
                      <a:pt x="81" y="122"/>
                    </a:lnTo>
                    <a:lnTo>
                      <a:pt x="83" y="119"/>
                    </a:lnTo>
                    <a:lnTo>
                      <a:pt x="85" y="114"/>
                    </a:lnTo>
                    <a:lnTo>
                      <a:pt x="85" y="107"/>
                    </a:lnTo>
                    <a:lnTo>
                      <a:pt x="87" y="100"/>
                    </a:lnTo>
                    <a:lnTo>
                      <a:pt x="87" y="91"/>
                    </a:lnTo>
                    <a:lnTo>
                      <a:pt x="87" y="85"/>
                    </a:lnTo>
                    <a:lnTo>
                      <a:pt x="87" y="76"/>
                    </a:lnTo>
                    <a:lnTo>
                      <a:pt x="87" y="67"/>
                    </a:lnTo>
                    <a:lnTo>
                      <a:pt x="85" y="60"/>
                    </a:lnTo>
                    <a:lnTo>
                      <a:pt x="85" y="55"/>
                    </a:lnTo>
                    <a:lnTo>
                      <a:pt x="83" y="50"/>
                    </a:lnTo>
                    <a:lnTo>
                      <a:pt x="81" y="45"/>
                    </a:lnTo>
                    <a:lnTo>
                      <a:pt x="78" y="40"/>
                    </a:lnTo>
                    <a:lnTo>
                      <a:pt x="76" y="36"/>
                    </a:lnTo>
                    <a:lnTo>
                      <a:pt x="73" y="34"/>
                    </a:lnTo>
                    <a:lnTo>
                      <a:pt x="69" y="33"/>
                    </a:lnTo>
                    <a:lnTo>
                      <a:pt x="66" y="31"/>
                    </a:lnTo>
                    <a:lnTo>
                      <a:pt x="62" y="29"/>
                    </a:lnTo>
                    <a:lnTo>
                      <a:pt x="61" y="29"/>
                    </a:lnTo>
                    <a:lnTo>
                      <a:pt x="56" y="28"/>
                    </a:lnTo>
                    <a:lnTo>
                      <a:pt x="49" y="28"/>
                    </a:lnTo>
                    <a:lnTo>
                      <a:pt x="42" y="28"/>
                    </a:lnTo>
                    <a:lnTo>
                      <a:pt x="26" y="28"/>
                    </a:lnTo>
                    <a:close/>
                    <a:moveTo>
                      <a:pt x="159" y="85"/>
                    </a:moveTo>
                    <a:lnTo>
                      <a:pt x="135" y="78"/>
                    </a:lnTo>
                    <a:lnTo>
                      <a:pt x="137" y="69"/>
                    </a:lnTo>
                    <a:lnTo>
                      <a:pt x="140" y="62"/>
                    </a:lnTo>
                    <a:lnTo>
                      <a:pt x="144" y="55"/>
                    </a:lnTo>
                    <a:lnTo>
                      <a:pt x="149" y="52"/>
                    </a:lnTo>
                    <a:lnTo>
                      <a:pt x="154" y="48"/>
                    </a:lnTo>
                    <a:lnTo>
                      <a:pt x="161" y="45"/>
                    </a:lnTo>
                    <a:lnTo>
                      <a:pt x="170" y="43"/>
                    </a:lnTo>
                    <a:lnTo>
                      <a:pt x="176" y="43"/>
                    </a:lnTo>
                    <a:lnTo>
                      <a:pt x="185" y="43"/>
                    </a:lnTo>
                    <a:lnTo>
                      <a:pt x="192" y="45"/>
                    </a:lnTo>
                    <a:lnTo>
                      <a:pt x="199" y="47"/>
                    </a:lnTo>
                    <a:lnTo>
                      <a:pt x="204" y="48"/>
                    </a:lnTo>
                    <a:lnTo>
                      <a:pt x="207" y="52"/>
                    </a:lnTo>
                    <a:lnTo>
                      <a:pt x="211" y="53"/>
                    </a:lnTo>
                    <a:lnTo>
                      <a:pt x="213" y="57"/>
                    </a:lnTo>
                    <a:lnTo>
                      <a:pt x="216" y="60"/>
                    </a:lnTo>
                    <a:lnTo>
                      <a:pt x="218" y="66"/>
                    </a:lnTo>
                    <a:lnTo>
                      <a:pt x="218" y="72"/>
                    </a:lnTo>
                    <a:lnTo>
                      <a:pt x="220" y="81"/>
                    </a:lnTo>
                    <a:lnTo>
                      <a:pt x="220" y="91"/>
                    </a:lnTo>
                    <a:lnTo>
                      <a:pt x="220" y="128"/>
                    </a:lnTo>
                    <a:lnTo>
                      <a:pt x="220" y="135"/>
                    </a:lnTo>
                    <a:lnTo>
                      <a:pt x="220" y="141"/>
                    </a:lnTo>
                    <a:lnTo>
                      <a:pt x="220" y="147"/>
                    </a:lnTo>
                    <a:lnTo>
                      <a:pt x="221" y="150"/>
                    </a:lnTo>
                    <a:lnTo>
                      <a:pt x="221" y="154"/>
                    </a:lnTo>
                    <a:lnTo>
                      <a:pt x="223" y="159"/>
                    </a:lnTo>
                    <a:lnTo>
                      <a:pt x="225" y="162"/>
                    </a:lnTo>
                    <a:lnTo>
                      <a:pt x="226" y="166"/>
                    </a:lnTo>
                    <a:lnTo>
                      <a:pt x="199" y="166"/>
                    </a:lnTo>
                    <a:lnTo>
                      <a:pt x="195" y="155"/>
                    </a:lnTo>
                    <a:lnTo>
                      <a:pt x="192" y="159"/>
                    </a:lnTo>
                    <a:lnTo>
                      <a:pt x="189" y="162"/>
                    </a:lnTo>
                    <a:lnTo>
                      <a:pt x="185" y="164"/>
                    </a:lnTo>
                    <a:lnTo>
                      <a:pt x="182" y="166"/>
                    </a:lnTo>
                    <a:lnTo>
                      <a:pt x="178" y="166"/>
                    </a:lnTo>
                    <a:lnTo>
                      <a:pt x="175" y="166"/>
                    </a:lnTo>
                    <a:lnTo>
                      <a:pt x="170" y="167"/>
                    </a:lnTo>
                    <a:lnTo>
                      <a:pt x="166" y="167"/>
                    </a:lnTo>
                    <a:lnTo>
                      <a:pt x="159" y="167"/>
                    </a:lnTo>
                    <a:lnTo>
                      <a:pt x="152" y="166"/>
                    </a:lnTo>
                    <a:lnTo>
                      <a:pt x="147" y="164"/>
                    </a:lnTo>
                    <a:lnTo>
                      <a:pt x="142" y="160"/>
                    </a:lnTo>
                    <a:lnTo>
                      <a:pt x="138" y="155"/>
                    </a:lnTo>
                    <a:lnTo>
                      <a:pt x="135" y="150"/>
                    </a:lnTo>
                    <a:lnTo>
                      <a:pt x="133" y="141"/>
                    </a:lnTo>
                    <a:lnTo>
                      <a:pt x="133" y="135"/>
                    </a:lnTo>
                    <a:lnTo>
                      <a:pt x="133" y="129"/>
                    </a:lnTo>
                    <a:lnTo>
                      <a:pt x="135" y="124"/>
                    </a:lnTo>
                    <a:lnTo>
                      <a:pt x="135" y="121"/>
                    </a:lnTo>
                    <a:lnTo>
                      <a:pt x="135" y="116"/>
                    </a:lnTo>
                    <a:lnTo>
                      <a:pt x="137" y="112"/>
                    </a:lnTo>
                    <a:lnTo>
                      <a:pt x="140" y="109"/>
                    </a:lnTo>
                    <a:lnTo>
                      <a:pt x="142" y="107"/>
                    </a:lnTo>
                    <a:lnTo>
                      <a:pt x="145" y="105"/>
                    </a:lnTo>
                    <a:lnTo>
                      <a:pt x="149" y="102"/>
                    </a:lnTo>
                    <a:lnTo>
                      <a:pt x="154" y="100"/>
                    </a:lnTo>
                    <a:lnTo>
                      <a:pt x="161" y="97"/>
                    </a:lnTo>
                    <a:lnTo>
                      <a:pt x="168" y="95"/>
                    </a:lnTo>
                    <a:lnTo>
                      <a:pt x="176" y="93"/>
                    </a:lnTo>
                    <a:lnTo>
                      <a:pt x="183" y="91"/>
                    </a:lnTo>
                    <a:lnTo>
                      <a:pt x="189" y="90"/>
                    </a:lnTo>
                    <a:lnTo>
                      <a:pt x="192" y="88"/>
                    </a:lnTo>
                    <a:lnTo>
                      <a:pt x="192" y="83"/>
                    </a:lnTo>
                    <a:lnTo>
                      <a:pt x="192" y="79"/>
                    </a:lnTo>
                    <a:lnTo>
                      <a:pt x="192" y="76"/>
                    </a:lnTo>
                    <a:lnTo>
                      <a:pt x="192" y="74"/>
                    </a:lnTo>
                    <a:lnTo>
                      <a:pt x="192" y="74"/>
                    </a:lnTo>
                    <a:lnTo>
                      <a:pt x="190" y="72"/>
                    </a:lnTo>
                    <a:lnTo>
                      <a:pt x="189" y="72"/>
                    </a:lnTo>
                    <a:lnTo>
                      <a:pt x="187" y="71"/>
                    </a:lnTo>
                    <a:lnTo>
                      <a:pt x="185" y="69"/>
                    </a:lnTo>
                    <a:lnTo>
                      <a:pt x="182" y="69"/>
                    </a:lnTo>
                    <a:lnTo>
                      <a:pt x="180" y="67"/>
                    </a:lnTo>
                    <a:lnTo>
                      <a:pt x="176" y="67"/>
                    </a:lnTo>
                    <a:lnTo>
                      <a:pt x="173" y="67"/>
                    </a:lnTo>
                    <a:lnTo>
                      <a:pt x="171" y="69"/>
                    </a:lnTo>
                    <a:lnTo>
                      <a:pt x="168" y="71"/>
                    </a:lnTo>
                    <a:lnTo>
                      <a:pt x="166" y="72"/>
                    </a:lnTo>
                    <a:lnTo>
                      <a:pt x="164" y="74"/>
                    </a:lnTo>
                    <a:lnTo>
                      <a:pt x="163" y="76"/>
                    </a:lnTo>
                    <a:lnTo>
                      <a:pt x="161" y="79"/>
                    </a:lnTo>
                    <a:lnTo>
                      <a:pt x="159" y="85"/>
                    </a:lnTo>
                    <a:close/>
                    <a:moveTo>
                      <a:pt x="192" y="110"/>
                    </a:moveTo>
                    <a:lnTo>
                      <a:pt x="190" y="110"/>
                    </a:lnTo>
                    <a:lnTo>
                      <a:pt x="187" y="112"/>
                    </a:lnTo>
                    <a:lnTo>
                      <a:pt x="182" y="114"/>
                    </a:lnTo>
                    <a:lnTo>
                      <a:pt x="176" y="116"/>
                    </a:lnTo>
                    <a:lnTo>
                      <a:pt x="173" y="116"/>
                    </a:lnTo>
                    <a:lnTo>
                      <a:pt x="170" y="117"/>
                    </a:lnTo>
                    <a:lnTo>
                      <a:pt x="166" y="121"/>
                    </a:lnTo>
                    <a:lnTo>
                      <a:pt x="164" y="122"/>
                    </a:lnTo>
                    <a:lnTo>
                      <a:pt x="163" y="124"/>
                    </a:lnTo>
                    <a:lnTo>
                      <a:pt x="161" y="126"/>
                    </a:lnTo>
                    <a:lnTo>
                      <a:pt x="159" y="129"/>
                    </a:lnTo>
                    <a:lnTo>
                      <a:pt x="159" y="131"/>
                    </a:lnTo>
                    <a:lnTo>
                      <a:pt x="159" y="135"/>
                    </a:lnTo>
                    <a:lnTo>
                      <a:pt x="161" y="136"/>
                    </a:lnTo>
                    <a:lnTo>
                      <a:pt x="163" y="140"/>
                    </a:lnTo>
                    <a:lnTo>
                      <a:pt x="164" y="143"/>
                    </a:lnTo>
                    <a:lnTo>
                      <a:pt x="166" y="145"/>
                    </a:lnTo>
                    <a:lnTo>
                      <a:pt x="168" y="147"/>
                    </a:lnTo>
                    <a:lnTo>
                      <a:pt x="171" y="148"/>
                    </a:lnTo>
                    <a:lnTo>
                      <a:pt x="175" y="148"/>
                    </a:lnTo>
                    <a:lnTo>
                      <a:pt x="176" y="148"/>
                    </a:lnTo>
                    <a:lnTo>
                      <a:pt x="178" y="147"/>
                    </a:lnTo>
                    <a:lnTo>
                      <a:pt x="182" y="147"/>
                    </a:lnTo>
                    <a:lnTo>
                      <a:pt x="185" y="145"/>
                    </a:lnTo>
                    <a:lnTo>
                      <a:pt x="187" y="141"/>
                    </a:lnTo>
                    <a:lnTo>
                      <a:pt x="189" y="140"/>
                    </a:lnTo>
                    <a:lnTo>
                      <a:pt x="190" y="136"/>
                    </a:lnTo>
                    <a:lnTo>
                      <a:pt x="192" y="135"/>
                    </a:lnTo>
                    <a:lnTo>
                      <a:pt x="192" y="131"/>
                    </a:lnTo>
                    <a:lnTo>
                      <a:pt x="192" y="128"/>
                    </a:lnTo>
                    <a:lnTo>
                      <a:pt x="192" y="122"/>
                    </a:lnTo>
                    <a:lnTo>
                      <a:pt x="192" y="116"/>
                    </a:lnTo>
                    <a:lnTo>
                      <a:pt x="192" y="110"/>
                    </a:lnTo>
                    <a:close/>
                    <a:moveTo>
                      <a:pt x="292" y="45"/>
                    </a:moveTo>
                    <a:lnTo>
                      <a:pt x="292" y="72"/>
                    </a:lnTo>
                    <a:lnTo>
                      <a:pt x="273" y="72"/>
                    </a:lnTo>
                    <a:lnTo>
                      <a:pt x="273" y="121"/>
                    </a:lnTo>
                    <a:lnTo>
                      <a:pt x="273" y="128"/>
                    </a:lnTo>
                    <a:lnTo>
                      <a:pt x="273" y="133"/>
                    </a:lnTo>
                    <a:lnTo>
                      <a:pt x="273" y="136"/>
                    </a:lnTo>
                    <a:lnTo>
                      <a:pt x="273" y="140"/>
                    </a:lnTo>
                    <a:lnTo>
                      <a:pt x="275" y="141"/>
                    </a:lnTo>
                    <a:lnTo>
                      <a:pt x="277" y="143"/>
                    </a:lnTo>
                    <a:lnTo>
                      <a:pt x="278" y="145"/>
                    </a:lnTo>
                    <a:lnTo>
                      <a:pt x="282" y="145"/>
                    </a:lnTo>
                    <a:lnTo>
                      <a:pt x="283" y="145"/>
                    </a:lnTo>
                    <a:lnTo>
                      <a:pt x="285" y="143"/>
                    </a:lnTo>
                    <a:lnTo>
                      <a:pt x="289" y="143"/>
                    </a:lnTo>
                    <a:lnTo>
                      <a:pt x="292" y="141"/>
                    </a:lnTo>
                    <a:lnTo>
                      <a:pt x="296" y="166"/>
                    </a:lnTo>
                    <a:lnTo>
                      <a:pt x="290" y="166"/>
                    </a:lnTo>
                    <a:lnTo>
                      <a:pt x="285" y="166"/>
                    </a:lnTo>
                    <a:lnTo>
                      <a:pt x="278" y="167"/>
                    </a:lnTo>
                    <a:lnTo>
                      <a:pt x="273" y="167"/>
                    </a:lnTo>
                    <a:lnTo>
                      <a:pt x="268" y="167"/>
                    </a:lnTo>
                    <a:lnTo>
                      <a:pt x="264" y="166"/>
                    </a:lnTo>
                    <a:lnTo>
                      <a:pt x="259" y="166"/>
                    </a:lnTo>
                    <a:lnTo>
                      <a:pt x="256" y="166"/>
                    </a:lnTo>
                    <a:lnTo>
                      <a:pt x="252" y="164"/>
                    </a:lnTo>
                    <a:lnTo>
                      <a:pt x="251" y="160"/>
                    </a:lnTo>
                    <a:lnTo>
                      <a:pt x="249" y="155"/>
                    </a:lnTo>
                    <a:lnTo>
                      <a:pt x="247" y="152"/>
                    </a:lnTo>
                    <a:lnTo>
                      <a:pt x="247" y="148"/>
                    </a:lnTo>
                    <a:lnTo>
                      <a:pt x="247" y="141"/>
                    </a:lnTo>
                    <a:lnTo>
                      <a:pt x="245" y="135"/>
                    </a:lnTo>
                    <a:lnTo>
                      <a:pt x="245" y="126"/>
                    </a:lnTo>
                    <a:lnTo>
                      <a:pt x="245" y="72"/>
                    </a:lnTo>
                    <a:lnTo>
                      <a:pt x="233" y="72"/>
                    </a:lnTo>
                    <a:lnTo>
                      <a:pt x="233" y="45"/>
                    </a:lnTo>
                    <a:lnTo>
                      <a:pt x="245" y="45"/>
                    </a:lnTo>
                    <a:lnTo>
                      <a:pt x="245" y="21"/>
                    </a:lnTo>
                    <a:lnTo>
                      <a:pt x="273" y="3"/>
                    </a:lnTo>
                    <a:lnTo>
                      <a:pt x="273" y="45"/>
                    </a:lnTo>
                    <a:lnTo>
                      <a:pt x="292" y="45"/>
                    </a:lnTo>
                    <a:close/>
                    <a:moveTo>
                      <a:pt x="330" y="85"/>
                    </a:moveTo>
                    <a:lnTo>
                      <a:pt x="306" y="78"/>
                    </a:lnTo>
                    <a:lnTo>
                      <a:pt x="308" y="69"/>
                    </a:lnTo>
                    <a:lnTo>
                      <a:pt x="311" y="62"/>
                    </a:lnTo>
                    <a:lnTo>
                      <a:pt x="315" y="55"/>
                    </a:lnTo>
                    <a:lnTo>
                      <a:pt x="320" y="52"/>
                    </a:lnTo>
                    <a:lnTo>
                      <a:pt x="325" y="48"/>
                    </a:lnTo>
                    <a:lnTo>
                      <a:pt x="332" y="45"/>
                    </a:lnTo>
                    <a:lnTo>
                      <a:pt x="339" y="43"/>
                    </a:lnTo>
                    <a:lnTo>
                      <a:pt x="347" y="43"/>
                    </a:lnTo>
                    <a:lnTo>
                      <a:pt x="356" y="43"/>
                    </a:lnTo>
                    <a:lnTo>
                      <a:pt x="363" y="45"/>
                    </a:lnTo>
                    <a:lnTo>
                      <a:pt x="370" y="47"/>
                    </a:lnTo>
                    <a:lnTo>
                      <a:pt x="375" y="48"/>
                    </a:lnTo>
                    <a:lnTo>
                      <a:pt x="378" y="52"/>
                    </a:lnTo>
                    <a:lnTo>
                      <a:pt x="380" y="53"/>
                    </a:lnTo>
                    <a:lnTo>
                      <a:pt x="384" y="57"/>
                    </a:lnTo>
                    <a:lnTo>
                      <a:pt x="385" y="60"/>
                    </a:lnTo>
                    <a:lnTo>
                      <a:pt x="387" y="66"/>
                    </a:lnTo>
                    <a:lnTo>
                      <a:pt x="389" y="72"/>
                    </a:lnTo>
                    <a:lnTo>
                      <a:pt x="390" y="81"/>
                    </a:lnTo>
                    <a:lnTo>
                      <a:pt x="390" y="91"/>
                    </a:lnTo>
                    <a:lnTo>
                      <a:pt x="390" y="128"/>
                    </a:lnTo>
                    <a:lnTo>
                      <a:pt x="390" y="135"/>
                    </a:lnTo>
                    <a:lnTo>
                      <a:pt x="390" y="141"/>
                    </a:lnTo>
                    <a:lnTo>
                      <a:pt x="390" y="147"/>
                    </a:lnTo>
                    <a:lnTo>
                      <a:pt x="392" y="150"/>
                    </a:lnTo>
                    <a:lnTo>
                      <a:pt x="392" y="154"/>
                    </a:lnTo>
                    <a:lnTo>
                      <a:pt x="394" y="159"/>
                    </a:lnTo>
                    <a:lnTo>
                      <a:pt x="396" y="162"/>
                    </a:lnTo>
                    <a:lnTo>
                      <a:pt x="396" y="166"/>
                    </a:lnTo>
                    <a:lnTo>
                      <a:pt x="370" y="166"/>
                    </a:lnTo>
                    <a:lnTo>
                      <a:pt x="366" y="155"/>
                    </a:lnTo>
                    <a:lnTo>
                      <a:pt x="363" y="159"/>
                    </a:lnTo>
                    <a:lnTo>
                      <a:pt x="359" y="162"/>
                    </a:lnTo>
                    <a:lnTo>
                      <a:pt x="356" y="164"/>
                    </a:lnTo>
                    <a:lnTo>
                      <a:pt x="352" y="166"/>
                    </a:lnTo>
                    <a:lnTo>
                      <a:pt x="347" y="166"/>
                    </a:lnTo>
                    <a:lnTo>
                      <a:pt x="344" y="166"/>
                    </a:lnTo>
                    <a:lnTo>
                      <a:pt x="340" y="167"/>
                    </a:lnTo>
                    <a:lnTo>
                      <a:pt x="335" y="167"/>
                    </a:lnTo>
                    <a:lnTo>
                      <a:pt x="328" y="167"/>
                    </a:lnTo>
                    <a:lnTo>
                      <a:pt x="323" y="166"/>
                    </a:lnTo>
                    <a:lnTo>
                      <a:pt x="318" y="164"/>
                    </a:lnTo>
                    <a:lnTo>
                      <a:pt x="313" y="160"/>
                    </a:lnTo>
                    <a:lnTo>
                      <a:pt x="309" y="155"/>
                    </a:lnTo>
                    <a:lnTo>
                      <a:pt x="306" y="150"/>
                    </a:lnTo>
                    <a:lnTo>
                      <a:pt x="304" y="141"/>
                    </a:lnTo>
                    <a:lnTo>
                      <a:pt x="304" y="135"/>
                    </a:lnTo>
                    <a:lnTo>
                      <a:pt x="304" y="129"/>
                    </a:lnTo>
                    <a:lnTo>
                      <a:pt x="306" y="124"/>
                    </a:lnTo>
                    <a:lnTo>
                      <a:pt x="306" y="121"/>
                    </a:lnTo>
                    <a:lnTo>
                      <a:pt x="306" y="116"/>
                    </a:lnTo>
                    <a:lnTo>
                      <a:pt x="308" y="112"/>
                    </a:lnTo>
                    <a:lnTo>
                      <a:pt x="311" y="109"/>
                    </a:lnTo>
                    <a:lnTo>
                      <a:pt x="313" y="107"/>
                    </a:lnTo>
                    <a:lnTo>
                      <a:pt x="316" y="105"/>
                    </a:lnTo>
                    <a:lnTo>
                      <a:pt x="320" y="102"/>
                    </a:lnTo>
                    <a:lnTo>
                      <a:pt x="325" y="100"/>
                    </a:lnTo>
                    <a:lnTo>
                      <a:pt x="332" y="97"/>
                    </a:lnTo>
                    <a:lnTo>
                      <a:pt x="339" y="95"/>
                    </a:lnTo>
                    <a:lnTo>
                      <a:pt x="347" y="93"/>
                    </a:lnTo>
                    <a:lnTo>
                      <a:pt x="354" y="91"/>
                    </a:lnTo>
                    <a:lnTo>
                      <a:pt x="359" y="90"/>
                    </a:lnTo>
                    <a:lnTo>
                      <a:pt x="363" y="88"/>
                    </a:lnTo>
                    <a:lnTo>
                      <a:pt x="363" y="83"/>
                    </a:lnTo>
                    <a:lnTo>
                      <a:pt x="363" y="79"/>
                    </a:lnTo>
                    <a:lnTo>
                      <a:pt x="363" y="76"/>
                    </a:lnTo>
                    <a:lnTo>
                      <a:pt x="361" y="74"/>
                    </a:lnTo>
                    <a:lnTo>
                      <a:pt x="361" y="74"/>
                    </a:lnTo>
                    <a:lnTo>
                      <a:pt x="359" y="72"/>
                    </a:lnTo>
                    <a:lnTo>
                      <a:pt x="359" y="72"/>
                    </a:lnTo>
                    <a:lnTo>
                      <a:pt x="358" y="71"/>
                    </a:lnTo>
                    <a:lnTo>
                      <a:pt x="356" y="69"/>
                    </a:lnTo>
                    <a:lnTo>
                      <a:pt x="352" y="69"/>
                    </a:lnTo>
                    <a:lnTo>
                      <a:pt x="349" y="67"/>
                    </a:lnTo>
                    <a:lnTo>
                      <a:pt x="346" y="67"/>
                    </a:lnTo>
                    <a:lnTo>
                      <a:pt x="344" y="67"/>
                    </a:lnTo>
                    <a:lnTo>
                      <a:pt x="340" y="69"/>
                    </a:lnTo>
                    <a:lnTo>
                      <a:pt x="339" y="71"/>
                    </a:lnTo>
                    <a:lnTo>
                      <a:pt x="337" y="72"/>
                    </a:lnTo>
                    <a:lnTo>
                      <a:pt x="335" y="74"/>
                    </a:lnTo>
                    <a:lnTo>
                      <a:pt x="334" y="76"/>
                    </a:lnTo>
                    <a:lnTo>
                      <a:pt x="332" y="79"/>
                    </a:lnTo>
                    <a:lnTo>
                      <a:pt x="330" y="85"/>
                    </a:lnTo>
                    <a:close/>
                    <a:moveTo>
                      <a:pt x="363" y="110"/>
                    </a:moveTo>
                    <a:lnTo>
                      <a:pt x="361" y="110"/>
                    </a:lnTo>
                    <a:lnTo>
                      <a:pt x="358" y="112"/>
                    </a:lnTo>
                    <a:lnTo>
                      <a:pt x="352" y="114"/>
                    </a:lnTo>
                    <a:lnTo>
                      <a:pt x="347" y="116"/>
                    </a:lnTo>
                    <a:lnTo>
                      <a:pt x="344" y="116"/>
                    </a:lnTo>
                    <a:lnTo>
                      <a:pt x="339" y="117"/>
                    </a:lnTo>
                    <a:lnTo>
                      <a:pt x="337" y="121"/>
                    </a:lnTo>
                    <a:lnTo>
                      <a:pt x="335" y="122"/>
                    </a:lnTo>
                    <a:lnTo>
                      <a:pt x="334" y="124"/>
                    </a:lnTo>
                    <a:lnTo>
                      <a:pt x="332" y="126"/>
                    </a:lnTo>
                    <a:lnTo>
                      <a:pt x="330" y="129"/>
                    </a:lnTo>
                    <a:lnTo>
                      <a:pt x="330" y="131"/>
                    </a:lnTo>
                    <a:lnTo>
                      <a:pt x="330" y="135"/>
                    </a:lnTo>
                    <a:lnTo>
                      <a:pt x="332" y="136"/>
                    </a:lnTo>
                    <a:lnTo>
                      <a:pt x="334" y="140"/>
                    </a:lnTo>
                    <a:lnTo>
                      <a:pt x="335" y="143"/>
                    </a:lnTo>
                    <a:lnTo>
                      <a:pt x="337" y="145"/>
                    </a:lnTo>
                    <a:lnTo>
                      <a:pt x="339" y="147"/>
                    </a:lnTo>
                    <a:lnTo>
                      <a:pt x="342" y="148"/>
                    </a:lnTo>
                    <a:lnTo>
                      <a:pt x="344" y="148"/>
                    </a:lnTo>
                    <a:lnTo>
                      <a:pt x="346" y="148"/>
                    </a:lnTo>
                    <a:lnTo>
                      <a:pt x="349" y="147"/>
                    </a:lnTo>
                    <a:lnTo>
                      <a:pt x="352" y="147"/>
                    </a:lnTo>
                    <a:lnTo>
                      <a:pt x="356" y="145"/>
                    </a:lnTo>
                    <a:lnTo>
                      <a:pt x="358" y="141"/>
                    </a:lnTo>
                    <a:lnTo>
                      <a:pt x="359" y="140"/>
                    </a:lnTo>
                    <a:lnTo>
                      <a:pt x="361" y="136"/>
                    </a:lnTo>
                    <a:lnTo>
                      <a:pt x="361" y="135"/>
                    </a:lnTo>
                    <a:lnTo>
                      <a:pt x="363" y="131"/>
                    </a:lnTo>
                    <a:lnTo>
                      <a:pt x="363" y="128"/>
                    </a:lnTo>
                    <a:lnTo>
                      <a:pt x="363" y="122"/>
                    </a:lnTo>
                    <a:lnTo>
                      <a:pt x="363" y="116"/>
                    </a:lnTo>
                    <a:lnTo>
                      <a:pt x="363" y="110"/>
                    </a:lnTo>
                    <a:close/>
                    <a:moveTo>
                      <a:pt x="470" y="166"/>
                    </a:moveTo>
                    <a:lnTo>
                      <a:pt x="470" y="0"/>
                    </a:lnTo>
                    <a:lnTo>
                      <a:pt x="496" y="0"/>
                    </a:lnTo>
                    <a:lnTo>
                      <a:pt x="496" y="140"/>
                    </a:lnTo>
                    <a:lnTo>
                      <a:pt x="567" y="140"/>
                    </a:lnTo>
                    <a:lnTo>
                      <a:pt x="567" y="166"/>
                    </a:lnTo>
                    <a:lnTo>
                      <a:pt x="470" y="166"/>
                    </a:lnTo>
                    <a:close/>
                    <a:moveTo>
                      <a:pt x="587" y="29"/>
                    </a:moveTo>
                    <a:lnTo>
                      <a:pt x="587" y="0"/>
                    </a:lnTo>
                    <a:lnTo>
                      <a:pt x="613" y="0"/>
                    </a:lnTo>
                    <a:lnTo>
                      <a:pt x="613" y="29"/>
                    </a:lnTo>
                    <a:lnTo>
                      <a:pt x="587" y="29"/>
                    </a:lnTo>
                    <a:close/>
                    <a:moveTo>
                      <a:pt x="587" y="166"/>
                    </a:moveTo>
                    <a:lnTo>
                      <a:pt x="587" y="45"/>
                    </a:lnTo>
                    <a:lnTo>
                      <a:pt x="613" y="45"/>
                    </a:lnTo>
                    <a:lnTo>
                      <a:pt x="613" y="166"/>
                    </a:lnTo>
                    <a:lnTo>
                      <a:pt x="587" y="166"/>
                    </a:lnTo>
                    <a:close/>
                    <a:moveTo>
                      <a:pt x="731" y="166"/>
                    </a:moveTo>
                    <a:lnTo>
                      <a:pt x="705" y="166"/>
                    </a:lnTo>
                    <a:lnTo>
                      <a:pt x="705" y="105"/>
                    </a:lnTo>
                    <a:lnTo>
                      <a:pt x="705" y="97"/>
                    </a:lnTo>
                    <a:lnTo>
                      <a:pt x="705" y="90"/>
                    </a:lnTo>
                    <a:lnTo>
                      <a:pt x="703" y="85"/>
                    </a:lnTo>
                    <a:lnTo>
                      <a:pt x="703" y="81"/>
                    </a:lnTo>
                    <a:lnTo>
                      <a:pt x="701" y="78"/>
                    </a:lnTo>
                    <a:lnTo>
                      <a:pt x="699" y="76"/>
                    </a:lnTo>
                    <a:lnTo>
                      <a:pt x="698" y="74"/>
                    </a:lnTo>
                    <a:lnTo>
                      <a:pt x="696" y="72"/>
                    </a:lnTo>
                    <a:lnTo>
                      <a:pt x="696" y="71"/>
                    </a:lnTo>
                    <a:lnTo>
                      <a:pt x="693" y="69"/>
                    </a:lnTo>
                    <a:lnTo>
                      <a:pt x="691" y="67"/>
                    </a:lnTo>
                    <a:lnTo>
                      <a:pt x="687" y="67"/>
                    </a:lnTo>
                    <a:lnTo>
                      <a:pt x="684" y="67"/>
                    </a:lnTo>
                    <a:lnTo>
                      <a:pt x="682" y="69"/>
                    </a:lnTo>
                    <a:lnTo>
                      <a:pt x="679" y="71"/>
                    </a:lnTo>
                    <a:lnTo>
                      <a:pt x="677" y="72"/>
                    </a:lnTo>
                    <a:lnTo>
                      <a:pt x="675" y="74"/>
                    </a:lnTo>
                    <a:lnTo>
                      <a:pt x="672" y="78"/>
                    </a:lnTo>
                    <a:lnTo>
                      <a:pt x="670" y="79"/>
                    </a:lnTo>
                    <a:lnTo>
                      <a:pt x="668" y="85"/>
                    </a:lnTo>
                    <a:lnTo>
                      <a:pt x="667" y="90"/>
                    </a:lnTo>
                    <a:lnTo>
                      <a:pt x="667" y="95"/>
                    </a:lnTo>
                    <a:lnTo>
                      <a:pt x="667" y="103"/>
                    </a:lnTo>
                    <a:lnTo>
                      <a:pt x="667" y="112"/>
                    </a:lnTo>
                    <a:lnTo>
                      <a:pt x="667" y="166"/>
                    </a:lnTo>
                    <a:lnTo>
                      <a:pt x="641" y="166"/>
                    </a:lnTo>
                    <a:lnTo>
                      <a:pt x="641" y="45"/>
                    </a:lnTo>
                    <a:lnTo>
                      <a:pt x="665" y="45"/>
                    </a:lnTo>
                    <a:lnTo>
                      <a:pt x="665" y="64"/>
                    </a:lnTo>
                    <a:lnTo>
                      <a:pt x="668" y="59"/>
                    </a:lnTo>
                    <a:lnTo>
                      <a:pt x="672" y="55"/>
                    </a:lnTo>
                    <a:lnTo>
                      <a:pt x="675" y="52"/>
                    </a:lnTo>
                    <a:lnTo>
                      <a:pt x="679" y="48"/>
                    </a:lnTo>
                    <a:lnTo>
                      <a:pt x="682" y="47"/>
                    </a:lnTo>
                    <a:lnTo>
                      <a:pt x="687" y="45"/>
                    </a:lnTo>
                    <a:lnTo>
                      <a:pt x="693" y="43"/>
                    </a:lnTo>
                    <a:lnTo>
                      <a:pt x="696" y="43"/>
                    </a:lnTo>
                    <a:lnTo>
                      <a:pt x="703" y="43"/>
                    </a:lnTo>
                    <a:lnTo>
                      <a:pt x="708" y="45"/>
                    </a:lnTo>
                    <a:lnTo>
                      <a:pt x="713" y="47"/>
                    </a:lnTo>
                    <a:lnTo>
                      <a:pt x="717" y="50"/>
                    </a:lnTo>
                    <a:lnTo>
                      <a:pt x="720" y="53"/>
                    </a:lnTo>
                    <a:lnTo>
                      <a:pt x="724" y="57"/>
                    </a:lnTo>
                    <a:lnTo>
                      <a:pt x="725" y="60"/>
                    </a:lnTo>
                    <a:lnTo>
                      <a:pt x="727" y="66"/>
                    </a:lnTo>
                    <a:lnTo>
                      <a:pt x="729" y="71"/>
                    </a:lnTo>
                    <a:lnTo>
                      <a:pt x="729" y="76"/>
                    </a:lnTo>
                    <a:lnTo>
                      <a:pt x="731" y="85"/>
                    </a:lnTo>
                    <a:lnTo>
                      <a:pt x="731" y="93"/>
                    </a:lnTo>
                    <a:lnTo>
                      <a:pt x="731" y="166"/>
                    </a:lnTo>
                    <a:close/>
                    <a:moveTo>
                      <a:pt x="756" y="166"/>
                    </a:moveTo>
                    <a:lnTo>
                      <a:pt x="756" y="0"/>
                    </a:lnTo>
                    <a:lnTo>
                      <a:pt x="784" y="0"/>
                    </a:lnTo>
                    <a:lnTo>
                      <a:pt x="784" y="86"/>
                    </a:lnTo>
                    <a:lnTo>
                      <a:pt x="813" y="45"/>
                    </a:lnTo>
                    <a:lnTo>
                      <a:pt x="846" y="45"/>
                    </a:lnTo>
                    <a:lnTo>
                      <a:pt x="812" y="91"/>
                    </a:lnTo>
                    <a:lnTo>
                      <a:pt x="848" y="166"/>
                    </a:lnTo>
                    <a:lnTo>
                      <a:pt x="822" y="166"/>
                    </a:lnTo>
                    <a:lnTo>
                      <a:pt x="796" y="114"/>
                    </a:lnTo>
                    <a:lnTo>
                      <a:pt x="784" y="129"/>
                    </a:lnTo>
                    <a:lnTo>
                      <a:pt x="784" y="166"/>
                    </a:lnTo>
                    <a:lnTo>
                      <a:pt x="756" y="166"/>
                    </a:lnTo>
                    <a:close/>
                    <a:moveTo>
                      <a:pt x="917" y="166"/>
                    </a:moveTo>
                    <a:lnTo>
                      <a:pt x="917" y="0"/>
                    </a:lnTo>
                    <a:lnTo>
                      <a:pt x="945" y="0"/>
                    </a:lnTo>
                    <a:lnTo>
                      <a:pt x="945" y="140"/>
                    </a:lnTo>
                    <a:lnTo>
                      <a:pt x="1015" y="140"/>
                    </a:lnTo>
                    <a:lnTo>
                      <a:pt x="1015" y="166"/>
                    </a:lnTo>
                    <a:lnTo>
                      <a:pt x="917" y="166"/>
                    </a:lnTo>
                    <a:close/>
                    <a:moveTo>
                      <a:pt x="1055" y="85"/>
                    </a:moveTo>
                    <a:lnTo>
                      <a:pt x="1031" y="78"/>
                    </a:lnTo>
                    <a:lnTo>
                      <a:pt x="1034" y="69"/>
                    </a:lnTo>
                    <a:lnTo>
                      <a:pt x="1036" y="62"/>
                    </a:lnTo>
                    <a:lnTo>
                      <a:pt x="1040" y="55"/>
                    </a:lnTo>
                    <a:lnTo>
                      <a:pt x="1045" y="52"/>
                    </a:lnTo>
                    <a:lnTo>
                      <a:pt x="1050" y="48"/>
                    </a:lnTo>
                    <a:lnTo>
                      <a:pt x="1057" y="45"/>
                    </a:lnTo>
                    <a:lnTo>
                      <a:pt x="1064" y="43"/>
                    </a:lnTo>
                    <a:lnTo>
                      <a:pt x="1072" y="43"/>
                    </a:lnTo>
                    <a:lnTo>
                      <a:pt x="1081" y="43"/>
                    </a:lnTo>
                    <a:lnTo>
                      <a:pt x="1088" y="45"/>
                    </a:lnTo>
                    <a:lnTo>
                      <a:pt x="1093" y="47"/>
                    </a:lnTo>
                    <a:lnTo>
                      <a:pt x="1098" y="48"/>
                    </a:lnTo>
                    <a:lnTo>
                      <a:pt x="1103" y="52"/>
                    </a:lnTo>
                    <a:lnTo>
                      <a:pt x="1107" y="53"/>
                    </a:lnTo>
                    <a:lnTo>
                      <a:pt x="1109" y="57"/>
                    </a:lnTo>
                    <a:lnTo>
                      <a:pt x="1110" y="60"/>
                    </a:lnTo>
                    <a:lnTo>
                      <a:pt x="1112" y="66"/>
                    </a:lnTo>
                    <a:lnTo>
                      <a:pt x="1114" y="72"/>
                    </a:lnTo>
                    <a:lnTo>
                      <a:pt x="1116" y="81"/>
                    </a:lnTo>
                    <a:lnTo>
                      <a:pt x="1116" y="91"/>
                    </a:lnTo>
                    <a:lnTo>
                      <a:pt x="1116" y="128"/>
                    </a:lnTo>
                    <a:lnTo>
                      <a:pt x="1116" y="135"/>
                    </a:lnTo>
                    <a:lnTo>
                      <a:pt x="1116" y="141"/>
                    </a:lnTo>
                    <a:lnTo>
                      <a:pt x="1116" y="147"/>
                    </a:lnTo>
                    <a:lnTo>
                      <a:pt x="1117" y="150"/>
                    </a:lnTo>
                    <a:lnTo>
                      <a:pt x="1117" y="154"/>
                    </a:lnTo>
                    <a:lnTo>
                      <a:pt x="1119" y="159"/>
                    </a:lnTo>
                    <a:lnTo>
                      <a:pt x="1119" y="162"/>
                    </a:lnTo>
                    <a:lnTo>
                      <a:pt x="1121" y="166"/>
                    </a:lnTo>
                    <a:lnTo>
                      <a:pt x="1095" y="166"/>
                    </a:lnTo>
                    <a:lnTo>
                      <a:pt x="1090" y="155"/>
                    </a:lnTo>
                    <a:lnTo>
                      <a:pt x="1088" y="159"/>
                    </a:lnTo>
                    <a:lnTo>
                      <a:pt x="1084" y="162"/>
                    </a:lnTo>
                    <a:lnTo>
                      <a:pt x="1081" y="164"/>
                    </a:lnTo>
                    <a:lnTo>
                      <a:pt x="1078" y="166"/>
                    </a:lnTo>
                    <a:lnTo>
                      <a:pt x="1074" y="166"/>
                    </a:lnTo>
                    <a:lnTo>
                      <a:pt x="1069" y="166"/>
                    </a:lnTo>
                    <a:lnTo>
                      <a:pt x="1065" y="167"/>
                    </a:lnTo>
                    <a:lnTo>
                      <a:pt x="1060" y="167"/>
                    </a:lnTo>
                    <a:lnTo>
                      <a:pt x="1053" y="167"/>
                    </a:lnTo>
                    <a:lnTo>
                      <a:pt x="1048" y="166"/>
                    </a:lnTo>
                    <a:lnTo>
                      <a:pt x="1043" y="164"/>
                    </a:lnTo>
                    <a:lnTo>
                      <a:pt x="1038" y="160"/>
                    </a:lnTo>
                    <a:lnTo>
                      <a:pt x="1033" y="155"/>
                    </a:lnTo>
                    <a:lnTo>
                      <a:pt x="1031" y="150"/>
                    </a:lnTo>
                    <a:lnTo>
                      <a:pt x="1027" y="141"/>
                    </a:lnTo>
                    <a:lnTo>
                      <a:pt x="1027" y="135"/>
                    </a:lnTo>
                    <a:lnTo>
                      <a:pt x="1027" y="129"/>
                    </a:lnTo>
                    <a:lnTo>
                      <a:pt x="1029" y="124"/>
                    </a:lnTo>
                    <a:lnTo>
                      <a:pt x="1031" y="121"/>
                    </a:lnTo>
                    <a:lnTo>
                      <a:pt x="1033" y="116"/>
                    </a:lnTo>
                    <a:lnTo>
                      <a:pt x="1034" y="112"/>
                    </a:lnTo>
                    <a:lnTo>
                      <a:pt x="1036" y="109"/>
                    </a:lnTo>
                    <a:lnTo>
                      <a:pt x="1040" y="107"/>
                    </a:lnTo>
                    <a:lnTo>
                      <a:pt x="1041" y="105"/>
                    </a:lnTo>
                    <a:lnTo>
                      <a:pt x="1045" y="102"/>
                    </a:lnTo>
                    <a:lnTo>
                      <a:pt x="1050" y="100"/>
                    </a:lnTo>
                    <a:lnTo>
                      <a:pt x="1057" y="97"/>
                    </a:lnTo>
                    <a:lnTo>
                      <a:pt x="1064" y="95"/>
                    </a:lnTo>
                    <a:lnTo>
                      <a:pt x="1072" y="93"/>
                    </a:lnTo>
                    <a:lnTo>
                      <a:pt x="1079" y="91"/>
                    </a:lnTo>
                    <a:lnTo>
                      <a:pt x="1084" y="90"/>
                    </a:lnTo>
                    <a:lnTo>
                      <a:pt x="1088" y="88"/>
                    </a:lnTo>
                    <a:lnTo>
                      <a:pt x="1088" y="83"/>
                    </a:lnTo>
                    <a:lnTo>
                      <a:pt x="1088" y="79"/>
                    </a:lnTo>
                    <a:lnTo>
                      <a:pt x="1088" y="76"/>
                    </a:lnTo>
                    <a:lnTo>
                      <a:pt x="1088" y="74"/>
                    </a:lnTo>
                    <a:lnTo>
                      <a:pt x="1088" y="74"/>
                    </a:lnTo>
                    <a:lnTo>
                      <a:pt x="1086" y="72"/>
                    </a:lnTo>
                    <a:lnTo>
                      <a:pt x="1084" y="72"/>
                    </a:lnTo>
                    <a:lnTo>
                      <a:pt x="1083" y="71"/>
                    </a:lnTo>
                    <a:lnTo>
                      <a:pt x="1081" y="69"/>
                    </a:lnTo>
                    <a:lnTo>
                      <a:pt x="1078" y="69"/>
                    </a:lnTo>
                    <a:lnTo>
                      <a:pt x="1076" y="67"/>
                    </a:lnTo>
                    <a:lnTo>
                      <a:pt x="1072" y="67"/>
                    </a:lnTo>
                    <a:lnTo>
                      <a:pt x="1069" y="67"/>
                    </a:lnTo>
                    <a:lnTo>
                      <a:pt x="1065" y="69"/>
                    </a:lnTo>
                    <a:lnTo>
                      <a:pt x="1064" y="71"/>
                    </a:lnTo>
                    <a:lnTo>
                      <a:pt x="1062" y="72"/>
                    </a:lnTo>
                    <a:lnTo>
                      <a:pt x="1060" y="74"/>
                    </a:lnTo>
                    <a:lnTo>
                      <a:pt x="1059" y="76"/>
                    </a:lnTo>
                    <a:lnTo>
                      <a:pt x="1057" y="79"/>
                    </a:lnTo>
                    <a:lnTo>
                      <a:pt x="1055" y="85"/>
                    </a:lnTo>
                    <a:close/>
                    <a:moveTo>
                      <a:pt x="1088" y="110"/>
                    </a:moveTo>
                    <a:lnTo>
                      <a:pt x="1086" y="110"/>
                    </a:lnTo>
                    <a:lnTo>
                      <a:pt x="1083" y="112"/>
                    </a:lnTo>
                    <a:lnTo>
                      <a:pt x="1078" y="114"/>
                    </a:lnTo>
                    <a:lnTo>
                      <a:pt x="1072" y="116"/>
                    </a:lnTo>
                    <a:lnTo>
                      <a:pt x="1069" y="116"/>
                    </a:lnTo>
                    <a:lnTo>
                      <a:pt x="1064" y="117"/>
                    </a:lnTo>
                    <a:lnTo>
                      <a:pt x="1060" y="121"/>
                    </a:lnTo>
                    <a:lnTo>
                      <a:pt x="1059" y="122"/>
                    </a:lnTo>
                    <a:lnTo>
                      <a:pt x="1057" y="124"/>
                    </a:lnTo>
                    <a:lnTo>
                      <a:pt x="1057" y="126"/>
                    </a:lnTo>
                    <a:lnTo>
                      <a:pt x="1055" y="129"/>
                    </a:lnTo>
                    <a:lnTo>
                      <a:pt x="1055" y="131"/>
                    </a:lnTo>
                    <a:lnTo>
                      <a:pt x="1055" y="135"/>
                    </a:lnTo>
                    <a:lnTo>
                      <a:pt x="1057" y="136"/>
                    </a:lnTo>
                    <a:lnTo>
                      <a:pt x="1057" y="140"/>
                    </a:lnTo>
                    <a:lnTo>
                      <a:pt x="1059" y="143"/>
                    </a:lnTo>
                    <a:lnTo>
                      <a:pt x="1062" y="145"/>
                    </a:lnTo>
                    <a:lnTo>
                      <a:pt x="1064" y="147"/>
                    </a:lnTo>
                    <a:lnTo>
                      <a:pt x="1067" y="148"/>
                    </a:lnTo>
                    <a:lnTo>
                      <a:pt x="1069" y="148"/>
                    </a:lnTo>
                    <a:lnTo>
                      <a:pt x="1072" y="148"/>
                    </a:lnTo>
                    <a:lnTo>
                      <a:pt x="1074" y="147"/>
                    </a:lnTo>
                    <a:lnTo>
                      <a:pt x="1078" y="147"/>
                    </a:lnTo>
                    <a:lnTo>
                      <a:pt x="1079" y="145"/>
                    </a:lnTo>
                    <a:lnTo>
                      <a:pt x="1081" y="141"/>
                    </a:lnTo>
                    <a:lnTo>
                      <a:pt x="1084" y="140"/>
                    </a:lnTo>
                    <a:lnTo>
                      <a:pt x="1086" y="136"/>
                    </a:lnTo>
                    <a:lnTo>
                      <a:pt x="1088" y="135"/>
                    </a:lnTo>
                    <a:lnTo>
                      <a:pt x="1088" y="131"/>
                    </a:lnTo>
                    <a:lnTo>
                      <a:pt x="1088" y="128"/>
                    </a:lnTo>
                    <a:lnTo>
                      <a:pt x="1088" y="122"/>
                    </a:lnTo>
                    <a:lnTo>
                      <a:pt x="1088" y="116"/>
                    </a:lnTo>
                    <a:lnTo>
                      <a:pt x="1088" y="110"/>
                    </a:lnTo>
                    <a:close/>
                    <a:moveTo>
                      <a:pt x="1128" y="45"/>
                    </a:moveTo>
                    <a:lnTo>
                      <a:pt x="1155" y="45"/>
                    </a:lnTo>
                    <a:lnTo>
                      <a:pt x="1179" y="133"/>
                    </a:lnTo>
                    <a:lnTo>
                      <a:pt x="1202" y="45"/>
                    </a:lnTo>
                    <a:lnTo>
                      <a:pt x="1229" y="45"/>
                    </a:lnTo>
                    <a:lnTo>
                      <a:pt x="1197" y="164"/>
                    </a:lnTo>
                    <a:lnTo>
                      <a:pt x="1188" y="185"/>
                    </a:lnTo>
                    <a:lnTo>
                      <a:pt x="1186" y="190"/>
                    </a:lnTo>
                    <a:lnTo>
                      <a:pt x="1185" y="195"/>
                    </a:lnTo>
                    <a:lnTo>
                      <a:pt x="1183" y="200"/>
                    </a:lnTo>
                    <a:lnTo>
                      <a:pt x="1179" y="204"/>
                    </a:lnTo>
                    <a:lnTo>
                      <a:pt x="1178" y="205"/>
                    </a:lnTo>
                    <a:lnTo>
                      <a:pt x="1176" y="207"/>
                    </a:lnTo>
                    <a:lnTo>
                      <a:pt x="1172" y="209"/>
                    </a:lnTo>
                    <a:lnTo>
                      <a:pt x="1167" y="210"/>
                    </a:lnTo>
                    <a:lnTo>
                      <a:pt x="1166" y="212"/>
                    </a:lnTo>
                    <a:lnTo>
                      <a:pt x="1162" y="214"/>
                    </a:lnTo>
                    <a:lnTo>
                      <a:pt x="1157" y="216"/>
                    </a:lnTo>
                    <a:lnTo>
                      <a:pt x="1152" y="216"/>
                    </a:lnTo>
                    <a:lnTo>
                      <a:pt x="1148" y="216"/>
                    </a:lnTo>
                    <a:lnTo>
                      <a:pt x="1145" y="214"/>
                    </a:lnTo>
                    <a:lnTo>
                      <a:pt x="1141" y="214"/>
                    </a:lnTo>
                    <a:lnTo>
                      <a:pt x="1138" y="212"/>
                    </a:lnTo>
                    <a:lnTo>
                      <a:pt x="1134" y="185"/>
                    </a:lnTo>
                    <a:lnTo>
                      <a:pt x="1138" y="186"/>
                    </a:lnTo>
                    <a:lnTo>
                      <a:pt x="1141" y="186"/>
                    </a:lnTo>
                    <a:lnTo>
                      <a:pt x="1143" y="186"/>
                    </a:lnTo>
                    <a:lnTo>
                      <a:pt x="1147" y="186"/>
                    </a:lnTo>
                    <a:lnTo>
                      <a:pt x="1150" y="186"/>
                    </a:lnTo>
                    <a:lnTo>
                      <a:pt x="1152" y="185"/>
                    </a:lnTo>
                    <a:lnTo>
                      <a:pt x="1155" y="185"/>
                    </a:lnTo>
                    <a:lnTo>
                      <a:pt x="1157" y="185"/>
                    </a:lnTo>
                    <a:lnTo>
                      <a:pt x="1160" y="181"/>
                    </a:lnTo>
                    <a:lnTo>
                      <a:pt x="1164" y="178"/>
                    </a:lnTo>
                    <a:lnTo>
                      <a:pt x="1166" y="173"/>
                    </a:lnTo>
                    <a:lnTo>
                      <a:pt x="1166" y="166"/>
                    </a:lnTo>
                    <a:lnTo>
                      <a:pt x="1128" y="45"/>
                    </a:lnTo>
                    <a:close/>
                    <a:moveTo>
                      <a:pt x="1307" y="129"/>
                    </a:moveTo>
                    <a:lnTo>
                      <a:pt x="1333" y="135"/>
                    </a:lnTo>
                    <a:lnTo>
                      <a:pt x="1330" y="143"/>
                    </a:lnTo>
                    <a:lnTo>
                      <a:pt x="1324" y="150"/>
                    </a:lnTo>
                    <a:lnTo>
                      <a:pt x="1321" y="157"/>
                    </a:lnTo>
                    <a:lnTo>
                      <a:pt x="1316" y="162"/>
                    </a:lnTo>
                    <a:lnTo>
                      <a:pt x="1309" y="164"/>
                    </a:lnTo>
                    <a:lnTo>
                      <a:pt x="1302" y="166"/>
                    </a:lnTo>
                    <a:lnTo>
                      <a:pt x="1295" y="167"/>
                    </a:lnTo>
                    <a:lnTo>
                      <a:pt x="1288" y="167"/>
                    </a:lnTo>
                    <a:lnTo>
                      <a:pt x="1278" y="167"/>
                    </a:lnTo>
                    <a:lnTo>
                      <a:pt x="1269" y="166"/>
                    </a:lnTo>
                    <a:lnTo>
                      <a:pt x="1262" y="162"/>
                    </a:lnTo>
                    <a:lnTo>
                      <a:pt x="1255" y="155"/>
                    </a:lnTo>
                    <a:lnTo>
                      <a:pt x="1248" y="147"/>
                    </a:lnTo>
                    <a:lnTo>
                      <a:pt x="1243" y="135"/>
                    </a:lnTo>
                    <a:lnTo>
                      <a:pt x="1242" y="122"/>
                    </a:lnTo>
                    <a:lnTo>
                      <a:pt x="1240" y="107"/>
                    </a:lnTo>
                    <a:lnTo>
                      <a:pt x="1242" y="93"/>
                    </a:lnTo>
                    <a:lnTo>
                      <a:pt x="1243" y="79"/>
                    </a:lnTo>
                    <a:lnTo>
                      <a:pt x="1248" y="69"/>
                    </a:lnTo>
                    <a:lnTo>
                      <a:pt x="1255" y="59"/>
                    </a:lnTo>
                    <a:lnTo>
                      <a:pt x="1261" y="52"/>
                    </a:lnTo>
                    <a:lnTo>
                      <a:pt x="1269" y="47"/>
                    </a:lnTo>
                    <a:lnTo>
                      <a:pt x="1276" y="45"/>
                    </a:lnTo>
                    <a:lnTo>
                      <a:pt x="1286" y="43"/>
                    </a:lnTo>
                    <a:lnTo>
                      <a:pt x="1295" y="45"/>
                    </a:lnTo>
                    <a:lnTo>
                      <a:pt x="1305" y="47"/>
                    </a:lnTo>
                    <a:lnTo>
                      <a:pt x="1312" y="52"/>
                    </a:lnTo>
                    <a:lnTo>
                      <a:pt x="1317" y="59"/>
                    </a:lnTo>
                    <a:lnTo>
                      <a:pt x="1324" y="69"/>
                    </a:lnTo>
                    <a:lnTo>
                      <a:pt x="1330" y="81"/>
                    </a:lnTo>
                    <a:lnTo>
                      <a:pt x="1331" y="95"/>
                    </a:lnTo>
                    <a:lnTo>
                      <a:pt x="1333" y="112"/>
                    </a:lnTo>
                    <a:lnTo>
                      <a:pt x="1333" y="116"/>
                    </a:lnTo>
                    <a:lnTo>
                      <a:pt x="1267" y="116"/>
                    </a:lnTo>
                    <a:lnTo>
                      <a:pt x="1267" y="122"/>
                    </a:lnTo>
                    <a:lnTo>
                      <a:pt x="1269" y="129"/>
                    </a:lnTo>
                    <a:lnTo>
                      <a:pt x="1271" y="135"/>
                    </a:lnTo>
                    <a:lnTo>
                      <a:pt x="1274" y="138"/>
                    </a:lnTo>
                    <a:lnTo>
                      <a:pt x="1278" y="141"/>
                    </a:lnTo>
                    <a:lnTo>
                      <a:pt x="1281" y="143"/>
                    </a:lnTo>
                    <a:lnTo>
                      <a:pt x="1285" y="145"/>
                    </a:lnTo>
                    <a:lnTo>
                      <a:pt x="1288" y="145"/>
                    </a:lnTo>
                    <a:lnTo>
                      <a:pt x="1295" y="143"/>
                    </a:lnTo>
                    <a:lnTo>
                      <a:pt x="1300" y="141"/>
                    </a:lnTo>
                    <a:lnTo>
                      <a:pt x="1304" y="136"/>
                    </a:lnTo>
                    <a:lnTo>
                      <a:pt x="1307" y="129"/>
                    </a:lnTo>
                    <a:close/>
                    <a:moveTo>
                      <a:pt x="1307" y="95"/>
                    </a:moveTo>
                    <a:lnTo>
                      <a:pt x="1307" y="88"/>
                    </a:lnTo>
                    <a:lnTo>
                      <a:pt x="1305" y="83"/>
                    </a:lnTo>
                    <a:lnTo>
                      <a:pt x="1304" y="78"/>
                    </a:lnTo>
                    <a:lnTo>
                      <a:pt x="1300" y="74"/>
                    </a:lnTo>
                    <a:lnTo>
                      <a:pt x="1297" y="72"/>
                    </a:lnTo>
                    <a:lnTo>
                      <a:pt x="1295" y="69"/>
                    </a:lnTo>
                    <a:lnTo>
                      <a:pt x="1292" y="67"/>
                    </a:lnTo>
                    <a:lnTo>
                      <a:pt x="1288" y="67"/>
                    </a:lnTo>
                    <a:lnTo>
                      <a:pt x="1283" y="67"/>
                    </a:lnTo>
                    <a:lnTo>
                      <a:pt x="1280" y="69"/>
                    </a:lnTo>
                    <a:lnTo>
                      <a:pt x="1278" y="72"/>
                    </a:lnTo>
                    <a:lnTo>
                      <a:pt x="1274" y="76"/>
                    </a:lnTo>
                    <a:lnTo>
                      <a:pt x="1271" y="79"/>
                    </a:lnTo>
                    <a:lnTo>
                      <a:pt x="1269" y="83"/>
                    </a:lnTo>
                    <a:lnTo>
                      <a:pt x="1267" y="88"/>
                    </a:lnTo>
                    <a:lnTo>
                      <a:pt x="1267" y="95"/>
                    </a:lnTo>
                    <a:lnTo>
                      <a:pt x="1307" y="95"/>
                    </a:lnTo>
                    <a:close/>
                    <a:moveTo>
                      <a:pt x="1380" y="166"/>
                    </a:moveTo>
                    <a:lnTo>
                      <a:pt x="1354" y="166"/>
                    </a:lnTo>
                    <a:lnTo>
                      <a:pt x="1354" y="45"/>
                    </a:lnTo>
                    <a:lnTo>
                      <a:pt x="1378" y="45"/>
                    </a:lnTo>
                    <a:lnTo>
                      <a:pt x="1378" y="64"/>
                    </a:lnTo>
                    <a:lnTo>
                      <a:pt x="1381" y="59"/>
                    </a:lnTo>
                    <a:lnTo>
                      <a:pt x="1385" y="53"/>
                    </a:lnTo>
                    <a:lnTo>
                      <a:pt x="1387" y="50"/>
                    </a:lnTo>
                    <a:lnTo>
                      <a:pt x="1390" y="47"/>
                    </a:lnTo>
                    <a:lnTo>
                      <a:pt x="1392" y="45"/>
                    </a:lnTo>
                    <a:lnTo>
                      <a:pt x="1395" y="45"/>
                    </a:lnTo>
                    <a:lnTo>
                      <a:pt x="1397" y="43"/>
                    </a:lnTo>
                    <a:lnTo>
                      <a:pt x="1400" y="43"/>
                    </a:lnTo>
                    <a:lnTo>
                      <a:pt x="1406" y="43"/>
                    </a:lnTo>
                    <a:lnTo>
                      <a:pt x="1409" y="45"/>
                    </a:lnTo>
                    <a:lnTo>
                      <a:pt x="1414" y="47"/>
                    </a:lnTo>
                    <a:lnTo>
                      <a:pt x="1418" y="50"/>
                    </a:lnTo>
                    <a:lnTo>
                      <a:pt x="1409" y="78"/>
                    </a:lnTo>
                    <a:lnTo>
                      <a:pt x="1406" y="76"/>
                    </a:lnTo>
                    <a:lnTo>
                      <a:pt x="1404" y="76"/>
                    </a:lnTo>
                    <a:lnTo>
                      <a:pt x="1400" y="74"/>
                    </a:lnTo>
                    <a:lnTo>
                      <a:pt x="1399" y="74"/>
                    </a:lnTo>
                    <a:lnTo>
                      <a:pt x="1395" y="74"/>
                    </a:lnTo>
                    <a:lnTo>
                      <a:pt x="1392" y="74"/>
                    </a:lnTo>
                    <a:lnTo>
                      <a:pt x="1390" y="74"/>
                    </a:lnTo>
                    <a:lnTo>
                      <a:pt x="1388" y="76"/>
                    </a:lnTo>
                    <a:lnTo>
                      <a:pt x="1387" y="79"/>
                    </a:lnTo>
                    <a:lnTo>
                      <a:pt x="1385" y="83"/>
                    </a:lnTo>
                    <a:lnTo>
                      <a:pt x="1383" y="88"/>
                    </a:lnTo>
                    <a:lnTo>
                      <a:pt x="1381" y="93"/>
                    </a:lnTo>
                    <a:lnTo>
                      <a:pt x="1381" y="98"/>
                    </a:lnTo>
                    <a:lnTo>
                      <a:pt x="1381" y="107"/>
                    </a:lnTo>
                    <a:lnTo>
                      <a:pt x="1380" y="117"/>
                    </a:lnTo>
                    <a:lnTo>
                      <a:pt x="1380" y="129"/>
                    </a:lnTo>
                    <a:lnTo>
                      <a:pt x="1380" y="16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1" name="Freeform 899"/>
              <p:cNvSpPr>
                <a:spLocks noEditPoints="1"/>
              </p:cNvSpPr>
              <p:nvPr/>
            </p:nvSpPr>
            <p:spPr bwMode="auto">
              <a:xfrm>
                <a:off x="1164" y="2406"/>
                <a:ext cx="91" cy="84"/>
              </a:xfrm>
              <a:custGeom>
                <a:avLst/>
                <a:gdLst>
                  <a:gd name="T0" fmla="*/ 40 w 181"/>
                  <a:gd name="T1" fmla="*/ 167 h 167"/>
                  <a:gd name="T2" fmla="*/ 40 w 181"/>
                  <a:gd name="T3" fmla="*/ 29 h 167"/>
                  <a:gd name="T4" fmla="*/ 0 w 181"/>
                  <a:gd name="T5" fmla="*/ 29 h 167"/>
                  <a:gd name="T6" fmla="*/ 0 w 181"/>
                  <a:gd name="T7" fmla="*/ 0 h 167"/>
                  <a:gd name="T8" fmla="*/ 109 w 181"/>
                  <a:gd name="T9" fmla="*/ 0 h 167"/>
                  <a:gd name="T10" fmla="*/ 109 w 181"/>
                  <a:gd name="T11" fmla="*/ 29 h 167"/>
                  <a:gd name="T12" fmla="*/ 69 w 181"/>
                  <a:gd name="T13" fmla="*/ 29 h 167"/>
                  <a:gd name="T14" fmla="*/ 69 w 181"/>
                  <a:gd name="T15" fmla="*/ 167 h 167"/>
                  <a:gd name="T16" fmla="*/ 40 w 181"/>
                  <a:gd name="T17" fmla="*/ 167 h 167"/>
                  <a:gd name="T18" fmla="*/ 143 w 181"/>
                  <a:gd name="T19" fmla="*/ 167 h 167"/>
                  <a:gd name="T20" fmla="*/ 116 w 181"/>
                  <a:gd name="T21" fmla="*/ 167 h 167"/>
                  <a:gd name="T22" fmla="*/ 116 w 181"/>
                  <a:gd name="T23" fmla="*/ 46 h 167"/>
                  <a:gd name="T24" fmla="*/ 142 w 181"/>
                  <a:gd name="T25" fmla="*/ 46 h 167"/>
                  <a:gd name="T26" fmla="*/ 142 w 181"/>
                  <a:gd name="T27" fmla="*/ 64 h 167"/>
                  <a:gd name="T28" fmla="*/ 143 w 181"/>
                  <a:gd name="T29" fmla="*/ 58 h 167"/>
                  <a:gd name="T30" fmla="*/ 147 w 181"/>
                  <a:gd name="T31" fmla="*/ 53 h 167"/>
                  <a:gd name="T32" fmla="*/ 148 w 181"/>
                  <a:gd name="T33" fmla="*/ 50 h 167"/>
                  <a:gd name="T34" fmla="*/ 152 w 181"/>
                  <a:gd name="T35" fmla="*/ 48 h 167"/>
                  <a:gd name="T36" fmla="*/ 155 w 181"/>
                  <a:gd name="T37" fmla="*/ 46 h 167"/>
                  <a:gd name="T38" fmla="*/ 157 w 181"/>
                  <a:gd name="T39" fmla="*/ 45 h 167"/>
                  <a:gd name="T40" fmla="*/ 161 w 181"/>
                  <a:gd name="T41" fmla="*/ 43 h 167"/>
                  <a:gd name="T42" fmla="*/ 164 w 181"/>
                  <a:gd name="T43" fmla="*/ 43 h 167"/>
                  <a:gd name="T44" fmla="*/ 167 w 181"/>
                  <a:gd name="T45" fmla="*/ 43 h 167"/>
                  <a:gd name="T46" fmla="*/ 173 w 181"/>
                  <a:gd name="T47" fmla="*/ 45 h 167"/>
                  <a:gd name="T48" fmla="*/ 176 w 181"/>
                  <a:gd name="T49" fmla="*/ 48 h 167"/>
                  <a:gd name="T50" fmla="*/ 181 w 181"/>
                  <a:gd name="T51" fmla="*/ 50 h 167"/>
                  <a:gd name="T52" fmla="*/ 173 w 181"/>
                  <a:gd name="T53" fmla="*/ 79 h 167"/>
                  <a:gd name="T54" fmla="*/ 169 w 181"/>
                  <a:gd name="T55" fmla="*/ 77 h 167"/>
                  <a:gd name="T56" fmla="*/ 166 w 181"/>
                  <a:gd name="T57" fmla="*/ 76 h 167"/>
                  <a:gd name="T58" fmla="*/ 162 w 181"/>
                  <a:gd name="T59" fmla="*/ 74 h 167"/>
                  <a:gd name="T60" fmla="*/ 161 w 181"/>
                  <a:gd name="T61" fmla="*/ 74 h 167"/>
                  <a:gd name="T62" fmla="*/ 157 w 181"/>
                  <a:gd name="T63" fmla="*/ 74 h 167"/>
                  <a:gd name="T64" fmla="*/ 155 w 181"/>
                  <a:gd name="T65" fmla="*/ 74 h 167"/>
                  <a:gd name="T66" fmla="*/ 152 w 181"/>
                  <a:gd name="T67" fmla="*/ 76 h 167"/>
                  <a:gd name="T68" fmla="*/ 150 w 181"/>
                  <a:gd name="T69" fmla="*/ 77 h 167"/>
                  <a:gd name="T70" fmla="*/ 148 w 181"/>
                  <a:gd name="T71" fmla="*/ 81 h 167"/>
                  <a:gd name="T72" fmla="*/ 147 w 181"/>
                  <a:gd name="T73" fmla="*/ 84 h 167"/>
                  <a:gd name="T74" fmla="*/ 145 w 181"/>
                  <a:gd name="T75" fmla="*/ 88 h 167"/>
                  <a:gd name="T76" fmla="*/ 145 w 181"/>
                  <a:gd name="T77" fmla="*/ 93 h 167"/>
                  <a:gd name="T78" fmla="*/ 145 w 181"/>
                  <a:gd name="T79" fmla="*/ 100 h 167"/>
                  <a:gd name="T80" fmla="*/ 145 w 181"/>
                  <a:gd name="T81" fmla="*/ 107 h 167"/>
                  <a:gd name="T82" fmla="*/ 143 w 181"/>
                  <a:gd name="T83" fmla="*/ 117 h 167"/>
                  <a:gd name="T84" fmla="*/ 143 w 181"/>
                  <a:gd name="T85" fmla="*/ 131 h 167"/>
                  <a:gd name="T86" fmla="*/ 143 w 181"/>
                  <a:gd name="T87" fmla="*/ 167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81" h="167">
                    <a:moveTo>
                      <a:pt x="40" y="167"/>
                    </a:moveTo>
                    <a:lnTo>
                      <a:pt x="40" y="29"/>
                    </a:lnTo>
                    <a:lnTo>
                      <a:pt x="0" y="29"/>
                    </a:lnTo>
                    <a:lnTo>
                      <a:pt x="0" y="0"/>
                    </a:lnTo>
                    <a:lnTo>
                      <a:pt x="109" y="0"/>
                    </a:lnTo>
                    <a:lnTo>
                      <a:pt x="109" y="29"/>
                    </a:lnTo>
                    <a:lnTo>
                      <a:pt x="69" y="29"/>
                    </a:lnTo>
                    <a:lnTo>
                      <a:pt x="69" y="167"/>
                    </a:lnTo>
                    <a:lnTo>
                      <a:pt x="40" y="167"/>
                    </a:lnTo>
                    <a:close/>
                    <a:moveTo>
                      <a:pt x="143" y="167"/>
                    </a:moveTo>
                    <a:lnTo>
                      <a:pt x="116" y="167"/>
                    </a:lnTo>
                    <a:lnTo>
                      <a:pt x="116" y="46"/>
                    </a:lnTo>
                    <a:lnTo>
                      <a:pt x="142" y="46"/>
                    </a:lnTo>
                    <a:lnTo>
                      <a:pt x="142" y="64"/>
                    </a:lnTo>
                    <a:lnTo>
                      <a:pt x="143" y="58"/>
                    </a:lnTo>
                    <a:lnTo>
                      <a:pt x="147" y="53"/>
                    </a:lnTo>
                    <a:lnTo>
                      <a:pt x="148" y="50"/>
                    </a:lnTo>
                    <a:lnTo>
                      <a:pt x="152" y="48"/>
                    </a:lnTo>
                    <a:lnTo>
                      <a:pt x="155" y="46"/>
                    </a:lnTo>
                    <a:lnTo>
                      <a:pt x="157" y="45"/>
                    </a:lnTo>
                    <a:lnTo>
                      <a:pt x="161" y="43"/>
                    </a:lnTo>
                    <a:lnTo>
                      <a:pt x="164" y="43"/>
                    </a:lnTo>
                    <a:lnTo>
                      <a:pt x="167" y="43"/>
                    </a:lnTo>
                    <a:lnTo>
                      <a:pt x="173" y="45"/>
                    </a:lnTo>
                    <a:lnTo>
                      <a:pt x="176" y="48"/>
                    </a:lnTo>
                    <a:lnTo>
                      <a:pt x="181" y="50"/>
                    </a:lnTo>
                    <a:lnTo>
                      <a:pt x="173" y="79"/>
                    </a:lnTo>
                    <a:lnTo>
                      <a:pt x="169" y="77"/>
                    </a:lnTo>
                    <a:lnTo>
                      <a:pt x="166" y="76"/>
                    </a:lnTo>
                    <a:lnTo>
                      <a:pt x="162" y="74"/>
                    </a:lnTo>
                    <a:lnTo>
                      <a:pt x="161" y="74"/>
                    </a:lnTo>
                    <a:lnTo>
                      <a:pt x="157" y="74"/>
                    </a:lnTo>
                    <a:lnTo>
                      <a:pt x="155" y="74"/>
                    </a:lnTo>
                    <a:lnTo>
                      <a:pt x="152" y="76"/>
                    </a:lnTo>
                    <a:lnTo>
                      <a:pt x="150" y="77"/>
                    </a:lnTo>
                    <a:lnTo>
                      <a:pt x="148" y="81"/>
                    </a:lnTo>
                    <a:lnTo>
                      <a:pt x="147" y="84"/>
                    </a:lnTo>
                    <a:lnTo>
                      <a:pt x="145" y="88"/>
                    </a:lnTo>
                    <a:lnTo>
                      <a:pt x="145" y="93"/>
                    </a:lnTo>
                    <a:lnTo>
                      <a:pt x="145" y="100"/>
                    </a:lnTo>
                    <a:lnTo>
                      <a:pt x="145" y="107"/>
                    </a:lnTo>
                    <a:lnTo>
                      <a:pt x="143" y="117"/>
                    </a:lnTo>
                    <a:lnTo>
                      <a:pt x="143" y="131"/>
                    </a:lnTo>
                    <a:lnTo>
                      <a:pt x="143" y="1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2" name="Freeform 900"/>
              <p:cNvSpPr>
                <a:spLocks noEditPoints="1"/>
              </p:cNvSpPr>
              <p:nvPr/>
            </p:nvSpPr>
            <p:spPr bwMode="auto">
              <a:xfrm>
                <a:off x="1256" y="2428"/>
                <a:ext cx="318" cy="84"/>
              </a:xfrm>
              <a:custGeom>
                <a:avLst/>
                <a:gdLst>
                  <a:gd name="T0" fmla="*/ 22 w 635"/>
                  <a:gd name="T1" fmla="*/ 5 h 169"/>
                  <a:gd name="T2" fmla="*/ 70 w 635"/>
                  <a:gd name="T3" fmla="*/ 7 h 169"/>
                  <a:gd name="T4" fmla="*/ 88 w 635"/>
                  <a:gd name="T5" fmla="*/ 38 h 169"/>
                  <a:gd name="T6" fmla="*/ 89 w 635"/>
                  <a:gd name="T7" fmla="*/ 112 h 169"/>
                  <a:gd name="T8" fmla="*/ 57 w 635"/>
                  <a:gd name="T9" fmla="*/ 119 h 169"/>
                  <a:gd name="T10" fmla="*/ 26 w 635"/>
                  <a:gd name="T11" fmla="*/ 126 h 169"/>
                  <a:gd name="T12" fmla="*/ 0 w 635"/>
                  <a:gd name="T13" fmla="*/ 91 h 169"/>
                  <a:gd name="T14" fmla="*/ 10 w 635"/>
                  <a:gd name="T15" fmla="*/ 64 h 169"/>
                  <a:gd name="T16" fmla="*/ 51 w 635"/>
                  <a:gd name="T17" fmla="*/ 50 h 169"/>
                  <a:gd name="T18" fmla="*/ 58 w 635"/>
                  <a:gd name="T19" fmla="*/ 31 h 169"/>
                  <a:gd name="T20" fmla="*/ 43 w 635"/>
                  <a:gd name="T21" fmla="*/ 26 h 169"/>
                  <a:gd name="T22" fmla="*/ 29 w 635"/>
                  <a:gd name="T23" fmla="*/ 36 h 169"/>
                  <a:gd name="T24" fmla="*/ 39 w 635"/>
                  <a:gd name="T25" fmla="*/ 74 h 169"/>
                  <a:gd name="T26" fmla="*/ 27 w 635"/>
                  <a:gd name="T27" fmla="*/ 88 h 169"/>
                  <a:gd name="T28" fmla="*/ 38 w 635"/>
                  <a:gd name="T29" fmla="*/ 107 h 169"/>
                  <a:gd name="T30" fmla="*/ 55 w 635"/>
                  <a:gd name="T31" fmla="*/ 96 h 169"/>
                  <a:gd name="T32" fmla="*/ 60 w 635"/>
                  <a:gd name="T33" fmla="*/ 67 h 169"/>
                  <a:gd name="T34" fmla="*/ 176 w 635"/>
                  <a:gd name="T35" fmla="*/ 38 h 169"/>
                  <a:gd name="T36" fmla="*/ 162 w 635"/>
                  <a:gd name="T37" fmla="*/ 26 h 169"/>
                  <a:gd name="T38" fmla="*/ 145 w 635"/>
                  <a:gd name="T39" fmla="*/ 34 h 169"/>
                  <a:gd name="T40" fmla="*/ 140 w 635"/>
                  <a:gd name="T41" fmla="*/ 124 h 169"/>
                  <a:gd name="T42" fmla="*/ 148 w 635"/>
                  <a:gd name="T43" fmla="*/ 10 h 169"/>
                  <a:gd name="T44" fmla="*/ 181 w 635"/>
                  <a:gd name="T45" fmla="*/ 2 h 169"/>
                  <a:gd name="T46" fmla="*/ 202 w 635"/>
                  <a:gd name="T47" fmla="*/ 27 h 169"/>
                  <a:gd name="T48" fmla="*/ 252 w 635"/>
                  <a:gd name="T49" fmla="*/ 95 h 169"/>
                  <a:gd name="T50" fmla="*/ 281 w 635"/>
                  <a:gd name="T51" fmla="*/ 102 h 169"/>
                  <a:gd name="T52" fmla="*/ 285 w 635"/>
                  <a:gd name="T53" fmla="*/ 88 h 169"/>
                  <a:gd name="T54" fmla="*/ 250 w 635"/>
                  <a:gd name="T55" fmla="*/ 72 h 169"/>
                  <a:gd name="T56" fmla="*/ 224 w 635"/>
                  <a:gd name="T57" fmla="*/ 31 h 169"/>
                  <a:gd name="T58" fmla="*/ 266 w 635"/>
                  <a:gd name="T59" fmla="*/ 0 h 169"/>
                  <a:gd name="T60" fmla="*/ 309 w 635"/>
                  <a:gd name="T61" fmla="*/ 24 h 169"/>
                  <a:gd name="T62" fmla="*/ 262 w 635"/>
                  <a:gd name="T63" fmla="*/ 24 h 169"/>
                  <a:gd name="T64" fmla="*/ 248 w 635"/>
                  <a:gd name="T65" fmla="*/ 34 h 169"/>
                  <a:gd name="T66" fmla="*/ 266 w 635"/>
                  <a:gd name="T67" fmla="*/ 48 h 169"/>
                  <a:gd name="T68" fmla="*/ 312 w 635"/>
                  <a:gd name="T69" fmla="*/ 74 h 169"/>
                  <a:gd name="T70" fmla="*/ 295 w 635"/>
                  <a:gd name="T71" fmla="*/ 121 h 169"/>
                  <a:gd name="T72" fmla="*/ 238 w 635"/>
                  <a:gd name="T73" fmla="*/ 119 h 169"/>
                  <a:gd name="T74" fmla="*/ 362 w 635"/>
                  <a:gd name="T75" fmla="*/ 21 h 169"/>
                  <a:gd name="T76" fmla="*/ 388 w 635"/>
                  <a:gd name="T77" fmla="*/ 0 h 169"/>
                  <a:gd name="T78" fmla="*/ 430 w 635"/>
                  <a:gd name="T79" fmla="*/ 36 h 169"/>
                  <a:gd name="T80" fmla="*/ 414 w 635"/>
                  <a:gd name="T81" fmla="*/ 117 h 169"/>
                  <a:gd name="T82" fmla="*/ 378 w 635"/>
                  <a:gd name="T83" fmla="*/ 124 h 169"/>
                  <a:gd name="T84" fmla="*/ 336 w 635"/>
                  <a:gd name="T85" fmla="*/ 3 h 169"/>
                  <a:gd name="T86" fmla="*/ 376 w 635"/>
                  <a:gd name="T87" fmla="*/ 98 h 169"/>
                  <a:gd name="T88" fmla="*/ 402 w 635"/>
                  <a:gd name="T89" fmla="*/ 88 h 169"/>
                  <a:gd name="T90" fmla="*/ 400 w 635"/>
                  <a:gd name="T91" fmla="*/ 34 h 169"/>
                  <a:gd name="T92" fmla="*/ 373 w 635"/>
                  <a:gd name="T93" fmla="*/ 31 h 169"/>
                  <a:gd name="T94" fmla="*/ 449 w 635"/>
                  <a:gd name="T95" fmla="*/ 53 h 169"/>
                  <a:gd name="T96" fmla="*/ 473 w 635"/>
                  <a:gd name="T97" fmla="*/ 8 h 169"/>
                  <a:gd name="T98" fmla="*/ 528 w 635"/>
                  <a:gd name="T99" fmla="*/ 10 h 169"/>
                  <a:gd name="T100" fmla="*/ 549 w 635"/>
                  <a:gd name="T101" fmla="*/ 83 h 169"/>
                  <a:gd name="T102" fmla="*/ 518 w 635"/>
                  <a:gd name="T103" fmla="*/ 122 h 169"/>
                  <a:gd name="T104" fmla="*/ 462 w 635"/>
                  <a:gd name="T105" fmla="*/ 110 h 169"/>
                  <a:gd name="T106" fmla="*/ 476 w 635"/>
                  <a:gd name="T107" fmla="*/ 81 h 169"/>
                  <a:gd name="T108" fmla="*/ 504 w 635"/>
                  <a:gd name="T109" fmla="*/ 102 h 169"/>
                  <a:gd name="T110" fmla="*/ 521 w 635"/>
                  <a:gd name="T111" fmla="*/ 65 h 169"/>
                  <a:gd name="T112" fmla="*/ 502 w 635"/>
                  <a:gd name="T113" fmla="*/ 27 h 169"/>
                  <a:gd name="T114" fmla="*/ 476 w 635"/>
                  <a:gd name="T115" fmla="*/ 48 h 169"/>
                  <a:gd name="T116" fmla="*/ 597 w 635"/>
                  <a:gd name="T117" fmla="*/ 21 h 169"/>
                  <a:gd name="T118" fmla="*/ 616 w 635"/>
                  <a:gd name="T119" fmla="*/ 0 h 169"/>
                  <a:gd name="T120" fmla="*/ 623 w 635"/>
                  <a:gd name="T121" fmla="*/ 34 h 169"/>
                  <a:gd name="T122" fmla="*/ 606 w 635"/>
                  <a:gd name="T123" fmla="*/ 34 h 169"/>
                  <a:gd name="T124" fmla="*/ 597 w 635"/>
                  <a:gd name="T125" fmla="*/ 74 h 1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635" h="169">
                    <a:moveTo>
                      <a:pt x="27" y="41"/>
                    </a:moveTo>
                    <a:lnTo>
                      <a:pt x="1" y="36"/>
                    </a:lnTo>
                    <a:lnTo>
                      <a:pt x="5" y="27"/>
                    </a:lnTo>
                    <a:lnTo>
                      <a:pt x="8" y="19"/>
                    </a:lnTo>
                    <a:lnTo>
                      <a:pt x="12" y="14"/>
                    </a:lnTo>
                    <a:lnTo>
                      <a:pt x="17" y="8"/>
                    </a:lnTo>
                    <a:lnTo>
                      <a:pt x="22" y="5"/>
                    </a:lnTo>
                    <a:lnTo>
                      <a:pt x="29" y="2"/>
                    </a:lnTo>
                    <a:lnTo>
                      <a:pt x="36" y="0"/>
                    </a:lnTo>
                    <a:lnTo>
                      <a:pt x="45" y="0"/>
                    </a:lnTo>
                    <a:lnTo>
                      <a:pt x="51" y="0"/>
                    </a:lnTo>
                    <a:lnTo>
                      <a:pt x="60" y="2"/>
                    </a:lnTo>
                    <a:lnTo>
                      <a:pt x="65" y="3"/>
                    </a:lnTo>
                    <a:lnTo>
                      <a:pt x="70" y="7"/>
                    </a:lnTo>
                    <a:lnTo>
                      <a:pt x="74" y="8"/>
                    </a:lnTo>
                    <a:lnTo>
                      <a:pt x="77" y="10"/>
                    </a:lnTo>
                    <a:lnTo>
                      <a:pt x="81" y="14"/>
                    </a:lnTo>
                    <a:lnTo>
                      <a:pt x="83" y="17"/>
                    </a:lnTo>
                    <a:lnTo>
                      <a:pt x="84" y="22"/>
                    </a:lnTo>
                    <a:lnTo>
                      <a:pt x="86" y="29"/>
                    </a:lnTo>
                    <a:lnTo>
                      <a:pt x="88" y="38"/>
                    </a:lnTo>
                    <a:lnTo>
                      <a:pt x="88" y="48"/>
                    </a:lnTo>
                    <a:lnTo>
                      <a:pt x="88" y="86"/>
                    </a:lnTo>
                    <a:lnTo>
                      <a:pt x="88" y="93"/>
                    </a:lnTo>
                    <a:lnTo>
                      <a:pt x="88" y="100"/>
                    </a:lnTo>
                    <a:lnTo>
                      <a:pt x="88" y="105"/>
                    </a:lnTo>
                    <a:lnTo>
                      <a:pt x="89" y="107"/>
                    </a:lnTo>
                    <a:lnTo>
                      <a:pt x="89" y="112"/>
                    </a:lnTo>
                    <a:lnTo>
                      <a:pt x="91" y="115"/>
                    </a:lnTo>
                    <a:lnTo>
                      <a:pt x="91" y="121"/>
                    </a:lnTo>
                    <a:lnTo>
                      <a:pt x="91" y="124"/>
                    </a:lnTo>
                    <a:lnTo>
                      <a:pt x="67" y="124"/>
                    </a:lnTo>
                    <a:lnTo>
                      <a:pt x="62" y="112"/>
                    </a:lnTo>
                    <a:lnTo>
                      <a:pt x="58" y="115"/>
                    </a:lnTo>
                    <a:lnTo>
                      <a:pt x="57" y="119"/>
                    </a:lnTo>
                    <a:lnTo>
                      <a:pt x="53" y="122"/>
                    </a:lnTo>
                    <a:lnTo>
                      <a:pt x="50" y="124"/>
                    </a:lnTo>
                    <a:lnTo>
                      <a:pt x="45" y="124"/>
                    </a:lnTo>
                    <a:lnTo>
                      <a:pt x="41" y="124"/>
                    </a:lnTo>
                    <a:lnTo>
                      <a:pt x="36" y="126"/>
                    </a:lnTo>
                    <a:lnTo>
                      <a:pt x="32" y="126"/>
                    </a:lnTo>
                    <a:lnTo>
                      <a:pt x="26" y="126"/>
                    </a:lnTo>
                    <a:lnTo>
                      <a:pt x="19" y="124"/>
                    </a:lnTo>
                    <a:lnTo>
                      <a:pt x="14" y="121"/>
                    </a:lnTo>
                    <a:lnTo>
                      <a:pt x="10" y="117"/>
                    </a:lnTo>
                    <a:lnTo>
                      <a:pt x="5" y="112"/>
                    </a:lnTo>
                    <a:lnTo>
                      <a:pt x="1" y="107"/>
                    </a:lnTo>
                    <a:lnTo>
                      <a:pt x="0" y="100"/>
                    </a:lnTo>
                    <a:lnTo>
                      <a:pt x="0" y="91"/>
                    </a:lnTo>
                    <a:lnTo>
                      <a:pt x="0" y="88"/>
                    </a:lnTo>
                    <a:lnTo>
                      <a:pt x="1" y="83"/>
                    </a:lnTo>
                    <a:lnTo>
                      <a:pt x="1" y="78"/>
                    </a:lnTo>
                    <a:lnTo>
                      <a:pt x="3" y="74"/>
                    </a:lnTo>
                    <a:lnTo>
                      <a:pt x="5" y="69"/>
                    </a:lnTo>
                    <a:lnTo>
                      <a:pt x="8" y="67"/>
                    </a:lnTo>
                    <a:lnTo>
                      <a:pt x="10" y="64"/>
                    </a:lnTo>
                    <a:lnTo>
                      <a:pt x="14" y="62"/>
                    </a:lnTo>
                    <a:lnTo>
                      <a:pt x="17" y="60"/>
                    </a:lnTo>
                    <a:lnTo>
                      <a:pt x="22" y="57"/>
                    </a:lnTo>
                    <a:lnTo>
                      <a:pt x="29" y="55"/>
                    </a:lnTo>
                    <a:lnTo>
                      <a:pt x="36" y="53"/>
                    </a:lnTo>
                    <a:lnTo>
                      <a:pt x="45" y="52"/>
                    </a:lnTo>
                    <a:lnTo>
                      <a:pt x="51" y="50"/>
                    </a:lnTo>
                    <a:lnTo>
                      <a:pt x="57" y="48"/>
                    </a:lnTo>
                    <a:lnTo>
                      <a:pt x="60" y="46"/>
                    </a:lnTo>
                    <a:lnTo>
                      <a:pt x="60" y="41"/>
                    </a:lnTo>
                    <a:lnTo>
                      <a:pt x="60" y="36"/>
                    </a:lnTo>
                    <a:lnTo>
                      <a:pt x="60" y="34"/>
                    </a:lnTo>
                    <a:lnTo>
                      <a:pt x="58" y="31"/>
                    </a:lnTo>
                    <a:lnTo>
                      <a:pt x="58" y="31"/>
                    </a:lnTo>
                    <a:lnTo>
                      <a:pt x="57" y="29"/>
                    </a:lnTo>
                    <a:lnTo>
                      <a:pt x="55" y="29"/>
                    </a:lnTo>
                    <a:lnTo>
                      <a:pt x="55" y="27"/>
                    </a:lnTo>
                    <a:lnTo>
                      <a:pt x="51" y="27"/>
                    </a:lnTo>
                    <a:lnTo>
                      <a:pt x="50" y="26"/>
                    </a:lnTo>
                    <a:lnTo>
                      <a:pt x="46" y="26"/>
                    </a:lnTo>
                    <a:lnTo>
                      <a:pt x="43" y="26"/>
                    </a:lnTo>
                    <a:lnTo>
                      <a:pt x="41" y="26"/>
                    </a:lnTo>
                    <a:lnTo>
                      <a:pt x="38" y="27"/>
                    </a:lnTo>
                    <a:lnTo>
                      <a:pt x="36" y="27"/>
                    </a:lnTo>
                    <a:lnTo>
                      <a:pt x="34" y="29"/>
                    </a:lnTo>
                    <a:lnTo>
                      <a:pt x="32" y="31"/>
                    </a:lnTo>
                    <a:lnTo>
                      <a:pt x="31" y="33"/>
                    </a:lnTo>
                    <a:lnTo>
                      <a:pt x="29" y="36"/>
                    </a:lnTo>
                    <a:lnTo>
                      <a:pt x="27" y="41"/>
                    </a:lnTo>
                    <a:close/>
                    <a:moveTo>
                      <a:pt x="60" y="67"/>
                    </a:moveTo>
                    <a:lnTo>
                      <a:pt x="57" y="67"/>
                    </a:lnTo>
                    <a:lnTo>
                      <a:pt x="53" y="69"/>
                    </a:lnTo>
                    <a:lnTo>
                      <a:pt x="50" y="71"/>
                    </a:lnTo>
                    <a:lnTo>
                      <a:pt x="45" y="72"/>
                    </a:lnTo>
                    <a:lnTo>
                      <a:pt x="39" y="74"/>
                    </a:lnTo>
                    <a:lnTo>
                      <a:pt x="36" y="76"/>
                    </a:lnTo>
                    <a:lnTo>
                      <a:pt x="32" y="78"/>
                    </a:lnTo>
                    <a:lnTo>
                      <a:pt x="31" y="79"/>
                    </a:lnTo>
                    <a:lnTo>
                      <a:pt x="29" y="81"/>
                    </a:lnTo>
                    <a:lnTo>
                      <a:pt x="29" y="84"/>
                    </a:lnTo>
                    <a:lnTo>
                      <a:pt x="27" y="86"/>
                    </a:lnTo>
                    <a:lnTo>
                      <a:pt x="27" y="88"/>
                    </a:lnTo>
                    <a:lnTo>
                      <a:pt x="27" y="91"/>
                    </a:lnTo>
                    <a:lnTo>
                      <a:pt x="29" y="95"/>
                    </a:lnTo>
                    <a:lnTo>
                      <a:pt x="29" y="96"/>
                    </a:lnTo>
                    <a:lnTo>
                      <a:pt x="31" y="100"/>
                    </a:lnTo>
                    <a:lnTo>
                      <a:pt x="32" y="103"/>
                    </a:lnTo>
                    <a:lnTo>
                      <a:pt x="36" y="105"/>
                    </a:lnTo>
                    <a:lnTo>
                      <a:pt x="38" y="107"/>
                    </a:lnTo>
                    <a:lnTo>
                      <a:pt x="41" y="107"/>
                    </a:lnTo>
                    <a:lnTo>
                      <a:pt x="43" y="107"/>
                    </a:lnTo>
                    <a:lnTo>
                      <a:pt x="46" y="105"/>
                    </a:lnTo>
                    <a:lnTo>
                      <a:pt x="48" y="103"/>
                    </a:lnTo>
                    <a:lnTo>
                      <a:pt x="51" y="102"/>
                    </a:lnTo>
                    <a:lnTo>
                      <a:pt x="53" y="100"/>
                    </a:lnTo>
                    <a:lnTo>
                      <a:pt x="55" y="96"/>
                    </a:lnTo>
                    <a:lnTo>
                      <a:pt x="57" y="95"/>
                    </a:lnTo>
                    <a:lnTo>
                      <a:pt x="58" y="91"/>
                    </a:lnTo>
                    <a:lnTo>
                      <a:pt x="60" y="88"/>
                    </a:lnTo>
                    <a:lnTo>
                      <a:pt x="60" y="84"/>
                    </a:lnTo>
                    <a:lnTo>
                      <a:pt x="60" y="79"/>
                    </a:lnTo>
                    <a:lnTo>
                      <a:pt x="60" y="74"/>
                    </a:lnTo>
                    <a:lnTo>
                      <a:pt x="60" y="67"/>
                    </a:lnTo>
                    <a:close/>
                    <a:moveTo>
                      <a:pt x="203" y="124"/>
                    </a:moveTo>
                    <a:lnTo>
                      <a:pt x="177" y="124"/>
                    </a:lnTo>
                    <a:lnTo>
                      <a:pt x="177" y="64"/>
                    </a:lnTo>
                    <a:lnTo>
                      <a:pt x="177" y="55"/>
                    </a:lnTo>
                    <a:lnTo>
                      <a:pt x="177" y="48"/>
                    </a:lnTo>
                    <a:lnTo>
                      <a:pt x="176" y="41"/>
                    </a:lnTo>
                    <a:lnTo>
                      <a:pt x="176" y="38"/>
                    </a:lnTo>
                    <a:lnTo>
                      <a:pt x="174" y="36"/>
                    </a:lnTo>
                    <a:lnTo>
                      <a:pt x="172" y="33"/>
                    </a:lnTo>
                    <a:lnTo>
                      <a:pt x="171" y="31"/>
                    </a:lnTo>
                    <a:lnTo>
                      <a:pt x="169" y="29"/>
                    </a:lnTo>
                    <a:lnTo>
                      <a:pt x="167" y="27"/>
                    </a:lnTo>
                    <a:lnTo>
                      <a:pt x="165" y="27"/>
                    </a:lnTo>
                    <a:lnTo>
                      <a:pt x="162" y="26"/>
                    </a:lnTo>
                    <a:lnTo>
                      <a:pt x="160" y="26"/>
                    </a:lnTo>
                    <a:lnTo>
                      <a:pt x="157" y="26"/>
                    </a:lnTo>
                    <a:lnTo>
                      <a:pt x="155" y="27"/>
                    </a:lnTo>
                    <a:lnTo>
                      <a:pt x="152" y="27"/>
                    </a:lnTo>
                    <a:lnTo>
                      <a:pt x="148" y="29"/>
                    </a:lnTo>
                    <a:lnTo>
                      <a:pt x="146" y="33"/>
                    </a:lnTo>
                    <a:lnTo>
                      <a:pt x="145" y="34"/>
                    </a:lnTo>
                    <a:lnTo>
                      <a:pt x="143" y="38"/>
                    </a:lnTo>
                    <a:lnTo>
                      <a:pt x="141" y="41"/>
                    </a:lnTo>
                    <a:lnTo>
                      <a:pt x="141" y="46"/>
                    </a:lnTo>
                    <a:lnTo>
                      <a:pt x="141" y="52"/>
                    </a:lnTo>
                    <a:lnTo>
                      <a:pt x="140" y="60"/>
                    </a:lnTo>
                    <a:lnTo>
                      <a:pt x="140" y="69"/>
                    </a:lnTo>
                    <a:lnTo>
                      <a:pt x="140" y="124"/>
                    </a:lnTo>
                    <a:lnTo>
                      <a:pt x="112" y="124"/>
                    </a:lnTo>
                    <a:lnTo>
                      <a:pt x="112" y="3"/>
                    </a:lnTo>
                    <a:lnTo>
                      <a:pt x="138" y="3"/>
                    </a:lnTo>
                    <a:lnTo>
                      <a:pt x="138" y="21"/>
                    </a:lnTo>
                    <a:lnTo>
                      <a:pt x="141" y="15"/>
                    </a:lnTo>
                    <a:lnTo>
                      <a:pt x="145" y="12"/>
                    </a:lnTo>
                    <a:lnTo>
                      <a:pt x="148" y="10"/>
                    </a:lnTo>
                    <a:lnTo>
                      <a:pt x="152" y="7"/>
                    </a:lnTo>
                    <a:lnTo>
                      <a:pt x="155" y="3"/>
                    </a:lnTo>
                    <a:lnTo>
                      <a:pt x="160" y="2"/>
                    </a:lnTo>
                    <a:lnTo>
                      <a:pt x="165" y="0"/>
                    </a:lnTo>
                    <a:lnTo>
                      <a:pt x="171" y="0"/>
                    </a:lnTo>
                    <a:lnTo>
                      <a:pt x="176" y="0"/>
                    </a:lnTo>
                    <a:lnTo>
                      <a:pt x="181" y="2"/>
                    </a:lnTo>
                    <a:lnTo>
                      <a:pt x="186" y="5"/>
                    </a:lnTo>
                    <a:lnTo>
                      <a:pt x="190" y="7"/>
                    </a:lnTo>
                    <a:lnTo>
                      <a:pt x="193" y="10"/>
                    </a:lnTo>
                    <a:lnTo>
                      <a:pt x="196" y="14"/>
                    </a:lnTo>
                    <a:lnTo>
                      <a:pt x="198" y="17"/>
                    </a:lnTo>
                    <a:lnTo>
                      <a:pt x="202" y="22"/>
                    </a:lnTo>
                    <a:lnTo>
                      <a:pt x="202" y="27"/>
                    </a:lnTo>
                    <a:lnTo>
                      <a:pt x="203" y="34"/>
                    </a:lnTo>
                    <a:lnTo>
                      <a:pt x="203" y="41"/>
                    </a:lnTo>
                    <a:lnTo>
                      <a:pt x="203" y="50"/>
                    </a:lnTo>
                    <a:lnTo>
                      <a:pt x="203" y="124"/>
                    </a:lnTo>
                    <a:close/>
                    <a:moveTo>
                      <a:pt x="221" y="90"/>
                    </a:moveTo>
                    <a:lnTo>
                      <a:pt x="248" y="88"/>
                    </a:lnTo>
                    <a:lnTo>
                      <a:pt x="252" y="95"/>
                    </a:lnTo>
                    <a:lnTo>
                      <a:pt x="255" y="102"/>
                    </a:lnTo>
                    <a:lnTo>
                      <a:pt x="260" y="105"/>
                    </a:lnTo>
                    <a:lnTo>
                      <a:pt x="269" y="107"/>
                    </a:lnTo>
                    <a:lnTo>
                      <a:pt x="272" y="107"/>
                    </a:lnTo>
                    <a:lnTo>
                      <a:pt x="276" y="105"/>
                    </a:lnTo>
                    <a:lnTo>
                      <a:pt x="279" y="103"/>
                    </a:lnTo>
                    <a:lnTo>
                      <a:pt x="281" y="102"/>
                    </a:lnTo>
                    <a:lnTo>
                      <a:pt x="283" y="100"/>
                    </a:lnTo>
                    <a:lnTo>
                      <a:pt x="285" y="96"/>
                    </a:lnTo>
                    <a:lnTo>
                      <a:pt x="286" y="95"/>
                    </a:lnTo>
                    <a:lnTo>
                      <a:pt x="286" y="91"/>
                    </a:lnTo>
                    <a:lnTo>
                      <a:pt x="286" y="90"/>
                    </a:lnTo>
                    <a:lnTo>
                      <a:pt x="285" y="88"/>
                    </a:lnTo>
                    <a:lnTo>
                      <a:pt x="285" y="88"/>
                    </a:lnTo>
                    <a:lnTo>
                      <a:pt x="283" y="86"/>
                    </a:lnTo>
                    <a:lnTo>
                      <a:pt x="281" y="84"/>
                    </a:lnTo>
                    <a:lnTo>
                      <a:pt x="281" y="84"/>
                    </a:lnTo>
                    <a:lnTo>
                      <a:pt x="279" y="83"/>
                    </a:lnTo>
                    <a:lnTo>
                      <a:pt x="278" y="83"/>
                    </a:lnTo>
                    <a:lnTo>
                      <a:pt x="262" y="78"/>
                    </a:lnTo>
                    <a:lnTo>
                      <a:pt x="250" y="72"/>
                    </a:lnTo>
                    <a:lnTo>
                      <a:pt x="241" y="69"/>
                    </a:lnTo>
                    <a:lnTo>
                      <a:pt x="234" y="65"/>
                    </a:lnTo>
                    <a:lnTo>
                      <a:pt x="229" y="60"/>
                    </a:lnTo>
                    <a:lnTo>
                      <a:pt x="226" y="53"/>
                    </a:lnTo>
                    <a:lnTo>
                      <a:pt x="224" y="46"/>
                    </a:lnTo>
                    <a:lnTo>
                      <a:pt x="222" y="38"/>
                    </a:lnTo>
                    <a:lnTo>
                      <a:pt x="224" y="31"/>
                    </a:lnTo>
                    <a:lnTo>
                      <a:pt x="226" y="22"/>
                    </a:lnTo>
                    <a:lnTo>
                      <a:pt x="229" y="17"/>
                    </a:lnTo>
                    <a:lnTo>
                      <a:pt x="234" y="12"/>
                    </a:lnTo>
                    <a:lnTo>
                      <a:pt x="240" y="7"/>
                    </a:lnTo>
                    <a:lnTo>
                      <a:pt x="248" y="3"/>
                    </a:lnTo>
                    <a:lnTo>
                      <a:pt x="255" y="2"/>
                    </a:lnTo>
                    <a:lnTo>
                      <a:pt x="266" y="0"/>
                    </a:lnTo>
                    <a:lnTo>
                      <a:pt x="276" y="0"/>
                    </a:lnTo>
                    <a:lnTo>
                      <a:pt x="285" y="2"/>
                    </a:lnTo>
                    <a:lnTo>
                      <a:pt x="291" y="5"/>
                    </a:lnTo>
                    <a:lnTo>
                      <a:pt x="297" y="8"/>
                    </a:lnTo>
                    <a:lnTo>
                      <a:pt x="300" y="12"/>
                    </a:lnTo>
                    <a:lnTo>
                      <a:pt x="305" y="17"/>
                    </a:lnTo>
                    <a:lnTo>
                      <a:pt x="309" y="24"/>
                    </a:lnTo>
                    <a:lnTo>
                      <a:pt x="310" y="33"/>
                    </a:lnTo>
                    <a:lnTo>
                      <a:pt x="286" y="38"/>
                    </a:lnTo>
                    <a:lnTo>
                      <a:pt x="283" y="33"/>
                    </a:lnTo>
                    <a:lnTo>
                      <a:pt x="279" y="27"/>
                    </a:lnTo>
                    <a:lnTo>
                      <a:pt x="274" y="26"/>
                    </a:lnTo>
                    <a:lnTo>
                      <a:pt x="266" y="24"/>
                    </a:lnTo>
                    <a:lnTo>
                      <a:pt x="262" y="24"/>
                    </a:lnTo>
                    <a:lnTo>
                      <a:pt x="259" y="26"/>
                    </a:lnTo>
                    <a:lnTo>
                      <a:pt x="255" y="26"/>
                    </a:lnTo>
                    <a:lnTo>
                      <a:pt x="252" y="27"/>
                    </a:lnTo>
                    <a:lnTo>
                      <a:pt x="250" y="27"/>
                    </a:lnTo>
                    <a:lnTo>
                      <a:pt x="250" y="29"/>
                    </a:lnTo>
                    <a:lnTo>
                      <a:pt x="248" y="33"/>
                    </a:lnTo>
                    <a:lnTo>
                      <a:pt x="248" y="34"/>
                    </a:lnTo>
                    <a:lnTo>
                      <a:pt x="248" y="36"/>
                    </a:lnTo>
                    <a:lnTo>
                      <a:pt x="250" y="38"/>
                    </a:lnTo>
                    <a:lnTo>
                      <a:pt x="250" y="40"/>
                    </a:lnTo>
                    <a:lnTo>
                      <a:pt x="252" y="41"/>
                    </a:lnTo>
                    <a:lnTo>
                      <a:pt x="253" y="43"/>
                    </a:lnTo>
                    <a:lnTo>
                      <a:pt x="259" y="45"/>
                    </a:lnTo>
                    <a:lnTo>
                      <a:pt x="266" y="48"/>
                    </a:lnTo>
                    <a:lnTo>
                      <a:pt x="276" y="50"/>
                    </a:lnTo>
                    <a:lnTo>
                      <a:pt x="286" y="53"/>
                    </a:lnTo>
                    <a:lnTo>
                      <a:pt x="295" y="55"/>
                    </a:lnTo>
                    <a:lnTo>
                      <a:pt x="300" y="59"/>
                    </a:lnTo>
                    <a:lnTo>
                      <a:pt x="305" y="64"/>
                    </a:lnTo>
                    <a:lnTo>
                      <a:pt x="309" y="69"/>
                    </a:lnTo>
                    <a:lnTo>
                      <a:pt x="312" y="74"/>
                    </a:lnTo>
                    <a:lnTo>
                      <a:pt x="314" y="81"/>
                    </a:lnTo>
                    <a:lnTo>
                      <a:pt x="314" y="88"/>
                    </a:lnTo>
                    <a:lnTo>
                      <a:pt x="314" y="95"/>
                    </a:lnTo>
                    <a:lnTo>
                      <a:pt x="310" y="103"/>
                    </a:lnTo>
                    <a:lnTo>
                      <a:pt x="307" y="110"/>
                    </a:lnTo>
                    <a:lnTo>
                      <a:pt x="302" y="117"/>
                    </a:lnTo>
                    <a:lnTo>
                      <a:pt x="295" y="121"/>
                    </a:lnTo>
                    <a:lnTo>
                      <a:pt x="286" y="124"/>
                    </a:lnTo>
                    <a:lnTo>
                      <a:pt x="278" y="126"/>
                    </a:lnTo>
                    <a:lnTo>
                      <a:pt x="269" y="126"/>
                    </a:lnTo>
                    <a:lnTo>
                      <a:pt x="259" y="126"/>
                    </a:lnTo>
                    <a:lnTo>
                      <a:pt x="250" y="124"/>
                    </a:lnTo>
                    <a:lnTo>
                      <a:pt x="243" y="122"/>
                    </a:lnTo>
                    <a:lnTo>
                      <a:pt x="238" y="119"/>
                    </a:lnTo>
                    <a:lnTo>
                      <a:pt x="231" y="114"/>
                    </a:lnTo>
                    <a:lnTo>
                      <a:pt x="228" y="107"/>
                    </a:lnTo>
                    <a:lnTo>
                      <a:pt x="222" y="98"/>
                    </a:lnTo>
                    <a:lnTo>
                      <a:pt x="221" y="90"/>
                    </a:lnTo>
                    <a:close/>
                    <a:moveTo>
                      <a:pt x="336" y="3"/>
                    </a:moveTo>
                    <a:lnTo>
                      <a:pt x="362" y="3"/>
                    </a:lnTo>
                    <a:lnTo>
                      <a:pt x="362" y="21"/>
                    </a:lnTo>
                    <a:lnTo>
                      <a:pt x="364" y="17"/>
                    </a:lnTo>
                    <a:lnTo>
                      <a:pt x="367" y="14"/>
                    </a:lnTo>
                    <a:lnTo>
                      <a:pt x="369" y="10"/>
                    </a:lnTo>
                    <a:lnTo>
                      <a:pt x="373" y="7"/>
                    </a:lnTo>
                    <a:lnTo>
                      <a:pt x="378" y="3"/>
                    </a:lnTo>
                    <a:lnTo>
                      <a:pt x="383" y="2"/>
                    </a:lnTo>
                    <a:lnTo>
                      <a:pt x="388" y="0"/>
                    </a:lnTo>
                    <a:lnTo>
                      <a:pt x="392" y="0"/>
                    </a:lnTo>
                    <a:lnTo>
                      <a:pt x="400" y="2"/>
                    </a:lnTo>
                    <a:lnTo>
                      <a:pt x="407" y="5"/>
                    </a:lnTo>
                    <a:lnTo>
                      <a:pt x="414" y="10"/>
                    </a:lnTo>
                    <a:lnTo>
                      <a:pt x="421" y="17"/>
                    </a:lnTo>
                    <a:lnTo>
                      <a:pt x="426" y="26"/>
                    </a:lnTo>
                    <a:lnTo>
                      <a:pt x="430" y="36"/>
                    </a:lnTo>
                    <a:lnTo>
                      <a:pt x="433" y="50"/>
                    </a:lnTo>
                    <a:lnTo>
                      <a:pt x="433" y="64"/>
                    </a:lnTo>
                    <a:lnTo>
                      <a:pt x="433" y="78"/>
                    </a:lnTo>
                    <a:lnTo>
                      <a:pt x="430" y="91"/>
                    </a:lnTo>
                    <a:lnTo>
                      <a:pt x="426" y="102"/>
                    </a:lnTo>
                    <a:lnTo>
                      <a:pt x="421" y="110"/>
                    </a:lnTo>
                    <a:lnTo>
                      <a:pt x="414" y="117"/>
                    </a:lnTo>
                    <a:lnTo>
                      <a:pt x="407" y="122"/>
                    </a:lnTo>
                    <a:lnTo>
                      <a:pt x="400" y="126"/>
                    </a:lnTo>
                    <a:lnTo>
                      <a:pt x="392" y="126"/>
                    </a:lnTo>
                    <a:lnTo>
                      <a:pt x="388" y="126"/>
                    </a:lnTo>
                    <a:lnTo>
                      <a:pt x="385" y="124"/>
                    </a:lnTo>
                    <a:lnTo>
                      <a:pt x="381" y="124"/>
                    </a:lnTo>
                    <a:lnTo>
                      <a:pt x="378" y="124"/>
                    </a:lnTo>
                    <a:lnTo>
                      <a:pt x="374" y="122"/>
                    </a:lnTo>
                    <a:lnTo>
                      <a:pt x="371" y="119"/>
                    </a:lnTo>
                    <a:lnTo>
                      <a:pt x="367" y="114"/>
                    </a:lnTo>
                    <a:lnTo>
                      <a:pt x="362" y="109"/>
                    </a:lnTo>
                    <a:lnTo>
                      <a:pt x="362" y="169"/>
                    </a:lnTo>
                    <a:lnTo>
                      <a:pt x="336" y="169"/>
                    </a:lnTo>
                    <a:lnTo>
                      <a:pt x="336" y="3"/>
                    </a:lnTo>
                    <a:close/>
                    <a:moveTo>
                      <a:pt x="362" y="62"/>
                    </a:moveTo>
                    <a:lnTo>
                      <a:pt x="362" y="72"/>
                    </a:lnTo>
                    <a:lnTo>
                      <a:pt x="364" y="79"/>
                    </a:lnTo>
                    <a:lnTo>
                      <a:pt x="367" y="86"/>
                    </a:lnTo>
                    <a:lnTo>
                      <a:pt x="371" y="91"/>
                    </a:lnTo>
                    <a:lnTo>
                      <a:pt x="373" y="96"/>
                    </a:lnTo>
                    <a:lnTo>
                      <a:pt x="376" y="98"/>
                    </a:lnTo>
                    <a:lnTo>
                      <a:pt x="381" y="102"/>
                    </a:lnTo>
                    <a:lnTo>
                      <a:pt x="385" y="102"/>
                    </a:lnTo>
                    <a:lnTo>
                      <a:pt x="390" y="102"/>
                    </a:lnTo>
                    <a:lnTo>
                      <a:pt x="393" y="98"/>
                    </a:lnTo>
                    <a:lnTo>
                      <a:pt x="397" y="96"/>
                    </a:lnTo>
                    <a:lnTo>
                      <a:pt x="400" y="91"/>
                    </a:lnTo>
                    <a:lnTo>
                      <a:pt x="402" y="88"/>
                    </a:lnTo>
                    <a:lnTo>
                      <a:pt x="405" y="81"/>
                    </a:lnTo>
                    <a:lnTo>
                      <a:pt x="407" y="74"/>
                    </a:lnTo>
                    <a:lnTo>
                      <a:pt x="407" y="64"/>
                    </a:lnTo>
                    <a:lnTo>
                      <a:pt x="407" y="55"/>
                    </a:lnTo>
                    <a:lnTo>
                      <a:pt x="405" y="46"/>
                    </a:lnTo>
                    <a:lnTo>
                      <a:pt x="402" y="40"/>
                    </a:lnTo>
                    <a:lnTo>
                      <a:pt x="400" y="34"/>
                    </a:lnTo>
                    <a:lnTo>
                      <a:pt x="397" y="31"/>
                    </a:lnTo>
                    <a:lnTo>
                      <a:pt x="393" y="27"/>
                    </a:lnTo>
                    <a:lnTo>
                      <a:pt x="390" y="26"/>
                    </a:lnTo>
                    <a:lnTo>
                      <a:pt x="385" y="26"/>
                    </a:lnTo>
                    <a:lnTo>
                      <a:pt x="379" y="26"/>
                    </a:lnTo>
                    <a:lnTo>
                      <a:pt x="376" y="27"/>
                    </a:lnTo>
                    <a:lnTo>
                      <a:pt x="373" y="31"/>
                    </a:lnTo>
                    <a:lnTo>
                      <a:pt x="369" y="34"/>
                    </a:lnTo>
                    <a:lnTo>
                      <a:pt x="366" y="40"/>
                    </a:lnTo>
                    <a:lnTo>
                      <a:pt x="364" y="45"/>
                    </a:lnTo>
                    <a:lnTo>
                      <a:pt x="362" y="53"/>
                    </a:lnTo>
                    <a:lnTo>
                      <a:pt x="362" y="62"/>
                    </a:lnTo>
                    <a:close/>
                    <a:moveTo>
                      <a:pt x="449" y="64"/>
                    </a:moveTo>
                    <a:lnTo>
                      <a:pt x="449" y="53"/>
                    </a:lnTo>
                    <a:lnTo>
                      <a:pt x="450" y="45"/>
                    </a:lnTo>
                    <a:lnTo>
                      <a:pt x="452" y="38"/>
                    </a:lnTo>
                    <a:lnTo>
                      <a:pt x="454" y="31"/>
                    </a:lnTo>
                    <a:lnTo>
                      <a:pt x="457" y="24"/>
                    </a:lnTo>
                    <a:lnTo>
                      <a:pt x="462" y="17"/>
                    </a:lnTo>
                    <a:lnTo>
                      <a:pt x="468" y="12"/>
                    </a:lnTo>
                    <a:lnTo>
                      <a:pt x="473" y="8"/>
                    </a:lnTo>
                    <a:lnTo>
                      <a:pt x="480" y="5"/>
                    </a:lnTo>
                    <a:lnTo>
                      <a:pt x="485" y="2"/>
                    </a:lnTo>
                    <a:lnTo>
                      <a:pt x="492" y="0"/>
                    </a:lnTo>
                    <a:lnTo>
                      <a:pt x="499" y="0"/>
                    </a:lnTo>
                    <a:lnTo>
                      <a:pt x="509" y="2"/>
                    </a:lnTo>
                    <a:lnTo>
                      <a:pt x="519" y="5"/>
                    </a:lnTo>
                    <a:lnTo>
                      <a:pt x="528" y="10"/>
                    </a:lnTo>
                    <a:lnTo>
                      <a:pt x="537" y="19"/>
                    </a:lnTo>
                    <a:lnTo>
                      <a:pt x="542" y="29"/>
                    </a:lnTo>
                    <a:lnTo>
                      <a:pt x="547" y="40"/>
                    </a:lnTo>
                    <a:lnTo>
                      <a:pt x="549" y="52"/>
                    </a:lnTo>
                    <a:lnTo>
                      <a:pt x="550" y="64"/>
                    </a:lnTo>
                    <a:lnTo>
                      <a:pt x="550" y="74"/>
                    </a:lnTo>
                    <a:lnTo>
                      <a:pt x="549" y="83"/>
                    </a:lnTo>
                    <a:lnTo>
                      <a:pt x="545" y="90"/>
                    </a:lnTo>
                    <a:lnTo>
                      <a:pt x="542" y="96"/>
                    </a:lnTo>
                    <a:lnTo>
                      <a:pt x="538" y="103"/>
                    </a:lnTo>
                    <a:lnTo>
                      <a:pt x="535" y="110"/>
                    </a:lnTo>
                    <a:lnTo>
                      <a:pt x="530" y="115"/>
                    </a:lnTo>
                    <a:lnTo>
                      <a:pt x="523" y="121"/>
                    </a:lnTo>
                    <a:lnTo>
                      <a:pt x="518" y="122"/>
                    </a:lnTo>
                    <a:lnTo>
                      <a:pt x="512" y="124"/>
                    </a:lnTo>
                    <a:lnTo>
                      <a:pt x="505" y="126"/>
                    </a:lnTo>
                    <a:lnTo>
                      <a:pt x="500" y="126"/>
                    </a:lnTo>
                    <a:lnTo>
                      <a:pt x="488" y="126"/>
                    </a:lnTo>
                    <a:lnTo>
                      <a:pt x="480" y="122"/>
                    </a:lnTo>
                    <a:lnTo>
                      <a:pt x="469" y="117"/>
                    </a:lnTo>
                    <a:lnTo>
                      <a:pt x="462" y="110"/>
                    </a:lnTo>
                    <a:lnTo>
                      <a:pt x="455" y="102"/>
                    </a:lnTo>
                    <a:lnTo>
                      <a:pt x="452" y="91"/>
                    </a:lnTo>
                    <a:lnTo>
                      <a:pt x="449" y="78"/>
                    </a:lnTo>
                    <a:lnTo>
                      <a:pt x="449" y="64"/>
                    </a:lnTo>
                    <a:close/>
                    <a:moveTo>
                      <a:pt x="474" y="65"/>
                    </a:moveTo>
                    <a:lnTo>
                      <a:pt x="474" y="74"/>
                    </a:lnTo>
                    <a:lnTo>
                      <a:pt x="476" y="81"/>
                    </a:lnTo>
                    <a:lnTo>
                      <a:pt x="480" y="88"/>
                    </a:lnTo>
                    <a:lnTo>
                      <a:pt x="481" y="91"/>
                    </a:lnTo>
                    <a:lnTo>
                      <a:pt x="485" y="96"/>
                    </a:lnTo>
                    <a:lnTo>
                      <a:pt x="490" y="98"/>
                    </a:lnTo>
                    <a:lnTo>
                      <a:pt x="495" y="102"/>
                    </a:lnTo>
                    <a:lnTo>
                      <a:pt x="500" y="102"/>
                    </a:lnTo>
                    <a:lnTo>
                      <a:pt x="504" y="102"/>
                    </a:lnTo>
                    <a:lnTo>
                      <a:pt x="507" y="98"/>
                    </a:lnTo>
                    <a:lnTo>
                      <a:pt x="512" y="96"/>
                    </a:lnTo>
                    <a:lnTo>
                      <a:pt x="516" y="91"/>
                    </a:lnTo>
                    <a:lnTo>
                      <a:pt x="519" y="88"/>
                    </a:lnTo>
                    <a:lnTo>
                      <a:pt x="521" y="81"/>
                    </a:lnTo>
                    <a:lnTo>
                      <a:pt x="521" y="74"/>
                    </a:lnTo>
                    <a:lnTo>
                      <a:pt x="521" y="65"/>
                    </a:lnTo>
                    <a:lnTo>
                      <a:pt x="521" y="57"/>
                    </a:lnTo>
                    <a:lnTo>
                      <a:pt x="521" y="48"/>
                    </a:lnTo>
                    <a:lnTo>
                      <a:pt x="519" y="43"/>
                    </a:lnTo>
                    <a:lnTo>
                      <a:pt x="516" y="38"/>
                    </a:lnTo>
                    <a:lnTo>
                      <a:pt x="512" y="33"/>
                    </a:lnTo>
                    <a:lnTo>
                      <a:pt x="507" y="29"/>
                    </a:lnTo>
                    <a:lnTo>
                      <a:pt x="502" y="27"/>
                    </a:lnTo>
                    <a:lnTo>
                      <a:pt x="499" y="27"/>
                    </a:lnTo>
                    <a:lnTo>
                      <a:pt x="493" y="27"/>
                    </a:lnTo>
                    <a:lnTo>
                      <a:pt x="490" y="29"/>
                    </a:lnTo>
                    <a:lnTo>
                      <a:pt x="485" y="33"/>
                    </a:lnTo>
                    <a:lnTo>
                      <a:pt x="481" y="36"/>
                    </a:lnTo>
                    <a:lnTo>
                      <a:pt x="480" y="41"/>
                    </a:lnTo>
                    <a:lnTo>
                      <a:pt x="476" y="48"/>
                    </a:lnTo>
                    <a:lnTo>
                      <a:pt x="474" y="57"/>
                    </a:lnTo>
                    <a:lnTo>
                      <a:pt x="474" y="65"/>
                    </a:lnTo>
                    <a:close/>
                    <a:moveTo>
                      <a:pt x="597" y="124"/>
                    </a:moveTo>
                    <a:lnTo>
                      <a:pt x="571" y="124"/>
                    </a:lnTo>
                    <a:lnTo>
                      <a:pt x="571" y="3"/>
                    </a:lnTo>
                    <a:lnTo>
                      <a:pt x="597" y="3"/>
                    </a:lnTo>
                    <a:lnTo>
                      <a:pt x="597" y="21"/>
                    </a:lnTo>
                    <a:lnTo>
                      <a:pt x="599" y="15"/>
                    </a:lnTo>
                    <a:lnTo>
                      <a:pt x="602" y="10"/>
                    </a:lnTo>
                    <a:lnTo>
                      <a:pt x="604" y="7"/>
                    </a:lnTo>
                    <a:lnTo>
                      <a:pt x="607" y="5"/>
                    </a:lnTo>
                    <a:lnTo>
                      <a:pt x="611" y="3"/>
                    </a:lnTo>
                    <a:lnTo>
                      <a:pt x="613" y="2"/>
                    </a:lnTo>
                    <a:lnTo>
                      <a:pt x="616" y="0"/>
                    </a:lnTo>
                    <a:lnTo>
                      <a:pt x="618" y="0"/>
                    </a:lnTo>
                    <a:lnTo>
                      <a:pt x="623" y="0"/>
                    </a:lnTo>
                    <a:lnTo>
                      <a:pt x="626" y="2"/>
                    </a:lnTo>
                    <a:lnTo>
                      <a:pt x="632" y="5"/>
                    </a:lnTo>
                    <a:lnTo>
                      <a:pt x="635" y="7"/>
                    </a:lnTo>
                    <a:lnTo>
                      <a:pt x="628" y="36"/>
                    </a:lnTo>
                    <a:lnTo>
                      <a:pt x="623" y="34"/>
                    </a:lnTo>
                    <a:lnTo>
                      <a:pt x="619" y="33"/>
                    </a:lnTo>
                    <a:lnTo>
                      <a:pt x="618" y="31"/>
                    </a:lnTo>
                    <a:lnTo>
                      <a:pt x="616" y="31"/>
                    </a:lnTo>
                    <a:lnTo>
                      <a:pt x="614" y="31"/>
                    </a:lnTo>
                    <a:lnTo>
                      <a:pt x="611" y="31"/>
                    </a:lnTo>
                    <a:lnTo>
                      <a:pt x="609" y="33"/>
                    </a:lnTo>
                    <a:lnTo>
                      <a:pt x="606" y="34"/>
                    </a:lnTo>
                    <a:lnTo>
                      <a:pt x="604" y="38"/>
                    </a:lnTo>
                    <a:lnTo>
                      <a:pt x="602" y="41"/>
                    </a:lnTo>
                    <a:lnTo>
                      <a:pt x="600" y="45"/>
                    </a:lnTo>
                    <a:lnTo>
                      <a:pt x="599" y="50"/>
                    </a:lnTo>
                    <a:lnTo>
                      <a:pt x="599" y="57"/>
                    </a:lnTo>
                    <a:lnTo>
                      <a:pt x="599" y="64"/>
                    </a:lnTo>
                    <a:lnTo>
                      <a:pt x="597" y="74"/>
                    </a:lnTo>
                    <a:lnTo>
                      <a:pt x="597" y="88"/>
                    </a:lnTo>
                    <a:lnTo>
                      <a:pt x="597" y="124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3" name="Freeform 901"/>
              <p:cNvSpPr>
                <a:spLocks noEditPoints="1"/>
              </p:cNvSpPr>
              <p:nvPr/>
            </p:nvSpPr>
            <p:spPr bwMode="auto">
              <a:xfrm>
                <a:off x="1574" y="2406"/>
                <a:ext cx="315" cy="108"/>
              </a:xfrm>
              <a:custGeom>
                <a:avLst/>
                <a:gdLst>
                  <a:gd name="T0" fmla="*/ 38 w 630"/>
                  <a:gd name="T1" fmla="*/ 127 h 215"/>
                  <a:gd name="T2" fmla="*/ 41 w 630"/>
                  <a:gd name="T3" fmla="*/ 143 h 215"/>
                  <a:gd name="T4" fmla="*/ 55 w 630"/>
                  <a:gd name="T5" fmla="*/ 143 h 215"/>
                  <a:gd name="T6" fmla="*/ 45 w 630"/>
                  <a:gd name="T7" fmla="*/ 169 h 215"/>
                  <a:gd name="T8" fmla="*/ 22 w 630"/>
                  <a:gd name="T9" fmla="*/ 167 h 215"/>
                  <a:gd name="T10" fmla="*/ 14 w 630"/>
                  <a:gd name="T11" fmla="*/ 148 h 215"/>
                  <a:gd name="T12" fmla="*/ 0 w 630"/>
                  <a:gd name="T13" fmla="*/ 72 h 215"/>
                  <a:gd name="T14" fmla="*/ 38 w 630"/>
                  <a:gd name="T15" fmla="*/ 46 h 215"/>
                  <a:gd name="T16" fmla="*/ 157 w 630"/>
                  <a:gd name="T17" fmla="*/ 139 h 215"/>
                  <a:gd name="T18" fmla="*/ 243 w 630"/>
                  <a:gd name="T19" fmla="*/ 79 h 215"/>
                  <a:gd name="T20" fmla="*/ 262 w 630"/>
                  <a:gd name="T21" fmla="*/ 48 h 215"/>
                  <a:gd name="T22" fmla="*/ 300 w 630"/>
                  <a:gd name="T23" fmla="*/ 45 h 215"/>
                  <a:gd name="T24" fmla="*/ 321 w 630"/>
                  <a:gd name="T25" fmla="*/ 57 h 215"/>
                  <a:gd name="T26" fmla="*/ 328 w 630"/>
                  <a:gd name="T27" fmla="*/ 91 h 215"/>
                  <a:gd name="T28" fmla="*/ 328 w 630"/>
                  <a:gd name="T29" fmla="*/ 150 h 215"/>
                  <a:gd name="T30" fmla="*/ 307 w 630"/>
                  <a:gd name="T31" fmla="*/ 167 h 215"/>
                  <a:gd name="T32" fmla="*/ 288 w 630"/>
                  <a:gd name="T33" fmla="*/ 167 h 215"/>
                  <a:gd name="T34" fmla="*/ 266 w 630"/>
                  <a:gd name="T35" fmla="*/ 169 h 215"/>
                  <a:gd name="T36" fmla="*/ 242 w 630"/>
                  <a:gd name="T37" fmla="*/ 150 h 215"/>
                  <a:gd name="T38" fmla="*/ 242 w 630"/>
                  <a:gd name="T39" fmla="*/ 121 h 215"/>
                  <a:gd name="T40" fmla="*/ 254 w 630"/>
                  <a:gd name="T41" fmla="*/ 105 h 215"/>
                  <a:gd name="T42" fmla="*/ 283 w 630"/>
                  <a:gd name="T43" fmla="*/ 95 h 215"/>
                  <a:gd name="T44" fmla="*/ 299 w 630"/>
                  <a:gd name="T45" fmla="*/ 79 h 215"/>
                  <a:gd name="T46" fmla="*/ 297 w 630"/>
                  <a:gd name="T47" fmla="*/ 72 h 215"/>
                  <a:gd name="T48" fmla="*/ 283 w 630"/>
                  <a:gd name="T49" fmla="*/ 69 h 215"/>
                  <a:gd name="T50" fmla="*/ 273 w 630"/>
                  <a:gd name="T51" fmla="*/ 74 h 215"/>
                  <a:gd name="T52" fmla="*/ 297 w 630"/>
                  <a:gd name="T53" fmla="*/ 110 h 215"/>
                  <a:gd name="T54" fmla="*/ 276 w 630"/>
                  <a:gd name="T55" fmla="*/ 119 h 215"/>
                  <a:gd name="T56" fmla="*/ 268 w 630"/>
                  <a:gd name="T57" fmla="*/ 129 h 215"/>
                  <a:gd name="T58" fmla="*/ 271 w 630"/>
                  <a:gd name="T59" fmla="*/ 143 h 215"/>
                  <a:gd name="T60" fmla="*/ 283 w 630"/>
                  <a:gd name="T61" fmla="*/ 150 h 215"/>
                  <a:gd name="T62" fmla="*/ 295 w 630"/>
                  <a:gd name="T63" fmla="*/ 139 h 215"/>
                  <a:gd name="T64" fmla="*/ 299 w 630"/>
                  <a:gd name="T65" fmla="*/ 122 h 215"/>
                  <a:gd name="T66" fmla="*/ 392 w 630"/>
                  <a:gd name="T67" fmla="*/ 133 h 215"/>
                  <a:gd name="T68" fmla="*/ 399 w 630"/>
                  <a:gd name="T69" fmla="*/ 190 h 215"/>
                  <a:gd name="T70" fmla="*/ 387 w 630"/>
                  <a:gd name="T71" fmla="*/ 209 h 215"/>
                  <a:gd name="T72" fmla="*/ 369 w 630"/>
                  <a:gd name="T73" fmla="*/ 215 h 215"/>
                  <a:gd name="T74" fmla="*/ 349 w 630"/>
                  <a:gd name="T75" fmla="*/ 212 h 215"/>
                  <a:gd name="T76" fmla="*/ 357 w 630"/>
                  <a:gd name="T77" fmla="*/ 188 h 215"/>
                  <a:gd name="T78" fmla="*/ 373 w 630"/>
                  <a:gd name="T79" fmla="*/ 181 h 215"/>
                  <a:gd name="T80" fmla="*/ 518 w 630"/>
                  <a:gd name="T81" fmla="*/ 131 h 215"/>
                  <a:gd name="T82" fmla="*/ 528 w 630"/>
                  <a:gd name="T83" fmla="*/ 162 h 215"/>
                  <a:gd name="T84" fmla="*/ 490 w 630"/>
                  <a:gd name="T85" fmla="*/ 169 h 215"/>
                  <a:gd name="T86" fmla="*/ 456 w 630"/>
                  <a:gd name="T87" fmla="*/ 136 h 215"/>
                  <a:gd name="T88" fmla="*/ 461 w 630"/>
                  <a:gd name="T89" fmla="*/ 69 h 215"/>
                  <a:gd name="T90" fmla="*/ 497 w 630"/>
                  <a:gd name="T91" fmla="*/ 43 h 215"/>
                  <a:gd name="T92" fmla="*/ 537 w 630"/>
                  <a:gd name="T93" fmla="*/ 69 h 215"/>
                  <a:gd name="T94" fmla="*/ 478 w 630"/>
                  <a:gd name="T95" fmla="*/ 115 h 215"/>
                  <a:gd name="T96" fmla="*/ 488 w 630"/>
                  <a:gd name="T97" fmla="*/ 141 h 215"/>
                  <a:gd name="T98" fmla="*/ 511 w 630"/>
                  <a:gd name="T99" fmla="*/ 141 h 215"/>
                  <a:gd name="T100" fmla="*/ 518 w 630"/>
                  <a:gd name="T101" fmla="*/ 84 h 215"/>
                  <a:gd name="T102" fmla="*/ 504 w 630"/>
                  <a:gd name="T103" fmla="*/ 69 h 215"/>
                  <a:gd name="T104" fmla="*/ 487 w 630"/>
                  <a:gd name="T105" fmla="*/ 76 h 215"/>
                  <a:gd name="T106" fmla="*/ 518 w 630"/>
                  <a:gd name="T107" fmla="*/ 95 h 215"/>
                  <a:gd name="T108" fmla="*/ 590 w 630"/>
                  <a:gd name="T109" fmla="*/ 64 h 215"/>
                  <a:gd name="T110" fmla="*/ 604 w 630"/>
                  <a:gd name="T111" fmla="*/ 46 h 215"/>
                  <a:gd name="T112" fmla="*/ 621 w 630"/>
                  <a:gd name="T113" fmla="*/ 45 h 215"/>
                  <a:gd name="T114" fmla="*/ 616 w 630"/>
                  <a:gd name="T115" fmla="*/ 76 h 215"/>
                  <a:gd name="T116" fmla="*/ 602 w 630"/>
                  <a:gd name="T117" fmla="*/ 76 h 215"/>
                  <a:gd name="T118" fmla="*/ 594 w 630"/>
                  <a:gd name="T119" fmla="*/ 93 h 215"/>
                  <a:gd name="T120" fmla="*/ 592 w 630"/>
                  <a:gd name="T121" fmla="*/ 167 h 2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630" h="215">
                    <a:moveTo>
                      <a:pt x="57" y="46"/>
                    </a:moveTo>
                    <a:lnTo>
                      <a:pt x="57" y="72"/>
                    </a:lnTo>
                    <a:lnTo>
                      <a:pt x="38" y="72"/>
                    </a:lnTo>
                    <a:lnTo>
                      <a:pt x="38" y="121"/>
                    </a:lnTo>
                    <a:lnTo>
                      <a:pt x="38" y="127"/>
                    </a:lnTo>
                    <a:lnTo>
                      <a:pt x="38" y="133"/>
                    </a:lnTo>
                    <a:lnTo>
                      <a:pt x="38" y="138"/>
                    </a:lnTo>
                    <a:lnTo>
                      <a:pt x="38" y="139"/>
                    </a:lnTo>
                    <a:lnTo>
                      <a:pt x="40" y="141"/>
                    </a:lnTo>
                    <a:lnTo>
                      <a:pt x="41" y="143"/>
                    </a:lnTo>
                    <a:lnTo>
                      <a:pt x="45" y="145"/>
                    </a:lnTo>
                    <a:lnTo>
                      <a:pt x="47" y="145"/>
                    </a:lnTo>
                    <a:lnTo>
                      <a:pt x="50" y="145"/>
                    </a:lnTo>
                    <a:lnTo>
                      <a:pt x="52" y="143"/>
                    </a:lnTo>
                    <a:lnTo>
                      <a:pt x="55" y="143"/>
                    </a:lnTo>
                    <a:lnTo>
                      <a:pt x="57" y="141"/>
                    </a:lnTo>
                    <a:lnTo>
                      <a:pt x="60" y="167"/>
                    </a:lnTo>
                    <a:lnTo>
                      <a:pt x="55" y="167"/>
                    </a:lnTo>
                    <a:lnTo>
                      <a:pt x="50" y="167"/>
                    </a:lnTo>
                    <a:lnTo>
                      <a:pt x="45" y="169"/>
                    </a:lnTo>
                    <a:lnTo>
                      <a:pt x="38" y="169"/>
                    </a:lnTo>
                    <a:lnTo>
                      <a:pt x="34" y="169"/>
                    </a:lnTo>
                    <a:lnTo>
                      <a:pt x="31" y="167"/>
                    </a:lnTo>
                    <a:lnTo>
                      <a:pt x="26" y="167"/>
                    </a:lnTo>
                    <a:lnTo>
                      <a:pt x="22" y="167"/>
                    </a:lnTo>
                    <a:lnTo>
                      <a:pt x="19" y="164"/>
                    </a:lnTo>
                    <a:lnTo>
                      <a:pt x="17" y="160"/>
                    </a:lnTo>
                    <a:lnTo>
                      <a:pt x="15" y="157"/>
                    </a:lnTo>
                    <a:lnTo>
                      <a:pt x="14" y="152"/>
                    </a:lnTo>
                    <a:lnTo>
                      <a:pt x="14" y="148"/>
                    </a:lnTo>
                    <a:lnTo>
                      <a:pt x="14" y="143"/>
                    </a:lnTo>
                    <a:lnTo>
                      <a:pt x="12" y="136"/>
                    </a:lnTo>
                    <a:lnTo>
                      <a:pt x="12" y="126"/>
                    </a:lnTo>
                    <a:lnTo>
                      <a:pt x="12" y="72"/>
                    </a:lnTo>
                    <a:lnTo>
                      <a:pt x="0" y="72"/>
                    </a:lnTo>
                    <a:lnTo>
                      <a:pt x="0" y="46"/>
                    </a:lnTo>
                    <a:lnTo>
                      <a:pt x="12" y="46"/>
                    </a:lnTo>
                    <a:lnTo>
                      <a:pt x="12" y="20"/>
                    </a:lnTo>
                    <a:lnTo>
                      <a:pt x="38" y="3"/>
                    </a:lnTo>
                    <a:lnTo>
                      <a:pt x="38" y="46"/>
                    </a:lnTo>
                    <a:lnTo>
                      <a:pt x="57" y="46"/>
                    </a:lnTo>
                    <a:close/>
                    <a:moveTo>
                      <a:pt x="129" y="167"/>
                    </a:moveTo>
                    <a:lnTo>
                      <a:pt x="129" y="0"/>
                    </a:lnTo>
                    <a:lnTo>
                      <a:pt x="157" y="0"/>
                    </a:lnTo>
                    <a:lnTo>
                      <a:pt x="157" y="139"/>
                    </a:lnTo>
                    <a:lnTo>
                      <a:pt x="226" y="139"/>
                    </a:lnTo>
                    <a:lnTo>
                      <a:pt x="226" y="167"/>
                    </a:lnTo>
                    <a:lnTo>
                      <a:pt x="129" y="167"/>
                    </a:lnTo>
                    <a:close/>
                    <a:moveTo>
                      <a:pt x="268" y="84"/>
                    </a:moveTo>
                    <a:lnTo>
                      <a:pt x="243" y="79"/>
                    </a:lnTo>
                    <a:lnTo>
                      <a:pt x="245" y="70"/>
                    </a:lnTo>
                    <a:lnTo>
                      <a:pt x="249" y="62"/>
                    </a:lnTo>
                    <a:lnTo>
                      <a:pt x="252" y="57"/>
                    </a:lnTo>
                    <a:lnTo>
                      <a:pt x="257" y="51"/>
                    </a:lnTo>
                    <a:lnTo>
                      <a:pt x="262" y="48"/>
                    </a:lnTo>
                    <a:lnTo>
                      <a:pt x="269" y="45"/>
                    </a:lnTo>
                    <a:lnTo>
                      <a:pt x="276" y="43"/>
                    </a:lnTo>
                    <a:lnTo>
                      <a:pt x="285" y="43"/>
                    </a:lnTo>
                    <a:lnTo>
                      <a:pt x="293" y="43"/>
                    </a:lnTo>
                    <a:lnTo>
                      <a:pt x="300" y="45"/>
                    </a:lnTo>
                    <a:lnTo>
                      <a:pt x="306" y="46"/>
                    </a:lnTo>
                    <a:lnTo>
                      <a:pt x="311" y="50"/>
                    </a:lnTo>
                    <a:lnTo>
                      <a:pt x="316" y="51"/>
                    </a:lnTo>
                    <a:lnTo>
                      <a:pt x="318" y="53"/>
                    </a:lnTo>
                    <a:lnTo>
                      <a:pt x="321" y="57"/>
                    </a:lnTo>
                    <a:lnTo>
                      <a:pt x="323" y="60"/>
                    </a:lnTo>
                    <a:lnTo>
                      <a:pt x="324" y="65"/>
                    </a:lnTo>
                    <a:lnTo>
                      <a:pt x="326" y="72"/>
                    </a:lnTo>
                    <a:lnTo>
                      <a:pt x="328" y="81"/>
                    </a:lnTo>
                    <a:lnTo>
                      <a:pt x="328" y="91"/>
                    </a:lnTo>
                    <a:lnTo>
                      <a:pt x="328" y="129"/>
                    </a:lnTo>
                    <a:lnTo>
                      <a:pt x="328" y="136"/>
                    </a:lnTo>
                    <a:lnTo>
                      <a:pt x="328" y="143"/>
                    </a:lnTo>
                    <a:lnTo>
                      <a:pt x="328" y="148"/>
                    </a:lnTo>
                    <a:lnTo>
                      <a:pt x="328" y="150"/>
                    </a:lnTo>
                    <a:lnTo>
                      <a:pt x="328" y="155"/>
                    </a:lnTo>
                    <a:lnTo>
                      <a:pt x="330" y="158"/>
                    </a:lnTo>
                    <a:lnTo>
                      <a:pt x="331" y="164"/>
                    </a:lnTo>
                    <a:lnTo>
                      <a:pt x="333" y="167"/>
                    </a:lnTo>
                    <a:lnTo>
                      <a:pt x="307" y="167"/>
                    </a:lnTo>
                    <a:lnTo>
                      <a:pt x="302" y="155"/>
                    </a:lnTo>
                    <a:lnTo>
                      <a:pt x="299" y="158"/>
                    </a:lnTo>
                    <a:lnTo>
                      <a:pt x="297" y="162"/>
                    </a:lnTo>
                    <a:lnTo>
                      <a:pt x="293" y="165"/>
                    </a:lnTo>
                    <a:lnTo>
                      <a:pt x="288" y="167"/>
                    </a:lnTo>
                    <a:lnTo>
                      <a:pt x="285" y="167"/>
                    </a:lnTo>
                    <a:lnTo>
                      <a:pt x="281" y="167"/>
                    </a:lnTo>
                    <a:lnTo>
                      <a:pt x="276" y="169"/>
                    </a:lnTo>
                    <a:lnTo>
                      <a:pt x="273" y="169"/>
                    </a:lnTo>
                    <a:lnTo>
                      <a:pt x="266" y="169"/>
                    </a:lnTo>
                    <a:lnTo>
                      <a:pt x="259" y="167"/>
                    </a:lnTo>
                    <a:lnTo>
                      <a:pt x="254" y="164"/>
                    </a:lnTo>
                    <a:lnTo>
                      <a:pt x="249" y="160"/>
                    </a:lnTo>
                    <a:lnTo>
                      <a:pt x="245" y="155"/>
                    </a:lnTo>
                    <a:lnTo>
                      <a:pt x="242" y="150"/>
                    </a:lnTo>
                    <a:lnTo>
                      <a:pt x="240" y="143"/>
                    </a:lnTo>
                    <a:lnTo>
                      <a:pt x="240" y="134"/>
                    </a:lnTo>
                    <a:lnTo>
                      <a:pt x="240" y="131"/>
                    </a:lnTo>
                    <a:lnTo>
                      <a:pt x="242" y="126"/>
                    </a:lnTo>
                    <a:lnTo>
                      <a:pt x="242" y="121"/>
                    </a:lnTo>
                    <a:lnTo>
                      <a:pt x="243" y="117"/>
                    </a:lnTo>
                    <a:lnTo>
                      <a:pt x="245" y="112"/>
                    </a:lnTo>
                    <a:lnTo>
                      <a:pt x="247" y="110"/>
                    </a:lnTo>
                    <a:lnTo>
                      <a:pt x="250" y="107"/>
                    </a:lnTo>
                    <a:lnTo>
                      <a:pt x="254" y="105"/>
                    </a:lnTo>
                    <a:lnTo>
                      <a:pt x="257" y="103"/>
                    </a:lnTo>
                    <a:lnTo>
                      <a:pt x="262" y="100"/>
                    </a:lnTo>
                    <a:lnTo>
                      <a:pt x="269" y="98"/>
                    </a:lnTo>
                    <a:lnTo>
                      <a:pt x="276" y="96"/>
                    </a:lnTo>
                    <a:lnTo>
                      <a:pt x="283" y="95"/>
                    </a:lnTo>
                    <a:lnTo>
                      <a:pt x="290" y="93"/>
                    </a:lnTo>
                    <a:lnTo>
                      <a:pt x="295" y="91"/>
                    </a:lnTo>
                    <a:lnTo>
                      <a:pt x="299" y="89"/>
                    </a:lnTo>
                    <a:lnTo>
                      <a:pt x="299" y="84"/>
                    </a:lnTo>
                    <a:lnTo>
                      <a:pt x="299" y="79"/>
                    </a:lnTo>
                    <a:lnTo>
                      <a:pt x="299" y="77"/>
                    </a:lnTo>
                    <a:lnTo>
                      <a:pt x="299" y="74"/>
                    </a:lnTo>
                    <a:lnTo>
                      <a:pt x="299" y="74"/>
                    </a:lnTo>
                    <a:lnTo>
                      <a:pt x="297" y="72"/>
                    </a:lnTo>
                    <a:lnTo>
                      <a:pt x="297" y="72"/>
                    </a:lnTo>
                    <a:lnTo>
                      <a:pt x="295" y="70"/>
                    </a:lnTo>
                    <a:lnTo>
                      <a:pt x="292" y="70"/>
                    </a:lnTo>
                    <a:lnTo>
                      <a:pt x="290" y="69"/>
                    </a:lnTo>
                    <a:lnTo>
                      <a:pt x="287" y="69"/>
                    </a:lnTo>
                    <a:lnTo>
                      <a:pt x="283" y="69"/>
                    </a:lnTo>
                    <a:lnTo>
                      <a:pt x="281" y="69"/>
                    </a:lnTo>
                    <a:lnTo>
                      <a:pt x="278" y="70"/>
                    </a:lnTo>
                    <a:lnTo>
                      <a:pt x="276" y="70"/>
                    </a:lnTo>
                    <a:lnTo>
                      <a:pt x="274" y="72"/>
                    </a:lnTo>
                    <a:lnTo>
                      <a:pt x="273" y="74"/>
                    </a:lnTo>
                    <a:lnTo>
                      <a:pt x="269" y="76"/>
                    </a:lnTo>
                    <a:lnTo>
                      <a:pt x="268" y="79"/>
                    </a:lnTo>
                    <a:lnTo>
                      <a:pt x="268" y="84"/>
                    </a:lnTo>
                    <a:close/>
                    <a:moveTo>
                      <a:pt x="299" y="110"/>
                    </a:moveTo>
                    <a:lnTo>
                      <a:pt x="297" y="110"/>
                    </a:lnTo>
                    <a:lnTo>
                      <a:pt x="293" y="112"/>
                    </a:lnTo>
                    <a:lnTo>
                      <a:pt x="290" y="114"/>
                    </a:lnTo>
                    <a:lnTo>
                      <a:pt x="285" y="115"/>
                    </a:lnTo>
                    <a:lnTo>
                      <a:pt x="280" y="117"/>
                    </a:lnTo>
                    <a:lnTo>
                      <a:pt x="276" y="119"/>
                    </a:lnTo>
                    <a:lnTo>
                      <a:pt x="273" y="121"/>
                    </a:lnTo>
                    <a:lnTo>
                      <a:pt x="271" y="122"/>
                    </a:lnTo>
                    <a:lnTo>
                      <a:pt x="269" y="124"/>
                    </a:lnTo>
                    <a:lnTo>
                      <a:pt x="268" y="127"/>
                    </a:lnTo>
                    <a:lnTo>
                      <a:pt x="268" y="129"/>
                    </a:lnTo>
                    <a:lnTo>
                      <a:pt x="268" y="131"/>
                    </a:lnTo>
                    <a:lnTo>
                      <a:pt x="268" y="134"/>
                    </a:lnTo>
                    <a:lnTo>
                      <a:pt x="268" y="138"/>
                    </a:lnTo>
                    <a:lnTo>
                      <a:pt x="269" y="139"/>
                    </a:lnTo>
                    <a:lnTo>
                      <a:pt x="271" y="143"/>
                    </a:lnTo>
                    <a:lnTo>
                      <a:pt x="273" y="146"/>
                    </a:lnTo>
                    <a:lnTo>
                      <a:pt x="276" y="148"/>
                    </a:lnTo>
                    <a:lnTo>
                      <a:pt x="278" y="150"/>
                    </a:lnTo>
                    <a:lnTo>
                      <a:pt x="280" y="150"/>
                    </a:lnTo>
                    <a:lnTo>
                      <a:pt x="283" y="150"/>
                    </a:lnTo>
                    <a:lnTo>
                      <a:pt x="285" y="148"/>
                    </a:lnTo>
                    <a:lnTo>
                      <a:pt x="288" y="146"/>
                    </a:lnTo>
                    <a:lnTo>
                      <a:pt x="292" y="145"/>
                    </a:lnTo>
                    <a:lnTo>
                      <a:pt x="293" y="143"/>
                    </a:lnTo>
                    <a:lnTo>
                      <a:pt x="295" y="139"/>
                    </a:lnTo>
                    <a:lnTo>
                      <a:pt x="297" y="138"/>
                    </a:lnTo>
                    <a:lnTo>
                      <a:pt x="299" y="134"/>
                    </a:lnTo>
                    <a:lnTo>
                      <a:pt x="299" y="131"/>
                    </a:lnTo>
                    <a:lnTo>
                      <a:pt x="299" y="127"/>
                    </a:lnTo>
                    <a:lnTo>
                      <a:pt x="299" y="122"/>
                    </a:lnTo>
                    <a:lnTo>
                      <a:pt x="299" y="117"/>
                    </a:lnTo>
                    <a:lnTo>
                      <a:pt x="299" y="110"/>
                    </a:lnTo>
                    <a:close/>
                    <a:moveTo>
                      <a:pt x="338" y="46"/>
                    </a:moveTo>
                    <a:lnTo>
                      <a:pt x="368" y="46"/>
                    </a:lnTo>
                    <a:lnTo>
                      <a:pt x="392" y="133"/>
                    </a:lnTo>
                    <a:lnTo>
                      <a:pt x="414" y="46"/>
                    </a:lnTo>
                    <a:lnTo>
                      <a:pt x="442" y="46"/>
                    </a:lnTo>
                    <a:lnTo>
                      <a:pt x="407" y="164"/>
                    </a:lnTo>
                    <a:lnTo>
                      <a:pt x="400" y="184"/>
                    </a:lnTo>
                    <a:lnTo>
                      <a:pt x="399" y="190"/>
                    </a:lnTo>
                    <a:lnTo>
                      <a:pt x="397" y="195"/>
                    </a:lnTo>
                    <a:lnTo>
                      <a:pt x="394" y="200"/>
                    </a:lnTo>
                    <a:lnTo>
                      <a:pt x="392" y="203"/>
                    </a:lnTo>
                    <a:lnTo>
                      <a:pt x="390" y="205"/>
                    </a:lnTo>
                    <a:lnTo>
                      <a:pt x="387" y="209"/>
                    </a:lnTo>
                    <a:lnTo>
                      <a:pt x="385" y="210"/>
                    </a:lnTo>
                    <a:lnTo>
                      <a:pt x="380" y="210"/>
                    </a:lnTo>
                    <a:lnTo>
                      <a:pt x="376" y="212"/>
                    </a:lnTo>
                    <a:lnTo>
                      <a:pt x="373" y="214"/>
                    </a:lnTo>
                    <a:lnTo>
                      <a:pt x="369" y="215"/>
                    </a:lnTo>
                    <a:lnTo>
                      <a:pt x="364" y="215"/>
                    </a:lnTo>
                    <a:lnTo>
                      <a:pt x="359" y="215"/>
                    </a:lnTo>
                    <a:lnTo>
                      <a:pt x="356" y="214"/>
                    </a:lnTo>
                    <a:lnTo>
                      <a:pt x="352" y="214"/>
                    </a:lnTo>
                    <a:lnTo>
                      <a:pt x="349" y="212"/>
                    </a:lnTo>
                    <a:lnTo>
                      <a:pt x="347" y="186"/>
                    </a:lnTo>
                    <a:lnTo>
                      <a:pt x="350" y="188"/>
                    </a:lnTo>
                    <a:lnTo>
                      <a:pt x="352" y="188"/>
                    </a:lnTo>
                    <a:lnTo>
                      <a:pt x="356" y="188"/>
                    </a:lnTo>
                    <a:lnTo>
                      <a:pt x="357" y="188"/>
                    </a:lnTo>
                    <a:lnTo>
                      <a:pt x="361" y="188"/>
                    </a:lnTo>
                    <a:lnTo>
                      <a:pt x="364" y="186"/>
                    </a:lnTo>
                    <a:lnTo>
                      <a:pt x="368" y="186"/>
                    </a:lnTo>
                    <a:lnTo>
                      <a:pt x="369" y="184"/>
                    </a:lnTo>
                    <a:lnTo>
                      <a:pt x="373" y="181"/>
                    </a:lnTo>
                    <a:lnTo>
                      <a:pt x="375" y="177"/>
                    </a:lnTo>
                    <a:lnTo>
                      <a:pt x="376" y="172"/>
                    </a:lnTo>
                    <a:lnTo>
                      <a:pt x="378" y="167"/>
                    </a:lnTo>
                    <a:lnTo>
                      <a:pt x="338" y="46"/>
                    </a:lnTo>
                    <a:close/>
                    <a:moveTo>
                      <a:pt x="518" y="131"/>
                    </a:moveTo>
                    <a:lnTo>
                      <a:pt x="544" y="134"/>
                    </a:lnTo>
                    <a:lnTo>
                      <a:pt x="540" y="143"/>
                    </a:lnTo>
                    <a:lnTo>
                      <a:pt x="537" y="152"/>
                    </a:lnTo>
                    <a:lnTo>
                      <a:pt x="533" y="157"/>
                    </a:lnTo>
                    <a:lnTo>
                      <a:pt x="528" y="162"/>
                    </a:lnTo>
                    <a:lnTo>
                      <a:pt x="521" y="165"/>
                    </a:lnTo>
                    <a:lnTo>
                      <a:pt x="514" y="167"/>
                    </a:lnTo>
                    <a:lnTo>
                      <a:pt x="507" y="169"/>
                    </a:lnTo>
                    <a:lnTo>
                      <a:pt x="501" y="169"/>
                    </a:lnTo>
                    <a:lnTo>
                      <a:pt x="490" y="169"/>
                    </a:lnTo>
                    <a:lnTo>
                      <a:pt x="482" y="167"/>
                    </a:lnTo>
                    <a:lnTo>
                      <a:pt x="475" y="164"/>
                    </a:lnTo>
                    <a:lnTo>
                      <a:pt x="468" y="157"/>
                    </a:lnTo>
                    <a:lnTo>
                      <a:pt x="461" y="146"/>
                    </a:lnTo>
                    <a:lnTo>
                      <a:pt x="456" y="136"/>
                    </a:lnTo>
                    <a:lnTo>
                      <a:pt x="452" y="122"/>
                    </a:lnTo>
                    <a:lnTo>
                      <a:pt x="451" y="108"/>
                    </a:lnTo>
                    <a:lnTo>
                      <a:pt x="452" y="93"/>
                    </a:lnTo>
                    <a:lnTo>
                      <a:pt x="456" y="81"/>
                    </a:lnTo>
                    <a:lnTo>
                      <a:pt x="461" y="69"/>
                    </a:lnTo>
                    <a:lnTo>
                      <a:pt x="468" y="60"/>
                    </a:lnTo>
                    <a:lnTo>
                      <a:pt x="473" y="53"/>
                    </a:lnTo>
                    <a:lnTo>
                      <a:pt x="480" y="48"/>
                    </a:lnTo>
                    <a:lnTo>
                      <a:pt x="488" y="45"/>
                    </a:lnTo>
                    <a:lnTo>
                      <a:pt x="497" y="43"/>
                    </a:lnTo>
                    <a:lnTo>
                      <a:pt x="507" y="45"/>
                    </a:lnTo>
                    <a:lnTo>
                      <a:pt x="516" y="48"/>
                    </a:lnTo>
                    <a:lnTo>
                      <a:pt x="523" y="53"/>
                    </a:lnTo>
                    <a:lnTo>
                      <a:pt x="530" y="60"/>
                    </a:lnTo>
                    <a:lnTo>
                      <a:pt x="537" y="69"/>
                    </a:lnTo>
                    <a:lnTo>
                      <a:pt x="542" y="81"/>
                    </a:lnTo>
                    <a:lnTo>
                      <a:pt x="544" y="96"/>
                    </a:lnTo>
                    <a:lnTo>
                      <a:pt x="545" y="112"/>
                    </a:lnTo>
                    <a:lnTo>
                      <a:pt x="545" y="115"/>
                    </a:lnTo>
                    <a:lnTo>
                      <a:pt x="478" y="115"/>
                    </a:lnTo>
                    <a:lnTo>
                      <a:pt x="478" y="122"/>
                    </a:lnTo>
                    <a:lnTo>
                      <a:pt x="480" y="129"/>
                    </a:lnTo>
                    <a:lnTo>
                      <a:pt x="483" y="134"/>
                    </a:lnTo>
                    <a:lnTo>
                      <a:pt x="487" y="139"/>
                    </a:lnTo>
                    <a:lnTo>
                      <a:pt x="488" y="141"/>
                    </a:lnTo>
                    <a:lnTo>
                      <a:pt x="492" y="145"/>
                    </a:lnTo>
                    <a:lnTo>
                      <a:pt x="497" y="146"/>
                    </a:lnTo>
                    <a:lnTo>
                      <a:pt x="501" y="146"/>
                    </a:lnTo>
                    <a:lnTo>
                      <a:pt x="506" y="145"/>
                    </a:lnTo>
                    <a:lnTo>
                      <a:pt x="511" y="141"/>
                    </a:lnTo>
                    <a:lnTo>
                      <a:pt x="516" y="138"/>
                    </a:lnTo>
                    <a:lnTo>
                      <a:pt x="518" y="131"/>
                    </a:lnTo>
                    <a:close/>
                    <a:moveTo>
                      <a:pt x="518" y="95"/>
                    </a:moveTo>
                    <a:lnTo>
                      <a:pt x="518" y="89"/>
                    </a:lnTo>
                    <a:lnTo>
                      <a:pt x="518" y="84"/>
                    </a:lnTo>
                    <a:lnTo>
                      <a:pt x="516" y="79"/>
                    </a:lnTo>
                    <a:lnTo>
                      <a:pt x="513" y="74"/>
                    </a:lnTo>
                    <a:lnTo>
                      <a:pt x="509" y="72"/>
                    </a:lnTo>
                    <a:lnTo>
                      <a:pt x="506" y="70"/>
                    </a:lnTo>
                    <a:lnTo>
                      <a:pt x="504" y="69"/>
                    </a:lnTo>
                    <a:lnTo>
                      <a:pt x="499" y="69"/>
                    </a:lnTo>
                    <a:lnTo>
                      <a:pt x="495" y="69"/>
                    </a:lnTo>
                    <a:lnTo>
                      <a:pt x="490" y="70"/>
                    </a:lnTo>
                    <a:lnTo>
                      <a:pt x="488" y="72"/>
                    </a:lnTo>
                    <a:lnTo>
                      <a:pt x="487" y="76"/>
                    </a:lnTo>
                    <a:lnTo>
                      <a:pt x="483" y="79"/>
                    </a:lnTo>
                    <a:lnTo>
                      <a:pt x="482" y="84"/>
                    </a:lnTo>
                    <a:lnTo>
                      <a:pt x="480" y="89"/>
                    </a:lnTo>
                    <a:lnTo>
                      <a:pt x="480" y="95"/>
                    </a:lnTo>
                    <a:lnTo>
                      <a:pt x="518" y="95"/>
                    </a:lnTo>
                    <a:close/>
                    <a:moveTo>
                      <a:pt x="592" y="167"/>
                    </a:moveTo>
                    <a:lnTo>
                      <a:pt x="566" y="167"/>
                    </a:lnTo>
                    <a:lnTo>
                      <a:pt x="566" y="46"/>
                    </a:lnTo>
                    <a:lnTo>
                      <a:pt x="590" y="46"/>
                    </a:lnTo>
                    <a:lnTo>
                      <a:pt x="590" y="64"/>
                    </a:lnTo>
                    <a:lnTo>
                      <a:pt x="594" y="58"/>
                    </a:lnTo>
                    <a:lnTo>
                      <a:pt x="596" y="53"/>
                    </a:lnTo>
                    <a:lnTo>
                      <a:pt x="599" y="50"/>
                    </a:lnTo>
                    <a:lnTo>
                      <a:pt x="601" y="48"/>
                    </a:lnTo>
                    <a:lnTo>
                      <a:pt x="604" y="46"/>
                    </a:lnTo>
                    <a:lnTo>
                      <a:pt x="606" y="45"/>
                    </a:lnTo>
                    <a:lnTo>
                      <a:pt x="609" y="43"/>
                    </a:lnTo>
                    <a:lnTo>
                      <a:pt x="613" y="43"/>
                    </a:lnTo>
                    <a:lnTo>
                      <a:pt x="616" y="43"/>
                    </a:lnTo>
                    <a:lnTo>
                      <a:pt x="621" y="45"/>
                    </a:lnTo>
                    <a:lnTo>
                      <a:pt x="627" y="48"/>
                    </a:lnTo>
                    <a:lnTo>
                      <a:pt x="630" y="50"/>
                    </a:lnTo>
                    <a:lnTo>
                      <a:pt x="621" y="79"/>
                    </a:lnTo>
                    <a:lnTo>
                      <a:pt x="618" y="77"/>
                    </a:lnTo>
                    <a:lnTo>
                      <a:pt x="616" y="76"/>
                    </a:lnTo>
                    <a:lnTo>
                      <a:pt x="613" y="74"/>
                    </a:lnTo>
                    <a:lnTo>
                      <a:pt x="609" y="74"/>
                    </a:lnTo>
                    <a:lnTo>
                      <a:pt x="608" y="74"/>
                    </a:lnTo>
                    <a:lnTo>
                      <a:pt x="604" y="74"/>
                    </a:lnTo>
                    <a:lnTo>
                      <a:pt x="602" y="76"/>
                    </a:lnTo>
                    <a:lnTo>
                      <a:pt x="599" y="77"/>
                    </a:lnTo>
                    <a:lnTo>
                      <a:pt x="597" y="81"/>
                    </a:lnTo>
                    <a:lnTo>
                      <a:pt x="597" y="84"/>
                    </a:lnTo>
                    <a:lnTo>
                      <a:pt x="596" y="88"/>
                    </a:lnTo>
                    <a:lnTo>
                      <a:pt x="594" y="93"/>
                    </a:lnTo>
                    <a:lnTo>
                      <a:pt x="594" y="100"/>
                    </a:lnTo>
                    <a:lnTo>
                      <a:pt x="594" y="107"/>
                    </a:lnTo>
                    <a:lnTo>
                      <a:pt x="592" y="117"/>
                    </a:lnTo>
                    <a:lnTo>
                      <a:pt x="592" y="131"/>
                    </a:lnTo>
                    <a:lnTo>
                      <a:pt x="592" y="167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4" name="Rectangle 902"/>
              <p:cNvSpPr>
                <a:spLocks noChangeArrowheads="1"/>
              </p:cNvSpPr>
              <p:nvPr/>
            </p:nvSpPr>
            <p:spPr bwMode="auto">
              <a:xfrm>
                <a:off x="2924" y="1015"/>
                <a:ext cx="68" cy="254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5" name="Rectangle 903"/>
              <p:cNvSpPr>
                <a:spLocks noChangeArrowheads="1"/>
              </p:cNvSpPr>
              <p:nvPr/>
            </p:nvSpPr>
            <p:spPr bwMode="auto">
              <a:xfrm>
                <a:off x="2992" y="1015"/>
                <a:ext cx="68" cy="254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6" name="Rectangle 904"/>
              <p:cNvSpPr>
                <a:spLocks noChangeArrowheads="1"/>
              </p:cNvSpPr>
              <p:nvPr/>
            </p:nvSpPr>
            <p:spPr bwMode="auto">
              <a:xfrm>
                <a:off x="3060" y="1015"/>
                <a:ext cx="68" cy="254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7" name="Rectangle 905"/>
              <p:cNvSpPr>
                <a:spLocks noChangeArrowheads="1"/>
              </p:cNvSpPr>
              <p:nvPr/>
            </p:nvSpPr>
            <p:spPr bwMode="auto">
              <a:xfrm>
                <a:off x="3128" y="1015"/>
                <a:ext cx="69" cy="254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8" name="Rectangle 906"/>
              <p:cNvSpPr>
                <a:spLocks noChangeArrowheads="1"/>
              </p:cNvSpPr>
              <p:nvPr/>
            </p:nvSpPr>
            <p:spPr bwMode="auto">
              <a:xfrm>
                <a:off x="3197" y="1015"/>
                <a:ext cx="68" cy="254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19" name="Rectangle 907"/>
              <p:cNvSpPr>
                <a:spLocks noChangeArrowheads="1"/>
              </p:cNvSpPr>
              <p:nvPr/>
            </p:nvSpPr>
            <p:spPr bwMode="auto">
              <a:xfrm>
                <a:off x="3265" y="1015"/>
                <a:ext cx="68" cy="254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0" name="Rectangle 908"/>
              <p:cNvSpPr>
                <a:spLocks noChangeArrowheads="1"/>
              </p:cNvSpPr>
              <p:nvPr/>
            </p:nvSpPr>
            <p:spPr bwMode="auto">
              <a:xfrm>
                <a:off x="3333" y="1015"/>
                <a:ext cx="68" cy="254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1" name="Rectangle 909"/>
              <p:cNvSpPr>
                <a:spLocks noChangeArrowheads="1"/>
              </p:cNvSpPr>
              <p:nvPr/>
            </p:nvSpPr>
            <p:spPr bwMode="auto">
              <a:xfrm>
                <a:off x="3401" y="1015"/>
                <a:ext cx="68" cy="254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2" name="Rectangle 910"/>
              <p:cNvSpPr>
                <a:spLocks noChangeArrowheads="1"/>
              </p:cNvSpPr>
              <p:nvPr/>
            </p:nvSpPr>
            <p:spPr bwMode="auto">
              <a:xfrm>
                <a:off x="3469" y="1015"/>
                <a:ext cx="69" cy="254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3" name="Rectangle 911"/>
              <p:cNvSpPr>
                <a:spLocks noChangeArrowheads="1"/>
              </p:cNvSpPr>
              <p:nvPr/>
            </p:nvSpPr>
            <p:spPr bwMode="auto">
              <a:xfrm>
                <a:off x="3538" y="1015"/>
                <a:ext cx="69" cy="254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4" name="Rectangle 912"/>
              <p:cNvSpPr>
                <a:spLocks noChangeArrowheads="1"/>
              </p:cNvSpPr>
              <p:nvPr/>
            </p:nvSpPr>
            <p:spPr bwMode="auto">
              <a:xfrm>
                <a:off x="3607" y="1015"/>
                <a:ext cx="68" cy="254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5" name="Rectangle 913"/>
              <p:cNvSpPr>
                <a:spLocks noChangeArrowheads="1"/>
              </p:cNvSpPr>
              <p:nvPr/>
            </p:nvSpPr>
            <p:spPr bwMode="auto">
              <a:xfrm>
                <a:off x="3675" y="1015"/>
                <a:ext cx="68" cy="254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6" name="Rectangle 914"/>
              <p:cNvSpPr>
                <a:spLocks noChangeArrowheads="1"/>
              </p:cNvSpPr>
              <p:nvPr/>
            </p:nvSpPr>
            <p:spPr bwMode="auto">
              <a:xfrm>
                <a:off x="3743" y="1015"/>
                <a:ext cx="68" cy="254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7" name="Rectangle 915"/>
              <p:cNvSpPr>
                <a:spLocks noChangeArrowheads="1"/>
              </p:cNvSpPr>
              <p:nvPr/>
            </p:nvSpPr>
            <p:spPr bwMode="auto">
              <a:xfrm>
                <a:off x="3811" y="1015"/>
                <a:ext cx="68" cy="254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8" name="Rectangle 916"/>
              <p:cNvSpPr>
                <a:spLocks noChangeArrowheads="1"/>
              </p:cNvSpPr>
              <p:nvPr/>
            </p:nvSpPr>
            <p:spPr bwMode="auto">
              <a:xfrm>
                <a:off x="3879" y="1015"/>
                <a:ext cx="69" cy="254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29" name="Rectangle 917"/>
              <p:cNvSpPr>
                <a:spLocks noChangeArrowheads="1"/>
              </p:cNvSpPr>
              <p:nvPr/>
            </p:nvSpPr>
            <p:spPr bwMode="auto">
              <a:xfrm>
                <a:off x="3948" y="1015"/>
                <a:ext cx="68" cy="254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0" name="Rectangle 918"/>
              <p:cNvSpPr>
                <a:spLocks noChangeArrowheads="1"/>
              </p:cNvSpPr>
              <p:nvPr/>
            </p:nvSpPr>
            <p:spPr bwMode="auto">
              <a:xfrm>
                <a:off x="4016" y="1015"/>
                <a:ext cx="68" cy="254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1" name="Rectangle 919"/>
              <p:cNvSpPr>
                <a:spLocks noChangeArrowheads="1"/>
              </p:cNvSpPr>
              <p:nvPr/>
            </p:nvSpPr>
            <p:spPr bwMode="auto">
              <a:xfrm>
                <a:off x="4084" y="1015"/>
                <a:ext cx="68" cy="254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2" name="Rectangle 920"/>
              <p:cNvSpPr>
                <a:spLocks noChangeArrowheads="1"/>
              </p:cNvSpPr>
              <p:nvPr/>
            </p:nvSpPr>
            <p:spPr bwMode="auto">
              <a:xfrm>
                <a:off x="4152" y="1015"/>
                <a:ext cx="69" cy="254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3" name="Rectangle 921"/>
              <p:cNvSpPr>
                <a:spLocks noChangeArrowheads="1"/>
              </p:cNvSpPr>
              <p:nvPr/>
            </p:nvSpPr>
            <p:spPr bwMode="auto">
              <a:xfrm>
                <a:off x="4221" y="1015"/>
                <a:ext cx="68" cy="254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4" name="Rectangle 922"/>
              <p:cNvSpPr>
                <a:spLocks noChangeArrowheads="1"/>
              </p:cNvSpPr>
              <p:nvPr/>
            </p:nvSpPr>
            <p:spPr bwMode="auto">
              <a:xfrm>
                <a:off x="2924" y="1015"/>
                <a:ext cx="1365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5" name="Rectangle 923"/>
              <p:cNvSpPr>
                <a:spLocks noChangeArrowheads="1"/>
              </p:cNvSpPr>
              <p:nvPr/>
            </p:nvSpPr>
            <p:spPr bwMode="auto">
              <a:xfrm>
                <a:off x="2924" y="1012"/>
                <a:ext cx="68" cy="2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6" name="Rectangle 924"/>
              <p:cNvSpPr>
                <a:spLocks noChangeArrowheads="1"/>
              </p:cNvSpPr>
              <p:nvPr/>
            </p:nvSpPr>
            <p:spPr bwMode="auto">
              <a:xfrm>
                <a:off x="2992" y="1012"/>
                <a:ext cx="68" cy="255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7" name="Rectangle 925"/>
              <p:cNvSpPr>
                <a:spLocks noChangeArrowheads="1"/>
              </p:cNvSpPr>
              <p:nvPr/>
            </p:nvSpPr>
            <p:spPr bwMode="auto">
              <a:xfrm>
                <a:off x="3060" y="1012"/>
                <a:ext cx="68" cy="255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8" name="Rectangle 926"/>
              <p:cNvSpPr>
                <a:spLocks noChangeArrowheads="1"/>
              </p:cNvSpPr>
              <p:nvPr/>
            </p:nvSpPr>
            <p:spPr bwMode="auto">
              <a:xfrm>
                <a:off x="3128" y="1012"/>
                <a:ext cx="69" cy="255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39" name="Rectangle 927"/>
              <p:cNvSpPr>
                <a:spLocks noChangeArrowheads="1"/>
              </p:cNvSpPr>
              <p:nvPr/>
            </p:nvSpPr>
            <p:spPr bwMode="auto">
              <a:xfrm>
                <a:off x="3197" y="1012"/>
                <a:ext cx="68" cy="255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0" name="Rectangle 928"/>
              <p:cNvSpPr>
                <a:spLocks noChangeArrowheads="1"/>
              </p:cNvSpPr>
              <p:nvPr/>
            </p:nvSpPr>
            <p:spPr bwMode="auto">
              <a:xfrm>
                <a:off x="3265" y="1012"/>
                <a:ext cx="68" cy="255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1" name="Rectangle 929"/>
              <p:cNvSpPr>
                <a:spLocks noChangeArrowheads="1"/>
              </p:cNvSpPr>
              <p:nvPr/>
            </p:nvSpPr>
            <p:spPr bwMode="auto">
              <a:xfrm>
                <a:off x="3333" y="1012"/>
                <a:ext cx="68" cy="255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2" name="Rectangle 930"/>
              <p:cNvSpPr>
                <a:spLocks noChangeArrowheads="1"/>
              </p:cNvSpPr>
              <p:nvPr/>
            </p:nvSpPr>
            <p:spPr bwMode="auto">
              <a:xfrm>
                <a:off x="3401" y="1012"/>
                <a:ext cx="68" cy="255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3" name="Rectangle 931"/>
              <p:cNvSpPr>
                <a:spLocks noChangeArrowheads="1"/>
              </p:cNvSpPr>
              <p:nvPr/>
            </p:nvSpPr>
            <p:spPr bwMode="auto">
              <a:xfrm>
                <a:off x="3469" y="1012"/>
                <a:ext cx="69" cy="255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4" name="Rectangle 932"/>
              <p:cNvSpPr>
                <a:spLocks noChangeArrowheads="1"/>
              </p:cNvSpPr>
              <p:nvPr/>
            </p:nvSpPr>
            <p:spPr bwMode="auto">
              <a:xfrm>
                <a:off x="3538" y="1012"/>
                <a:ext cx="69" cy="255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5" name="Rectangle 933"/>
              <p:cNvSpPr>
                <a:spLocks noChangeArrowheads="1"/>
              </p:cNvSpPr>
              <p:nvPr/>
            </p:nvSpPr>
            <p:spPr bwMode="auto">
              <a:xfrm>
                <a:off x="3607" y="1012"/>
                <a:ext cx="68" cy="255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6" name="Rectangle 934"/>
              <p:cNvSpPr>
                <a:spLocks noChangeArrowheads="1"/>
              </p:cNvSpPr>
              <p:nvPr/>
            </p:nvSpPr>
            <p:spPr bwMode="auto">
              <a:xfrm>
                <a:off x="3675" y="1012"/>
                <a:ext cx="68" cy="255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7" name="Rectangle 935"/>
              <p:cNvSpPr>
                <a:spLocks noChangeArrowheads="1"/>
              </p:cNvSpPr>
              <p:nvPr/>
            </p:nvSpPr>
            <p:spPr bwMode="auto">
              <a:xfrm>
                <a:off x="3743" y="1012"/>
                <a:ext cx="68" cy="255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8" name="Rectangle 936"/>
              <p:cNvSpPr>
                <a:spLocks noChangeArrowheads="1"/>
              </p:cNvSpPr>
              <p:nvPr/>
            </p:nvSpPr>
            <p:spPr bwMode="auto">
              <a:xfrm>
                <a:off x="3811" y="1012"/>
                <a:ext cx="68" cy="255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49" name="Rectangle 937"/>
              <p:cNvSpPr>
                <a:spLocks noChangeArrowheads="1"/>
              </p:cNvSpPr>
              <p:nvPr/>
            </p:nvSpPr>
            <p:spPr bwMode="auto">
              <a:xfrm>
                <a:off x="3879" y="1012"/>
                <a:ext cx="69" cy="255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0" name="Rectangle 938"/>
              <p:cNvSpPr>
                <a:spLocks noChangeArrowheads="1"/>
              </p:cNvSpPr>
              <p:nvPr/>
            </p:nvSpPr>
            <p:spPr bwMode="auto">
              <a:xfrm>
                <a:off x="3948" y="1012"/>
                <a:ext cx="68" cy="255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1" name="Rectangle 939"/>
              <p:cNvSpPr>
                <a:spLocks noChangeArrowheads="1"/>
              </p:cNvSpPr>
              <p:nvPr/>
            </p:nvSpPr>
            <p:spPr bwMode="auto">
              <a:xfrm>
                <a:off x="4016" y="1012"/>
                <a:ext cx="68" cy="255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2" name="Rectangle 940"/>
              <p:cNvSpPr>
                <a:spLocks noChangeArrowheads="1"/>
              </p:cNvSpPr>
              <p:nvPr/>
            </p:nvSpPr>
            <p:spPr bwMode="auto">
              <a:xfrm>
                <a:off x="4084" y="1012"/>
                <a:ext cx="68" cy="255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3" name="Rectangle 941"/>
              <p:cNvSpPr>
                <a:spLocks noChangeArrowheads="1"/>
              </p:cNvSpPr>
              <p:nvPr/>
            </p:nvSpPr>
            <p:spPr bwMode="auto">
              <a:xfrm>
                <a:off x="4152" y="1012"/>
                <a:ext cx="69" cy="255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4" name="Rectangle 942"/>
              <p:cNvSpPr>
                <a:spLocks noChangeArrowheads="1"/>
              </p:cNvSpPr>
              <p:nvPr/>
            </p:nvSpPr>
            <p:spPr bwMode="auto">
              <a:xfrm>
                <a:off x="4221" y="1012"/>
                <a:ext cx="68" cy="25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5" name="Rectangle 943"/>
              <p:cNvSpPr>
                <a:spLocks noChangeArrowheads="1"/>
              </p:cNvSpPr>
              <p:nvPr/>
            </p:nvSpPr>
            <p:spPr bwMode="auto">
              <a:xfrm>
                <a:off x="2924" y="1012"/>
                <a:ext cx="1365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6" name="Freeform 944"/>
              <p:cNvSpPr>
                <a:spLocks/>
              </p:cNvSpPr>
              <p:nvPr/>
            </p:nvSpPr>
            <p:spPr bwMode="auto">
              <a:xfrm>
                <a:off x="4275" y="1014"/>
                <a:ext cx="9" cy="7"/>
              </a:xfrm>
              <a:custGeom>
                <a:avLst/>
                <a:gdLst>
                  <a:gd name="T0" fmla="*/ 19 w 19"/>
                  <a:gd name="T1" fmla="*/ 12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2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7" name="Freeform 945"/>
              <p:cNvSpPr>
                <a:spLocks/>
              </p:cNvSpPr>
              <p:nvPr/>
            </p:nvSpPr>
            <p:spPr bwMode="auto">
              <a:xfrm>
                <a:off x="4257" y="1020"/>
                <a:ext cx="27" cy="15"/>
              </a:xfrm>
              <a:custGeom>
                <a:avLst/>
                <a:gdLst>
                  <a:gd name="T0" fmla="*/ 55 w 55"/>
                  <a:gd name="T1" fmla="*/ 0 h 31"/>
                  <a:gd name="T2" fmla="*/ 55 w 55"/>
                  <a:gd name="T3" fmla="*/ 24 h 31"/>
                  <a:gd name="T4" fmla="*/ 0 w 55"/>
                  <a:gd name="T5" fmla="*/ 31 h 31"/>
                  <a:gd name="T6" fmla="*/ 36 w 55"/>
                  <a:gd name="T7" fmla="*/ 2 h 31"/>
                  <a:gd name="T8" fmla="*/ 55 w 5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1">
                    <a:moveTo>
                      <a:pt x="55" y="0"/>
                    </a:moveTo>
                    <a:lnTo>
                      <a:pt x="55" y="24"/>
                    </a:lnTo>
                    <a:lnTo>
                      <a:pt x="0" y="31"/>
                    </a:lnTo>
                    <a:lnTo>
                      <a:pt x="36" y="2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8" name="Freeform 946"/>
              <p:cNvSpPr>
                <a:spLocks/>
              </p:cNvSpPr>
              <p:nvPr/>
            </p:nvSpPr>
            <p:spPr bwMode="auto">
              <a:xfrm>
                <a:off x="4238" y="1032"/>
                <a:ext cx="46" cy="19"/>
              </a:xfrm>
              <a:custGeom>
                <a:avLst/>
                <a:gdLst>
                  <a:gd name="T0" fmla="*/ 93 w 93"/>
                  <a:gd name="T1" fmla="*/ 0 h 38"/>
                  <a:gd name="T2" fmla="*/ 93 w 93"/>
                  <a:gd name="T3" fmla="*/ 26 h 38"/>
                  <a:gd name="T4" fmla="*/ 0 w 93"/>
                  <a:gd name="T5" fmla="*/ 38 h 38"/>
                  <a:gd name="T6" fmla="*/ 38 w 93"/>
                  <a:gd name="T7" fmla="*/ 7 h 38"/>
                  <a:gd name="T8" fmla="*/ 93 w 9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8">
                    <a:moveTo>
                      <a:pt x="93" y="0"/>
                    </a:moveTo>
                    <a:lnTo>
                      <a:pt x="93" y="26"/>
                    </a:lnTo>
                    <a:lnTo>
                      <a:pt x="0" y="38"/>
                    </a:lnTo>
                    <a:lnTo>
                      <a:pt x="38" y="7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59" name="Freeform 947"/>
              <p:cNvSpPr>
                <a:spLocks/>
              </p:cNvSpPr>
              <p:nvPr/>
            </p:nvSpPr>
            <p:spPr bwMode="auto">
              <a:xfrm>
                <a:off x="4228" y="1045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26 h 40"/>
                  <a:gd name="T8" fmla="*/ 19 w 112"/>
                  <a:gd name="T9" fmla="*/ 12 h 40"/>
                  <a:gd name="T10" fmla="*/ 112 w 112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26"/>
                    </a:lnTo>
                    <a:lnTo>
                      <a:pt x="19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0" name="Freeform 948"/>
              <p:cNvSpPr>
                <a:spLocks/>
              </p:cNvSpPr>
              <p:nvPr/>
            </p:nvSpPr>
            <p:spPr bwMode="auto">
              <a:xfrm>
                <a:off x="4228" y="1058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1" name="Freeform 949"/>
              <p:cNvSpPr>
                <a:spLocks/>
              </p:cNvSpPr>
              <p:nvPr/>
            </p:nvSpPr>
            <p:spPr bwMode="auto">
              <a:xfrm>
                <a:off x="4228" y="1071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7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2" name="Freeform 950"/>
              <p:cNvSpPr>
                <a:spLocks/>
              </p:cNvSpPr>
              <p:nvPr/>
            </p:nvSpPr>
            <p:spPr bwMode="auto">
              <a:xfrm>
                <a:off x="4228" y="1085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3" name="Freeform 951"/>
              <p:cNvSpPr>
                <a:spLocks/>
              </p:cNvSpPr>
              <p:nvPr/>
            </p:nvSpPr>
            <p:spPr bwMode="auto">
              <a:xfrm>
                <a:off x="4228" y="1098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4" name="Freeform 952"/>
              <p:cNvSpPr>
                <a:spLocks/>
              </p:cNvSpPr>
              <p:nvPr/>
            </p:nvSpPr>
            <p:spPr bwMode="auto">
              <a:xfrm>
                <a:off x="4228" y="111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5" name="Freeform 953"/>
              <p:cNvSpPr>
                <a:spLocks/>
              </p:cNvSpPr>
              <p:nvPr/>
            </p:nvSpPr>
            <p:spPr bwMode="auto">
              <a:xfrm>
                <a:off x="4228" y="1123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2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6" name="Freeform 954"/>
              <p:cNvSpPr>
                <a:spLocks/>
              </p:cNvSpPr>
              <p:nvPr/>
            </p:nvSpPr>
            <p:spPr bwMode="auto">
              <a:xfrm>
                <a:off x="4228" y="1136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7" name="Freeform 955"/>
              <p:cNvSpPr>
                <a:spLocks/>
              </p:cNvSpPr>
              <p:nvPr/>
            </p:nvSpPr>
            <p:spPr bwMode="auto">
              <a:xfrm>
                <a:off x="4228" y="1149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8" name="Freeform 956"/>
              <p:cNvSpPr>
                <a:spLocks/>
              </p:cNvSpPr>
              <p:nvPr/>
            </p:nvSpPr>
            <p:spPr bwMode="auto">
              <a:xfrm>
                <a:off x="4228" y="1162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5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69" name="Freeform 957"/>
              <p:cNvSpPr>
                <a:spLocks/>
              </p:cNvSpPr>
              <p:nvPr/>
            </p:nvSpPr>
            <p:spPr bwMode="auto">
              <a:xfrm>
                <a:off x="4228" y="1175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0" name="Freeform 958"/>
              <p:cNvSpPr>
                <a:spLocks/>
              </p:cNvSpPr>
              <p:nvPr/>
            </p:nvSpPr>
            <p:spPr bwMode="auto">
              <a:xfrm>
                <a:off x="4228" y="1188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1" name="Freeform 959"/>
              <p:cNvSpPr>
                <a:spLocks/>
              </p:cNvSpPr>
              <p:nvPr/>
            </p:nvSpPr>
            <p:spPr bwMode="auto">
              <a:xfrm>
                <a:off x="4228" y="1201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8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2" name="Freeform 960"/>
              <p:cNvSpPr>
                <a:spLocks/>
              </p:cNvSpPr>
              <p:nvPr/>
            </p:nvSpPr>
            <p:spPr bwMode="auto">
              <a:xfrm>
                <a:off x="4228" y="1215"/>
                <a:ext cx="56" cy="17"/>
              </a:xfrm>
              <a:custGeom>
                <a:avLst/>
                <a:gdLst>
                  <a:gd name="T0" fmla="*/ 112 w 112"/>
                  <a:gd name="T1" fmla="*/ 0 h 34"/>
                  <a:gd name="T2" fmla="*/ 112 w 112"/>
                  <a:gd name="T3" fmla="*/ 26 h 34"/>
                  <a:gd name="T4" fmla="*/ 26 w 112"/>
                  <a:gd name="T5" fmla="*/ 34 h 34"/>
                  <a:gd name="T6" fmla="*/ 0 w 112"/>
                  <a:gd name="T7" fmla="*/ 15 h 34"/>
                  <a:gd name="T8" fmla="*/ 0 w 112"/>
                  <a:gd name="T9" fmla="*/ 12 h 34"/>
                  <a:gd name="T10" fmla="*/ 112 w 112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4">
                    <a:moveTo>
                      <a:pt x="112" y="0"/>
                    </a:moveTo>
                    <a:lnTo>
                      <a:pt x="112" y="26"/>
                    </a:lnTo>
                    <a:lnTo>
                      <a:pt x="26" y="34"/>
                    </a:lnTo>
                    <a:lnTo>
                      <a:pt x="0" y="15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3" name="Freeform 961"/>
              <p:cNvSpPr>
                <a:spLocks/>
              </p:cNvSpPr>
              <p:nvPr/>
            </p:nvSpPr>
            <p:spPr bwMode="auto">
              <a:xfrm>
                <a:off x="4241" y="1228"/>
                <a:ext cx="43" cy="16"/>
              </a:xfrm>
              <a:custGeom>
                <a:avLst/>
                <a:gdLst>
                  <a:gd name="T0" fmla="*/ 86 w 86"/>
                  <a:gd name="T1" fmla="*/ 0 h 33"/>
                  <a:gd name="T2" fmla="*/ 86 w 86"/>
                  <a:gd name="T3" fmla="*/ 26 h 33"/>
                  <a:gd name="T4" fmla="*/ 29 w 86"/>
                  <a:gd name="T5" fmla="*/ 33 h 33"/>
                  <a:gd name="T6" fmla="*/ 0 w 86"/>
                  <a:gd name="T7" fmla="*/ 8 h 33"/>
                  <a:gd name="T8" fmla="*/ 86 w 8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3">
                    <a:moveTo>
                      <a:pt x="86" y="0"/>
                    </a:moveTo>
                    <a:lnTo>
                      <a:pt x="86" y="26"/>
                    </a:lnTo>
                    <a:lnTo>
                      <a:pt x="29" y="33"/>
                    </a:lnTo>
                    <a:lnTo>
                      <a:pt x="0" y="8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4" name="Freeform 962"/>
              <p:cNvSpPr>
                <a:spLocks/>
              </p:cNvSpPr>
              <p:nvPr/>
            </p:nvSpPr>
            <p:spPr bwMode="auto">
              <a:xfrm>
                <a:off x="4256" y="1241"/>
                <a:ext cx="28" cy="14"/>
              </a:xfrm>
              <a:custGeom>
                <a:avLst/>
                <a:gdLst>
                  <a:gd name="T0" fmla="*/ 57 w 57"/>
                  <a:gd name="T1" fmla="*/ 0 h 29"/>
                  <a:gd name="T2" fmla="*/ 57 w 57"/>
                  <a:gd name="T3" fmla="*/ 25 h 29"/>
                  <a:gd name="T4" fmla="*/ 30 w 57"/>
                  <a:gd name="T5" fmla="*/ 29 h 29"/>
                  <a:gd name="T6" fmla="*/ 0 w 57"/>
                  <a:gd name="T7" fmla="*/ 7 h 29"/>
                  <a:gd name="T8" fmla="*/ 57 w 57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29">
                    <a:moveTo>
                      <a:pt x="57" y="0"/>
                    </a:moveTo>
                    <a:lnTo>
                      <a:pt x="57" y="25"/>
                    </a:lnTo>
                    <a:lnTo>
                      <a:pt x="30" y="29"/>
                    </a:lnTo>
                    <a:lnTo>
                      <a:pt x="0" y="7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5" name="Freeform 963"/>
              <p:cNvSpPr>
                <a:spLocks/>
              </p:cNvSpPr>
              <p:nvPr/>
            </p:nvSpPr>
            <p:spPr bwMode="auto">
              <a:xfrm>
                <a:off x="4270" y="1254"/>
                <a:ext cx="14" cy="12"/>
              </a:xfrm>
              <a:custGeom>
                <a:avLst/>
                <a:gdLst>
                  <a:gd name="T0" fmla="*/ 27 w 27"/>
                  <a:gd name="T1" fmla="*/ 0 h 25"/>
                  <a:gd name="T2" fmla="*/ 27 w 27"/>
                  <a:gd name="T3" fmla="*/ 25 h 25"/>
                  <a:gd name="T4" fmla="*/ 0 w 27"/>
                  <a:gd name="T5" fmla="*/ 4 h 25"/>
                  <a:gd name="T6" fmla="*/ 27 w 27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5">
                    <a:moveTo>
                      <a:pt x="27" y="0"/>
                    </a:moveTo>
                    <a:lnTo>
                      <a:pt x="27" y="25"/>
                    </a:lnTo>
                    <a:lnTo>
                      <a:pt x="0" y="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6" name="Freeform 964"/>
              <p:cNvSpPr>
                <a:spLocks/>
              </p:cNvSpPr>
              <p:nvPr/>
            </p:nvSpPr>
            <p:spPr bwMode="auto">
              <a:xfrm>
                <a:off x="4228" y="1014"/>
                <a:ext cx="56" cy="252"/>
              </a:xfrm>
              <a:custGeom>
                <a:avLst/>
                <a:gdLst>
                  <a:gd name="T0" fmla="*/ 0 w 112"/>
                  <a:gd name="T1" fmla="*/ 88 h 504"/>
                  <a:gd name="T2" fmla="*/ 112 w 112"/>
                  <a:gd name="T3" fmla="*/ 0 h 504"/>
                  <a:gd name="T4" fmla="*/ 112 w 112"/>
                  <a:gd name="T5" fmla="*/ 504 h 504"/>
                  <a:gd name="T6" fmla="*/ 0 w 112"/>
                  <a:gd name="T7" fmla="*/ 417 h 504"/>
                  <a:gd name="T8" fmla="*/ 0 w 112"/>
                  <a:gd name="T9" fmla="*/ 88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4">
                    <a:moveTo>
                      <a:pt x="0" y="88"/>
                    </a:moveTo>
                    <a:lnTo>
                      <a:pt x="112" y="0"/>
                    </a:lnTo>
                    <a:lnTo>
                      <a:pt x="112" y="504"/>
                    </a:lnTo>
                    <a:lnTo>
                      <a:pt x="0" y="417"/>
                    </a:lnTo>
                    <a:lnTo>
                      <a:pt x="0" y="88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7" name="Freeform 965"/>
              <p:cNvSpPr>
                <a:spLocks/>
              </p:cNvSpPr>
              <p:nvPr/>
            </p:nvSpPr>
            <p:spPr bwMode="auto">
              <a:xfrm>
                <a:off x="4222" y="1222"/>
                <a:ext cx="68" cy="43"/>
              </a:xfrm>
              <a:custGeom>
                <a:avLst/>
                <a:gdLst>
                  <a:gd name="T0" fmla="*/ 0 w 137"/>
                  <a:gd name="T1" fmla="*/ 86 h 86"/>
                  <a:gd name="T2" fmla="*/ 137 w 137"/>
                  <a:gd name="T3" fmla="*/ 86 h 86"/>
                  <a:gd name="T4" fmla="*/ 12 w 137"/>
                  <a:gd name="T5" fmla="*/ 0 h 86"/>
                  <a:gd name="T6" fmla="*/ 9 w 137"/>
                  <a:gd name="T7" fmla="*/ 0 h 86"/>
                  <a:gd name="T8" fmla="*/ 0 w 13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6">
                    <a:moveTo>
                      <a:pt x="0" y="86"/>
                    </a:moveTo>
                    <a:lnTo>
                      <a:pt x="137" y="86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8" name="Freeform 966"/>
              <p:cNvSpPr>
                <a:spLocks/>
              </p:cNvSpPr>
              <p:nvPr/>
            </p:nvSpPr>
            <p:spPr bwMode="auto">
              <a:xfrm>
                <a:off x="4153" y="1222"/>
                <a:ext cx="73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79" name="Freeform 967"/>
              <p:cNvSpPr>
                <a:spLocks/>
              </p:cNvSpPr>
              <p:nvPr/>
            </p:nvSpPr>
            <p:spPr bwMode="auto">
              <a:xfrm>
                <a:off x="4085" y="1222"/>
                <a:ext cx="73" cy="43"/>
              </a:xfrm>
              <a:custGeom>
                <a:avLst/>
                <a:gdLst>
                  <a:gd name="T0" fmla="*/ 136 w 146"/>
                  <a:gd name="T1" fmla="*/ 86 h 86"/>
                  <a:gd name="T2" fmla="*/ 0 w 146"/>
                  <a:gd name="T3" fmla="*/ 86 h 86"/>
                  <a:gd name="T4" fmla="*/ 8 w 146"/>
                  <a:gd name="T5" fmla="*/ 0 h 86"/>
                  <a:gd name="T6" fmla="*/ 146 w 146"/>
                  <a:gd name="T7" fmla="*/ 0 h 86"/>
                  <a:gd name="T8" fmla="*/ 136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0" name="Freeform 968"/>
              <p:cNvSpPr>
                <a:spLocks/>
              </p:cNvSpPr>
              <p:nvPr/>
            </p:nvSpPr>
            <p:spPr bwMode="auto">
              <a:xfrm>
                <a:off x="4016" y="1222"/>
                <a:ext cx="73" cy="43"/>
              </a:xfrm>
              <a:custGeom>
                <a:avLst/>
                <a:gdLst>
                  <a:gd name="T0" fmla="*/ 138 w 146"/>
                  <a:gd name="T1" fmla="*/ 86 h 86"/>
                  <a:gd name="T2" fmla="*/ 0 w 146"/>
                  <a:gd name="T3" fmla="*/ 86 h 86"/>
                  <a:gd name="T4" fmla="*/ 10 w 146"/>
                  <a:gd name="T5" fmla="*/ 0 h 86"/>
                  <a:gd name="T6" fmla="*/ 146 w 146"/>
                  <a:gd name="T7" fmla="*/ 0 h 86"/>
                  <a:gd name="T8" fmla="*/ 138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1" name="Freeform 969"/>
              <p:cNvSpPr>
                <a:spLocks/>
              </p:cNvSpPr>
              <p:nvPr/>
            </p:nvSpPr>
            <p:spPr bwMode="auto">
              <a:xfrm>
                <a:off x="3948" y="1222"/>
                <a:ext cx="73" cy="43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2" name="Freeform 970"/>
              <p:cNvSpPr>
                <a:spLocks/>
              </p:cNvSpPr>
              <p:nvPr/>
            </p:nvSpPr>
            <p:spPr bwMode="auto">
              <a:xfrm>
                <a:off x="3879" y="1222"/>
                <a:ext cx="73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3" name="Freeform 971"/>
              <p:cNvSpPr>
                <a:spLocks/>
              </p:cNvSpPr>
              <p:nvPr/>
            </p:nvSpPr>
            <p:spPr bwMode="auto">
              <a:xfrm>
                <a:off x="3810" y="1222"/>
                <a:ext cx="74" cy="43"/>
              </a:xfrm>
              <a:custGeom>
                <a:avLst/>
                <a:gdLst>
                  <a:gd name="T0" fmla="*/ 136 w 146"/>
                  <a:gd name="T1" fmla="*/ 86 h 86"/>
                  <a:gd name="T2" fmla="*/ 0 w 146"/>
                  <a:gd name="T3" fmla="*/ 86 h 86"/>
                  <a:gd name="T4" fmla="*/ 8 w 146"/>
                  <a:gd name="T5" fmla="*/ 0 h 86"/>
                  <a:gd name="T6" fmla="*/ 146 w 146"/>
                  <a:gd name="T7" fmla="*/ 0 h 86"/>
                  <a:gd name="T8" fmla="*/ 136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4" name="Freeform 972"/>
              <p:cNvSpPr>
                <a:spLocks/>
              </p:cNvSpPr>
              <p:nvPr/>
            </p:nvSpPr>
            <p:spPr bwMode="auto">
              <a:xfrm>
                <a:off x="3741" y="1222"/>
                <a:ext cx="74" cy="43"/>
              </a:xfrm>
              <a:custGeom>
                <a:avLst/>
                <a:gdLst>
                  <a:gd name="T0" fmla="*/ 138 w 146"/>
                  <a:gd name="T1" fmla="*/ 86 h 86"/>
                  <a:gd name="T2" fmla="*/ 0 w 146"/>
                  <a:gd name="T3" fmla="*/ 86 h 86"/>
                  <a:gd name="T4" fmla="*/ 10 w 146"/>
                  <a:gd name="T5" fmla="*/ 0 h 86"/>
                  <a:gd name="T6" fmla="*/ 146 w 146"/>
                  <a:gd name="T7" fmla="*/ 0 h 86"/>
                  <a:gd name="T8" fmla="*/ 138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5" name="Freeform 973"/>
              <p:cNvSpPr>
                <a:spLocks/>
              </p:cNvSpPr>
              <p:nvPr/>
            </p:nvSpPr>
            <p:spPr bwMode="auto">
              <a:xfrm>
                <a:off x="3673" y="1222"/>
                <a:ext cx="73" cy="43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6" name="Freeform 974"/>
              <p:cNvSpPr>
                <a:spLocks/>
              </p:cNvSpPr>
              <p:nvPr/>
            </p:nvSpPr>
            <p:spPr bwMode="auto">
              <a:xfrm>
                <a:off x="3604" y="1222"/>
                <a:ext cx="73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7" name="Freeform 975"/>
              <p:cNvSpPr>
                <a:spLocks/>
              </p:cNvSpPr>
              <p:nvPr/>
            </p:nvSpPr>
            <p:spPr bwMode="auto">
              <a:xfrm>
                <a:off x="3536" y="1222"/>
                <a:ext cx="73" cy="43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8" name="Freeform 976"/>
              <p:cNvSpPr>
                <a:spLocks/>
              </p:cNvSpPr>
              <p:nvPr/>
            </p:nvSpPr>
            <p:spPr bwMode="auto">
              <a:xfrm>
                <a:off x="3468" y="1222"/>
                <a:ext cx="73" cy="43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89" name="Freeform 977"/>
              <p:cNvSpPr>
                <a:spLocks/>
              </p:cNvSpPr>
              <p:nvPr/>
            </p:nvSpPr>
            <p:spPr bwMode="auto">
              <a:xfrm>
                <a:off x="3399" y="1222"/>
                <a:ext cx="73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0" name="Freeform 978"/>
              <p:cNvSpPr>
                <a:spLocks/>
              </p:cNvSpPr>
              <p:nvPr/>
            </p:nvSpPr>
            <p:spPr bwMode="auto">
              <a:xfrm>
                <a:off x="3330" y="1222"/>
                <a:ext cx="74" cy="43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1" name="Freeform 979"/>
              <p:cNvSpPr>
                <a:spLocks/>
              </p:cNvSpPr>
              <p:nvPr/>
            </p:nvSpPr>
            <p:spPr bwMode="auto">
              <a:xfrm>
                <a:off x="3261" y="1222"/>
                <a:ext cx="74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2" name="Freeform 980"/>
              <p:cNvSpPr>
                <a:spLocks/>
              </p:cNvSpPr>
              <p:nvPr/>
            </p:nvSpPr>
            <p:spPr bwMode="auto">
              <a:xfrm>
                <a:off x="3193" y="1222"/>
                <a:ext cx="74" cy="43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3" name="Freeform 981"/>
              <p:cNvSpPr>
                <a:spLocks/>
              </p:cNvSpPr>
              <p:nvPr/>
            </p:nvSpPr>
            <p:spPr bwMode="auto">
              <a:xfrm>
                <a:off x="3124" y="1222"/>
                <a:ext cx="74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4" name="Freeform 982"/>
              <p:cNvSpPr>
                <a:spLocks/>
              </p:cNvSpPr>
              <p:nvPr/>
            </p:nvSpPr>
            <p:spPr bwMode="auto">
              <a:xfrm>
                <a:off x="3056" y="1222"/>
                <a:ext cx="73" cy="43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5" name="Freeform 983"/>
              <p:cNvSpPr>
                <a:spLocks/>
              </p:cNvSpPr>
              <p:nvPr/>
            </p:nvSpPr>
            <p:spPr bwMode="auto">
              <a:xfrm>
                <a:off x="2987" y="1222"/>
                <a:ext cx="74" cy="43"/>
              </a:xfrm>
              <a:custGeom>
                <a:avLst/>
                <a:gdLst>
                  <a:gd name="T0" fmla="*/ 138 w 148"/>
                  <a:gd name="T1" fmla="*/ 86 h 86"/>
                  <a:gd name="T2" fmla="*/ 0 w 148"/>
                  <a:gd name="T3" fmla="*/ 86 h 86"/>
                  <a:gd name="T4" fmla="*/ 10 w 148"/>
                  <a:gd name="T5" fmla="*/ 0 h 86"/>
                  <a:gd name="T6" fmla="*/ 148 w 148"/>
                  <a:gd name="T7" fmla="*/ 0 h 86"/>
                  <a:gd name="T8" fmla="*/ 138 w 148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6" name="Freeform 984"/>
              <p:cNvSpPr>
                <a:spLocks/>
              </p:cNvSpPr>
              <p:nvPr/>
            </p:nvSpPr>
            <p:spPr bwMode="auto">
              <a:xfrm>
                <a:off x="2923" y="1222"/>
                <a:ext cx="69" cy="43"/>
              </a:xfrm>
              <a:custGeom>
                <a:avLst/>
                <a:gdLst>
                  <a:gd name="T0" fmla="*/ 128 w 138"/>
                  <a:gd name="T1" fmla="*/ 86 h 86"/>
                  <a:gd name="T2" fmla="*/ 0 w 138"/>
                  <a:gd name="T3" fmla="*/ 86 h 86"/>
                  <a:gd name="T4" fmla="*/ 112 w 138"/>
                  <a:gd name="T5" fmla="*/ 0 h 86"/>
                  <a:gd name="T6" fmla="*/ 138 w 138"/>
                  <a:gd name="T7" fmla="*/ 0 h 86"/>
                  <a:gd name="T8" fmla="*/ 128 w 138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86">
                    <a:moveTo>
                      <a:pt x="128" y="86"/>
                    </a:moveTo>
                    <a:lnTo>
                      <a:pt x="0" y="86"/>
                    </a:lnTo>
                    <a:lnTo>
                      <a:pt x="112" y="0"/>
                    </a:lnTo>
                    <a:lnTo>
                      <a:pt x="138" y="0"/>
                    </a:lnTo>
                    <a:lnTo>
                      <a:pt x="128" y="86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7" name="Freeform 985"/>
              <p:cNvSpPr>
                <a:spLocks/>
              </p:cNvSpPr>
              <p:nvPr/>
            </p:nvSpPr>
            <p:spPr bwMode="auto">
              <a:xfrm>
                <a:off x="2923" y="1222"/>
                <a:ext cx="1367" cy="43"/>
              </a:xfrm>
              <a:custGeom>
                <a:avLst/>
                <a:gdLst>
                  <a:gd name="T0" fmla="*/ 112 w 2735"/>
                  <a:gd name="T1" fmla="*/ 0 h 86"/>
                  <a:gd name="T2" fmla="*/ 0 w 2735"/>
                  <a:gd name="T3" fmla="*/ 86 h 86"/>
                  <a:gd name="T4" fmla="*/ 2735 w 2735"/>
                  <a:gd name="T5" fmla="*/ 86 h 86"/>
                  <a:gd name="T6" fmla="*/ 2610 w 2735"/>
                  <a:gd name="T7" fmla="*/ 0 h 86"/>
                  <a:gd name="T8" fmla="*/ 112 w 2735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6">
                    <a:moveTo>
                      <a:pt x="112" y="0"/>
                    </a:moveTo>
                    <a:lnTo>
                      <a:pt x="0" y="86"/>
                    </a:lnTo>
                    <a:lnTo>
                      <a:pt x="2735" y="86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8" name="Freeform 986"/>
              <p:cNvSpPr>
                <a:spLocks/>
              </p:cNvSpPr>
              <p:nvPr/>
            </p:nvSpPr>
            <p:spPr bwMode="auto">
              <a:xfrm>
                <a:off x="2923" y="1014"/>
                <a:ext cx="68" cy="43"/>
              </a:xfrm>
              <a:custGeom>
                <a:avLst/>
                <a:gdLst>
                  <a:gd name="T0" fmla="*/ 136 w 136"/>
                  <a:gd name="T1" fmla="*/ 0 h 86"/>
                  <a:gd name="T2" fmla="*/ 0 w 136"/>
                  <a:gd name="T3" fmla="*/ 0 h 86"/>
                  <a:gd name="T4" fmla="*/ 118 w 136"/>
                  <a:gd name="T5" fmla="*/ 86 h 86"/>
                  <a:gd name="T6" fmla="*/ 136 w 136"/>
                  <a:gd name="T7" fmla="*/ 86 h 86"/>
                  <a:gd name="T8" fmla="*/ 136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6"/>
                    </a:lnTo>
                    <a:lnTo>
                      <a:pt x="136" y="86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99" name="Rectangle 987"/>
              <p:cNvSpPr>
                <a:spLocks noChangeArrowheads="1"/>
              </p:cNvSpPr>
              <p:nvPr/>
            </p:nvSpPr>
            <p:spPr bwMode="auto">
              <a:xfrm>
                <a:off x="2991" y="1014"/>
                <a:ext cx="68" cy="43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0" name="Rectangle 988"/>
              <p:cNvSpPr>
                <a:spLocks noChangeArrowheads="1"/>
              </p:cNvSpPr>
              <p:nvPr/>
            </p:nvSpPr>
            <p:spPr bwMode="auto">
              <a:xfrm>
                <a:off x="3059" y="1014"/>
                <a:ext cx="69" cy="43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1" name="Rectangle 989"/>
              <p:cNvSpPr>
                <a:spLocks noChangeArrowheads="1"/>
              </p:cNvSpPr>
              <p:nvPr/>
            </p:nvSpPr>
            <p:spPr bwMode="auto">
              <a:xfrm>
                <a:off x="3128" y="1014"/>
                <a:ext cx="68" cy="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2" name="Rectangle 990"/>
              <p:cNvSpPr>
                <a:spLocks noChangeArrowheads="1"/>
              </p:cNvSpPr>
              <p:nvPr/>
            </p:nvSpPr>
            <p:spPr bwMode="auto">
              <a:xfrm>
                <a:off x="3196" y="1014"/>
                <a:ext cx="68" cy="43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3" name="Rectangle 991"/>
              <p:cNvSpPr>
                <a:spLocks noChangeArrowheads="1"/>
              </p:cNvSpPr>
              <p:nvPr/>
            </p:nvSpPr>
            <p:spPr bwMode="auto">
              <a:xfrm>
                <a:off x="3264" y="1014"/>
                <a:ext cx="68" cy="4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4" name="Rectangle 992"/>
              <p:cNvSpPr>
                <a:spLocks noChangeArrowheads="1"/>
              </p:cNvSpPr>
              <p:nvPr/>
            </p:nvSpPr>
            <p:spPr bwMode="auto">
              <a:xfrm>
                <a:off x="3332" y="1014"/>
                <a:ext cx="68" cy="43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5" name="Rectangle 993"/>
              <p:cNvSpPr>
                <a:spLocks noChangeArrowheads="1"/>
              </p:cNvSpPr>
              <p:nvPr/>
            </p:nvSpPr>
            <p:spPr bwMode="auto">
              <a:xfrm>
                <a:off x="3400" y="1014"/>
                <a:ext cx="69" cy="43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6" name="Rectangle 994"/>
              <p:cNvSpPr>
                <a:spLocks noChangeArrowheads="1"/>
              </p:cNvSpPr>
              <p:nvPr/>
            </p:nvSpPr>
            <p:spPr bwMode="auto">
              <a:xfrm>
                <a:off x="3469" y="1014"/>
                <a:ext cx="68" cy="43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7" name="Rectangle 995"/>
              <p:cNvSpPr>
                <a:spLocks noChangeArrowheads="1"/>
              </p:cNvSpPr>
              <p:nvPr/>
            </p:nvSpPr>
            <p:spPr bwMode="auto">
              <a:xfrm>
                <a:off x="3537" y="1014"/>
                <a:ext cx="68" cy="43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8" name="Rectangle 996"/>
              <p:cNvSpPr>
                <a:spLocks noChangeArrowheads="1"/>
              </p:cNvSpPr>
              <p:nvPr/>
            </p:nvSpPr>
            <p:spPr bwMode="auto">
              <a:xfrm>
                <a:off x="3605" y="1014"/>
                <a:ext cx="68" cy="43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09" name="Rectangle 997"/>
              <p:cNvSpPr>
                <a:spLocks noChangeArrowheads="1"/>
              </p:cNvSpPr>
              <p:nvPr/>
            </p:nvSpPr>
            <p:spPr bwMode="auto">
              <a:xfrm>
                <a:off x="3673" y="1014"/>
                <a:ext cx="68" cy="43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0" name="Rectangle 998"/>
              <p:cNvSpPr>
                <a:spLocks noChangeArrowheads="1"/>
              </p:cNvSpPr>
              <p:nvPr/>
            </p:nvSpPr>
            <p:spPr bwMode="auto">
              <a:xfrm>
                <a:off x="3741" y="1014"/>
                <a:ext cx="69" cy="43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1" name="Rectangle 999"/>
              <p:cNvSpPr>
                <a:spLocks noChangeArrowheads="1"/>
              </p:cNvSpPr>
              <p:nvPr/>
            </p:nvSpPr>
            <p:spPr bwMode="auto">
              <a:xfrm>
                <a:off x="3810" y="1014"/>
                <a:ext cx="68" cy="43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2" name="Rectangle 1000"/>
              <p:cNvSpPr>
                <a:spLocks noChangeArrowheads="1"/>
              </p:cNvSpPr>
              <p:nvPr/>
            </p:nvSpPr>
            <p:spPr bwMode="auto">
              <a:xfrm>
                <a:off x="3878" y="1014"/>
                <a:ext cx="68" cy="43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3" name="Rectangle 1001"/>
              <p:cNvSpPr>
                <a:spLocks noChangeArrowheads="1"/>
              </p:cNvSpPr>
              <p:nvPr/>
            </p:nvSpPr>
            <p:spPr bwMode="auto">
              <a:xfrm>
                <a:off x="3946" y="1014"/>
                <a:ext cx="68" cy="43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4" name="Rectangle 1002"/>
              <p:cNvSpPr>
                <a:spLocks noChangeArrowheads="1"/>
              </p:cNvSpPr>
              <p:nvPr/>
            </p:nvSpPr>
            <p:spPr bwMode="auto">
              <a:xfrm>
                <a:off x="4014" y="1014"/>
                <a:ext cx="68" cy="43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5" name="Rectangle 1003"/>
              <p:cNvSpPr>
                <a:spLocks noChangeArrowheads="1"/>
              </p:cNvSpPr>
              <p:nvPr/>
            </p:nvSpPr>
            <p:spPr bwMode="auto">
              <a:xfrm>
                <a:off x="4082" y="1014"/>
                <a:ext cx="68" cy="43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6" name="Rectangle 1004"/>
              <p:cNvSpPr>
                <a:spLocks noChangeArrowheads="1"/>
              </p:cNvSpPr>
              <p:nvPr/>
            </p:nvSpPr>
            <p:spPr bwMode="auto">
              <a:xfrm>
                <a:off x="4150" y="1014"/>
                <a:ext cx="69" cy="43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7" name="Freeform 1005"/>
              <p:cNvSpPr>
                <a:spLocks/>
              </p:cNvSpPr>
              <p:nvPr/>
            </p:nvSpPr>
            <p:spPr bwMode="auto">
              <a:xfrm>
                <a:off x="4219" y="1014"/>
                <a:ext cx="69" cy="43"/>
              </a:xfrm>
              <a:custGeom>
                <a:avLst/>
                <a:gdLst>
                  <a:gd name="T0" fmla="*/ 0 w 136"/>
                  <a:gd name="T1" fmla="*/ 0 h 86"/>
                  <a:gd name="T2" fmla="*/ 136 w 136"/>
                  <a:gd name="T3" fmla="*/ 0 h 86"/>
                  <a:gd name="T4" fmla="*/ 24 w 136"/>
                  <a:gd name="T5" fmla="*/ 86 h 86"/>
                  <a:gd name="T6" fmla="*/ 0 w 136"/>
                  <a:gd name="T7" fmla="*/ 86 h 86"/>
                  <a:gd name="T8" fmla="*/ 0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0" y="0"/>
                    </a:moveTo>
                    <a:lnTo>
                      <a:pt x="136" y="0"/>
                    </a:lnTo>
                    <a:lnTo>
                      <a:pt x="24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8" name="Freeform 1006"/>
              <p:cNvSpPr>
                <a:spLocks/>
              </p:cNvSpPr>
              <p:nvPr/>
            </p:nvSpPr>
            <p:spPr bwMode="auto">
              <a:xfrm>
                <a:off x="2923" y="1014"/>
                <a:ext cx="1365" cy="43"/>
              </a:xfrm>
              <a:custGeom>
                <a:avLst/>
                <a:gdLst>
                  <a:gd name="T0" fmla="*/ 118 w 2729"/>
                  <a:gd name="T1" fmla="*/ 86 h 86"/>
                  <a:gd name="T2" fmla="*/ 0 w 2729"/>
                  <a:gd name="T3" fmla="*/ 0 h 86"/>
                  <a:gd name="T4" fmla="*/ 2729 w 2729"/>
                  <a:gd name="T5" fmla="*/ 0 h 86"/>
                  <a:gd name="T6" fmla="*/ 2617 w 2729"/>
                  <a:gd name="T7" fmla="*/ 86 h 86"/>
                  <a:gd name="T8" fmla="*/ 118 w 272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6">
                    <a:moveTo>
                      <a:pt x="118" y="86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6"/>
                    </a:lnTo>
                    <a:lnTo>
                      <a:pt x="118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19" name="Freeform 1007"/>
              <p:cNvSpPr>
                <a:spLocks/>
              </p:cNvSpPr>
              <p:nvPr/>
            </p:nvSpPr>
            <p:spPr bwMode="auto">
              <a:xfrm>
                <a:off x="2922" y="1011"/>
                <a:ext cx="17" cy="13"/>
              </a:xfrm>
              <a:custGeom>
                <a:avLst/>
                <a:gdLst>
                  <a:gd name="T0" fmla="*/ 33 w 33"/>
                  <a:gd name="T1" fmla="*/ 22 h 26"/>
                  <a:gd name="T2" fmla="*/ 0 w 33"/>
                  <a:gd name="T3" fmla="*/ 0 h 26"/>
                  <a:gd name="T4" fmla="*/ 0 w 33"/>
                  <a:gd name="T5" fmla="*/ 26 h 26"/>
                  <a:gd name="T6" fmla="*/ 33 w 33"/>
                  <a:gd name="T7" fmla="*/ 2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6">
                    <a:moveTo>
                      <a:pt x="33" y="22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3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20" name="Freeform 1008"/>
              <p:cNvSpPr>
                <a:spLocks/>
              </p:cNvSpPr>
              <p:nvPr/>
            </p:nvSpPr>
            <p:spPr bwMode="auto">
              <a:xfrm>
                <a:off x="2922" y="1023"/>
                <a:ext cx="32" cy="14"/>
              </a:xfrm>
              <a:custGeom>
                <a:avLst/>
                <a:gdLst>
                  <a:gd name="T0" fmla="*/ 33 w 64"/>
                  <a:gd name="T1" fmla="*/ 0 h 29"/>
                  <a:gd name="T2" fmla="*/ 64 w 64"/>
                  <a:gd name="T3" fmla="*/ 22 h 29"/>
                  <a:gd name="T4" fmla="*/ 0 w 64"/>
                  <a:gd name="T5" fmla="*/ 29 h 29"/>
                  <a:gd name="T6" fmla="*/ 0 w 64"/>
                  <a:gd name="T7" fmla="*/ 4 h 29"/>
                  <a:gd name="T8" fmla="*/ 33 w 64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9">
                    <a:moveTo>
                      <a:pt x="33" y="0"/>
                    </a:moveTo>
                    <a:lnTo>
                      <a:pt x="64" y="22"/>
                    </a:lnTo>
                    <a:lnTo>
                      <a:pt x="0" y="29"/>
                    </a:lnTo>
                    <a:lnTo>
                      <a:pt x="0" y="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321" name="Group 1009"/>
            <p:cNvGrpSpPr>
              <a:grpSpLocks/>
            </p:cNvGrpSpPr>
            <p:nvPr/>
          </p:nvGrpSpPr>
          <p:grpSpPr bwMode="auto">
            <a:xfrm>
              <a:off x="2922" y="1011"/>
              <a:ext cx="1368" cy="1589"/>
              <a:chOff x="2922" y="1011"/>
              <a:chExt cx="1368" cy="1589"/>
            </a:xfrm>
          </p:grpSpPr>
          <p:sp>
            <p:nvSpPr>
              <p:cNvPr id="142322" name="Freeform 1010"/>
              <p:cNvSpPr>
                <a:spLocks/>
              </p:cNvSpPr>
              <p:nvPr/>
            </p:nvSpPr>
            <p:spPr bwMode="auto">
              <a:xfrm>
                <a:off x="2922" y="1034"/>
                <a:ext cx="49" cy="16"/>
              </a:xfrm>
              <a:custGeom>
                <a:avLst/>
                <a:gdLst>
                  <a:gd name="T0" fmla="*/ 64 w 97"/>
                  <a:gd name="T1" fmla="*/ 0 h 33"/>
                  <a:gd name="T2" fmla="*/ 97 w 97"/>
                  <a:gd name="T3" fmla="*/ 23 h 33"/>
                  <a:gd name="T4" fmla="*/ 0 w 97"/>
                  <a:gd name="T5" fmla="*/ 33 h 33"/>
                  <a:gd name="T6" fmla="*/ 0 w 97"/>
                  <a:gd name="T7" fmla="*/ 7 h 33"/>
                  <a:gd name="T8" fmla="*/ 64 w 97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33">
                    <a:moveTo>
                      <a:pt x="64" y="0"/>
                    </a:moveTo>
                    <a:lnTo>
                      <a:pt x="97" y="23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23" name="Freeform 1011"/>
              <p:cNvSpPr>
                <a:spLocks/>
              </p:cNvSpPr>
              <p:nvPr/>
            </p:nvSpPr>
            <p:spPr bwMode="auto">
              <a:xfrm>
                <a:off x="2922" y="1045"/>
                <a:ext cx="61" cy="18"/>
              </a:xfrm>
              <a:custGeom>
                <a:avLst/>
                <a:gdLst>
                  <a:gd name="T0" fmla="*/ 97 w 123"/>
                  <a:gd name="T1" fmla="*/ 0 h 36"/>
                  <a:gd name="T2" fmla="*/ 123 w 123"/>
                  <a:gd name="T3" fmla="*/ 19 h 36"/>
                  <a:gd name="T4" fmla="*/ 123 w 123"/>
                  <a:gd name="T5" fmla="*/ 24 h 36"/>
                  <a:gd name="T6" fmla="*/ 0 w 123"/>
                  <a:gd name="T7" fmla="*/ 36 h 36"/>
                  <a:gd name="T8" fmla="*/ 0 w 123"/>
                  <a:gd name="T9" fmla="*/ 10 h 36"/>
                  <a:gd name="T10" fmla="*/ 97 w 123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6">
                    <a:moveTo>
                      <a:pt x="97" y="0"/>
                    </a:moveTo>
                    <a:lnTo>
                      <a:pt x="123" y="19"/>
                    </a:lnTo>
                    <a:lnTo>
                      <a:pt x="123" y="24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24" name="Freeform 1012"/>
              <p:cNvSpPr>
                <a:spLocks/>
              </p:cNvSpPr>
              <p:nvPr/>
            </p:nvSpPr>
            <p:spPr bwMode="auto">
              <a:xfrm>
                <a:off x="2922" y="1057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2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25" name="Freeform 1013"/>
              <p:cNvSpPr>
                <a:spLocks/>
              </p:cNvSpPr>
              <p:nvPr/>
            </p:nvSpPr>
            <p:spPr bwMode="auto">
              <a:xfrm>
                <a:off x="2922" y="1070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26" name="Freeform 1014"/>
              <p:cNvSpPr>
                <a:spLocks/>
              </p:cNvSpPr>
              <p:nvPr/>
            </p:nvSpPr>
            <p:spPr bwMode="auto">
              <a:xfrm>
                <a:off x="2922" y="1083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27" name="Freeform 1015"/>
              <p:cNvSpPr>
                <a:spLocks/>
              </p:cNvSpPr>
              <p:nvPr/>
            </p:nvSpPr>
            <p:spPr bwMode="auto">
              <a:xfrm>
                <a:off x="2922" y="1096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4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28" name="Freeform 1016"/>
              <p:cNvSpPr>
                <a:spLocks/>
              </p:cNvSpPr>
              <p:nvPr/>
            </p:nvSpPr>
            <p:spPr bwMode="auto">
              <a:xfrm>
                <a:off x="2922" y="1109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5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29" name="Freeform 1017"/>
              <p:cNvSpPr>
                <a:spLocks/>
              </p:cNvSpPr>
              <p:nvPr/>
            </p:nvSpPr>
            <p:spPr bwMode="auto">
              <a:xfrm>
                <a:off x="2922" y="1122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0" name="Freeform 1018"/>
              <p:cNvSpPr>
                <a:spLocks/>
              </p:cNvSpPr>
              <p:nvPr/>
            </p:nvSpPr>
            <p:spPr bwMode="auto">
              <a:xfrm>
                <a:off x="2922" y="1135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8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1" name="Freeform 1019"/>
              <p:cNvSpPr>
                <a:spLocks/>
              </p:cNvSpPr>
              <p:nvPr/>
            </p:nvSpPr>
            <p:spPr bwMode="auto">
              <a:xfrm>
                <a:off x="2922" y="1148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2" name="Freeform 1020"/>
              <p:cNvSpPr>
                <a:spLocks/>
              </p:cNvSpPr>
              <p:nvPr/>
            </p:nvSpPr>
            <p:spPr bwMode="auto">
              <a:xfrm>
                <a:off x="2922" y="1161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3" name="Freeform 1021"/>
              <p:cNvSpPr>
                <a:spLocks/>
              </p:cNvSpPr>
              <p:nvPr/>
            </p:nvSpPr>
            <p:spPr bwMode="auto">
              <a:xfrm>
                <a:off x="2922" y="1174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4" name="Freeform 1022"/>
              <p:cNvSpPr>
                <a:spLocks/>
              </p:cNvSpPr>
              <p:nvPr/>
            </p:nvSpPr>
            <p:spPr bwMode="auto">
              <a:xfrm>
                <a:off x="2922" y="1187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2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5" name="Freeform 1023"/>
              <p:cNvSpPr>
                <a:spLocks/>
              </p:cNvSpPr>
              <p:nvPr/>
            </p:nvSpPr>
            <p:spPr bwMode="auto">
              <a:xfrm>
                <a:off x="2922" y="1200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5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6" name="Freeform 1024"/>
              <p:cNvSpPr>
                <a:spLocks/>
              </p:cNvSpPr>
              <p:nvPr/>
            </p:nvSpPr>
            <p:spPr bwMode="auto">
              <a:xfrm>
                <a:off x="2922" y="1213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19 h 40"/>
                  <a:gd name="T4" fmla="*/ 111 w 123"/>
                  <a:gd name="T5" fmla="*/ 28 h 40"/>
                  <a:gd name="T6" fmla="*/ 0 w 123"/>
                  <a:gd name="T7" fmla="*/ 40 h 40"/>
                  <a:gd name="T8" fmla="*/ 0 w 123"/>
                  <a:gd name="T9" fmla="*/ 14 h 40"/>
                  <a:gd name="T10" fmla="*/ 123 w 123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19"/>
                    </a:lnTo>
                    <a:lnTo>
                      <a:pt x="111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7" name="Freeform 1025"/>
              <p:cNvSpPr>
                <a:spLocks/>
              </p:cNvSpPr>
              <p:nvPr/>
            </p:nvSpPr>
            <p:spPr bwMode="auto">
              <a:xfrm>
                <a:off x="2922" y="1227"/>
                <a:ext cx="55" cy="19"/>
              </a:xfrm>
              <a:custGeom>
                <a:avLst/>
                <a:gdLst>
                  <a:gd name="T0" fmla="*/ 111 w 111"/>
                  <a:gd name="T1" fmla="*/ 0 h 38"/>
                  <a:gd name="T2" fmla="*/ 68 w 111"/>
                  <a:gd name="T3" fmla="*/ 31 h 38"/>
                  <a:gd name="T4" fmla="*/ 0 w 111"/>
                  <a:gd name="T5" fmla="*/ 38 h 38"/>
                  <a:gd name="T6" fmla="*/ 0 w 111"/>
                  <a:gd name="T7" fmla="*/ 12 h 38"/>
                  <a:gd name="T8" fmla="*/ 111 w 111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38">
                    <a:moveTo>
                      <a:pt x="111" y="0"/>
                    </a:moveTo>
                    <a:lnTo>
                      <a:pt x="68" y="31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8" name="Freeform 1026"/>
              <p:cNvSpPr>
                <a:spLocks/>
              </p:cNvSpPr>
              <p:nvPr/>
            </p:nvSpPr>
            <p:spPr bwMode="auto">
              <a:xfrm>
                <a:off x="2922" y="1243"/>
                <a:ext cx="34" cy="17"/>
              </a:xfrm>
              <a:custGeom>
                <a:avLst/>
                <a:gdLst>
                  <a:gd name="T0" fmla="*/ 68 w 68"/>
                  <a:gd name="T1" fmla="*/ 0 h 35"/>
                  <a:gd name="T2" fmla="*/ 21 w 68"/>
                  <a:gd name="T3" fmla="*/ 33 h 35"/>
                  <a:gd name="T4" fmla="*/ 0 w 68"/>
                  <a:gd name="T5" fmla="*/ 35 h 35"/>
                  <a:gd name="T6" fmla="*/ 0 w 68"/>
                  <a:gd name="T7" fmla="*/ 7 h 35"/>
                  <a:gd name="T8" fmla="*/ 68 w 68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5">
                    <a:moveTo>
                      <a:pt x="68" y="0"/>
                    </a:moveTo>
                    <a:lnTo>
                      <a:pt x="21" y="33"/>
                    </a:lnTo>
                    <a:lnTo>
                      <a:pt x="0" y="35"/>
                    </a:lnTo>
                    <a:lnTo>
                      <a:pt x="0" y="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39" name="Freeform 1027"/>
              <p:cNvSpPr>
                <a:spLocks/>
              </p:cNvSpPr>
              <p:nvPr/>
            </p:nvSpPr>
            <p:spPr bwMode="auto">
              <a:xfrm>
                <a:off x="2922" y="1259"/>
                <a:ext cx="11" cy="7"/>
              </a:xfrm>
              <a:custGeom>
                <a:avLst/>
                <a:gdLst>
                  <a:gd name="T0" fmla="*/ 21 w 21"/>
                  <a:gd name="T1" fmla="*/ 0 h 14"/>
                  <a:gd name="T2" fmla="*/ 0 w 21"/>
                  <a:gd name="T3" fmla="*/ 14 h 14"/>
                  <a:gd name="T4" fmla="*/ 0 w 21"/>
                  <a:gd name="T5" fmla="*/ 2 h 14"/>
                  <a:gd name="T6" fmla="*/ 21 w 21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14">
                    <a:moveTo>
                      <a:pt x="21" y="0"/>
                    </a:moveTo>
                    <a:lnTo>
                      <a:pt x="0" y="14"/>
                    </a:lnTo>
                    <a:lnTo>
                      <a:pt x="0" y="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0" name="Freeform 1028"/>
              <p:cNvSpPr>
                <a:spLocks/>
              </p:cNvSpPr>
              <p:nvPr/>
            </p:nvSpPr>
            <p:spPr bwMode="auto">
              <a:xfrm>
                <a:off x="2922" y="1011"/>
                <a:ext cx="61" cy="255"/>
              </a:xfrm>
              <a:custGeom>
                <a:avLst/>
                <a:gdLst>
                  <a:gd name="T0" fmla="*/ 123 w 123"/>
                  <a:gd name="T1" fmla="*/ 422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6 h 509"/>
                  <a:gd name="T8" fmla="*/ 123 w 123"/>
                  <a:gd name="T9" fmla="*/ 422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2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6"/>
                    </a:lnTo>
                    <a:lnTo>
                      <a:pt x="123" y="422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1" name="Rectangle 1029"/>
              <p:cNvSpPr>
                <a:spLocks noChangeArrowheads="1"/>
              </p:cNvSpPr>
              <p:nvPr/>
            </p:nvSpPr>
            <p:spPr bwMode="auto">
              <a:xfrm>
                <a:off x="2924" y="1457"/>
                <a:ext cx="68" cy="255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2" name="Rectangle 1030"/>
              <p:cNvSpPr>
                <a:spLocks noChangeArrowheads="1"/>
              </p:cNvSpPr>
              <p:nvPr/>
            </p:nvSpPr>
            <p:spPr bwMode="auto">
              <a:xfrm>
                <a:off x="2992" y="1457"/>
                <a:ext cx="68" cy="255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3" name="Rectangle 1031"/>
              <p:cNvSpPr>
                <a:spLocks noChangeArrowheads="1"/>
              </p:cNvSpPr>
              <p:nvPr/>
            </p:nvSpPr>
            <p:spPr bwMode="auto">
              <a:xfrm>
                <a:off x="3060" y="1457"/>
                <a:ext cx="68" cy="255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4" name="Rectangle 1032"/>
              <p:cNvSpPr>
                <a:spLocks noChangeArrowheads="1"/>
              </p:cNvSpPr>
              <p:nvPr/>
            </p:nvSpPr>
            <p:spPr bwMode="auto">
              <a:xfrm>
                <a:off x="3128" y="1457"/>
                <a:ext cx="69" cy="255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5" name="Rectangle 1033"/>
              <p:cNvSpPr>
                <a:spLocks noChangeArrowheads="1"/>
              </p:cNvSpPr>
              <p:nvPr/>
            </p:nvSpPr>
            <p:spPr bwMode="auto">
              <a:xfrm>
                <a:off x="3197" y="1457"/>
                <a:ext cx="68" cy="255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6" name="Rectangle 1034"/>
              <p:cNvSpPr>
                <a:spLocks noChangeArrowheads="1"/>
              </p:cNvSpPr>
              <p:nvPr/>
            </p:nvSpPr>
            <p:spPr bwMode="auto">
              <a:xfrm>
                <a:off x="3265" y="1457"/>
                <a:ext cx="68" cy="255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7" name="Rectangle 1035"/>
              <p:cNvSpPr>
                <a:spLocks noChangeArrowheads="1"/>
              </p:cNvSpPr>
              <p:nvPr/>
            </p:nvSpPr>
            <p:spPr bwMode="auto">
              <a:xfrm>
                <a:off x="3333" y="1457"/>
                <a:ext cx="68" cy="255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8" name="Rectangle 1036"/>
              <p:cNvSpPr>
                <a:spLocks noChangeArrowheads="1"/>
              </p:cNvSpPr>
              <p:nvPr/>
            </p:nvSpPr>
            <p:spPr bwMode="auto">
              <a:xfrm>
                <a:off x="3401" y="1457"/>
                <a:ext cx="68" cy="255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49" name="Rectangle 1037"/>
              <p:cNvSpPr>
                <a:spLocks noChangeArrowheads="1"/>
              </p:cNvSpPr>
              <p:nvPr/>
            </p:nvSpPr>
            <p:spPr bwMode="auto">
              <a:xfrm>
                <a:off x="3469" y="1457"/>
                <a:ext cx="69" cy="255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0" name="Rectangle 1038"/>
              <p:cNvSpPr>
                <a:spLocks noChangeArrowheads="1"/>
              </p:cNvSpPr>
              <p:nvPr/>
            </p:nvSpPr>
            <p:spPr bwMode="auto">
              <a:xfrm>
                <a:off x="3538" y="1457"/>
                <a:ext cx="69" cy="255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1" name="Rectangle 1039"/>
              <p:cNvSpPr>
                <a:spLocks noChangeArrowheads="1"/>
              </p:cNvSpPr>
              <p:nvPr/>
            </p:nvSpPr>
            <p:spPr bwMode="auto">
              <a:xfrm>
                <a:off x="3607" y="1457"/>
                <a:ext cx="68" cy="255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2" name="Rectangle 1040"/>
              <p:cNvSpPr>
                <a:spLocks noChangeArrowheads="1"/>
              </p:cNvSpPr>
              <p:nvPr/>
            </p:nvSpPr>
            <p:spPr bwMode="auto">
              <a:xfrm>
                <a:off x="3675" y="1457"/>
                <a:ext cx="68" cy="255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3" name="Rectangle 1041"/>
              <p:cNvSpPr>
                <a:spLocks noChangeArrowheads="1"/>
              </p:cNvSpPr>
              <p:nvPr/>
            </p:nvSpPr>
            <p:spPr bwMode="auto">
              <a:xfrm>
                <a:off x="3743" y="1457"/>
                <a:ext cx="68" cy="255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4" name="Rectangle 1042"/>
              <p:cNvSpPr>
                <a:spLocks noChangeArrowheads="1"/>
              </p:cNvSpPr>
              <p:nvPr/>
            </p:nvSpPr>
            <p:spPr bwMode="auto">
              <a:xfrm>
                <a:off x="3811" y="1457"/>
                <a:ext cx="68" cy="255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5" name="Rectangle 1043"/>
              <p:cNvSpPr>
                <a:spLocks noChangeArrowheads="1"/>
              </p:cNvSpPr>
              <p:nvPr/>
            </p:nvSpPr>
            <p:spPr bwMode="auto">
              <a:xfrm>
                <a:off x="3879" y="1457"/>
                <a:ext cx="69" cy="255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6" name="Rectangle 1044"/>
              <p:cNvSpPr>
                <a:spLocks noChangeArrowheads="1"/>
              </p:cNvSpPr>
              <p:nvPr/>
            </p:nvSpPr>
            <p:spPr bwMode="auto">
              <a:xfrm>
                <a:off x="3948" y="1457"/>
                <a:ext cx="68" cy="255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7" name="Rectangle 1045"/>
              <p:cNvSpPr>
                <a:spLocks noChangeArrowheads="1"/>
              </p:cNvSpPr>
              <p:nvPr/>
            </p:nvSpPr>
            <p:spPr bwMode="auto">
              <a:xfrm>
                <a:off x="4016" y="1457"/>
                <a:ext cx="68" cy="255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8" name="Rectangle 1046"/>
              <p:cNvSpPr>
                <a:spLocks noChangeArrowheads="1"/>
              </p:cNvSpPr>
              <p:nvPr/>
            </p:nvSpPr>
            <p:spPr bwMode="auto">
              <a:xfrm>
                <a:off x="4084" y="1457"/>
                <a:ext cx="68" cy="255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59" name="Rectangle 1047"/>
              <p:cNvSpPr>
                <a:spLocks noChangeArrowheads="1"/>
              </p:cNvSpPr>
              <p:nvPr/>
            </p:nvSpPr>
            <p:spPr bwMode="auto">
              <a:xfrm>
                <a:off x="4152" y="1457"/>
                <a:ext cx="69" cy="255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0" name="Rectangle 1048"/>
              <p:cNvSpPr>
                <a:spLocks noChangeArrowheads="1"/>
              </p:cNvSpPr>
              <p:nvPr/>
            </p:nvSpPr>
            <p:spPr bwMode="auto">
              <a:xfrm>
                <a:off x="4221" y="1457"/>
                <a:ext cx="68" cy="2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1" name="Rectangle 1049"/>
              <p:cNvSpPr>
                <a:spLocks noChangeArrowheads="1"/>
              </p:cNvSpPr>
              <p:nvPr/>
            </p:nvSpPr>
            <p:spPr bwMode="auto">
              <a:xfrm>
                <a:off x="2924" y="1457"/>
                <a:ext cx="1365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2" name="Rectangle 1050"/>
              <p:cNvSpPr>
                <a:spLocks noChangeArrowheads="1"/>
              </p:cNvSpPr>
              <p:nvPr/>
            </p:nvSpPr>
            <p:spPr bwMode="auto">
              <a:xfrm>
                <a:off x="2924" y="1455"/>
                <a:ext cx="68" cy="2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3" name="Rectangle 1051"/>
              <p:cNvSpPr>
                <a:spLocks noChangeArrowheads="1"/>
              </p:cNvSpPr>
              <p:nvPr/>
            </p:nvSpPr>
            <p:spPr bwMode="auto">
              <a:xfrm>
                <a:off x="2992" y="1455"/>
                <a:ext cx="68" cy="25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4" name="Rectangle 1052"/>
              <p:cNvSpPr>
                <a:spLocks noChangeArrowheads="1"/>
              </p:cNvSpPr>
              <p:nvPr/>
            </p:nvSpPr>
            <p:spPr bwMode="auto">
              <a:xfrm>
                <a:off x="3060" y="1455"/>
                <a:ext cx="68" cy="25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5" name="Rectangle 1053"/>
              <p:cNvSpPr>
                <a:spLocks noChangeArrowheads="1"/>
              </p:cNvSpPr>
              <p:nvPr/>
            </p:nvSpPr>
            <p:spPr bwMode="auto">
              <a:xfrm>
                <a:off x="3128" y="1455"/>
                <a:ext cx="69" cy="25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6" name="Rectangle 1054"/>
              <p:cNvSpPr>
                <a:spLocks noChangeArrowheads="1"/>
              </p:cNvSpPr>
              <p:nvPr/>
            </p:nvSpPr>
            <p:spPr bwMode="auto">
              <a:xfrm>
                <a:off x="3197" y="1455"/>
                <a:ext cx="68" cy="25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7" name="Rectangle 1055"/>
              <p:cNvSpPr>
                <a:spLocks noChangeArrowheads="1"/>
              </p:cNvSpPr>
              <p:nvPr/>
            </p:nvSpPr>
            <p:spPr bwMode="auto">
              <a:xfrm>
                <a:off x="3265" y="1455"/>
                <a:ext cx="68" cy="25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8" name="Rectangle 1056"/>
              <p:cNvSpPr>
                <a:spLocks noChangeArrowheads="1"/>
              </p:cNvSpPr>
              <p:nvPr/>
            </p:nvSpPr>
            <p:spPr bwMode="auto">
              <a:xfrm>
                <a:off x="3333" y="1455"/>
                <a:ext cx="68" cy="25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69" name="Rectangle 1057"/>
              <p:cNvSpPr>
                <a:spLocks noChangeArrowheads="1"/>
              </p:cNvSpPr>
              <p:nvPr/>
            </p:nvSpPr>
            <p:spPr bwMode="auto">
              <a:xfrm>
                <a:off x="3401" y="1455"/>
                <a:ext cx="68" cy="25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0" name="Rectangle 1058"/>
              <p:cNvSpPr>
                <a:spLocks noChangeArrowheads="1"/>
              </p:cNvSpPr>
              <p:nvPr/>
            </p:nvSpPr>
            <p:spPr bwMode="auto">
              <a:xfrm>
                <a:off x="3469" y="1455"/>
                <a:ext cx="69" cy="25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1" name="Rectangle 1059"/>
              <p:cNvSpPr>
                <a:spLocks noChangeArrowheads="1"/>
              </p:cNvSpPr>
              <p:nvPr/>
            </p:nvSpPr>
            <p:spPr bwMode="auto">
              <a:xfrm>
                <a:off x="3538" y="1455"/>
                <a:ext cx="69" cy="25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2" name="Rectangle 1060"/>
              <p:cNvSpPr>
                <a:spLocks noChangeArrowheads="1"/>
              </p:cNvSpPr>
              <p:nvPr/>
            </p:nvSpPr>
            <p:spPr bwMode="auto">
              <a:xfrm>
                <a:off x="3607" y="1455"/>
                <a:ext cx="68" cy="25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3" name="Rectangle 1061"/>
              <p:cNvSpPr>
                <a:spLocks noChangeArrowheads="1"/>
              </p:cNvSpPr>
              <p:nvPr/>
            </p:nvSpPr>
            <p:spPr bwMode="auto">
              <a:xfrm>
                <a:off x="3675" y="1455"/>
                <a:ext cx="68" cy="25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4" name="Rectangle 1062"/>
              <p:cNvSpPr>
                <a:spLocks noChangeArrowheads="1"/>
              </p:cNvSpPr>
              <p:nvPr/>
            </p:nvSpPr>
            <p:spPr bwMode="auto">
              <a:xfrm>
                <a:off x="3743" y="1455"/>
                <a:ext cx="68" cy="25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5" name="Rectangle 1063"/>
              <p:cNvSpPr>
                <a:spLocks noChangeArrowheads="1"/>
              </p:cNvSpPr>
              <p:nvPr/>
            </p:nvSpPr>
            <p:spPr bwMode="auto">
              <a:xfrm>
                <a:off x="3811" y="1455"/>
                <a:ext cx="68" cy="25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6" name="Rectangle 1064"/>
              <p:cNvSpPr>
                <a:spLocks noChangeArrowheads="1"/>
              </p:cNvSpPr>
              <p:nvPr/>
            </p:nvSpPr>
            <p:spPr bwMode="auto">
              <a:xfrm>
                <a:off x="3879" y="1455"/>
                <a:ext cx="69" cy="25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7" name="Rectangle 1065"/>
              <p:cNvSpPr>
                <a:spLocks noChangeArrowheads="1"/>
              </p:cNvSpPr>
              <p:nvPr/>
            </p:nvSpPr>
            <p:spPr bwMode="auto">
              <a:xfrm>
                <a:off x="3948" y="1455"/>
                <a:ext cx="68" cy="25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8" name="Rectangle 1066"/>
              <p:cNvSpPr>
                <a:spLocks noChangeArrowheads="1"/>
              </p:cNvSpPr>
              <p:nvPr/>
            </p:nvSpPr>
            <p:spPr bwMode="auto">
              <a:xfrm>
                <a:off x="4016" y="1455"/>
                <a:ext cx="68" cy="25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79" name="Rectangle 1067"/>
              <p:cNvSpPr>
                <a:spLocks noChangeArrowheads="1"/>
              </p:cNvSpPr>
              <p:nvPr/>
            </p:nvSpPr>
            <p:spPr bwMode="auto">
              <a:xfrm>
                <a:off x="4084" y="1455"/>
                <a:ext cx="68" cy="25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0" name="Rectangle 1068"/>
              <p:cNvSpPr>
                <a:spLocks noChangeArrowheads="1"/>
              </p:cNvSpPr>
              <p:nvPr/>
            </p:nvSpPr>
            <p:spPr bwMode="auto">
              <a:xfrm>
                <a:off x="4152" y="1455"/>
                <a:ext cx="69" cy="25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1" name="Rectangle 1069"/>
              <p:cNvSpPr>
                <a:spLocks noChangeArrowheads="1"/>
              </p:cNvSpPr>
              <p:nvPr/>
            </p:nvSpPr>
            <p:spPr bwMode="auto">
              <a:xfrm>
                <a:off x="4221" y="1455"/>
                <a:ext cx="68" cy="25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2" name="Rectangle 1070"/>
              <p:cNvSpPr>
                <a:spLocks noChangeArrowheads="1"/>
              </p:cNvSpPr>
              <p:nvPr/>
            </p:nvSpPr>
            <p:spPr bwMode="auto">
              <a:xfrm>
                <a:off x="2924" y="1455"/>
                <a:ext cx="1365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3" name="Freeform 1071"/>
              <p:cNvSpPr>
                <a:spLocks/>
              </p:cNvSpPr>
              <p:nvPr/>
            </p:nvSpPr>
            <p:spPr bwMode="auto">
              <a:xfrm>
                <a:off x="4275" y="1456"/>
                <a:ext cx="9" cy="7"/>
              </a:xfrm>
              <a:custGeom>
                <a:avLst/>
                <a:gdLst>
                  <a:gd name="T0" fmla="*/ 19 w 19"/>
                  <a:gd name="T1" fmla="*/ 12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2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4" name="Freeform 1072"/>
              <p:cNvSpPr>
                <a:spLocks/>
              </p:cNvSpPr>
              <p:nvPr/>
            </p:nvSpPr>
            <p:spPr bwMode="auto">
              <a:xfrm>
                <a:off x="4257" y="1463"/>
                <a:ext cx="27" cy="15"/>
              </a:xfrm>
              <a:custGeom>
                <a:avLst/>
                <a:gdLst>
                  <a:gd name="T0" fmla="*/ 55 w 55"/>
                  <a:gd name="T1" fmla="*/ 0 h 31"/>
                  <a:gd name="T2" fmla="*/ 55 w 55"/>
                  <a:gd name="T3" fmla="*/ 24 h 31"/>
                  <a:gd name="T4" fmla="*/ 0 w 55"/>
                  <a:gd name="T5" fmla="*/ 31 h 31"/>
                  <a:gd name="T6" fmla="*/ 36 w 55"/>
                  <a:gd name="T7" fmla="*/ 2 h 31"/>
                  <a:gd name="T8" fmla="*/ 55 w 5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1">
                    <a:moveTo>
                      <a:pt x="55" y="0"/>
                    </a:moveTo>
                    <a:lnTo>
                      <a:pt x="55" y="24"/>
                    </a:lnTo>
                    <a:lnTo>
                      <a:pt x="0" y="31"/>
                    </a:lnTo>
                    <a:lnTo>
                      <a:pt x="36" y="2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5" name="Freeform 1073"/>
              <p:cNvSpPr>
                <a:spLocks/>
              </p:cNvSpPr>
              <p:nvPr/>
            </p:nvSpPr>
            <p:spPr bwMode="auto">
              <a:xfrm>
                <a:off x="4236" y="1475"/>
                <a:ext cx="48" cy="19"/>
              </a:xfrm>
              <a:custGeom>
                <a:avLst/>
                <a:gdLst>
                  <a:gd name="T0" fmla="*/ 96 w 96"/>
                  <a:gd name="T1" fmla="*/ 0 h 38"/>
                  <a:gd name="T2" fmla="*/ 96 w 96"/>
                  <a:gd name="T3" fmla="*/ 26 h 38"/>
                  <a:gd name="T4" fmla="*/ 0 w 96"/>
                  <a:gd name="T5" fmla="*/ 38 h 38"/>
                  <a:gd name="T6" fmla="*/ 41 w 96"/>
                  <a:gd name="T7" fmla="*/ 7 h 38"/>
                  <a:gd name="T8" fmla="*/ 96 w 96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38">
                    <a:moveTo>
                      <a:pt x="96" y="0"/>
                    </a:moveTo>
                    <a:lnTo>
                      <a:pt x="96" y="26"/>
                    </a:lnTo>
                    <a:lnTo>
                      <a:pt x="0" y="38"/>
                    </a:lnTo>
                    <a:lnTo>
                      <a:pt x="41" y="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6" name="Freeform 1074"/>
              <p:cNvSpPr>
                <a:spLocks/>
              </p:cNvSpPr>
              <p:nvPr/>
            </p:nvSpPr>
            <p:spPr bwMode="auto">
              <a:xfrm>
                <a:off x="4228" y="1488"/>
                <a:ext cx="56" cy="19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24 h 40"/>
                  <a:gd name="T8" fmla="*/ 16 w 112"/>
                  <a:gd name="T9" fmla="*/ 12 h 40"/>
                  <a:gd name="T10" fmla="*/ 112 w 112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24"/>
                    </a:lnTo>
                    <a:lnTo>
                      <a:pt x="16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7" name="Freeform 1075"/>
              <p:cNvSpPr>
                <a:spLocks/>
              </p:cNvSpPr>
              <p:nvPr/>
            </p:nvSpPr>
            <p:spPr bwMode="auto">
              <a:xfrm>
                <a:off x="4228" y="1500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8" name="Freeform 1076"/>
              <p:cNvSpPr>
                <a:spLocks/>
              </p:cNvSpPr>
              <p:nvPr/>
            </p:nvSpPr>
            <p:spPr bwMode="auto">
              <a:xfrm>
                <a:off x="4228" y="1513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7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89" name="Freeform 1077"/>
              <p:cNvSpPr>
                <a:spLocks/>
              </p:cNvSpPr>
              <p:nvPr/>
            </p:nvSpPr>
            <p:spPr bwMode="auto">
              <a:xfrm>
                <a:off x="4228" y="152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3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0" name="Freeform 1078"/>
              <p:cNvSpPr>
                <a:spLocks/>
              </p:cNvSpPr>
              <p:nvPr/>
            </p:nvSpPr>
            <p:spPr bwMode="auto">
              <a:xfrm>
                <a:off x="4228" y="1540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1" name="Freeform 1079"/>
              <p:cNvSpPr>
                <a:spLocks/>
              </p:cNvSpPr>
              <p:nvPr/>
            </p:nvSpPr>
            <p:spPr bwMode="auto">
              <a:xfrm>
                <a:off x="4228" y="1553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2" name="Freeform 1080"/>
              <p:cNvSpPr>
                <a:spLocks/>
              </p:cNvSpPr>
              <p:nvPr/>
            </p:nvSpPr>
            <p:spPr bwMode="auto">
              <a:xfrm>
                <a:off x="4228" y="1566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2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3" name="Freeform 1081"/>
              <p:cNvSpPr>
                <a:spLocks/>
              </p:cNvSpPr>
              <p:nvPr/>
            </p:nvSpPr>
            <p:spPr bwMode="auto">
              <a:xfrm>
                <a:off x="4228" y="1579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4" name="Freeform 1082"/>
              <p:cNvSpPr>
                <a:spLocks/>
              </p:cNvSpPr>
              <p:nvPr/>
            </p:nvSpPr>
            <p:spPr bwMode="auto">
              <a:xfrm>
                <a:off x="4228" y="1592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5" name="Freeform 1083"/>
              <p:cNvSpPr>
                <a:spLocks/>
              </p:cNvSpPr>
              <p:nvPr/>
            </p:nvSpPr>
            <p:spPr bwMode="auto">
              <a:xfrm>
                <a:off x="4228" y="1605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6" name="Freeform 1084"/>
              <p:cNvSpPr>
                <a:spLocks/>
              </p:cNvSpPr>
              <p:nvPr/>
            </p:nvSpPr>
            <p:spPr bwMode="auto">
              <a:xfrm>
                <a:off x="4228" y="1618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7" name="Freeform 1085"/>
              <p:cNvSpPr>
                <a:spLocks/>
              </p:cNvSpPr>
              <p:nvPr/>
            </p:nvSpPr>
            <p:spPr bwMode="auto">
              <a:xfrm>
                <a:off x="4228" y="1631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5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8" name="Freeform 1086"/>
              <p:cNvSpPr>
                <a:spLocks/>
              </p:cNvSpPr>
              <p:nvPr/>
            </p:nvSpPr>
            <p:spPr bwMode="auto">
              <a:xfrm>
                <a:off x="4228" y="1644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8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99" name="Freeform 1087"/>
              <p:cNvSpPr>
                <a:spLocks/>
              </p:cNvSpPr>
              <p:nvPr/>
            </p:nvSpPr>
            <p:spPr bwMode="auto">
              <a:xfrm>
                <a:off x="4228" y="1658"/>
                <a:ext cx="56" cy="17"/>
              </a:xfrm>
              <a:custGeom>
                <a:avLst/>
                <a:gdLst>
                  <a:gd name="T0" fmla="*/ 112 w 112"/>
                  <a:gd name="T1" fmla="*/ 0 h 35"/>
                  <a:gd name="T2" fmla="*/ 112 w 112"/>
                  <a:gd name="T3" fmla="*/ 26 h 35"/>
                  <a:gd name="T4" fmla="*/ 26 w 112"/>
                  <a:gd name="T5" fmla="*/ 35 h 35"/>
                  <a:gd name="T6" fmla="*/ 0 w 112"/>
                  <a:gd name="T7" fmla="*/ 16 h 35"/>
                  <a:gd name="T8" fmla="*/ 0 w 112"/>
                  <a:gd name="T9" fmla="*/ 12 h 35"/>
                  <a:gd name="T10" fmla="*/ 112 w 112"/>
                  <a:gd name="T1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5">
                    <a:moveTo>
                      <a:pt x="112" y="0"/>
                    </a:moveTo>
                    <a:lnTo>
                      <a:pt x="112" y="26"/>
                    </a:lnTo>
                    <a:lnTo>
                      <a:pt x="26" y="35"/>
                    </a:lnTo>
                    <a:lnTo>
                      <a:pt x="0" y="16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0" name="Freeform 1088"/>
              <p:cNvSpPr>
                <a:spLocks/>
              </p:cNvSpPr>
              <p:nvPr/>
            </p:nvSpPr>
            <p:spPr bwMode="auto">
              <a:xfrm>
                <a:off x="4241" y="1670"/>
                <a:ext cx="43" cy="17"/>
              </a:xfrm>
              <a:custGeom>
                <a:avLst/>
                <a:gdLst>
                  <a:gd name="T0" fmla="*/ 86 w 86"/>
                  <a:gd name="T1" fmla="*/ 0 h 33"/>
                  <a:gd name="T2" fmla="*/ 86 w 86"/>
                  <a:gd name="T3" fmla="*/ 26 h 33"/>
                  <a:gd name="T4" fmla="*/ 29 w 86"/>
                  <a:gd name="T5" fmla="*/ 33 h 33"/>
                  <a:gd name="T6" fmla="*/ 0 w 86"/>
                  <a:gd name="T7" fmla="*/ 9 h 33"/>
                  <a:gd name="T8" fmla="*/ 86 w 8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3">
                    <a:moveTo>
                      <a:pt x="86" y="0"/>
                    </a:moveTo>
                    <a:lnTo>
                      <a:pt x="86" y="26"/>
                    </a:lnTo>
                    <a:lnTo>
                      <a:pt x="29" y="33"/>
                    </a:lnTo>
                    <a:lnTo>
                      <a:pt x="0" y="9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1" name="Freeform 1089"/>
              <p:cNvSpPr>
                <a:spLocks/>
              </p:cNvSpPr>
              <p:nvPr/>
            </p:nvSpPr>
            <p:spPr bwMode="auto">
              <a:xfrm>
                <a:off x="4256" y="1683"/>
                <a:ext cx="28" cy="15"/>
              </a:xfrm>
              <a:custGeom>
                <a:avLst/>
                <a:gdLst>
                  <a:gd name="T0" fmla="*/ 57 w 57"/>
                  <a:gd name="T1" fmla="*/ 0 h 29"/>
                  <a:gd name="T2" fmla="*/ 57 w 57"/>
                  <a:gd name="T3" fmla="*/ 26 h 29"/>
                  <a:gd name="T4" fmla="*/ 30 w 57"/>
                  <a:gd name="T5" fmla="*/ 29 h 29"/>
                  <a:gd name="T6" fmla="*/ 0 w 57"/>
                  <a:gd name="T7" fmla="*/ 7 h 29"/>
                  <a:gd name="T8" fmla="*/ 57 w 57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29">
                    <a:moveTo>
                      <a:pt x="57" y="0"/>
                    </a:moveTo>
                    <a:lnTo>
                      <a:pt x="57" y="26"/>
                    </a:lnTo>
                    <a:lnTo>
                      <a:pt x="30" y="29"/>
                    </a:lnTo>
                    <a:lnTo>
                      <a:pt x="0" y="7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2" name="Freeform 1090"/>
              <p:cNvSpPr>
                <a:spLocks/>
              </p:cNvSpPr>
              <p:nvPr/>
            </p:nvSpPr>
            <p:spPr bwMode="auto">
              <a:xfrm>
                <a:off x="4270" y="1696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3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3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3" name="Freeform 1091"/>
              <p:cNvSpPr>
                <a:spLocks/>
              </p:cNvSpPr>
              <p:nvPr/>
            </p:nvSpPr>
            <p:spPr bwMode="auto">
              <a:xfrm>
                <a:off x="4228" y="1456"/>
                <a:ext cx="56" cy="252"/>
              </a:xfrm>
              <a:custGeom>
                <a:avLst/>
                <a:gdLst>
                  <a:gd name="T0" fmla="*/ 0 w 112"/>
                  <a:gd name="T1" fmla="*/ 86 h 504"/>
                  <a:gd name="T2" fmla="*/ 112 w 112"/>
                  <a:gd name="T3" fmla="*/ 0 h 504"/>
                  <a:gd name="T4" fmla="*/ 112 w 112"/>
                  <a:gd name="T5" fmla="*/ 504 h 504"/>
                  <a:gd name="T6" fmla="*/ 0 w 112"/>
                  <a:gd name="T7" fmla="*/ 418 h 504"/>
                  <a:gd name="T8" fmla="*/ 0 w 112"/>
                  <a:gd name="T9" fmla="*/ 86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4">
                    <a:moveTo>
                      <a:pt x="0" y="86"/>
                    </a:moveTo>
                    <a:lnTo>
                      <a:pt x="112" y="0"/>
                    </a:lnTo>
                    <a:lnTo>
                      <a:pt x="112" y="504"/>
                    </a:lnTo>
                    <a:lnTo>
                      <a:pt x="0" y="418"/>
                    </a:lnTo>
                    <a:lnTo>
                      <a:pt x="0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4" name="Freeform 1092"/>
              <p:cNvSpPr>
                <a:spLocks/>
              </p:cNvSpPr>
              <p:nvPr/>
            </p:nvSpPr>
            <p:spPr bwMode="auto">
              <a:xfrm>
                <a:off x="4222" y="1664"/>
                <a:ext cx="68" cy="44"/>
              </a:xfrm>
              <a:custGeom>
                <a:avLst/>
                <a:gdLst>
                  <a:gd name="T0" fmla="*/ 0 w 137"/>
                  <a:gd name="T1" fmla="*/ 86 h 86"/>
                  <a:gd name="T2" fmla="*/ 137 w 137"/>
                  <a:gd name="T3" fmla="*/ 86 h 86"/>
                  <a:gd name="T4" fmla="*/ 12 w 137"/>
                  <a:gd name="T5" fmla="*/ 0 h 86"/>
                  <a:gd name="T6" fmla="*/ 9 w 137"/>
                  <a:gd name="T7" fmla="*/ 0 h 86"/>
                  <a:gd name="T8" fmla="*/ 0 w 13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6">
                    <a:moveTo>
                      <a:pt x="0" y="86"/>
                    </a:moveTo>
                    <a:lnTo>
                      <a:pt x="137" y="86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5" name="Freeform 1093"/>
              <p:cNvSpPr>
                <a:spLocks/>
              </p:cNvSpPr>
              <p:nvPr/>
            </p:nvSpPr>
            <p:spPr bwMode="auto">
              <a:xfrm>
                <a:off x="4153" y="1664"/>
                <a:ext cx="73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6" name="Freeform 1094"/>
              <p:cNvSpPr>
                <a:spLocks/>
              </p:cNvSpPr>
              <p:nvPr/>
            </p:nvSpPr>
            <p:spPr bwMode="auto">
              <a:xfrm>
                <a:off x="4085" y="1664"/>
                <a:ext cx="73" cy="44"/>
              </a:xfrm>
              <a:custGeom>
                <a:avLst/>
                <a:gdLst>
                  <a:gd name="T0" fmla="*/ 136 w 146"/>
                  <a:gd name="T1" fmla="*/ 86 h 86"/>
                  <a:gd name="T2" fmla="*/ 0 w 146"/>
                  <a:gd name="T3" fmla="*/ 86 h 86"/>
                  <a:gd name="T4" fmla="*/ 8 w 146"/>
                  <a:gd name="T5" fmla="*/ 0 h 86"/>
                  <a:gd name="T6" fmla="*/ 146 w 146"/>
                  <a:gd name="T7" fmla="*/ 0 h 86"/>
                  <a:gd name="T8" fmla="*/ 136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7" name="Freeform 1095"/>
              <p:cNvSpPr>
                <a:spLocks/>
              </p:cNvSpPr>
              <p:nvPr/>
            </p:nvSpPr>
            <p:spPr bwMode="auto">
              <a:xfrm>
                <a:off x="4016" y="1664"/>
                <a:ext cx="73" cy="44"/>
              </a:xfrm>
              <a:custGeom>
                <a:avLst/>
                <a:gdLst>
                  <a:gd name="T0" fmla="*/ 138 w 146"/>
                  <a:gd name="T1" fmla="*/ 86 h 86"/>
                  <a:gd name="T2" fmla="*/ 0 w 146"/>
                  <a:gd name="T3" fmla="*/ 86 h 86"/>
                  <a:gd name="T4" fmla="*/ 10 w 146"/>
                  <a:gd name="T5" fmla="*/ 0 h 86"/>
                  <a:gd name="T6" fmla="*/ 146 w 146"/>
                  <a:gd name="T7" fmla="*/ 0 h 86"/>
                  <a:gd name="T8" fmla="*/ 138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8" name="Freeform 1096"/>
              <p:cNvSpPr>
                <a:spLocks/>
              </p:cNvSpPr>
              <p:nvPr/>
            </p:nvSpPr>
            <p:spPr bwMode="auto">
              <a:xfrm>
                <a:off x="3948" y="1664"/>
                <a:ext cx="73" cy="44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09" name="Freeform 1097"/>
              <p:cNvSpPr>
                <a:spLocks/>
              </p:cNvSpPr>
              <p:nvPr/>
            </p:nvSpPr>
            <p:spPr bwMode="auto">
              <a:xfrm>
                <a:off x="3879" y="1664"/>
                <a:ext cx="73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0" name="Freeform 1098"/>
              <p:cNvSpPr>
                <a:spLocks/>
              </p:cNvSpPr>
              <p:nvPr/>
            </p:nvSpPr>
            <p:spPr bwMode="auto">
              <a:xfrm>
                <a:off x="3810" y="1664"/>
                <a:ext cx="74" cy="44"/>
              </a:xfrm>
              <a:custGeom>
                <a:avLst/>
                <a:gdLst>
                  <a:gd name="T0" fmla="*/ 136 w 146"/>
                  <a:gd name="T1" fmla="*/ 86 h 86"/>
                  <a:gd name="T2" fmla="*/ 0 w 146"/>
                  <a:gd name="T3" fmla="*/ 86 h 86"/>
                  <a:gd name="T4" fmla="*/ 8 w 146"/>
                  <a:gd name="T5" fmla="*/ 0 h 86"/>
                  <a:gd name="T6" fmla="*/ 146 w 146"/>
                  <a:gd name="T7" fmla="*/ 0 h 86"/>
                  <a:gd name="T8" fmla="*/ 136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1" name="Freeform 1099"/>
              <p:cNvSpPr>
                <a:spLocks/>
              </p:cNvSpPr>
              <p:nvPr/>
            </p:nvSpPr>
            <p:spPr bwMode="auto">
              <a:xfrm>
                <a:off x="3741" y="1664"/>
                <a:ext cx="74" cy="44"/>
              </a:xfrm>
              <a:custGeom>
                <a:avLst/>
                <a:gdLst>
                  <a:gd name="T0" fmla="*/ 138 w 146"/>
                  <a:gd name="T1" fmla="*/ 86 h 86"/>
                  <a:gd name="T2" fmla="*/ 0 w 146"/>
                  <a:gd name="T3" fmla="*/ 86 h 86"/>
                  <a:gd name="T4" fmla="*/ 10 w 146"/>
                  <a:gd name="T5" fmla="*/ 0 h 86"/>
                  <a:gd name="T6" fmla="*/ 146 w 146"/>
                  <a:gd name="T7" fmla="*/ 0 h 86"/>
                  <a:gd name="T8" fmla="*/ 138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2" name="Freeform 1100"/>
              <p:cNvSpPr>
                <a:spLocks/>
              </p:cNvSpPr>
              <p:nvPr/>
            </p:nvSpPr>
            <p:spPr bwMode="auto">
              <a:xfrm>
                <a:off x="3673" y="1664"/>
                <a:ext cx="73" cy="44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3" name="Freeform 1101"/>
              <p:cNvSpPr>
                <a:spLocks/>
              </p:cNvSpPr>
              <p:nvPr/>
            </p:nvSpPr>
            <p:spPr bwMode="auto">
              <a:xfrm>
                <a:off x="3604" y="1664"/>
                <a:ext cx="73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4" name="Freeform 1102"/>
              <p:cNvSpPr>
                <a:spLocks/>
              </p:cNvSpPr>
              <p:nvPr/>
            </p:nvSpPr>
            <p:spPr bwMode="auto">
              <a:xfrm>
                <a:off x="3536" y="1664"/>
                <a:ext cx="73" cy="44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5" name="Freeform 1103"/>
              <p:cNvSpPr>
                <a:spLocks/>
              </p:cNvSpPr>
              <p:nvPr/>
            </p:nvSpPr>
            <p:spPr bwMode="auto">
              <a:xfrm>
                <a:off x="3468" y="1664"/>
                <a:ext cx="73" cy="44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6" name="Freeform 1104"/>
              <p:cNvSpPr>
                <a:spLocks/>
              </p:cNvSpPr>
              <p:nvPr/>
            </p:nvSpPr>
            <p:spPr bwMode="auto">
              <a:xfrm>
                <a:off x="3399" y="1664"/>
                <a:ext cx="73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7" name="Freeform 1105"/>
              <p:cNvSpPr>
                <a:spLocks/>
              </p:cNvSpPr>
              <p:nvPr/>
            </p:nvSpPr>
            <p:spPr bwMode="auto">
              <a:xfrm>
                <a:off x="3330" y="1664"/>
                <a:ext cx="74" cy="44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8" name="Freeform 1106"/>
              <p:cNvSpPr>
                <a:spLocks/>
              </p:cNvSpPr>
              <p:nvPr/>
            </p:nvSpPr>
            <p:spPr bwMode="auto">
              <a:xfrm>
                <a:off x="3261" y="1664"/>
                <a:ext cx="74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19" name="Freeform 1107"/>
              <p:cNvSpPr>
                <a:spLocks/>
              </p:cNvSpPr>
              <p:nvPr/>
            </p:nvSpPr>
            <p:spPr bwMode="auto">
              <a:xfrm>
                <a:off x="3193" y="1664"/>
                <a:ext cx="74" cy="44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0" name="Freeform 1108"/>
              <p:cNvSpPr>
                <a:spLocks/>
              </p:cNvSpPr>
              <p:nvPr/>
            </p:nvSpPr>
            <p:spPr bwMode="auto">
              <a:xfrm>
                <a:off x="3124" y="1664"/>
                <a:ext cx="74" cy="44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1" name="Freeform 1109"/>
              <p:cNvSpPr>
                <a:spLocks/>
              </p:cNvSpPr>
              <p:nvPr/>
            </p:nvSpPr>
            <p:spPr bwMode="auto">
              <a:xfrm>
                <a:off x="3056" y="1664"/>
                <a:ext cx="73" cy="44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2" name="Freeform 1110"/>
              <p:cNvSpPr>
                <a:spLocks/>
              </p:cNvSpPr>
              <p:nvPr/>
            </p:nvSpPr>
            <p:spPr bwMode="auto">
              <a:xfrm>
                <a:off x="2987" y="1664"/>
                <a:ext cx="74" cy="44"/>
              </a:xfrm>
              <a:custGeom>
                <a:avLst/>
                <a:gdLst>
                  <a:gd name="T0" fmla="*/ 138 w 148"/>
                  <a:gd name="T1" fmla="*/ 86 h 86"/>
                  <a:gd name="T2" fmla="*/ 0 w 148"/>
                  <a:gd name="T3" fmla="*/ 86 h 86"/>
                  <a:gd name="T4" fmla="*/ 10 w 148"/>
                  <a:gd name="T5" fmla="*/ 0 h 86"/>
                  <a:gd name="T6" fmla="*/ 148 w 148"/>
                  <a:gd name="T7" fmla="*/ 0 h 86"/>
                  <a:gd name="T8" fmla="*/ 138 w 148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3" name="Freeform 1111"/>
              <p:cNvSpPr>
                <a:spLocks/>
              </p:cNvSpPr>
              <p:nvPr/>
            </p:nvSpPr>
            <p:spPr bwMode="auto">
              <a:xfrm>
                <a:off x="2923" y="1664"/>
                <a:ext cx="69" cy="44"/>
              </a:xfrm>
              <a:custGeom>
                <a:avLst/>
                <a:gdLst>
                  <a:gd name="T0" fmla="*/ 128 w 138"/>
                  <a:gd name="T1" fmla="*/ 86 h 86"/>
                  <a:gd name="T2" fmla="*/ 0 w 138"/>
                  <a:gd name="T3" fmla="*/ 86 h 86"/>
                  <a:gd name="T4" fmla="*/ 112 w 138"/>
                  <a:gd name="T5" fmla="*/ 0 h 86"/>
                  <a:gd name="T6" fmla="*/ 138 w 138"/>
                  <a:gd name="T7" fmla="*/ 0 h 86"/>
                  <a:gd name="T8" fmla="*/ 128 w 138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86">
                    <a:moveTo>
                      <a:pt x="128" y="86"/>
                    </a:moveTo>
                    <a:lnTo>
                      <a:pt x="0" y="86"/>
                    </a:lnTo>
                    <a:lnTo>
                      <a:pt x="112" y="0"/>
                    </a:lnTo>
                    <a:lnTo>
                      <a:pt x="138" y="0"/>
                    </a:lnTo>
                    <a:lnTo>
                      <a:pt x="128" y="86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4" name="Freeform 1112"/>
              <p:cNvSpPr>
                <a:spLocks/>
              </p:cNvSpPr>
              <p:nvPr/>
            </p:nvSpPr>
            <p:spPr bwMode="auto">
              <a:xfrm>
                <a:off x="2923" y="1664"/>
                <a:ext cx="1367" cy="44"/>
              </a:xfrm>
              <a:custGeom>
                <a:avLst/>
                <a:gdLst>
                  <a:gd name="T0" fmla="*/ 112 w 2735"/>
                  <a:gd name="T1" fmla="*/ 0 h 86"/>
                  <a:gd name="T2" fmla="*/ 0 w 2735"/>
                  <a:gd name="T3" fmla="*/ 86 h 86"/>
                  <a:gd name="T4" fmla="*/ 2735 w 2735"/>
                  <a:gd name="T5" fmla="*/ 86 h 86"/>
                  <a:gd name="T6" fmla="*/ 2610 w 2735"/>
                  <a:gd name="T7" fmla="*/ 0 h 86"/>
                  <a:gd name="T8" fmla="*/ 112 w 2735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6">
                    <a:moveTo>
                      <a:pt x="112" y="0"/>
                    </a:moveTo>
                    <a:lnTo>
                      <a:pt x="0" y="86"/>
                    </a:lnTo>
                    <a:lnTo>
                      <a:pt x="2735" y="86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5" name="Freeform 1113"/>
              <p:cNvSpPr>
                <a:spLocks/>
              </p:cNvSpPr>
              <p:nvPr/>
            </p:nvSpPr>
            <p:spPr bwMode="auto">
              <a:xfrm>
                <a:off x="2923" y="1456"/>
                <a:ext cx="68" cy="44"/>
              </a:xfrm>
              <a:custGeom>
                <a:avLst/>
                <a:gdLst>
                  <a:gd name="T0" fmla="*/ 136 w 136"/>
                  <a:gd name="T1" fmla="*/ 0 h 88"/>
                  <a:gd name="T2" fmla="*/ 0 w 136"/>
                  <a:gd name="T3" fmla="*/ 0 h 88"/>
                  <a:gd name="T4" fmla="*/ 118 w 136"/>
                  <a:gd name="T5" fmla="*/ 88 h 88"/>
                  <a:gd name="T6" fmla="*/ 136 w 136"/>
                  <a:gd name="T7" fmla="*/ 88 h 88"/>
                  <a:gd name="T8" fmla="*/ 136 w 136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8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8"/>
                    </a:lnTo>
                    <a:lnTo>
                      <a:pt x="136" y="88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6" name="Rectangle 1114"/>
              <p:cNvSpPr>
                <a:spLocks noChangeArrowheads="1"/>
              </p:cNvSpPr>
              <p:nvPr/>
            </p:nvSpPr>
            <p:spPr bwMode="auto">
              <a:xfrm>
                <a:off x="2991" y="1456"/>
                <a:ext cx="68" cy="4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7" name="Rectangle 1115"/>
              <p:cNvSpPr>
                <a:spLocks noChangeArrowheads="1"/>
              </p:cNvSpPr>
              <p:nvPr/>
            </p:nvSpPr>
            <p:spPr bwMode="auto">
              <a:xfrm>
                <a:off x="3059" y="1456"/>
                <a:ext cx="69" cy="4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8" name="Rectangle 1116"/>
              <p:cNvSpPr>
                <a:spLocks noChangeArrowheads="1"/>
              </p:cNvSpPr>
              <p:nvPr/>
            </p:nvSpPr>
            <p:spPr bwMode="auto">
              <a:xfrm>
                <a:off x="3128" y="1456"/>
                <a:ext cx="68" cy="4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29" name="Rectangle 1117"/>
              <p:cNvSpPr>
                <a:spLocks noChangeArrowheads="1"/>
              </p:cNvSpPr>
              <p:nvPr/>
            </p:nvSpPr>
            <p:spPr bwMode="auto">
              <a:xfrm>
                <a:off x="3196" y="1456"/>
                <a:ext cx="68" cy="4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0" name="Rectangle 1118"/>
              <p:cNvSpPr>
                <a:spLocks noChangeArrowheads="1"/>
              </p:cNvSpPr>
              <p:nvPr/>
            </p:nvSpPr>
            <p:spPr bwMode="auto">
              <a:xfrm>
                <a:off x="3264" y="1456"/>
                <a:ext cx="68" cy="4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1" name="Rectangle 1119"/>
              <p:cNvSpPr>
                <a:spLocks noChangeArrowheads="1"/>
              </p:cNvSpPr>
              <p:nvPr/>
            </p:nvSpPr>
            <p:spPr bwMode="auto">
              <a:xfrm>
                <a:off x="3332" y="1456"/>
                <a:ext cx="68" cy="4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2" name="Rectangle 1120"/>
              <p:cNvSpPr>
                <a:spLocks noChangeArrowheads="1"/>
              </p:cNvSpPr>
              <p:nvPr/>
            </p:nvSpPr>
            <p:spPr bwMode="auto">
              <a:xfrm>
                <a:off x="3400" y="1456"/>
                <a:ext cx="69" cy="4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3" name="Rectangle 1121"/>
              <p:cNvSpPr>
                <a:spLocks noChangeArrowheads="1"/>
              </p:cNvSpPr>
              <p:nvPr/>
            </p:nvSpPr>
            <p:spPr bwMode="auto">
              <a:xfrm>
                <a:off x="3469" y="1456"/>
                <a:ext cx="68" cy="4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4" name="Rectangle 1122"/>
              <p:cNvSpPr>
                <a:spLocks noChangeArrowheads="1"/>
              </p:cNvSpPr>
              <p:nvPr/>
            </p:nvSpPr>
            <p:spPr bwMode="auto">
              <a:xfrm>
                <a:off x="3537" y="1456"/>
                <a:ext cx="68" cy="4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5" name="Rectangle 1123"/>
              <p:cNvSpPr>
                <a:spLocks noChangeArrowheads="1"/>
              </p:cNvSpPr>
              <p:nvPr/>
            </p:nvSpPr>
            <p:spPr bwMode="auto">
              <a:xfrm>
                <a:off x="3605" y="1456"/>
                <a:ext cx="68" cy="4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6" name="Rectangle 1124"/>
              <p:cNvSpPr>
                <a:spLocks noChangeArrowheads="1"/>
              </p:cNvSpPr>
              <p:nvPr/>
            </p:nvSpPr>
            <p:spPr bwMode="auto">
              <a:xfrm>
                <a:off x="3673" y="1456"/>
                <a:ext cx="68" cy="4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7" name="Rectangle 1125"/>
              <p:cNvSpPr>
                <a:spLocks noChangeArrowheads="1"/>
              </p:cNvSpPr>
              <p:nvPr/>
            </p:nvSpPr>
            <p:spPr bwMode="auto">
              <a:xfrm>
                <a:off x="3741" y="1456"/>
                <a:ext cx="69" cy="4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8" name="Rectangle 1126"/>
              <p:cNvSpPr>
                <a:spLocks noChangeArrowheads="1"/>
              </p:cNvSpPr>
              <p:nvPr/>
            </p:nvSpPr>
            <p:spPr bwMode="auto">
              <a:xfrm>
                <a:off x="3810" y="1456"/>
                <a:ext cx="68" cy="4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39" name="Rectangle 1127"/>
              <p:cNvSpPr>
                <a:spLocks noChangeArrowheads="1"/>
              </p:cNvSpPr>
              <p:nvPr/>
            </p:nvSpPr>
            <p:spPr bwMode="auto">
              <a:xfrm>
                <a:off x="3878" y="1456"/>
                <a:ext cx="68" cy="4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0" name="Rectangle 1128"/>
              <p:cNvSpPr>
                <a:spLocks noChangeArrowheads="1"/>
              </p:cNvSpPr>
              <p:nvPr/>
            </p:nvSpPr>
            <p:spPr bwMode="auto">
              <a:xfrm>
                <a:off x="3946" y="1456"/>
                <a:ext cx="68" cy="4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1" name="Rectangle 1129"/>
              <p:cNvSpPr>
                <a:spLocks noChangeArrowheads="1"/>
              </p:cNvSpPr>
              <p:nvPr/>
            </p:nvSpPr>
            <p:spPr bwMode="auto">
              <a:xfrm>
                <a:off x="4014" y="1456"/>
                <a:ext cx="68" cy="4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2" name="Rectangle 1130"/>
              <p:cNvSpPr>
                <a:spLocks noChangeArrowheads="1"/>
              </p:cNvSpPr>
              <p:nvPr/>
            </p:nvSpPr>
            <p:spPr bwMode="auto">
              <a:xfrm>
                <a:off x="4082" y="1456"/>
                <a:ext cx="68" cy="4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3" name="Rectangle 1131"/>
              <p:cNvSpPr>
                <a:spLocks noChangeArrowheads="1"/>
              </p:cNvSpPr>
              <p:nvPr/>
            </p:nvSpPr>
            <p:spPr bwMode="auto">
              <a:xfrm>
                <a:off x="4150" y="1456"/>
                <a:ext cx="69" cy="4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4" name="Freeform 1132"/>
              <p:cNvSpPr>
                <a:spLocks/>
              </p:cNvSpPr>
              <p:nvPr/>
            </p:nvSpPr>
            <p:spPr bwMode="auto">
              <a:xfrm>
                <a:off x="4219" y="1456"/>
                <a:ext cx="69" cy="44"/>
              </a:xfrm>
              <a:custGeom>
                <a:avLst/>
                <a:gdLst>
                  <a:gd name="T0" fmla="*/ 0 w 136"/>
                  <a:gd name="T1" fmla="*/ 0 h 88"/>
                  <a:gd name="T2" fmla="*/ 136 w 136"/>
                  <a:gd name="T3" fmla="*/ 0 h 88"/>
                  <a:gd name="T4" fmla="*/ 24 w 136"/>
                  <a:gd name="T5" fmla="*/ 88 h 88"/>
                  <a:gd name="T6" fmla="*/ 0 w 136"/>
                  <a:gd name="T7" fmla="*/ 88 h 88"/>
                  <a:gd name="T8" fmla="*/ 0 w 136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8">
                    <a:moveTo>
                      <a:pt x="0" y="0"/>
                    </a:moveTo>
                    <a:lnTo>
                      <a:pt x="136" y="0"/>
                    </a:lnTo>
                    <a:lnTo>
                      <a:pt x="24" y="88"/>
                    </a:lnTo>
                    <a:lnTo>
                      <a:pt x="0" y="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5" name="Freeform 1133"/>
              <p:cNvSpPr>
                <a:spLocks/>
              </p:cNvSpPr>
              <p:nvPr/>
            </p:nvSpPr>
            <p:spPr bwMode="auto">
              <a:xfrm>
                <a:off x="2923" y="1456"/>
                <a:ext cx="1365" cy="44"/>
              </a:xfrm>
              <a:custGeom>
                <a:avLst/>
                <a:gdLst>
                  <a:gd name="T0" fmla="*/ 118 w 2729"/>
                  <a:gd name="T1" fmla="*/ 88 h 88"/>
                  <a:gd name="T2" fmla="*/ 0 w 2729"/>
                  <a:gd name="T3" fmla="*/ 0 h 88"/>
                  <a:gd name="T4" fmla="*/ 2729 w 2729"/>
                  <a:gd name="T5" fmla="*/ 0 h 88"/>
                  <a:gd name="T6" fmla="*/ 2617 w 2729"/>
                  <a:gd name="T7" fmla="*/ 88 h 88"/>
                  <a:gd name="T8" fmla="*/ 118 w 2729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8">
                    <a:moveTo>
                      <a:pt x="118" y="88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8"/>
                    </a:lnTo>
                    <a:lnTo>
                      <a:pt x="118" y="88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6" name="Freeform 1134"/>
              <p:cNvSpPr>
                <a:spLocks/>
              </p:cNvSpPr>
              <p:nvPr/>
            </p:nvSpPr>
            <p:spPr bwMode="auto">
              <a:xfrm>
                <a:off x="2922" y="1454"/>
                <a:ext cx="17" cy="13"/>
              </a:xfrm>
              <a:custGeom>
                <a:avLst/>
                <a:gdLst>
                  <a:gd name="T0" fmla="*/ 33 w 33"/>
                  <a:gd name="T1" fmla="*/ 22 h 26"/>
                  <a:gd name="T2" fmla="*/ 0 w 33"/>
                  <a:gd name="T3" fmla="*/ 0 h 26"/>
                  <a:gd name="T4" fmla="*/ 0 w 33"/>
                  <a:gd name="T5" fmla="*/ 26 h 26"/>
                  <a:gd name="T6" fmla="*/ 33 w 33"/>
                  <a:gd name="T7" fmla="*/ 2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3" h="26">
                    <a:moveTo>
                      <a:pt x="33" y="22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3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7" name="Freeform 1135"/>
              <p:cNvSpPr>
                <a:spLocks/>
              </p:cNvSpPr>
              <p:nvPr/>
            </p:nvSpPr>
            <p:spPr bwMode="auto">
              <a:xfrm>
                <a:off x="2922" y="1465"/>
                <a:ext cx="32" cy="15"/>
              </a:xfrm>
              <a:custGeom>
                <a:avLst/>
                <a:gdLst>
                  <a:gd name="T0" fmla="*/ 33 w 64"/>
                  <a:gd name="T1" fmla="*/ 0 h 30"/>
                  <a:gd name="T2" fmla="*/ 64 w 64"/>
                  <a:gd name="T3" fmla="*/ 23 h 30"/>
                  <a:gd name="T4" fmla="*/ 0 w 64"/>
                  <a:gd name="T5" fmla="*/ 30 h 30"/>
                  <a:gd name="T6" fmla="*/ 0 w 64"/>
                  <a:gd name="T7" fmla="*/ 4 h 30"/>
                  <a:gd name="T8" fmla="*/ 33 w 64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30">
                    <a:moveTo>
                      <a:pt x="33" y="0"/>
                    </a:moveTo>
                    <a:lnTo>
                      <a:pt x="64" y="23"/>
                    </a:lnTo>
                    <a:lnTo>
                      <a:pt x="0" y="30"/>
                    </a:lnTo>
                    <a:lnTo>
                      <a:pt x="0" y="4"/>
                    </a:lnTo>
                    <a:lnTo>
                      <a:pt x="3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8" name="Freeform 1136"/>
              <p:cNvSpPr>
                <a:spLocks/>
              </p:cNvSpPr>
              <p:nvPr/>
            </p:nvSpPr>
            <p:spPr bwMode="auto">
              <a:xfrm>
                <a:off x="2922" y="1476"/>
                <a:ext cx="49" cy="17"/>
              </a:xfrm>
              <a:custGeom>
                <a:avLst/>
                <a:gdLst>
                  <a:gd name="T0" fmla="*/ 64 w 97"/>
                  <a:gd name="T1" fmla="*/ 0 h 32"/>
                  <a:gd name="T2" fmla="*/ 97 w 97"/>
                  <a:gd name="T3" fmla="*/ 22 h 32"/>
                  <a:gd name="T4" fmla="*/ 0 w 97"/>
                  <a:gd name="T5" fmla="*/ 32 h 32"/>
                  <a:gd name="T6" fmla="*/ 0 w 97"/>
                  <a:gd name="T7" fmla="*/ 7 h 32"/>
                  <a:gd name="T8" fmla="*/ 64 w 97"/>
                  <a:gd name="T9" fmla="*/ 0 h 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7" h="32">
                    <a:moveTo>
                      <a:pt x="64" y="0"/>
                    </a:moveTo>
                    <a:lnTo>
                      <a:pt x="97" y="22"/>
                    </a:lnTo>
                    <a:lnTo>
                      <a:pt x="0" y="32"/>
                    </a:lnTo>
                    <a:lnTo>
                      <a:pt x="0" y="7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49" name="Freeform 1137"/>
              <p:cNvSpPr>
                <a:spLocks/>
              </p:cNvSpPr>
              <p:nvPr/>
            </p:nvSpPr>
            <p:spPr bwMode="auto">
              <a:xfrm>
                <a:off x="2922" y="1488"/>
                <a:ext cx="61" cy="18"/>
              </a:xfrm>
              <a:custGeom>
                <a:avLst/>
                <a:gdLst>
                  <a:gd name="T0" fmla="*/ 97 w 123"/>
                  <a:gd name="T1" fmla="*/ 0 h 36"/>
                  <a:gd name="T2" fmla="*/ 123 w 123"/>
                  <a:gd name="T3" fmla="*/ 19 h 36"/>
                  <a:gd name="T4" fmla="*/ 123 w 123"/>
                  <a:gd name="T5" fmla="*/ 24 h 36"/>
                  <a:gd name="T6" fmla="*/ 0 w 123"/>
                  <a:gd name="T7" fmla="*/ 36 h 36"/>
                  <a:gd name="T8" fmla="*/ 0 w 123"/>
                  <a:gd name="T9" fmla="*/ 10 h 36"/>
                  <a:gd name="T10" fmla="*/ 97 w 123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6">
                    <a:moveTo>
                      <a:pt x="97" y="0"/>
                    </a:moveTo>
                    <a:lnTo>
                      <a:pt x="123" y="19"/>
                    </a:lnTo>
                    <a:lnTo>
                      <a:pt x="123" y="24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97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0" name="Freeform 1138"/>
              <p:cNvSpPr>
                <a:spLocks/>
              </p:cNvSpPr>
              <p:nvPr/>
            </p:nvSpPr>
            <p:spPr bwMode="auto">
              <a:xfrm>
                <a:off x="2922" y="1500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2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1" name="Freeform 1139"/>
              <p:cNvSpPr>
                <a:spLocks/>
              </p:cNvSpPr>
              <p:nvPr/>
            </p:nvSpPr>
            <p:spPr bwMode="auto">
              <a:xfrm>
                <a:off x="2922" y="1513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2" name="Freeform 1140"/>
              <p:cNvSpPr>
                <a:spLocks/>
              </p:cNvSpPr>
              <p:nvPr/>
            </p:nvSpPr>
            <p:spPr bwMode="auto">
              <a:xfrm>
                <a:off x="2922" y="1526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3" name="Freeform 1141"/>
              <p:cNvSpPr>
                <a:spLocks/>
              </p:cNvSpPr>
              <p:nvPr/>
            </p:nvSpPr>
            <p:spPr bwMode="auto">
              <a:xfrm>
                <a:off x="2922" y="1538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4" name="Freeform 1142"/>
              <p:cNvSpPr>
                <a:spLocks/>
              </p:cNvSpPr>
              <p:nvPr/>
            </p:nvSpPr>
            <p:spPr bwMode="auto">
              <a:xfrm>
                <a:off x="2922" y="1551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4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5" name="Freeform 1143"/>
              <p:cNvSpPr>
                <a:spLocks/>
              </p:cNvSpPr>
              <p:nvPr/>
            </p:nvSpPr>
            <p:spPr bwMode="auto">
              <a:xfrm>
                <a:off x="2922" y="1564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6" name="Freeform 1144"/>
              <p:cNvSpPr>
                <a:spLocks/>
              </p:cNvSpPr>
              <p:nvPr/>
            </p:nvSpPr>
            <p:spPr bwMode="auto">
              <a:xfrm>
                <a:off x="2922" y="1577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7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7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7" name="Freeform 1145"/>
              <p:cNvSpPr>
                <a:spLocks/>
              </p:cNvSpPr>
              <p:nvPr/>
            </p:nvSpPr>
            <p:spPr bwMode="auto">
              <a:xfrm>
                <a:off x="2922" y="1591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8" name="Freeform 1146"/>
              <p:cNvSpPr>
                <a:spLocks/>
              </p:cNvSpPr>
              <p:nvPr/>
            </p:nvSpPr>
            <p:spPr bwMode="auto">
              <a:xfrm>
                <a:off x="2922" y="1604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59" name="Freeform 1147"/>
              <p:cNvSpPr>
                <a:spLocks/>
              </p:cNvSpPr>
              <p:nvPr/>
            </p:nvSpPr>
            <p:spPr bwMode="auto">
              <a:xfrm>
                <a:off x="2922" y="1617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0" name="Freeform 1148"/>
              <p:cNvSpPr>
                <a:spLocks/>
              </p:cNvSpPr>
              <p:nvPr/>
            </p:nvSpPr>
            <p:spPr bwMode="auto">
              <a:xfrm>
                <a:off x="2922" y="1630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2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1" name="Freeform 1149"/>
              <p:cNvSpPr>
                <a:spLocks/>
              </p:cNvSpPr>
              <p:nvPr/>
            </p:nvSpPr>
            <p:spPr bwMode="auto">
              <a:xfrm>
                <a:off x="2922" y="1643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2" name="Freeform 1150"/>
              <p:cNvSpPr>
                <a:spLocks/>
              </p:cNvSpPr>
              <p:nvPr/>
            </p:nvSpPr>
            <p:spPr bwMode="auto">
              <a:xfrm>
                <a:off x="2922" y="1656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19 h 39"/>
                  <a:gd name="T4" fmla="*/ 111 w 123"/>
                  <a:gd name="T5" fmla="*/ 27 h 39"/>
                  <a:gd name="T6" fmla="*/ 0 w 123"/>
                  <a:gd name="T7" fmla="*/ 39 h 39"/>
                  <a:gd name="T8" fmla="*/ 0 w 123"/>
                  <a:gd name="T9" fmla="*/ 13 h 39"/>
                  <a:gd name="T10" fmla="*/ 123 w 123"/>
                  <a:gd name="T11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19"/>
                    </a:lnTo>
                    <a:lnTo>
                      <a:pt x="111" y="27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3" name="Freeform 1151"/>
              <p:cNvSpPr>
                <a:spLocks/>
              </p:cNvSpPr>
              <p:nvPr/>
            </p:nvSpPr>
            <p:spPr bwMode="auto">
              <a:xfrm>
                <a:off x="2922" y="1670"/>
                <a:ext cx="55" cy="19"/>
              </a:xfrm>
              <a:custGeom>
                <a:avLst/>
                <a:gdLst>
                  <a:gd name="T0" fmla="*/ 111 w 111"/>
                  <a:gd name="T1" fmla="*/ 0 h 38"/>
                  <a:gd name="T2" fmla="*/ 68 w 111"/>
                  <a:gd name="T3" fmla="*/ 31 h 38"/>
                  <a:gd name="T4" fmla="*/ 0 w 111"/>
                  <a:gd name="T5" fmla="*/ 38 h 38"/>
                  <a:gd name="T6" fmla="*/ 0 w 111"/>
                  <a:gd name="T7" fmla="*/ 12 h 38"/>
                  <a:gd name="T8" fmla="*/ 111 w 111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38">
                    <a:moveTo>
                      <a:pt x="111" y="0"/>
                    </a:moveTo>
                    <a:lnTo>
                      <a:pt x="68" y="31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4" name="Freeform 1152"/>
              <p:cNvSpPr>
                <a:spLocks/>
              </p:cNvSpPr>
              <p:nvPr/>
            </p:nvSpPr>
            <p:spPr bwMode="auto">
              <a:xfrm>
                <a:off x="2922" y="1685"/>
                <a:ext cx="34" cy="17"/>
              </a:xfrm>
              <a:custGeom>
                <a:avLst/>
                <a:gdLst>
                  <a:gd name="T0" fmla="*/ 68 w 68"/>
                  <a:gd name="T1" fmla="*/ 0 h 35"/>
                  <a:gd name="T2" fmla="*/ 21 w 68"/>
                  <a:gd name="T3" fmla="*/ 33 h 35"/>
                  <a:gd name="T4" fmla="*/ 0 w 68"/>
                  <a:gd name="T5" fmla="*/ 35 h 35"/>
                  <a:gd name="T6" fmla="*/ 0 w 68"/>
                  <a:gd name="T7" fmla="*/ 7 h 35"/>
                  <a:gd name="T8" fmla="*/ 68 w 68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5">
                    <a:moveTo>
                      <a:pt x="68" y="0"/>
                    </a:moveTo>
                    <a:lnTo>
                      <a:pt x="21" y="33"/>
                    </a:lnTo>
                    <a:lnTo>
                      <a:pt x="0" y="35"/>
                    </a:lnTo>
                    <a:lnTo>
                      <a:pt x="0" y="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5" name="Freeform 1153"/>
              <p:cNvSpPr>
                <a:spLocks/>
              </p:cNvSpPr>
              <p:nvPr/>
            </p:nvSpPr>
            <p:spPr bwMode="auto">
              <a:xfrm>
                <a:off x="2922" y="1702"/>
                <a:ext cx="11" cy="6"/>
              </a:xfrm>
              <a:custGeom>
                <a:avLst/>
                <a:gdLst>
                  <a:gd name="T0" fmla="*/ 21 w 21"/>
                  <a:gd name="T1" fmla="*/ 0 h 14"/>
                  <a:gd name="T2" fmla="*/ 0 w 21"/>
                  <a:gd name="T3" fmla="*/ 14 h 14"/>
                  <a:gd name="T4" fmla="*/ 0 w 21"/>
                  <a:gd name="T5" fmla="*/ 2 h 14"/>
                  <a:gd name="T6" fmla="*/ 21 w 21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14">
                    <a:moveTo>
                      <a:pt x="21" y="0"/>
                    </a:moveTo>
                    <a:lnTo>
                      <a:pt x="0" y="14"/>
                    </a:lnTo>
                    <a:lnTo>
                      <a:pt x="0" y="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6" name="Freeform 1154"/>
              <p:cNvSpPr>
                <a:spLocks/>
              </p:cNvSpPr>
              <p:nvPr/>
            </p:nvSpPr>
            <p:spPr bwMode="auto">
              <a:xfrm>
                <a:off x="2922" y="1454"/>
                <a:ext cx="61" cy="254"/>
              </a:xfrm>
              <a:custGeom>
                <a:avLst/>
                <a:gdLst>
                  <a:gd name="T0" fmla="*/ 123 w 123"/>
                  <a:gd name="T1" fmla="*/ 423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6 h 509"/>
                  <a:gd name="T8" fmla="*/ 123 w 123"/>
                  <a:gd name="T9" fmla="*/ 423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3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6"/>
                    </a:lnTo>
                    <a:lnTo>
                      <a:pt x="123" y="423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7" name="Rectangle 1155"/>
              <p:cNvSpPr>
                <a:spLocks noChangeArrowheads="1"/>
              </p:cNvSpPr>
              <p:nvPr/>
            </p:nvSpPr>
            <p:spPr bwMode="auto">
              <a:xfrm>
                <a:off x="2924" y="2345"/>
                <a:ext cx="68" cy="255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8" name="Rectangle 1156"/>
              <p:cNvSpPr>
                <a:spLocks noChangeArrowheads="1"/>
              </p:cNvSpPr>
              <p:nvPr/>
            </p:nvSpPr>
            <p:spPr bwMode="auto">
              <a:xfrm>
                <a:off x="2992" y="2345"/>
                <a:ext cx="68" cy="255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69" name="Rectangle 1157"/>
              <p:cNvSpPr>
                <a:spLocks noChangeArrowheads="1"/>
              </p:cNvSpPr>
              <p:nvPr/>
            </p:nvSpPr>
            <p:spPr bwMode="auto">
              <a:xfrm>
                <a:off x="3060" y="2345"/>
                <a:ext cx="68" cy="255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0" name="Rectangle 1158"/>
              <p:cNvSpPr>
                <a:spLocks noChangeArrowheads="1"/>
              </p:cNvSpPr>
              <p:nvPr/>
            </p:nvSpPr>
            <p:spPr bwMode="auto">
              <a:xfrm>
                <a:off x="3128" y="2345"/>
                <a:ext cx="69" cy="255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1" name="Rectangle 1159"/>
              <p:cNvSpPr>
                <a:spLocks noChangeArrowheads="1"/>
              </p:cNvSpPr>
              <p:nvPr/>
            </p:nvSpPr>
            <p:spPr bwMode="auto">
              <a:xfrm>
                <a:off x="3197" y="2345"/>
                <a:ext cx="68" cy="255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2" name="Rectangle 1160"/>
              <p:cNvSpPr>
                <a:spLocks noChangeArrowheads="1"/>
              </p:cNvSpPr>
              <p:nvPr/>
            </p:nvSpPr>
            <p:spPr bwMode="auto">
              <a:xfrm>
                <a:off x="3265" y="2345"/>
                <a:ext cx="68" cy="255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3" name="Rectangle 1161"/>
              <p:cNvSpPr>
                <a:spLocks noChangeArrowheads="1"/>
              </p:cNvSpPr>
              <p:nvPr/>
            </p:nvSpPr>
            <p:spPr bwMode="auto">
              <a:xfrm>
                <a:off x="3333" y="2345"/>
                <a:ext cx="68" cy="255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4" name="Rectangle 1162"/>
              <p:cNvSpPr>
                <a:spLocks noChangeArrowheads="1"/>
              </p:cNvSpPr>
              <p:nvPr/>
            </p:nvSpPr>
            <p:spPr bwMode="auto">
              <a:xfrm>
                <a:off x="3401" y="2345"/>
                <a:ext cx="68" cy="255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5" name="Rectangle 1163"/>
              <p:cNvSpPr>
                <a:spLocks noChangeArrowheads="1"/>
              </p:cNvSpPr>
              <p:nvPr/>
            </p:nvSpPr>
            <p:spPr bwMode="auto">
              <a:xfrm>
                <a:off x="3469" y="2345"/>
                <a:ext cx="69" cy="255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6" name="Rectangle 1164"/>
              <p:cNvSpPr>
                <a:spLocks noChangeArrowheads="1"/>
              </p:cNvSpPr>
              <p:nvPr/>
            </p:nvSpPr>
            <p:spPr bwMode="auto">
              <a:xfrm>
                <a:off x="3538" y="2345"/>
                <a:ext cx="69" cy="255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7" name="Rectangle 1165"/>
              <p:cNvSpPr>
                <a:spLocks noChangeArrowheads="1"/>
              </p:cNvSpPr>
              <p:nvPr/>
            </p:nvSpPr>
            <p:spPr bwMode="auto">
              <a:xfrm>
                <a:off x="3607" y="2345"/>
                <a:ext cx="68" cy="255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8" name="Rectangle 1166"/>
              <p:cNvSpPr>
                <a:spLocks noChangeArrowheads="1"/>
              </p:cNvSpPr>
              <p:nvPr/>
            </p:nvSpPr>
            <p:spPr bwMode="auto">
              <a:xfrm>
                <a:off x="3675" y="2345"/>
                <a:ext cx="68" cy="255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79" name="Rectangle 1167"/>
              <p:cNvSpPr>
                <a:spLocks noChangeArrowheads="1"/>
              </p:cNvSpPr>
              <p:nvPr/>
            </p:nvSpPr>
            <p:spPr bwMode="auto">
              <a:xfrm>
                <a:off x="3743" y="2345"/>
                <a:ext cx="68" cy="255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0" name="Rectangle 1168"/>
              <p:cNvSpPr>
                <a:spLocks noChangeArrowheads="1"/>
              </p:cNvSpPr>
              <p:nvPr/>
            </p:nvSpPr>
            <p:spPr bwMode="auto">
              <a:xfrm>
                <a:off x="3811" y="2345"/>
                <a:ext cx="68" cy="255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1" name="Rectangle 1169"/>
              <p:cNvSpPr>
                <a:spLocks noChangeArrowheads="1"/>
              </p:cNvSpPr>
              <p:nvPr/>
            </p:nvSpPr>
            <p:spPr bwMode="auto">
              <a:xfrm>
                <a:off x="3879" y="2345"/>
                <a:ext cx="69" cy="255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2" name="Rectangle 1170"/>
              <p:cNvSpPr>
                <a:spLocks noChangeArrowheads="1"/>
              </p:cNvSpPr>
              <p:nvPr/>
            </p:nvSpPr>
            <p:spPr bwMode="auto">
              <a:xfrm>
                <a:off x="3948" y="2345"/>
                <a:ext cx="68" cy="255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3" name="Rectangle 1171"/>
              <p:cNvSpPr>
                <a:spLocks noChangeArrowheads="1"/>
              </p:cNvSpPr>
              <p:nvPr/>
            </p:nvSpPr>
            <p:spPr bwMode="auto">
              <a:xfrm>
                <a:off x="4016" y="2345"/>
                <a:ext cx="68" cy="255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4" name="Rectangle 1172"/>
              <p:cNvSpPr>
                <a:spLocks noChangeArrowheads="1"/>
              </p:cNvSpPr>
              <p:nvPr/>
            </p:nvSpPr>
            <p:spPr bwMode="auto">
              <a:xfrm>
                <a:off x="4084" y="2345"/>
                <a:ext cx="68" cy="255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5" name="Rectangle 1173"/>
              <p:cNvSpPr>
                <a:spLocks noChangeArrowheads="1"/>
              </p:cNvSpPr>
              <p:nvPr/>
            </p:nvSpPr>
            <p:spPr bwMode="auto">
              <a:xfrm>
                <a:off x="4152" y="2345"/>
                <a:ext cx="69" cy="255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6" name="Rectangle 1174"/>
              <p:cNvSpPr>
                <a:spLocks noChangeArrowheads="1"/>
              </p:cNvSpPr>
              <p:nvPr/>
            </p:nvSpPr>
            <p:spPr bwMode="auto">
              <a:xfrm>
                <a:off x="4221" y="2345"/>
                <a:ext cx="68" cy="2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7" name="Rectangle 1175"/>
              <p:cNvSpPr>
                <a:spLocks noChangeArrowheads="1"/>
              </p:cNvSpPr>
              <p:nvPr/>
            </p:nvSpPr>
            <p:spPr bwMode="auto">
              <a:xfrm>
                <a:off x="2924" y="2345"/>
                <a:ext cx="1365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8" name="Rectangle 1176"/>
              <p:cNvSpPr>
                <a:spLocks noChangeArrowheads="1"/>
              </p:cNvSpPr>
              <p:nvPr/>
            </p:nvSpPr>
            <p:spPr bwMode="auto">
              <a:xfrm>
                <a:off x="2924" y="2343"/>
                <a:ext cx="68" cy="2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89" name="Rectangle 1177"/>
              <p:cNvSpPr>
                <a:spLocks noChangeArrowheads="1"/>
              </p:cNvSpPr>
              <p:nvPr/>
            </p:nvSpPr>
            <p:spPr bwMode="auto">
              <a:xfrm>
                <a:off x="2992" y="2343"/>
                <a:ext cx="68" cy="25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0" name="Rectangle 1178"/>
              <p:cNvSpPr>
                <a:spLocks noChangeArrowheads="1"/>
              </p:cNvSpPr>
              <p:nvPr/>
            </p:nvSpPr>
            <p:spPr bwMode="auto">
              <a:xfrm>
                <a:off x="3060" y="2343"/>
                <a:ext cx="68" cy="25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1" name="Rectangle 1179"/>
              <p:cNvSpPr>
                <a:spLocks noChangeArrowheads="1"/>
              </p:cNvSpPr>
              <p:nvPr/>
            </p:nvSpPr>
            <p:spPr bwMode="auto">
              <a:xfrm>
                <a:off x="3128" y="2343"/>
                <a:ext cx="69" cy="25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2" name="Rectangle 1180"/>
              <p:cNvSpPr>
                <a:spLocks noChangeArrowheads="1"/>
              </p:cNvSpPr>
              <p:nvPr/>
            </p:nvSpPr>
            <p:spPr bwMode="auto">
              <a:xfrm>
                <a:off x="3197" y="2343"/>
                <a:ext cx="68" cy="25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3" name="Rectangle 1181"/>
              <p:cNvSpPr>
                <a:spLocks noChangeArrowheads="1"/>
              </p:cNvSpPr>
              <p:nvPr/>
            </p:nvSpPr>
            <p:spPr bwMode="auto">
              <a:xfrm>
                <a:off x="3265" y="2343"/>
                <a:ext cx="68" cy="25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4" name="Rectangle 1182"/>
              <p:cNvSpPr>
                <a:spLocks noChangeArrowheads="1"/>
              </p:cNvSpPr>
              <p:nvPr/>
            </p:nvSpPr>
            <p:spPr bwMode="auto">
              <a:xfrm>
                <a:off x="3333" y="2343"/>
                <a:ext cx="68" cy="25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5" name="Rectangle 1183"/>
              <p:cNvSpPr>
                <a:spLocks noChangeArrowheads="1"/>
              </p:cNvSpPr>
              <p:nvPr/>
            </p:nvSpPr>
            <p:spPr bwMode="auto">
              <a:xfrm>
                <a:off x="3401" y="2343"/>
                <a:ext cx="68" cy="25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6" name="Rectangle 1184"/>
              <p:cNvSpPr>
                <a:spLocks noChangeArrowheads="1"/>
              </p:cNvSpPr>
              <p:nvPr/>
            </p:nvSpPr>
            <p:spPr bwMode="auto">
              <a:xfrm>
                <a:off x="3469" y="2343"/>
                <a:ext cx="69" cy="25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7" name="Rectangle 1185"/>
              <p:cNvSpPr>
                <a:spLocks noChangeArrowheads="1"/>
              </p:cNvSpPr>
              <p:nvPr/>
            </p:nvSpPr>
            <p:spPr bwMode="auto">
              <a:xfrm>
                <a:off x="3538" y="2343"/>
                <a:ext cx="69" cy="25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8" name="Rectangle 1186"/>
              <p:cNvSpPr>
                <a:spLocks noChangeArrowheads="1"/>
              </p:cNvSpPr>
              <p:nvPr/>
            </p:nvSpPr>
            <p:spPr bwMode="auto">
              <a:xfrm>
                <a:off x="3607" y="2343"/>
                <a:ext cx="68" cy="25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499" name="Rectangle 1187"/>
              <p:cNvSpPr>
                <a:spLocks noChangeArrowheads="1"/>
              </p:cNvSpPr>
              <p:nvPr/>
            </p:nvSpPr>
            <p:spPr bwMode="auto">
              <a:xfrm>
                <a:off x="3675" y="2343"/>
                <a:ext cx="68" cy="25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0" name="Rectangle 1188"/>
              <p:cNvSpPr>
                <a:spLocks noChangeArrowheads="1"/>
              </p:cNvSpPr>
              <p:nvPr/>
            </p:nvSpPr>
            <p:spPr bwMode="auto">
              <a:xfrm>
                <a:off x="3743" y="2343"/>
                <a:ext cx="68" cy="25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1" name="Rectangle 1189"/>
              <p:cNvSpPr>
                <a:spLocks noChangeArrowheads="1"/>
              </p:cNvSpPr>
              <p:nvPr/>
            </p:nvSpPr>
            <p:spPr bwMode="auto">
              <a:xfrm>
                <a:off x="3811" y="2343"/>
                <a:ext cx="68" cy="25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2" name="Rectangle 1190"/>
              <p:cNvSpPr>
                <a:spLocks noChangeArrowheads="1"/>
              </p:cNvSpPr>
              <p:nvPr/>
            </p:nvSpPr>
            <p:spPr bwMode="auto">
              <a:xfrm>
                <a:off x="3879" y="2343"/>
                <a:ext cx="69" cy="25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3" name="Rectangle 1191"/>
              <p:cNvSpPr>
                <a:spLocks noChangeArrowheads="1"/>
              </p:cNvSpPr>
              <p:nvPr/>
            </p:nvSpPr>
            <p:spPr bwMode="auto">
              <a:xfrm>
                <a:off x="3948" y="2343"/>
                <a:ext cx="68" cy="25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4" name="Rectangle 1192"/>
              <p:cNvSpPr>
                <a:spLocks noChangeArrowheads="1"/>
              </p:cNvSpPr>
              <p:nvPr/>
            </p:nvSpPr>
            <p:spPr bwMode="auto">
              <a:xfrm>
                <a:off x="4016" y="2343"/>
                <a:ext cx="68" cy="25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5" name="Rectangle 1193"/>
              <p:cNvSpPr>
                <a:spLocks noChangeArrowheads="1"/>
              </p:cNvSpPr>
              <p:nvPr/>
            </p:nvSpPr>
            <p:spPr bwMode="auto">
              <a:xfrm>
                <a:off x="4084" y="2343"/>
                <a:ext cx="68" cy="25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6" name="Rectangle 1194"/>
              <p:cNvSpPr>
                <a:spLocks noChangeArrowheads="1"/>
              </p:cNvSpPr>
              <p:nvPr/>
            </p:nvSpPr>
            <p:spPr bwMode="auto">
              <a:xfrm>
                <a:off x="4152" y="2343"/>
                <a:ext cx="69" cy="25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7" name="Rectangle 1195"/>
              <p:cNvSpPr>
                <a:spLocks noChangeArrowheads="1"/>
              </p:cNvSpPr>
              <p:nvPr/>
            </p:nvSpPr>
            <p:spPr bwMode="auto">
              <a:xfrm>
                <a:off x="4221" y="2343"/>
                <a:ext cx="68" cy="25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8" name="Rectangle 1196"/>
              <p:cNvSpPr>
                <a:spLocks noChangeArrowheads="1"/>
              </p:cNvSpPr>
              <p:nvPr/>
            </p:nvSpPr>
            <p:spPr bwMode="auto">
              <a:xfrm>
                <a:off x="2924" y="2343"/>
                <a:ext cx="1365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09" name="Freeform 1197"/>
              <p:cNvSpPr>
                <a:spLocks/>
              </p:cNvSpPr>
              <p:nvPr/>
            </p:nvSpPr>
            <p:spPr bwMode="auto">
              <a:xfrm>
                <a:off x="4275" y="2345"/>
                <a:ext cx="9" cy="7"/>
              </a:xfrm>
              <a:custGeom>
                <a:avLst/>
                <a:gdLst>
                  <a:gd name="T0" fmla="*/ 19 w 19"/>
                  <a:gd name="T1" fmla="*/ 12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2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0" name="Freeform 1198"/>
              <p:cNvSpPr>
                <a:spLocks/>
              </p:cNvSpPr>
              <p:nvPr/>
            </p:nvSpPr>
            <p:spPr bwMode="auto">
              <a:xfrm>
                <a:off x="4257" y="2351"/>
                <a:ext cx="27" cy="16"/>
              </a:xfrm>
              <a:custGeom>
                <a:avLst/>
                <a:gdLst>
                  <a:gd name="T0" fmla="*/ 55 w 55"/>
                  <a:gd name="T1" fmla="*/ 0 h 31"/>
                  <a:gd name="T2" fmla="*/ 55 w 55"/>
                  <a:gd name="T3" fmla="*/ 24 h 31"/>
                  <a:gd name="T4" fmla="*/ 0 w 55"/>
                  <a:gd name="T5" fmla="*/ 31 h 31"/>
                  <a:gd name="T6" fmla="*/ 36 w 55"/>
                  <a:gd name="T7" fmla="*/ 2 h 31"/>
                  <a:gd name="T8" fmla="*/ 55 w 5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1">
                    <a:moveTo>
                      <a:pt x="55" y="0"/>
                    </a:moveTo>
                    <a:lnTo>
                      <a:pt x="55" y="24"/>
                    </a:lnTo>
                    <a:lnTo>
                      <a:pt x="0" y="31"/>
                    </a:lnTo>
                    <a:lnTo>
                      <a:pt x="36" y="2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1" name="Freeform 1199"/>
              <p:cNvSpPr>
                <a:spLocks/>
              </p:cNvSpPr>
              <p:nvPr/>
            </p:nvSpPr>
            <p:spPr bwMode="auto">
              <a:xfrm>
                <a:off x="4236" y="2363"/>
                <a:ext cx="48" cy="19"/>
              </a:xfrm>
              <a:custGeom>
                <a:avLst/>
                <a:gdLst>
                  <a:gd name="T0" fmla="*/ 96 w 96"/>
                  <a:gd name="T1" fmla="*/ 0 h 38"/>
                  <a:gd name="T2" fmla="*/ 96 w 96"/>
                  <a:gd name="T3" fmla="*/ 26 h 38"/>
                  <a:gd name="T4" fmla="*/ 0 w 96"/>
                  <a:gd name="T5" fmla="*/ 38 h 38"/>
                  <a:gd name="T6" fmla="*/ 41 w 96"/>
                  <a:gd name="T7" fmla="*/ 7 h 38"/>
                  <a:gd name="T8" fmla="*/ 96 w 96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38">
                    <a:moveTo>
                      <a:pt x="96" y="0"/>
                    </a:moveTo>
                    <a:lnTo>
                      <a:pt x="96" y="26"/>
                    </a:lnTo>
                    <a:lnTo>
                      <a:pt x="0" y="38"/>
                    </a:lnTo>
                    <a:lnTo>
                      <a:pt x="41" y="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2" name="Freeform 1200"/>
              <p:cNvSpPr>
                <a:spLocks/>
              </p:cNvSpPr>
              <p:nvPr/>
            </p:nvSpPr>
            <p:spPr bwMode="auto">
              <a:xfrm>
                <a:off x="4228" y="2376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24 h 40"/>
                  <a:gd name="T8" fmla="*/ 16 w 112"/>
                  <a:gd name="T9" fmla="*/ 12 h 40"/>
                  <a:gd name="T10" fmla="*/ 112 w 112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24"/>
                    </a:lnTo>
                    <a:lnTo>
                      <a:pt x="16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3" name="Freeform 1201"/>
              <p:cNvSpPr>
                <a:spLocks/>
              </p:cNvSpPr>
              <p:nvPr/>
            </p:nvSpPr>
            <p:spPr bwMode="auto">
              <a:xfrm>
                <a:off x="4228" y="2389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4" name="Freeform 1202"/>
              <p:cNvSpPr>
                <a:spLocks/>
              </p:cNvSpPr>
              <p:nvPr/>
            </p:nvSpPr>
            <p:spPr bwMode="auto">
              <a:xfrm>
                <a:off x="4228" y="2402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5" name="Freeform 1203"/>
              <p:cNvSpPr>
                <a:spLocks/>
              </p:cNvSpPr>
              <p:nvPr/>
            </p:nvSpPr>
            <p:spPr bwMode="auto">
              <a:xfrm>
                <a:off x="4228" y="2415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6" name="Freeform 1204"/>
              <p:cNvSpPr>
                <a:spLocks/>
              </p:cNvSpPr>
              <p:nvPr/>
            </p:nvSpPr>
            <p:spPr bwMode="auto">
              <a:xfrm>
                <a:off x="4228" y="2428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7" name="Freeform 1205"/>
              <p:cNvSpPr>
                <a:spLocks/>
              </p:cNvSpPr>
              <p:nvPr/>
            </p:nvSpPr>
            <p:spPr bwMode="auto">
              <a:xfrm>
                <a:off x="4228" y="2441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8" name="Freeform 1206"/>
              <p:cNvSpPr>
                <a:spLocks/>
              </p:cNvSpPr>
              <p:nvPr/>
            </p:nvSpPr>
            <p:spPr bwMode="auto">
              <a:xfrm>
                <a:off x="4228" y="2454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19" name="Freeform 1207"/>
              <p:cNvSpPr>
                <a:spLocks/>
              </p:cNvSpPr>
              <p:nvPr/>
            </p:nvSpPr>
            <p:spPr bwMode="auto">
              <a:xfrm>
                <a:off x="4228" y="2467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7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20" name="Freeform 1208"/>
              <p:cNvSpPr>
                <a:spLocks/>
              </p:cNvSpPr>
              <p:nvPr/>
            </p:nvSpPr>
            <p:spPr bwMode="auto">
              <a:xfrm>
                <a:off x="4228" y="248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21" name="Freeform 1209"/>
              <p:cNvSpPr>
                <a:spLocks/>
              </p:cNvSpPr>
              <p:nvPr/>
            </p:nvSpPr>
            <p:spPr bwMode="auto">
              <a:xfrm>
                <a:off x="4228" y="2493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522" name="Group 1210"/>
            <p:cNvGrpSpPr>
              <a:grpSpLocks/>
            </p:cNvGrpSpPr>
            <p:nvPr/>
          </p:nvGrpSpPr>
          <p:grpSpPr bwMode="auto">
            <a:xfrm>
              <a:off x="2922" y="1904"/>
              <a:ext cx="1368" cy="1585"/>
              <a:chOff x="2922" y="1904"/>
              <a:chExt cx="1368" cy="1585"/>
            </a:xfrm>
          </p:grpSpPr>
          <p:sp>
            <p:nvSpPr>
              <p:cNvPr id="142523" name="Freeform 1211"/>
              <p:cNvSpPr>
                <a:spLocks/>
              </p:cNvSpPr>
              <p:nvPr/>
            </p:nvSpPr>
            <p:spPr bwMode="auto">
              <a:xfrm>
                <a:off x="4228" y="2506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24" name="Freeform 1212"/>
              <p:cNvSpPr>
                <a:spLocks/>
              </p:cNvSpPr>
              <p:nvPr/>
            </p:nvSpPr>
            <p:spPr bwMode="auto">
              <a:xfrm>
                <a:off x="4228" y="2519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25" name="Freeform 1213"/>
              <p:cNvSpPr>
                <a:spLocks/>
              </p:cNvSpPr>
              <p:nvPr/>
            </p:nvSpPr>
            <p:spPr bwMode="auto">
              <a:xfrm>
                <a:off x="4228" y="2532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26" name="Freeform 1214"/>
              <p:cNvSpPr>
                <a:spLocks/>
              </p:cNvSpPr>
              <p:nvPr/>
            </p:nvSpPr>
            <p:spPr bwMode="auto">
              <a:xfrm>
                <a:off x="4228" y="2545"/>
                <a:ext cx="56" cy="18"/>
              </a:xfrm>
              <a:custGeom>
                <a:avLst/>
                <a:gdLst>
                  <a:gd name="T0" fmla="*/ 112 w 112"/>
                  <a:gd name="T1" fmla="*/ 0 h 34"/>
                  <a:gd name="T2" fmla="*/ 112 w 112"/>
                  <a:gd name="T3" fmla="*/ 25 h 34"/>
                  <a:gd name="T4" fmla="*/ 26 w 112"/>
                  <a:gd name="T5" fmla="*/ 34 h 34"/>
                  <a:gd name="T6" fmla="*/ 0 w 112"/>
                  <a:gd name="T7" fmla="*/ 15 h 34"/>
                  <a:gd name="T8" fmla="*/ 0 w 112"/>
                  <a:gd name="T9" fmla="*/ 12 h 34"/>
                  <a:gd name="T10" fmla="*/ 112 w 112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4">
                    <a:moveTo>
                      <a:pt x="112" y="0"/>
                    </a:moveTo>
                    <a:lnTo>
                      <a:pt x="112" y="25"/>
                    </a:lnTo>
                    <a:lnTo>
                      <a:pt x="26" y="34"/>
                    </a:lnTo>
                    <a:lnTo>
                      <a:pt x="0" y="15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27" name="Freeform 1215"/>
              <p:cNvSpPr>
                <a:spLocks/>
              </p:cNvSpPr>
              <p:nvPr/>
            </p:nvSpPr>
            <p:spPr bwMode="auto">
              <a:xfrm>
                <a:off x="4241" y="2558"/>
                <a:ext cx="43" cy="17"/>
              </a:xfrm>
              <a:custGeom>
                <a:avLst/>
                <a:gdLst>
                  <a:gd name="T0" fmla="*/ 86 w 86"/>
                  <a:gd name="T1" fmla="*/ 0 h 33"/>
                  <a:gd name="T2" fmla="*/ 86 w 86"/>
                  <a:gd name="T3" fmla="*/ 26 h 33"/>
                  <a:gd name="T4" fmla="*/ 29 w 86"/>
                  <a:gd name="T5" fmla="*/ 33 h 33"/>
                  <a:gd name="T6" fmla="*/ 0 w 86"/>
                  <a:gd name="T7" fmla="*/ 9 h 33"/>
                  <a:gd name="T8" fmla="*/ 86 w 8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3">
                    <a:moveTo>
                      <a:pt x="86" y="0"/>
                    </a:moveTo>
                    <a:lnTo>
                      <a:pt x="86" y="26"/>
                    </a:lnTo>
                    <a:lnTo>
                      <a:pt x="29" y="33"/>
                    </a:lnTo>
                    <a:lnTo>
                      <a:pt x="0" y="9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28" name="Freeform 1216"/>
              <p:cNvSpPr>
                <a:spLocks/>
              </p:cNvSpPr>
              <p:nvPr/>
            </p:nvSpPr>
            <p:spPr bwMode="auto">
              <a:xfrm>
                <a:off x="4256" y="2571"/>
                <a:ext cx="28" cy="15"/>
              </a:xfrm>
              <a:custGeom>
                <a:avLst/>
                <a:gdLst>
                  <a:gd name="T0" fmla="*/ 57 w 57"/>
                  <a:gd name="T1" fmla="*/ 0 h 30"/>
                  <a:gd name="T2" fmla="*/ 57 w 57"/>
                  <a:gd name="T3" fmla="*/ 26 h 30"/>
                  <a:gd name="T4" fmla="*/ 30 w 57"/>
                  <a:gd name="T5" fmla="*/ 30 h 30"/>
                  <a:gd name="T6" fmla="*/ 0 w 57"/>
                  <a:gd name="T7" fmla="*/ 7 h 30"/>
                  <a:gd name="T8" fmla="*/ 57 w 57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30">
                    <a:moveTo>
                      <a:pt x="57" y="0"/>
                    </a:moveTo>
                    <a:lnTo>
                      <a:pt x="57" y="26"/>
                    </a:lnTo>
                    <a:lnTo>
                      <a:pt x="30" y="30"/>
                    </a:lnTo>
                    <a:lnTo>
                      <a:pt x="0" y="7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29" name="Freeform 1217"/>
              <p:cNvSpPr>
                <a:spLocks/>
              </p:cNvSpPr>
              <p:nvPr/>
            </p:nvSpPr>
            <p:spPr bwMode="auto">
              <a:xfrm>
                <a:off x="4270" y="2584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4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0" name="Freeform 1218"/>
              <p:cNvSpPr>
                <a:spLocks/>
              </p:cNvSpPr>
              <p:nvPr/>
            </p:nvSpPr>
            <p:spPr bwMode="auto">
              <a:xfrm>
                <a:off x="4228" y="2345"/>
                <a:ext cx="56" cy="251"/>
              </a:xfrm>
              <a:custGeom>
                <a:avLst/>
                <a:gdLst>
                  <a:gd name="T0" fmla="*/ 0 w 112"/>
                  <a:gd name="T1" fmla="*/ 86 h 502"/>
                  <a:gd name="T2" fmla="*/ 112 w 112"/>
                  <a:gd name="T3" fmla="*/ 0 h 502"/>
                  <a:gd name="T4" fmla="*/ 112 w 112"/>
                  <a:gd name="T5" fmla="*/ 502 h 502"/>
                  <a:gd name="T6" fmla="*/ 0 w 112"/>
                  <a:gd name="T7" fmla="*/ 416 h 502"/>
                  <a:gd name="T8" fmla="*/ 0 w 112"/>
                  <a:gd name="T9" fmla="*/ 86 h 5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2">
                    <a:moveTo>
                      <a:pt x="0" y="86"/>
                    </a:moveTo>
                    <a:lnTo>
                      <a:pt x="112" y="0"/>
                    </a:lnTo>
                    <a:lnTo>
                      <a:pt x="112" y="502"/>
                    </a:lnTo>
                    <a:lnTo>
                      <a:pt x="0" y="416"/>
                    </a:lnTo>
                    <a:lnTo>
                      <a:pt x="0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1" name="Freeform 1219"/>
              <p:cNvSpPr>
                <a:spLocks/>
              </p:cNvSpPr>
              <p:nvPr/>
            </p:nvSpPr>
            <p:spPr bwMode="auto">
              <a:xfrm>
                <a:off x="4222" y="2552"/>
                <a:ext cx="68" cy="43"/>
              </a:xfrm>
              <a:custGeom>
                <a:avLst/>
                <a:gdLst>
                  <a:gd name="T0" fmla="*/ 0 w 137"/>
                  <a:gd name="T1" fmla="*/ 87 h 87"/>
                  <a:gd name="T2" fmla="*/ 137 w 137"/>
                  <a:gd name="T3" fmla="*/ 87 h 87"/>
                  <a:gd name="T4" fmla="*/ 12 w 137"/>
                  <a:gd name="T5" fmla="*/ 0 h 87"/>
                  <a:gd name="T6" fmla="*/ 9 w 137"/>
                  <a:gd name="T7" fmla="*/ 0 h 87"/>
                  <a:gd name="T8" fmla="*/ 0 w 13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7">
                    <a:moveTo>
                      <a:pt x="0" y="87"/>
                    </a:moveTo>
                    <a:lnTo>
                      <a:pt x="137" y="87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2" name="Freeform 1220"/>
              <p:cNvSpPr>
                <a:spLocks/>
              </p:cNvSpPr>
              <p:nvPr/>
            </p:nvSpPr>
            <p:spPr bwMode="auto">
              <a:xfrm>
                <a:off x="4153" y="2552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3" name="Freeform 1221"/>
              <p:cNvSpPr>
                <a:spLocks/>
              </p:cNvSpPr>
              <p:nvPr/>
            </p:nvSpPr>
            <p:spPr bwMode="auto">
              <a:xfrm>
                <a:off x="4085" y="2552"/>
                <a:ext cx="73" cy="43"/>
              </a:xfrm>
              <a:custGeom>
                <a:avLst/>
                <a:gdLst>
                  <a:gd name="T0" fmla="*/ 136 w 146"/>
                  <a:gd name="T1" fmla="*/ 87 h 87"/>
                  <a:gd name="T2" fmla="*/ 0 w 146"/>
                  <a:gd name="T3" fmla="*/ 87 h 87"/>
                  <a:gd name="T4" fmla="*/ 8 w 146"/>
                  <a:gd name="T5" fmla="*/ 0 h 87"/>
                  <a:gd name="T6" fmla="*/ 146 w 146"/>
                  <a:gd name="T7" fmla="*/ 0 h 87"/>
                  <a:gd name="T8" fmla="*/ 136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4" name="Freeform 1222"/>
              <p:cNvSpPr>
                <a:spLocks/>
              </p:cNvSpPr>
              <p:nvPr/>
            </p:nvSpPr>
            <p:spPr bwMode="auto">
              <a:xfrm>
                <a:off x="4016" y="2552"/>
                <a:ext cx="73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5" name="Freeform 1223"/>
              <p:cNvSpPr>
                <a:spLocks/>
              </p:cNvSpPr>
              <p:nvPr/>
            </p:nvSpPr>
            <p:spPr bwMode="auto">
              <a:xfrm>
                <a:off x="3948" y="2552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6" name="Freeform 1224"/>
              <p:cNvSpPr>
                <a:spLocks/>
              </p:cNvSpPr>
              <p:nvPr/>
            </p:nvSpPr>
            <p:spPr bwMode="auto">
              <a:xfrm>
                <a:off x="3879" y="2552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7" name="Freeform 1225"/>
              <p:cNvSpPr>
                <a:spLocks/>
              </p:cNvSpPr>
              <p:nvPr/>
            </p:nvSpPr>
            <p:spPr bwMode="auto">
              <a:xfrm>
                <a:off x="3810" y="2552"/>
                <a:ext cx="74" cy="43"/>
              </a:xfrm>
              <a:custGeom>
                <a:avLst/>
                <a:gdLst>
                  <a:gd name="T0" fmla="*/ 136 w 146"/>
                  <a:gd name="T1" fmla="*/ 87 h 87"/>
                  <a:gd name="T2" fmla="*/ 0 w 146"/>
                  <a:gd name="T3" fmla="*/ 87 h 87"/>
                  <a:gd name="T4" fmla="*/ 8 w 146"/>
                  <a:gd name="T5" fmla="*/ 0 h 87"/>
                  <a:gd name="T6" fmla="*/ 146 w 146"/>
                  <a:gd name="T7" fmla="*/ 0 h 87"/>
                  <a:gd name="T8" fmla="*/ 136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8" name="Freeform 1226"/>
              <p:cNvSpPr>
                <a:spLocks/>
              </p:cNvSpPr>
              <p:nvPr/>
            </p:nvSpPr>
            <p:spPr bwMode="auto">
              <a:xfrm>
                <a:off x="3741" y="2552"/>
                <a:ext cx="74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39" name="Freeform 1227"/>
              <p:cNvSpPr>
                <a:spLocks/>
              </p:cNvSpPr>
              <p:nvPr/>
            </p:nvSpPr>
            <p:spPr bwMode="auto">
              <a:xfrm>
                <a:off x="3673" y="2552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0" name="Freeform 1228"/>
              <p:cNvSpPr>
                <a:spLocks/>
              </p:cNvSpPr>
              <p:nvPr/>
            </p:nvSpPr>
            <p:spPr bwMode="auto">
              <a:xfrm>
                <a:off x="3604" y="2552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1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1" name="Freeform 1229"/>
              <p:cNvSpPr>
                <a:spLocks/>
              </p:cNvSpPr>
              <p:nvPr/>
            </p:nvSpPr>
            <p:spPr bwMode="auto">
              <a:xfrm>
                <a:off x="3536" y="2552"/>
                <a:ext cx="73" cy="43"/>
              </a:xfrm>
              <a:custGeom>
                <a:avLst/>
                <a:gdLst>
                  <a:gd name="T0" fmla="*/ 136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6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2" name="Freeform 1230"/>
              <p:cNvSpPr>
                <a:spLocks/>
              </p:cNvSpPr>
              <p:nvPr/>
            </p:nvSpPr>
            <p:spPr bwMode="auto">
              <a:xfrm>
                <a:off x="3468" y="2552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3" name="Freeform 1231"/>
              <p:cNvSpPr>
                <a:spLocks/>
              </p:cNvSpPr>
              <p:nvPr/>
            </p:nvSpPr>
            <p:spPr bwMode="auto">
              <a:xfrm>
                <a:off x="3399" y="2552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1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4" name="Freeform 1232"/>
              <p:cNvSpPr>
                <a:spLocks/>
              </p:cNvSpPr>
              <p:nvPr/>
            </p:nvSpPr>
            <p:spPr bwMode="auto">
              <a:xfrm>
                <a:off x="3330" y="2552"/>
                <a:ext cx="74" cy="43"/>
              </a:xfrm>
              <a:custGeom>
                <a:avLst/>
                <a:gdLst>
                  <a:gd name="T0" fmla="*/ 136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6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5" name="Freeform 1233"/>
              <p:cNvSpPr>
                <a:spLocks/>
              </p:cNvSpPr>
              <p:nvPr/>
            </p:nvSpPr>
            <p:spPr bwMode="auto">
              <a:xfrm>
                <a:off x="3261" y="2552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6" name="Freeform 1234"/>
              <p:cNvSpPr>
                <a:spLocks/>
              </p:cNvSpPr>
              <p:nvPr/>
            </p:nvSpPr>
            <p:spPr bwMode="auto">
              <a:xfrm>
                <a:off x="3193" y="2552"/>
                <a:ext cx="74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7" name="Freeform 1235"/>
              <p:cNvSpPr>
                <a:spLocks/>
              </p:cNvSpPr>
              <p:nvPr/>
            </p:nvSpPr>
            <p:spPr bwMode="auto">
              <a:xfrm>
                <a:off x="3124" y="2552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1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8" name="Freeform 1236"/>
              <p:cNvSpPr>
                <a:spLocks/>
              </p:cNvSpPr>
              <p:nvPr/>
            </p:nvSpPr>
            <p:spPr bwMode="auto">
              <a:xfrm>
                <a:off x="3056" y="2552"/>
                <a:ext cx="73" cy="43"/>
              </a:xfrm>
              <a:custGeom>
                <a:avLst/>
                <a:gdLst>
                  <a:gd name="T0" fmla="*/ 136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6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49" name="Freeform 1237"/>
              <p:cNvSpPr>
                <a:spLocks/>
              </p:cNvSpPr>
              <p:nvPr/>
            </p:nvSpPr>
            <p:spPr bwMode="auto">
              <a:xfrm>
                <a:off x="2987" y="2552"/>
                <a:ext cx="74" cy="43"/>
              </a:xfrm>
              <a:custGeom>
                <a:avLst/>
                <a:gdLst>
                  <a:gd name="T0" fmla="*/ 138 w 148"/>
                  <a:gd name="T1" fmla="*/ 87 h 87"/>
                  <a:gd name="T2" fmla="*/ 0 w 148"/>
                  <a:gd name="T3" fmla="*/ 87 h 87"/>
                  <a:gd name="T4" fmla="*/ 10 w 148"/>
                  <a:gd name="T5" fmla="*/ 0 h 87"/>
                  <a:gd name="T6" fmla="*/ 148 w 148"/>
                  <a:gd name="T7" fmla="*/ 0 h 87"/>
                  <a:gd name="T8" fmla="*/ 138 w 148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0" name="Freeform 1238"/>
              <p:cNvSpPr>
                <a:spLocks/>
              </p:cNvSpPr>
              <p:nvPr/>
            </p:nvSpPr>
            <p:spPr bwMode="auto">
              <a:xfrm>
                <a:off x="2923" y="2552"/>
                <a:ext cx="69" cy="43"/>
              </a:xfrm>
              <a:custGeom>
                <a:avLst/>
                <a:gdLst>
                  <a:gd name="T0" fmla="*/ 128 w 138"/>
                  <a:gd name="T1" fmla="*/ 87 h 87"/>
                  <a:gd name="T2" fmla="*/ 0 w 138"/>
                  <a:gd name="T3" fmla="*/ 87 h 87"/>
                  <a:gd name="T4" fmla="*/ 112 w 138"/>
                  <a:gd name="T5" fmla="*/ 0 h 87"/>
                  <a:gd name="T6" fmla="*/ 138 w 138"/>
                  <a:gd name="T7" fmla="*/ 0 h 87"/>
                  <a:gd name="T8" fmla="*/ 128 w 138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87">
                    <a:moveTo>
                      <a:pt x="128" y="87"/>
                    </a:moveTo>
                    <a:lnTo>
                      <a:pt x="0" y="87"/>
                    </a:lnTo>
                    <a:lnTo>
                      <a:pt x="112" y="0"/>
                    </a:lnTo>
                    <a:lnTo>
                      <a:pt x="138" y="0"/>
                    </a:lnTo>
                    <a:lnTo>
                      <a:pt x="128" y="87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1" name="Freeform 1239"/>
              <p:cNvSpPr>
                <a:spLocks/>
              </p:cNvSpPr>
              <p:nvPr/>
            </p:nvSpPr>
            <p:spPr bwMode="auto">
              <a:xfrm>
                <a:off x="2923" y="2552"/>
                <a:ext cx="1367" cy="43"/>
              </a:xfrm>
              <a:custGeom>
                <a:avLst/>
                <a:gdLst>
                  <a:gd name="T0" fmla="*/ 112 w 2735"/>
                  <a:gd name="T1" fmla="*/ 0 h 87"/>
                  <a:gd name="T2" fmla="*/ 0 w 2735"/>
                  <a:gd name="T3" fmla="*/ 87 h 87"/>
                  <a:gd name="T4" fmla="*/ 2735 w 2735"/>
                  <a:gd name="T5" fmla="*/ 87 h 87"/>
                  <a:gd name="T6" fmla="*/ 2610 w 2735"/>
                  <a:gd name="T7" fmla="*/ 0 h 87"/>
                  <a:gd name="T8" fmla="*/ 112 w 2735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7">
                    <a:moveTo>
                      <a:pt x="112" y="0"/>
                    </a:moveTo>
                    <a:lnTo>
                      <a:pt x="0" y="87"/>
                    </a:lnTo>
                    <a:lnTo>
                      <a:pt x="2735" y="87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2" name="Freeform 1240"/>
              <p:cNvSpPr>
                <a:spLocks/>
              </p:cNvSpPr>
              <p:nvPr/>
            </p:nvSpPr>
            <p:spPr bwMode="auto">
              <a:xfrm>
                <a:off x="2923" y="2344"/>
                <a:ext cx="68" cy="43"/>
              </a:xfrm>
              <a:custGeom>
                <a:avLst/>
                <a:gdLst>
                  <a:gd name="T0" fmla="*/ 136 w 136"/>
                  <a:gd name="T1" fmla="*/ 0 h 87"/>
                  <a:gd name="T2" fmla="*/ 0 w 136"/>
                  <a:gd name="T3" fmla="*/ 0 h 87"/>
                  <a:gd name="T4" fmla="*/ 118 w 136"/>
                  <a:gd name="T5" fmla="*/ 87 h 87"/>
                  <a:gd name="T6" fmla="*/ 136 w 136"/>
                  <a:gd name="T7" fmla="*/ 87 h 87"/>
                  <a:gd name="T8" fmla="*/ 136 w 136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7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7"/>
                    </a:lnTo>
                    <a:lnTo>
                      <a:pt x="136" y="87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3" name="Rectangle 1241"/>
              <p:cNvSpPr>
                <a:spLocks noChangeArrowheads="1"/>
              </p:cNvSpPr>
              <p:nvPr/>
            </p:nvSpPr>
            <p:spPr bwMode="auto">
              <a:xfrm>
                <a:off x="2991" y="2344"/>
                <a:ext cx="68" cy="43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4" name="Rectangle 1242"/>
              <p:cNvSpPr>
                <a:spLocks noChangeArrowheads="1"/>
              </p:cNvSpPr>
              <p:nvPr/>
            </p:nvSpPr>
            <p:spPr bwMode="auto">
              <a:xfrm>
                <a:off x="3059" y="2344"/>
                <a:ext cx="69" cy="43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5" name="Rectangle 1243"/>
              <p:cNvSpPr>
                <a:spLocks noChangeArrowheads="1"/>
              </p:cNvSpPr>
              <p:nvPr/>
            </p:nvSpPr>
            <p:spPr bwMode="auto">
              <a:xfrm>
                <a:off x="3128" y="2344"/>
                <a:ext cx="68" cy="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6" name="Rectangle 1244"/>
              <p:cNvSpPr>
                <a:spLocks noChangeArrowheads="1"/>
              </p:cNvSpPr>
              <p:nvPr/>
            </p:nvSpPr>
            <p:spPr bwMode="auto">
              <a:xfrm>
                <a:off x="3196" y="2344"/>
                <a:ext cx="68" cy="43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7" name="Rectangle 1245"/>
              <p:cNvSpPr>
                <a:spLocks noChangeArrowheads="1"/>
              </p:cNvSpPr>
              <p:nvPr/>
            </p:nvSpPr>
            <p:spPr bwMode="auto">
              <a:xfrm>
                <a:off x="3264" y="2344"/>
                <a:ext cx="68" cy="4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8" name="Rectangle 1246"/>
              <p:cNvSpPr>
                <a:spLocks noChangeArrowheads="1"/>
              </p:cNvSpPr>
              <p:nvPr/>
            </p:nvSpPr>
            <p:spPr bwMode="auto">
              <a:xfrm>
                <a:off x="3332" y="2344"/>
                <a:ext cx="68" cy="43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59" name="Rectangle 1247"/>
              <p:cNvSpPr>
                <a:spLocks noChangeArrowheads="1"/>
              </p:cNvSpPr>
              <p:nvPr/>
            </p:nvSpPr>
            <p:spPr bwMode="auto">
              <a:xfrm>
                <a:off x="3400" y="2344"/>
                <a:ext cx="69" cy="43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0" name="Rectangle 1248"/>
              <p:cNvSpPr>
                <a:spLocks noChangeArrowheads="1"/>
              </p:cNvSpPr>
              <p:nvPr/>
            </p:nvSpPr>
            <p:spPr bwMode="auto">
              <a:xfrm>
                <a:off x="3469" y="2344"/>
                <a:ext cx="68" cy="43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1" name="Rectangle 1249"/>
              <p:cNvSpPr>
                <a:spLocks noChangeArrowheads="1"/>
              </p:cNvSpPr>
              <p:nvPr/>
            </p:nvSpPr>
            <p:spPr bwMode="auto">
              <a:xfrm>
                <a:off x="3537" y="2344"/>
                <a:ext cx="68" cy="43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2" name="Rectangle 1250"/>
              <p:cNvSpPr>
                <a:spLocks noChangeArrowheads="1"/>
              </p:cNvSpPr>
              <p:nvPr/>
            </p:nvSpPr>
            <p:spPr bwMode="auto">
              <a:xfrm>
                <a:off x="3605" y="2344"/>
                <a:ext cx="68" cy="43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3" name="Rectangle 1251"/>
              <p:cNvSpPr>
                <a:spLocks noChangeArrowheads="1"/>
              </p:cNvSpPr>
              <p:nvPr/>
            </p:nvSpPr>
            <p:spPr bwMode="auto">
              <a:xfrm>
                <a:off x="3673" y="2344"/>
                <a:ext cx="68" cy="43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4" name="Rectangle 1252"/>
              <p:cNvSpPr>
                <a:spLocks noChangeArrowheads="1"/>
              </p:cNvSpPr>
              <p:nvPr/>
            </p:nvSpPr>
            <p:spPr bwMode="auto">
              <a:xfrm>
                <a:off x="3741" y="2344"/>
                <a:ext cx="69" cy="43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5" name="Rectangle 1253"/>
              <p:cNvSpPr>
                <a:spLocks noChangeArrowheads="1"/>
              </p:cNvSpPr>
              <p:nvPr/>
            </p:nvSpPr>
            <p:spPr bwMode="auto">
              <a:xfrm>
                <a:off x="3810" y="2344"/>
                <a:ext cx="68" cy="43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6" name="Rectangle 1254"/>
              <p:cNvSpPr>
                <a:spLocks noChangeArrowheads="1"/>
              </p:cNvSpPr>
              <p:nvPr/>
            </p:nvSpPr>
            <p:spPr bwMode="auto">
              <a:xfrm>
                <a:off x="3878" y="2344"/>
                <a:ext cx="68" cy="43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7" name="Rectangle 1255"/>
              <p:cNvSpPr>
                <a:spLocks noChangeArrowheads="1"/>
              </p:cNvSpPr>
              <p:nvPr/>
            </p:nvSpPr>
            <p:spPr bwMode="auto">
              <a:xfrm>
                <a:off x="3946" y="2344"/>
                <a:ext cx="68" cy="43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8" name="Rectangle 1256"/>
              <p:cNvSpPr>
                <a:spLocks noChangeArrowheads="1"/>
              </p:cNvSpPr>
              <p:nvPr/>
            </p:nvSpPr>
            <p:spPr bwMode="auto">
              <a:xfrm>
                <a:off x="4014" y="2344"/>
                <a:ext cx="68" cy="43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69" name="Rectangle 1257"/>
              <p:cNvSpPr>
                <a:spLocks noChangeArrowheads="1"/>
              </p:cNvSpPr>
              <p:nvPr/>
            </p:nvSpPr>
            <p:spPr bwMode="auto">
              <a:xfrm>
                <a:off x="4082" y="2344"/>
                <a:ext cx="68" cy="43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0" name="Rectangle 1258"/>
              <p:cNvSpPr>
                <a:spLocks noChangeArrowheads="1"/>
              </p:cNvSpPr>
              <p:nvPr/>
            </p:nvSpPr>
            <p:spPr bwMode="auto">
              <a:xfrm>
                <a:off x="4150" y="2344"/>
                <a:ext cx="69" cy="43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1" name="Freeform 1259"/>
              <p:cNvSpPr>
                <a:spLocks/>
              </p:cNvSpPr>
              <p:nvPr/>
            </p:nvSpPr>
            <p:spPr bwMode="auto">
              <a:xfrm>
                <a:off x="4219" y="2344"/>
                <a:ext cx="69" cy="43"/>
              </a:xfrm>
              <a:custGeom>
                <a:avLst/>
                <a:gdLst>
                  <a:gd name="T0" fmla="*/ 0 w 136"/>
                  <a:gd name="T1" fmla="*/ 0 h 87"/>
                  <a:gd name="T2" fmla="*/ 136 w 136"/>
                  <a:gd name="T3" fmla="*/ 0 h 87"/>
                  <a:gd name="T4" fmla="*/ 24 w 136"/>
                  <a:gd name="T5" fmla="*/ 87 h 87"/>
                  <a:gd name="T6" fmla="*/ 0 w 136"/>
                  <a:gd name="T7" fmla="*/ 87 h 87"/>
                  <a:gd name="T8" fmla="*/ 0 w 136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7">
                    <a:moveTo>
                      <a:pt x="0" y="0"/>
                    </a:moveTo>
                    <a:lnTo>
                      <a:pt x="136" y="0"/>
                    </a:lnTo>
                    <a:lnTo>
                      <a:pt x="24" y="87"/>
                    </a:lnTo>
                    <a:lnTo>
                      <a:pt x="0" y="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2" name="Freeform 1260"/>
              <p:cNvSpPr>
                <a:spLocks/>
              </p:cNvSpPr>
              <p:nvPr/>
            </p:nvSpPr>
            <p:spPr bwMode="auto">
              <a:xfrm>
                <a:off x="2923" y="2344"/>
                <a:ext cx="1365" cy="43"/>
              </a:xfrm>
              <a:custGeom>
                <a:avLst/>
                <a:gdLst>
                  <a:gd name="T0" fmla="*/ 118 w 2729"/>
                  <a:gd name="T1" fmla="*/ 87 h 87"/>
                  <a:gd name="T2" fmla="*/ 0 w 2729"/>
                  <a:gd name="T3" fmla="*/ 0 h 87"/>
                  <a:gd name="T4" fmla="*/ 2729 w 2729"/>
                  <a:gd name="T5" fmla="*/ 0 h 87"/>
                  <a:gd name="T6" fmla="*/ 2617 w 2729"/>
                  <a:gd name="T7" fmla="*/ 87 h 87"/>
                  <a:gd name="T8" fmla="*/ 118 w 2729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7">
                    <a:moveTo>
                      <a:pt x="118" y="87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7"/>
                    </a:lnTo>
                    <a:lnTo>
                      <a:pt x="118" y="87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3" name="Freeform 1261"/>
              <p:cNvSpPr>
                <a:spLocks/>
              </p:cNvSpPr>
              <p:nvPr/>
            </p:nvSpPr>
            <p:spPr bwMode="auto">
              <a:xfrm>
                <a:off x="2922" y="2342"/>
                <a:ext cx="16" cy="13"/>
              </a:xfrm>
              <a:custGeom>
                <a:avLst/>
                <a:gdLst>
                  <a:gd name="T0" fmla="*/ 31 w 31"/>
                  <a:gd name="T1" fmla="*/ 23 h 26"/>
                  <a:gd name="T2" fmla="*/ 0 w 31"/>
                  <a:gd name="T3" fmla="*/ 0 h 26"/>
                  <a:gd name="T4" fmla="*/ 0 w 31"/>
                  <a:gd name="T5" fmla="*/ 26 h 26"/>
                  <a:gd name="T6" fmla="*/ 31 w 31"/>
                  <a:gd name="T7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26">
                    <a:moveTo>
                      <a:pt x="31" y="23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1" y="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4" name="Freeform 1262"/>
              <p:cNvSpPr>
                <a:spLocks/>
              </p:cNvSpPr>
              <p:nvPr/>
            </p:nvSpPr>
            <p:spPr bwMode="auto">
              <a:xfrm>
                <a:off x="2922" y="2353"/>
                <a:ext cx="32" cy="15"/>
              </a:xfrm>
              <a:custGeom>
                <a:avLst/>
                <a:gdLst>
                  <a:gd name="T0" fmla="*/ 31 w 64"/>
                  <a:gd name="T1" fmla="*/ 0 h 29"/>
                  <a:gd name="T2" fmla="*/ 64 w 64"/>
                  <a:gd name="T3" fmla="*/ 22 h 29"/>
                  <a:gd name="T4" fmla="*/ 0 w 64"/>
                  <a:gd name="T5" fmla="*/ 29 h 29"/>
                  <a:gd name="T6" fmla="*/ 0 w 64"/>
                  <a:gd name="T7" fmla="*/ 3 h 29"/>
                  <a:gd name="T8" fmla="*/ 31 w 64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9">
                    <a:moveTo>
                      <a:pt x="31" y="0"/>
                    </a:moveTo>
                    <a:lnTo>
                      <a:pt x="64" y="22"/>
                    </a:lnTo>
                    <a:lnTo>
                      <a:pt x="0" y="29"/>
                    </a:lnTo>
                    <a:lnTo>
                      <a:pt x="0" y="3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5" name="Freeform 1263"/>
              <p:cNvSpPr>
                <a:spLocks/>
              </p:cNvSpPr>
              <p:nvPr/>
            </p:nvSpPr>
            <p:spPr bwMode="auto">
              <a:xfrm>
                <a:off x="2922" y="2364"/>
                <a:ext cx="48" cy="16"/>
              </a:xfrm>
              <a:custGeom>
                <a:avLst/>
                <a:gdLst>
                  <a:gd name="T0" fmla="*/ 64 w 95"/>
                  <a:gd name="T1" fmla="*/ 0 h 33"/>
                  <a:gd name="T2" fmla="*/ 95 w 95"/>
                  <a:gd name="T3" fmla="*/ 23 h 33"/>
                  <a:gd name="T4" fmla="*/ 0 w 95"/>
                  <a:gd name="T5" fmla="*/ 33 h 33"/>
                  <a:gd name="T6" fmla="*/ 0 w 95"/>
                  <a:gd name="T7" fmla="*/ 7 h 33"/>
                  <a:gd name="T8" fmla="*/ 64 w 95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33">
                    <a:moveTo>
                      <a:pt x="64" y="0"/>
                    </a:moveTo>
                    <a:lnTo>
                      <a:pt x="95" y="23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6" name="Freeform 1264"/>
              <p:cNvSpPr>
                <a:spLocks/>
              </p:cNvSpPr>
              <p:nvPr/>
            </p:nvSpPr>
            <p:spPr bwMode="auto">
              <a:xfrm>
                <a:off x="2922" y="2375"/>
                <a:ext cx="61" cy="18"/>
              </a:xfrm>
              <a:custGeom>
                <a:avLst/>
                <a:gdLst>
                  <a:gd name="T0" fmla="*/ 95 w 123"/>
                  <a:gd name="T1" fmla="*/ 0 h 36"/>
                  <a:gd name="T2" fmla="*/ 123 w 123"/>
                  <a:gd name="T3" fmla="*/ 19 h 36"/>
                  <a:gd name="T4" fmla="*/ 123 w 123"/>
                  <a:gd name="T5" fmla="*/ 22 h 36"/>
                  <a:gd name="T6" fmla="*/ 0 w 123"/>
                  <a:gd name="T7" fmla="*/ 36 h 36"/>
                  <a:gd name="T8" fmla="*/ 0 w 123"/>
                  <a:gd name="T9" fmla="*/ 10 h 36"/>
                  <a:gd name="T10" fmla="*/ 95 w 123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6">
                    <a:moveTo>
                      <a:pt x="95" y="0"/>
                    </a:moveTo>
                    <a:lnTo>
                      <a:pt x="123" y="19"/>
                    </a:lnTo>
                    <a:lnTo>
                      <a:pt x="123" y="22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7" name="Freeform 1265"/>
              <p:cNvSpPr>
                <a:spLocks/>
              </p:cNvSpPr>
              <p:nvPr/>
            </p:nvSpPr>
            <p:spPr bwMode="auto">
              <a:xfrm>
                <a:off x="2922" y="2387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8" name="Freeform 1266"/>
              <p:cNvSpPr>
                <a:spLocks/>
              </p:cNvSpPr>
              <p:nvPr/>
            </p:nvSpPr>
            <p:spPr bwMode="auto">
              <a:xfrm>
                <a:off x="2922" y="2399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79" name="Freeform 1267"/>
              <p:cNvSpPr>
                <a:spLocks/>
              </p:cNvSpPr>
              <p:nvPr/>
            </p:nvSpPr>
            <p:spPr bwMode="auto">
              <a:xfrm>
                <a:off x="2922" y="2412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4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0" name="Freeform 1268"/>
              <p:cNvSpPr>
                <a:spLocks/>
              </p:cNvSpPr>
              <p:nvPr/>
            </p:nvSpPr>
            <p:spPr bwMode="auto">
              <a:xfrm>
                <a:off x="2922" y="2425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1" name="Freeform 1269"/>
              <p:cNvSpPr>
                <a:spLocks/>
              </p:cNvSpPr>
              <p:nvPr/>
            </p:nvSpPr>
            <p:spPr bwMode="auto">
              <a:xfrm>
                <a:off x="2922" y="2438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5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2" name="Freeform 1270"/>
              <p:cNvSpPr>
                <a:spLocks/>
              </p:cNvSpPr>
              <p:nvPr/>
            </p:nvSpPr>
            <p:spPr bwMode="auto">
              <a:xfrm>
                <a:off x="2922" y="2451"/>
                <a:ext cx="61" cy="22"/>
              </a:xfrm>
              <a:custGeom>
                <a:avLst/>
                <a:gdLst>
                  <a:gd name="T0" fmla="*/ 123 w 123"/>
                  <a:gd name="T1" fmla="*/ 0 h 44"/>
                  <a:gd name="T2" fmla="*/ 123 w 123"/>
                  <a:gd name="T3" fmla="*/ 28 h 44"/>
                  <a:gd name="T4" fmla="*/ 0 w 123"/>
                  <a:gd name="T5" fmla="*/ 44 h 44"/>
                  <a:gd name="T6" fmla="*/ 0 w 123"/>
                  <a:gd name="T7" fmla="*/ 14 h 44"/>
                  <a:gd name="T8" fmla="*/ 123 w 123"/>
                  <a:gd name="T9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4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44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3" name="Freeform 1271"/>
              <p:cNvSpPr>
                <a:spLocks/>
              </p:cNvSpPr>
              <p:nvPr/>
            </p:nvSpPr>
            <p:spPr bwMode="auto">
              <a:xfrm>
                <a:off x="2922" y="2465"/>
                <a:ext cx="61" cy="21"/>
              </a:xfrm>
              <a:custGeom>
                <a:avLst/>
                <a:gdLst>
                  <a:gd name="T0" fmla="*/ 123 w 123"/>
                  <a:gd name="T1" fmla="*/ 0 h 41"/>
                  <a:gd name="T2" fmla="*/ 123 w 123"/>
                  <a:gd name="T3" fmla="*/ 28 h 41"/>
                  <a:gd name="T4" fmla="*/ 0 w 123"/>
                  <a:gd name="T5" fmla="*/ 41 h 41"/>
                  <a:gd name="T6" fmla="*/ 0 w 123"/>
                  <a:gd name="T7" fmla="*/ 16 h 41"/>
                  <a:gd name="T8" fmla="*/ 123 w 123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1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41"/>
                    </a:lnTo>
                    <a:lnTo>
                      <a:pt x="0" y="16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4" name="Freeform 1272"/>
              <p:cNvSpPr>
                <a:spLocks/>
              </p:cNvSpPr>
              <p:nvPr/>
            </p:nvSpPr>
            <p:spPr bwMode="auto">
              <a:xfrm>
                <a:off x="2922" y="2479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5" name="Freeform 1273"/>
              <p:cNvSpPr>
                <a:spLocks/>
              </p:cNvSpPr>
              <p:nvPr/>
            </p:nvSpPr>
            <p:spPr bwMode="auto">
              <a:xfrm>
                <a:off x="2922" y="2492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5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6" name="Freeform 1274"/>
              <p:cNvSpPr>
                <a:spLocks/>
              </p:cNvSpPr>
              <p:nvPr/>
            </p:nvSpPr>
            <p:spPr bwMode="auto">
              <a:xfrm>
                <a:off x="2922" y="2505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7" name="Freeform 1275"/>
              <p:cNvSpPr>
                <a:spLocks/>
              </p:cNvSpPr>
              <p:nvPr/>
            </p:nvSpPr>
            <p:spPr bwMode="auto">
              <a:xfrm>
                <a:off x="2922" y="2518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8" name="Freeform 1276"/>
              <p:cNvSpPr>
                <a:spLocks/>
              </p:cNvSpPr>
              <p:nvPr/>
            </p:nvSpPr>
            <p:spPr bwMode="auto">
              <a:xfrm>
                <a:off x="2922" y="2531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89" name="Freeform 1277"/>
              <p:cNvSpPr>
                <a:spLocks/>
              </p:cNvSpPr>
              <p:nvPr/>
            </p:nvSpPr>
            <p:spPr bwMode="auto">
              <a:xfrm>
                <a:off x="2922" y="2544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19 h 40"/>
                  <a:gd name="T4" fmla="*/ 111 w 123"/>
                  <a:gd name="T5" fmla="*/ 28 h 40"/>
                  <a:gd name="T6" fmla="*/ 0 w 123"/>
                  <a:gd name="T7" fmla="*/ 40 h 40"/>
                  <a:gd name="T8" fmla="*/ 0 w 123"/>
                  <a:gd name="T9" fmla="*/ 14 h 40"/>
                  <a:gd name="T10" fmla="*/ 123 w 123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19"/>
                    </a:lnTo>
                    <a:lnTo>
                      <a:pt x="111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0" name="Freeform 1278"/>
              <p:cNvSpPr>
                <a:spLocks/>
              </p:cNvSpPr>
              <p:nvPr/>
            </p:nvSpPr>
            <p:spPr bwMode="auto">
              <a:xfrm>
                <a:off x="2922" y="2557"/>
                <a:ext cx="55" cy="19"/>
              </a:xfrm>
              <a:custGeom>
                <a:avLst/>
                <a:gdLst>
                  <a:gd name="T0" fmla="*/ 111 w 111"/>
                  <a:gd name="T1" fmla="*/ 0 h 38"/>
                  <a:gd name="T2" fmla="*/ 68 w 111"/>
                  <a:gd name="T3" fmla="*/ 31 h 38"/>
                  <a:gd name="T4" fmla="*/ 0 w 111"/>
                  <a:gd name="T5" fmla="*/ 38 h 38"/>
                  <a:gd name="T6" fmla="*/ 0 w 111"/>
                  <a:gd name="T7" fmla="*/ 12 h 38"/>
                  <a:gd name="T8" fmla="*/ 111 w 111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38">
                    <a:moveTo>
                      <a:pt x="111" y="0"/>
                    </a:moveTo>
                    <a:lnTo>
                      <a:pt x="68" y="31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1" name="Freeform 1279"/>
              <p:cNvSpPr>
                <a:spLocks/>
              </p:cNvSpPr>
              <p:nvPr/>
            </p:nvSpPr>
            <p:spPr bwMode="auto">
              <a:xfrm>
                <a:off x="2922" y="2573"/>
                <a:ext cx="34" cy="17"/>
              </a:xfrm>
              <a:custGeom>
                <a:avLst/>
                <a:gdLst>
                  <a:gd name="T0" fmla="*/ 68 w 68"/>
                  <a:gd name="T1" fmla="*/ 0 h 34"/>
                  <a:gd name="T2" fmla="*/ 21 w 68"/>
                  <a:gd name="T3" fmla="*/ 33 h 34"/>
                  <a:gd name="T4" fmla="*/ 0 w 68"/>
                  <a:gd name="T5" fmla="*/ 34 h 34"/>
                  <a:gd name="T6" fmla="*/ 0 w 68"/>
                  <a:gd name="T7" fmla="*/ 7 h 34"/>
                  <a:gd name="T8" fmla="*/ 68 w 68"/>
                  <a:gd name="T9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4">
                    <a:moveTo>
                      <a:pt x="68" y="0"/>
                    </a:moveTo>
                    <a:lnTo>
                      <a:pt x="21" y="33"/>
                    </a:lnTo>
                    <a:lnTo>
                      <a:pt x="0" y="34"/>
                    </a:lnTo>
                    <a:lnTo>
                      <a:pt x="0" y="7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2" name="Freeform 1280"/>
              <p:cNvSpPr>
                <a:spLocks/>
              </p:cNvSpPr>
              <p:nvPr/>
            </p:nvSpPr>
            <p:spPr bwMode="auto">
              <a:xfrm>
                <a:off x="2922" y="2589"/>
                <a:ext cx="11" cy="7"/>
              </a:xfrm>
              <a:custGeom>
                <a:avLst/>
                <a:gdLst>
                  <a:gd name="T0" fmla="*/ 21 w 21"/>
                  <a:gd name="T1" fmla="*/ 0 h 13"/>
                  <a:gd name="T2" fmla="*/ 0 w 21"/>
                  <a:gd name="T3" fmla="*/ 13 h 13"/>
                  <a:gd name="T4" fmla="*/ 0 w 21"/>
                  <a:gd name="T5" fmla="*/ 1 h 13"/>
                  <a:gd name="T6" fmla="*/ 21 w 21"/>
                  <a:gd name="T7" fmla="*/ 0 h 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13">
                    <a:moveTo>
                      <a:pt x="21" y="0"/>
                    </a:moveTo>
                    <a:lnTo>
                      <a:pt x="0" y="13"/>
                    </a:lnTo>
                    <a:lnTo>
                      <a:pt x="0" y="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3" name="Freeform 1281"/>
              <p:cNvSpPr>
                <a:spLocks/>
              </p:cNvSpPr>
              <p:nvPr/>
            </p:nvSpPr>
            <p:spPr bwMode="auto">
              <a:xfrm>
                <a:off x="2922" y="2342"/>
                <a:ext cx="61" cy="254"/>
              </a:xfrm>
              <a:custGeom>
                <a:avLst/>
                <a:gdLst>
                  <a:gd name="T0" fmla="*/ 123 w 123"/>
                  <a:gd name="T1" fmla="*/ 423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7 h 509"/>
                  <a:gd name="T8" fmla="*/ 123 w 123"/>
                  <a:gd name="T9" fmla="*/ 423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3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7"/>
                    </a:lnTo>
                    <a:lnTo>
                      <a:pt x="123" y="423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4" name="Rectangle 1282"/>
              <p:cNvSpPr>
                <a:spLocks noChangeArrowheads="1"/>
              </p:cNvSpPr>
              <p:nvPr/>
            </p:nvSpPr>
            <p:spPr bwMode="auto">
              <a:xfrm>
                <a:off x="2924" y="3235"/>
                <a:ext cx="68" cy="254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5" name="Rectangle 1283"/>
              <p:cNvSpPr>
                <a:spLocks noChangeArrowheads="1"/>
              </p:cNvSpPr>
              <p:nvPr/>
            </p:nvSpPr>
            <p:spPr bwMode="auto">
              <a:xfrm>
                <a:off x="2992" y="3235"/>
                <a:ext cx="68" cy="254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6" name="Rectangle 1284"/>
              <p:cNvSpPr>
                <a:spLocks noChangeArrowheads="1"/>
              </p:cNvSpPr>
              <p:nvPr/>
            </p:nvSpPr>
            <p:spPr bwMode="auto">
              <a:xfrm>
                <a:off x="3060" y="3235"/>
                <a:ext cx="68" cy="254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7" name="Rectangle 1285"/>
              <p:cNvSpPr>
                <a:spLocks noChangeArrowheads="1"/>
              </p:cNvSpPr>
              <p:nvPr/>
            </p:nvSpPr>
            <p:spPr bwMode="auto">
              <a:xfrm>
                <a:off x="3128" y="3235"/>
                <a:ext cx="69" cy="254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8" name="Rectangle 1286"/>
              <p:cNvSpPr>
                <a:spLocks noChangeArrowheads="1"/>
              </p:cNvSpPr>
              <p:nvPr/>
            </p:nvSpPr>
            <p:spPr bwMode="auto">
              <a:xfrm>
                <a:off x="3197" y="3235"/>
                <a:ext cx="68" cy="254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599" name="Rectangle 1287"/>
              <p:cNvSpPr>
                <a:spLocks noChangeArrowheads="1"/>
              </p:cNvSpPr>
              <p:nvPr/>
            </p:nvSpPr>
            <p:spPr bwMode="auto">
              <a:xfrm>
                <a:off x="3265" y="3235"/>
                <a:ext cx="68" cy="254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0" name="Rectangle 1288"/>
              <p:cNvSpPr>
                <a:spLocks noChangeArrowheads="1"/>
              </p:cNvSpPr>
              <p:nvPr/>
            </p:nvSpPr>
            <p:spPr bwMode="auto">
              <a:xfrm>
                <a:off x="3333" y="3235"/>
                <a:ext cx="68" cy="254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1" name="Rectangle 1289"/>
              <p:cNvSpPr>
                <a:spLocks noChangeArrowheads="1"/>
              </p:cNvSpPr>
              <p:nvPr/>
            </p:nvSpPr>
            <p:spPr bwMode="auto">
              <a:xfrm>
                <a:off x="3401" y="3235"/>
                <a:ext cx="68" cy="254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2" name="Rectangle 1290"/>
              <p:cNvSpPr>
                <a:spLocks noChangeArrowheads="1"/>
              </p:cNvSpPr>
              <p:nvPr/>
            </p:nvSpPr>
            <p:spPr bwMode="auto">
              <a:xfrm>
                <a:off x="3469" y="3235"/>
                <a:ext cx="69" cy="254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3" name="Rectangle 1291"/>
              <p:cNvSpPr>
                <a:spLocks noChangeArrowheads="1"/>
              </p:cNvSpPr>
              <p:nvPr/>
            </p:nvSpPr>
            <p:spPr bwMode="auto">
              <a:xfrm>
                <a:off x="3538" y="3235"/>
                <a:ext cx="69" cy="254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4" name="Rectangle 1292"/>
              <p:cNvSpPr>
                <a:spLocks noChangeArrowheads="1"/>
              </p:cNvSpPr>
              <p:nvPr/>
            </p:nvSpPr>
            <p:spPr bwMode="auto">
              <a:xfrm>
                <a:off x="3607" y="3235"/>
                <a:ext cx="68" cy="254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5" name="Rectangle 1293"/>
              <p:cNvSpPr>
                <a:spLocks noChangeArrowheads="1"/>
              </p:cNvSpPr>
              <p:nvPr/>
            </p:nvSpPr>
            <p:spPr bwMode="auto">
              <a:xfrm>
                <a:off x="3675" y="3235"/>
                <a:ext cx="68" cy="254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6" name="Rectangle 1294"/>
              <p:cNvSpPr>
                <a:spLocks noChangeArrowheads="1"/>
              </p:cNvSpPr>
              <p:nvPr/>
            </p:nvSpPr>
            <p:spPr bwMode="auto">
              <a:xfrm>
                <a:off x="3743" y="3235"/>
                <a:ext cx="68" cy="254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7" name="Rectangle 1295"/>
              <p:cNvSpPr>
                <a:spLocks noChangeArrowheads="1"/>
              </p:cNvSpPr>
              <p:nvPr/>
            </p:nvSpPr>
            <p:spPr bwMode="auto">
              <a:xfrm>
                <a:off x="3811" y="3235"/>
                <a:ext cx="68" cy="254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8" name="Rectangle 1296"/>
              <p:cNvSpPr>
                <a:spLocks noChangeArrowheads="1"/>
              </p:cNvSpPr>
              <p:nvPr/>
            </p:nvSpPr>
            <p:spPr bwMode="auto">
              <a:xfrm>
                <a:off x="3879" y="3235"/>
                <a:ext cx="69" cy="254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09" name="Rectangle 1297"/>
              <p:cNvSpPr>
                <a:spLocks noChangeArrowheads="1"/>
              </p:cNvSpPr>
              <p:nvPr/>
            </p:nvSpPr>
            <p:spPr bwMode="auto">
              <a:xfrm>
                <a:off x="3948" y="3235"/>
                <a:ext cx="68" cy="254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0" name="Rectangle 1298"/>
              <p:cNvSpPr>
                <a:spLocks noChangeArrowheads="1"/>
              </p:cNvSpPr>
              <p:nvPr/>
            </p:nvSpPr>
            <p:spPr bwMode="auto">
              <a:xfrm>
                <a:off x="4016" y="3235"/>
                <a:ext cx="68" cy="254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1" name="Rectangle 1299"/>
              <p:cNvSpPr>
                <a:spLocks noChangeArrowheads="1"/>
              </p:cNvSpPr>
              <p:nvPr/>
            </p:nvSpPr>
            <p:spPr bwMode="auto">
              <a:xfrm>
                <a:off x="4084" y="3235"/>
                <a:ext cx="68" cy="254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2" name="Rectangle 1300"/>
              <p:cNvSpPr>
                <a:spLocks noChangeArrowheads="1"/>
              </p:cNvSpPr>
              <p:nvPr/>
            </p:nvSpPr>
            <p:spPr bwMode="auto">
              <a:xfrm>
                <a:off x="4152" y="3235"/>
                <a:ext cx="69" cy="254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3" name="Rectangle 1301"/>
              <p:cNvSpPr>
                <a:spLocks noChangeArrowheads="1"/>
              </p:cNvSpPr>
              <p:nvPr/>
            </p:nvSpPr>
            <p:spPr bwMode="auto">
              <a:xfrm>
                <a:off x="4221" y="3235"/>
                <a:ext cx="68" cy="254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4" name="Rectangle 1302"/>
              <p:cNvSpPr>
                <a:spLocks noChangeArrowheads="1"/>
              </p:cNvSpPr>
              <p:nvPr/>
            </p:nvSpPr>
            <p:spPr bwMode="auto">
              <a:xfrm>
                <a:off x="2924" y="3235"/>
                <a:ext cx="1365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5" name="Rectangle 1303"/>
              <p:cNvSpPr>
                <a:spLocks noChangeArrowheads="1"/>
              </p:cNvSpPr>
              <p:nvPr/>
            </p:nvSpPr>
            <p:spPr bwMode="auto">
              <a:xfrm>
                <a:off x="2924" y="3231"/>
                <a:ext cx="68" cy="25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6" name="Rectangle 1304"/>
              <p:cNvSpPr>
                <a:spLocks noChangeArrowheads="1"/>
              </p:cNvSpPr>
              <p:nvPr/>
            </p:nvSpPr>
            <p:spPr bwMode="auto">
              <a:xfrm>
                <a:off x="2992" y="3231"/>
                <a:ext cx="68" cy="256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7" name="Rectangle 1305"/>
              <p:cNvSpPr>
                <a:spLocks noChangeArrowheads="1"/>
              </p:cNvSpPr>
              <p:nvPr/>
            </p:nvSpPr>
            <p:spPr bwMode="auto">
              <a:xfrm>
                <a:off x="3060" y="3231"/>
                <a:ext cx="68" cy="256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8" name="Rectangle 1306"/>
              <p:cNvSpPr>
                <a:spLocks noChangeArrowheads="1"/>
              </p:cNvSpPr>
              <p:nvPr/>
            </p:nvSpPr>
            <p:spPr bwMode="auto">
              <a:xfrm>
                <a:off x="3128" y="3231"/>
                <a:ext cx="69" cy="256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19" name="Rectangle 1307"/>
              <p:cNvSpPr>
                <a:spLocks noChangeArrowheads="1"/>
              </p:cNvSpPr>
              <p:nvPr/>
            </p:nvSpPr>
            <p:spPr bwMode="auto">
              <a:xfrm>
                <a:off x="3197" y="3231"/>
                <a:ext cx="68" cy="256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0" name="Rectangle 1308"/>
              <p:cNvSpPr>
                <a:spLocks noChangeArrowheads="1"/>
              </p:cNvSpPr>
              <p:nvPr/>
            </p:nvSpPr>
            <p:spPr bwMode="auto">
              <a:xfrm>
                <a:off x="3265" y="3231"/>
                <a:ext cx="68" cy="256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1" name="Rectangle 1309"/>
              <p:cNvSpPr>
                <a:spLocks noChangeArrowheads="1"/>
              </p:cNvSpPr>
              <p:nvPr/>
            </p:nvSpPr>
            <p:spPr bwMode="auto">
              <a:xfrm>
                <a:off x="3333" y="3231"/>
                <a:ext cx="68" cy="256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2" name="Rectangle 1310"/>
              <p:cNvSpPr>
                <a:spLocks noChangeArrowheads="1"/>
              </p:cNvSpPr>
              <p:nvPr/>
            </p:nvSpPr>
            <p:spPr bwMode="auto">
              <a:xfrm>
                <a:off x="3401" y="3231"/>
                <a:ext cx="68" cy="256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3" name="Rectangle 1311"/>
              <p:cNvSpPr>
                <a:spLocks noChangeArrowheads="1"/>
              </p:cNvSpPr>
              <p:nvPr/>
            </p:nvSpPr>
            <p:spPr bwMode="auto">
              <a:xfrm>
                <a:off x="3469" y="3231"/>
                <a:ext cx="69" cy="256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4" name="Rectangle 1312"/>
              <p:cNvSpPr>
                <a:spLocks noChangeArrowheads="1"/>
              </p:cNvSpPr>
              <p:nvPr/>
            </p:nvSpPr>
            <p:spPr bwMode="auto">
              <a:xfrm>
                <a:off x="3538" y="3231"/>
                <a:ext cx="69" cy="256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5" name="Rectangle 1313"/>
              <p:cNvSpPr>
                <a:spLocks noChangeArrowheads="1"/>
              </p:cNvSpPr>
              <p:nvPr/>
            </p:nvSpPr>
            <p:spPr bwMode="auto">
              <a:xfrm>
                <a:off x="3607" y="3231"/>
                <a:ext cx="68" cy="256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6" name="Rectangle 1314"/>
              <p:cNvSpPr>
                <a:spLocks noChangeArrowheads="1"/>
              </p:cNvSpPr>
              <p:nvPr/>
            </p:nvSpPr>
            <p:spPr bwMode="auto">
              <a:xfrm>
                <a:off x="3675" y="3231"/>
                <a:ext cx="68" cy="256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7" name="Rectangle 1315"/>
              <p:cNvSpPr>
                <a:spLocks noChangeArrowheads="1"/>
              </p:cNvSpPr>
              <p:nvPr/>
            </p:nvSpPr>
            <p:spPr bwMode="auto">
              <a:xfrm>
                <a:off x="3743" y="3231"/>
                <a:ext cx="68" cy="256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8" name="Rectangle 1316"/>
              <p:cNvSpPr>
                <a:spLocks noChangeArrowheads="1"/>
              </p:cNvSpPr>
              <p:nvPr/>
            </p:nvSpPr>
            <p:spPr bwMode="auto">
              <a:xfrm>
                <a:off x="3811" y="3231"/>
                <a:ext cx="68" cy="256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29" name="Rectangle 1317"/>
              <p:cNvSpPr>
                <a:spLocks noChangeArrowheads="1"/>
              </p:cNvSpPr>
              <p:nvPr/>
            </p:nvSpPr>
            <p:spPr bwMode="auto">
              <a:xfrm>
                <a:off x="3879" y="3231"/>
                <a:ext cx="69" cy="256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0" name="Rectangle 1318"/>
              <p:cNvSpPr>
                <a:spLocks noChangeArrowheads="1"/>
              </p:cNvSpPr>
              <p:nvPr/>
            </p:nvSpPr>
            <p:spPr bwMode="auto">
              <a:xfrm>
                <a:off x="3948" y="3231"/>
                <a:ext cx="68" cy="256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1" name="Rectangle 1319"/>
              <p:cNvSpPr>
                <a:spLocks noChangeArrowheads="1"/>
              </p:cNvSpPr>
              <p:nvPr/>
            </p:nvSpPr>
            <p:spPr bwMode="auto">
              <a:xfrm>
                <a:off x="4016" y="3231"/>
                <a:ext cx="68" cy="256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2" name="Rectangle 1320"/>
              <p:cNvSpPr>
                <a:spLocks noChangeArrowheads="1"/>
              </p:cNvSpPr>
              <p:nvPr/>
            </p:nvSpPr>
            <p:spPr bwMode="auto">
              <a:xfrm>
                <a:off x="4084" y="3231"/>
                <a:ext cx="68" cy="256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3" name="Rectangle 1321"/>
              <p:cNvSpPr>
                <a:spLocks noChangeArrowheads="1"/>
              </p:cNvSpPr>
              <p:nvPr/>
            </p:nvSpPr>
            <p:spPr bwMode="auto">
              <a:xfrm>
                <a:off x="4152" y="3231"/>
                <a:ext cx="69" cy="256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4" name="Rectangle 1322"/>
              <p:cNvSpPr>
                <a:spLocks noChangeArrowheads="1"/>
              </p:cNvSpPr>
              <p:nvPr/>
            </p:nvSpPr>
            <p:spPr bwMode="auto">
              <a:xfrm>
                <a:off x="4221" y="3231"/>
                <a:ext cx="68" cy="256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5" name="Rectangle 1323"/>
              <p:cNvSpPr>
                <a:spLocks noChangeArrowheads="1"/>
              </p:cNvSpPr>
              <p:nvPr/>
            </p:nvSpPr>
            <p:spPr bwMode="auto">
              <a:xfrm>
                <a:off x="2924" y="3231"/>
                <a:ext cx="1365" cy="256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6" name="Freeform 1324"/>
              <p:cNvSpPr>
                <a:spLocks/>
              </p:cNvSpPr>
              <p:nvPr/>
            </p:nvSpPr>
            <p:spPr bwMode="auto">
              <a:xfrm>
                <a:off x="4275" y="3234"/>
                <a:ext cx="9" cy="7"/>
              </a:xfrm>
              <a:custGeom>
                <a:avLst/>
                <a:gdLst>
                  <a:gd name="T0" fmla="*/ 19 w 19"/>
                  <a:gd name="T1" fmla="*/ 13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3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3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7" name="Freeform 1325"/>
              <p:cNvSpPr>
                <a:spLocks/>
              </p:cNvSpPr>
              <p:nvPr/>
            </p:nvSpPr>
            <p:spPr bwMode="auto">
              <a:xfrm>
                <a:off x="4257" y="3240"/>
                <a:ext cx="27" cy="14"/>
              </a:xfrm>
              <a:custGeom>
                <a:avLst/>
                <a:gdLst>
                  <a:gd name="T0" fmla="*/ 55 w 55"/>
                  <a:gd name="T1" fmla="*/ 0 h 29"/>
                  <a:gd name="T2" fmla="*/ 55 w 55"/>
                  <a:gd name="T3" fmla="*/ 24 h 29"/>
                  <a:gd name="T4" fmla="*/ 0 w 55"/>
                  <a:gd name="T5" fmla="*/ 29 h 29"/>
                  <a:gd name="T6" fmla="*/ 36 w 55"/>
                  <a:gd name="T7" fmla="*/ 1 h 29"/>
                  <a:gd name="T8" fmla="*/ 55 w 55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29">
                    <a:moveTo>
                      <a:pt x="55" y="0"/>
                    </a:moveTo>
                    <a:lnTo>
                      <a:pt x="55" y="24"/>
                    </a:lnTo>
                    <a:lnTo>
                      <a:pt x="0" y="29"/>
                    </a:lnTo>
                    <a:lnTo>
                      <a:pt x="36" y="1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8" name="Freeform 1326"/>
              <p:cNvSpPr>
                <a:spLocks/>
              </p:cNvSpPr>
              <p:nvPr/>
            </p:nvSpPr>
            <p:spPr bwMode="auto">
              <a:xfrm>
                <a:off x="4238" y="3252"/>
                <a:ext cx="46" cy="18"/>
              </a:xfrm>
              <a:custGeom>
                <a:avLst/>
                <a:gdLst>
                  <a:gd name="T0" fmla="*/ 93 w 93"/>
                  <a:gd name="T1" fmla="*/ 0 h 36"/>
                  <a:gd name="T2" fmla="*/ 93 w 93"/>
                  <a:gd name="T3" fmla="*/ 26 h 36"/>
                  <a:gd name="T4" fmla="*/ 0 w 93"/>
                  <a:gd name="T5" fmla="*/ 36 h 36"/>
                  <a:gd name="T6" fmla="*/ 38 w 93"/>
                  <a:gd name="T7" fmla="*/ 5 h 36"/>
                  <a:gd name="T8" fmla="*/ 93 w 93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3" h="36">
                    <a:moveTo>
                      <a:pt x="93" y="0"/>
                    </a:moveTo>
                    <a:lnTo>
                      <a:pt x="93" y="26"/>
                    </a:lnTo>
                    <a:lnTo>
                      <a:pt x="0" y="36"/>
                    </a:lnTo>
                    <a:lnTo>
                      <a:pt x="38" y="5"/>
                    </a:lnTo>
                    <a:lnTo>
                      <a:pt x="93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39" name="Freeform 1327"/>
              <p:cNvSpPr>
                <a:spLocks/>
              </p:cNvSpPr>
              <p:nvPr/>
            </p:nvSpPr>
            <p:spPr bwMode="auto">
              <a:xfrm>
                <a:off x="4228" y="3265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5 h 38"/>
                  <a:gd name="T4" fmla="*/ 0 w 112"/>
                  <a:gd name="T5" fmla="*/ 38 h 38"/>
                  <a:gd name="T6" fmla="*/ 0 w 112"/>
                  <a:gd name="T7" fmla="*/ 24 h 38"/>
                  <a:gd name="T8" fmla="*/ 19 w 112"/>
                  <a:gd name="T9" fmla="*/ 10 h 38"/>
                  <a:gd name="T10" fmla="*/ 112 w 112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8"/>
                    </a:lnTo>
                    <a:lnTo>
                      <a:pt x="0" y="24"/>
                    </a:lnTo>
                    <a:lnTo>
                      <a:pt x="19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0" name="Freeform 1328"/>
              <p:cNvSpPr>
                <a:spLocks/>
              </p:cNvSpPr>
              <p:nvPr/>
            </p:nvSpPr>
            <p:spPr bwMode="auto">
              <a:xfrm>
                <a:off x="4228" y="3278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3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1" name="Freeform 1329"/>
              <p:cNvSpPr>
                <a:spLocks/>
              </p:cNvSpPr>
              <p:nvPr/>
            </p:nvSpPr>
            <p:spPr bwMode="auto">
              <a:xfrm>
                <a:off x="4228" y="329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8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2" name="Freeform 1330"/>
              <p:cNvSpPr>
                <a:spLocks/>
              </p:cNvSpPr>
              <p:nvPr/>
            </p:nvSpPr>
            <p:spPr bwMode="auto">
              <a:xfrm>
                <a:off x="4228" y="3304"/>
                <a:ext cx="56" cy="19"/>
              </a:xfrm>
              <a:custGeom>
                <a:avLst/>
                <a:gdLst>
                  <a:gd name="T0" fmla="*/ 112 w 112"/>
                  <a:gd name="T1" fmla="*/ 0 h 36"/>
                  <a:gd name="T2" fmla="*/ 112 w 112"/>
                  <a:gd name="T3" fmla="*/ 26 h 36"/>
                  <a:gd name="T4" fmla="*/ 0 w 112"/>
                  <a:gd name="T5" fmla="*/ 36 h 36"/>
                  <a:gd name="T6" fmla="*/ 0 w 112"/>
                  <a:gd name="T7" fmla="*/ 10 h 36"/>
                  <a:gd name="T8" fmla="*/ 112 w 112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6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3" name="Freeform 1331"/>
              <p:cNvSpPr>
                <a:spLocks/>
              </p:cNvSpPr>
              <p:nvPr/>
            </p:nvSpPr>
            <p:spPr bwMode="auto">
              <a:xfrm>
                <a:off x="4228" y="3317"/>
                <a:ext cx="56" cy="19"/>
              </a:xfrm>
              <a:custGeom>
                <a:avLst/>
                <a:gdLst>
                  <a:gd name="T0" fmla="*/ 112 w 112"/>
                  <a:gd name="T1" fmla="*/ 0 h 36"/>
                  <a:gd name="T2" fmla="*/ 112 w 112"/>
                  <a:gd name="T3" fmla="*/ 26 h 36"/>
                  <a:gd name="T4" fmla="*/ 0 w 112"/>
                  <a:gd name="T5" fmla="*/ 36 h 36"/>
                  <a:gd name="T6" fmla="*/ 0 w 112"/>
                  <a:gd name="T7" fmla="*/ 10 h 36"/>
                  <a:gd name="T8" fmla="*/ 112 w 112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6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4" name="Freeform 1332"/>
              <p:cNvSpPr>
                <a:spLocks/>
              </p:cNvSpPr>
              <p:nvPr/>
            </p:nvSpPr>
            <p:spPr bwMode="auto">
              <a:xfrm>
                <a:off x="4228" y="3330"/>
                <a:ext cx="56" cy="18"/>
              </a:xfrm>
              <a:custGeom>
                <a:avLst/>
                <a:gdLst>
                  <a:gd name="T0" fmla="*/ 112 w 112"/>
                  <a:gd name="T1" fmla="*/ 0 h 36"/>
                  <a:gd name="T2" fmla="*/ 112 w 112"/>
                  <a:gd name="T3" fmla="*/ 26 h 36"/>
                  <a:gd name="T4" fmla="*/ 0 w 112"/>
                  <a:gd name="T5" fmla="*/ 36 h 36"/>
                  <a:gd name="T6" fmla="*/ 0 w 112"/>
                  <a:gd name="T7" fmla="*/ 10 h 36"/>
                  <a:gd name="T8" fmla="*/ 112 w 112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6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5" name="Freeform 1333"/>
              <p:cNvSpPr>
                <a:spLocks/>
              </p:cNvSpPr>
              <p:nvPr/>
            </p:nvSpPr>
            <p:spPr bwMode="auto">
              <a:xfrm>
                <a:off x="4228" y="3343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5 h 38"/>
                  <a:gd name="T4" fmla="*/ 0 w 112"/>
                  <a:gd name="T5" fmla="*/ 38 h 38"/>
                  <a:gd name="T6" fmla="*/ 0 w 112"/>
                  <a:gd name="T7" fmla="*/ 10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6" name="Freeform 1334"/>
              <p:cNvSpPr>
                <a:spLocks/>
              </p:cNvSpPr>
              <p:nvPr/>
            </p:nvSpPr>
            <p:spPr bwMode="auto">
              <a:xfrm>
                <a:off x="4228" y="3356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3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7" name="Freeform 1335"/>
              <p:cNvSpPr>
                <a:spLocks/>
              </p:cNvSpPr>
              <p:nvPr/>
            </p:nvSpPr>
            <p:spPr bwMode="auto">
              <a:xfrm>
                <a:off x="4228" y="3369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8" name="Freeform 1336"/>
              <p:cNvSpPr>
                <a:spLocks/>
              </p:cNvSpPr>
              <p:nvPr/>
            </p:nvSpPr>
            <p:spPr bwMode="auto">
              <a:xfrm>
                <a:off x="4228" y="3382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49" name="Freeform 1337"/>
              <p:cNvSpPr>
                <a:spLocks/>
              </p:cNvSpPr>
              <p:nvPr/>
            </p:nvSpPr>
            <p:spPr bwMode="auto">
              <a:xfrm>
                <a:off x="4228" y="3395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0" name="Freeform 1338"/>
              <p:cNvSpPr>
                <a:spLocks/>
              </p:cNvSpPr>
              <p:nvPr/>
            </p:nvSpPr>
            <p:spPr bwMode="auto">
              <a:xfrm>
                <a:off x="4228" y="3408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1" name="Freeform 1339"/>
              <p:cNvSpPr>
                <a:spLocks/>
              </p:cNvSpPr>
              <p:nvPr/>
            </p:nvSpPr>
            <p:spPr bwMode="auto">
              <a:xfrm>
                <a:off x="4228" y="342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7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2" name="Freeform 1340"/>
              <p:cNvSpPr>
                <a:spLocks/>
              </p:cNvSpPr>
              <p:nvPr/>
            </p:nvSpPr>
            <p:spPr bwMode="auto">
              <a:xfrm>
                <a:off x="4228" y="3435"/>
                <a:ext cx="56" cy="17"/>
              </a:xfrm>
              <a:custGeom>
                <a:avLst/>
                <a:gdLst>
                  <a:gd name="T0" fmla="*/ 112 w 112"/>
                  <a:gd name="T1" fmla="*/ 0 h 35"/>
                  <a:gd name="T2" fmla="*/ 112 w 112"/>
                  <a:gd name="T3" fmla="*/ 26 h 35"/>
                  <a:gd name="T4" fmla="*/ 26 w 112"/>
                  <a:gd name="T5" fmla="*/ 35 h 35"/>
                  <a:gd name="T6" fmla="*/ 0 w 112"/>
                  <a:gd name="T7" fmla="*/ 14 h 35"/>
                  <a:gd name="T8" fmla="*/ 0 w 112"/>
                  <a:gd name="T9" fmla="*/ 11 h 35"/>
                  <a:gd name="T10" fmla="*/ 112 w 112"/>
                  <a:gd name="T1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5">
                    <a:moveTo>
                      <a:pt x="112" y="0"/>
                    </a:moveTo>
                    <a:lnTo>
                      <a:pt x="112" y="26"/>
                    </a:lnTo>
                    <a:lnTo>
                      <a:pt x="26" y="35"/>
                    </a:lnTo>
                    <a:lnTo>
                      <a:pt x="0" y="14"/>
                    </a:lnTo>
                    <a:lnTo>
                      <a:pt x="0" y="1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3" name="Freeform 1341"/>
              <p:cNvSpPr>
                <a:spLocks/>
              </p:cNvSpPr>
              <p:nvPr/>
            </p:nvSpPr>
            <p:spPr bwMode="auto">
              <a:xfrm>
                <a:off x="4241" y="3448"/>
                <a:ext cx="43" cy="15"/>
              </a:xfrm>
              <a:custGeom>
                <a:avLst/>
                <a:gdLst>
                  <a:gd name="T0" fmla="*/ 86 w 86"/>
                  <a:gd name="T1" fmla="*/ 0 h 31"/>
                  <a:gd name="T2" fmla="*/ 86 w 86"/>
                  <a:gd name="T3" fmla="*/ 26 h 31"/>
                  <a:gd name="T4" fmla="*/ 29 w 86"/>
                  <a:gd name="T5" fmla="*/ 31 h 31"/>
                  <a:gd name="T6" fmla="*/ 0 w 86"/>
                  <a:gd name="T7" fmla="*/ 9 h 31"/>
                  <a:gd name="T8" fmla="*/ 86 w 86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1">
                    <a:moveTo>
                      <a:pt x="86" y="0"/>
                    </a:moveTo>
                    <a:lnTo>
                      <a:pt x="86" y="26"/>
                    </a:lnTo>
                    <a:lnTo>
                      <a:pt x="29" y="31"/>
                    </a:lnTo>
                    <a:lnTo>
                      <a:pt x="0" y="9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4" name="Freeform 1342"/>
              <p:cNvSpPr>
                <a:spLocks/>
              </p:cNvSpPr>
              <p:nvPr/>
            </p:nvSpPr>
            <p:spPr bwMode="auto">
              <a:xfrm>
                <a:off x="4256" y="3461"/>
                <a:ext cx="28" cy="13"/>
              </a:xfrm>
              <a:custGeom>
                <a:avLst/>
                <a:gdLst>
                  <a:gd name="T0" fmla="*/ 57 w 57"/>
                  <a:gd name="T1" fmla="*/ 0 h 28"/>
                  <a:gd name="T2" fmla="*/ 57 w 57"/>
                  <a:gd name="T3" fmla="*/ 26 h 28"/>
                  <a:gd name="T4" fmla="*/ 30 w 57"/>
                  <a:gd name="T5" fmla="*/ 28 h 28"/>
                  <a:gd name="T6" fmla="*/ 0 w 57"/>
                  <a:gd name="T7" fmla="*/ 5 h 28"/>
                  <a:gd name="T8" fmla="*/ 57 w 57"/>
                  <a:gd name="T9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28">
                    <a:moveTo>
                      <a:pt x="57" y="0"/>
                    </a:moveTo>
                    <a:lnTo>
                      <a:pt x="57" y="26"/>
                    </a:lnTo>
                    <a:lnTo>
                      <a:pt x="30" y="28"/>
                    </a:lnTo>
                    <a:lnTo>
                      <a:pt x="0" y="5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5" name="Freeform 1343"/>
              <p:cNvSpPr>
                <a:spLocks/>
              </p:cNvSpPr>
              <p:nvPr/>
            </p:nvSpPr>
            <p:spPr bwMode="auto">
              <a:xfrm>
                <a:off x="4270" y="3474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2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2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6" name="Freeform 1344"/>
              <p:cNvSpPr>
                <a:spLocks/>
              </p:cNvSpPr>
              <p:nvPr/>
            </p:nvSpPr>
            <p:spPr bwMode="auto">
              <a:xfrm>
                <a:off x="4228" y="3234"/>
                <a:ext cx="56" cy="252"/>
              </a:xfrm>
              <a:custGeom>
                <a:avLst/>
                <a:gdLst>
                  <a:gd name="T0" fmla="*/ 0 w 112"/>
                  <a:gd name="T1" fmla="*/ 87 h 504"/>
                  <a:gd name="T2" fmla="*/ 112 w 112"/>
                  <a:gd name="T3" fmla="*/ 0 h 504"/>
                  <a:gd name="T4" fmla="*/ 112 w 112"/>
                  <a:gd name="T5" fmla="*/ 504 h 504"/>
                  <a:gd name="T6" fmla="*/ 0 w 112"/>
                  <a:gd name="T7" fmla="*/ 416 h 504"/>
                  <a:gd name="T8" fmla="*/ 0 w 112"/>
                  <a:gd name="T9" fmla="*/ 87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4">
                    <a:moveTo>
                      <a:pt x="0" y="87"/>
                    </a:moveTo>
                    <a:lnTo>
                      <a:pt x="112" y="0"/>
                    </a:lnTo>
                    <a:lnTo>
                      <a:pt x="112" y="504"/>
                    </a:lnTo>
                    <a:lnTo>
                      <a:pt x="0" y="416"/>
                    </a:lnTo>
                    <a:lnTo>
                      <a:pt x="0" y="87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7" name="Freeform 1345"/>
              <p:cNvSpPr>
                <a:spLocks/>
              </p:cNvSpPr>
              <p:nvPr/>
            </p:nvSpPr>
            <p:spPr bwMode="auto">
              <a:xfrm>
                <a:off x="4222" y="3442"/>
                <a:ext cx="68" cy="43"/>
              </a:xfrm>
              <a:custGeom>
                <a:avLst/>
                <a:gdLst>
                  <a:gd name="T0" fmla="*/ 0 w 137"/>
                  <a:gd name="T1" fmla="*/ 87 h 87"/>
                  <a:gd name="T2" fmla="*/ 137 w 137"/>
                  <a:gd name="T3" fmla="*/ 87 h 87"/>
                  <a:gd name="T4" fmla="*/ 12 w 137"/>
                  <a:gd name="T5" fmla="*/ 0 h 87"/>
                  <a:gd name="T6" fmla="*/ 9 w 137"/>
                  <a:gd name="T7" fmla="*/ 0 h 87"/>
                  <a:gd name="T8" fmla="*/ 0 w 13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7">
                    <a:moveTo>
                      <a:pt x="0" y="87"/>
                    </a:moveTo>
                    <a:lnTo>
                      <a:pt x="137" y="87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8" name="Freeform 1346"/>
              <p:cNvSpPr>
                <a:spLocks/>
              </p:cNvSpPr>
              <p:nvPr/>
            </p:nvSpPr>
            <p:spPr bwMode="auto">
              <a:xfrm>
                <a:off x="4153" y="3442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59" name="Freeform 1347"/>
              <p:cNvSpPr>
                <a:spLocks/>
              </p:cNvSpPr>
              <p:nvPr/>
            </p:nvSpPr>
            <p:spPr bwMode="auto">
              <a:xfrm>
                <a:off x="4085" y="3442"/>
                <a:ext cx="73" cy="43"/>
              </a:xfrm>
              <a:custGeom>
                <a:avLst/>
                <a:gdLst>
                  <a:gd name="T0" fmla="*/ 136 w 146"/>
                  <a:gd name="T1" fmla="*/ 87 h 87"/>
                  <a:gd name="T2" fmla="*/ 0 w 146"/>
                  <a:gd name="T3" fmla="*/ 87 h 87"/>
                  <a:gd name="T4" fmla="*/ 8 w 146"/>
                  <a:gd name="T5" fmla="*/ 0 h 87"/>
                  <a:gd name="T6" fmla="*/ 146 w 146"/>
                  <a:gd name="T7" fmla="*/ 0 h 87"/>
                  <a:gd name="T8" fmla="*/ 136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0" name="Freeform 1348"/>
              <p:cNvSpPr>
                <a:spLocks/>
              </p:cNvSpPr>
              <p:nvPr/>
            </p:nvSpPr>
            <p:spPr bwMode="auto">
              <a:xfrm>
                <a:off x="4016" y="3442"/>
                <a:ext cx="73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1" name="Freeform 1349"/>
              <p:cNvSpPr>
                <a:spLocks/>
              </p:cNvSpPr>
              <p:nvPr/>
            </p:nvSpPr>
            <p:spPr bwMode="auto">
              <a:xfrm>
                <a:off x="3948" y="3442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2" name="Freeform 1350"/>
              <p:cNvSpPr>
                <a:spLocks/>
              </p:cNvSpPr>
              <p:nvPr/>
            </p:nvSpPr>
            <p:spPr bwMode="auto">
              <a:xfrm>
                <a:off x="3879" y="3442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3" name="Freeform 1351"/>
              <p:cNvSpPr>
                <a:spLocks/>
              </p:cNvSpPr>
              <p:nvPr/>
            </p:nvSpPr>
            <p:spPr bwMode="auto">
              <a:xfrm>
                <a:off x="3810" y="3442"/>
                <a:ext cx="74" cy="43"/>
              </a:xfrm>
              <a:custGeom>
                <a:avLst/>
                <a:gdLst>
                  <a:gd name="T0" fmla="*/ 136 w 146"/>
                  <a:gd name="T1" fmla="*/ 87 h 87"/>
                  <a:gd name="T2" fmla="*/ 0 w 146"/>
                  <a:gd name="T3" fmla="*/ 87 h 87"/>
                  <a:gd name="T4" fmla="*/ 8 w 146"/>
                  <a:gd name="T5" fmla="*/ 0 h 87"/>
                  <a:gd name="T6" fmla="*/ 146 w 146"/>
                  <a:gd name="T7" fmla="*/ 0 h 87"/>
                  <a:gd name="T8" fmla="*/ 136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4" name="Freeform 1352"/>
              <p:cNvSpPr>
                <a:spLocks/>
              </p:cNvSpPr>
              <p:nvPr/>
            </p:nvSpPr>
            <p:spPr bwMode="auto">
              <a:xfrm>
                <a:off x="3741" y="3442"/>
                <a:ext cx="74" cy="43"/>
              </a:xfrm>
              <a:custGeom>
                <a:avLst/>
                <a:gdLst>
                  <a:gd name="T0" fmla="*/ 138 w 146"/>
                  <a:gd name="T1" fmla="*/ 87 h 87"/>
                  <a:gd name="T2" fmla="*/ 0 w 146"/>
                  <a:gd name="T3" fmla="*/ 87 h 87"/>
                  <a:gd name="T4" fmla="*/ 10 w 146"/>
                  <a:gd name="T5" fmla="*/ 0 h 87"/>
                  <a:gd name="T6" fmla="*/ 146 w 146"/>
                  <a:gd name="T7" fmla="*/ 0 h 87"/>
                  <a:gd name="T8" fmla="*/ 138 w 146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5" name="Freeform 1353"/>
              <p:cNvSpPr>
                <a:spLocks/>
              </p:cNvSpPr>
              <p:nvPr/>
            </p:nvSpPr>
            <p:spPr bwMode="auto">
              <a:xfrm>
                <a:off x="3673" y="3442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6" name="Freeform 1354"/>
              <p:cNvSpPr>
                <a:spLocks/>
              </p:cNvSpPr>
              <p:nvPr/>
            </p:nvSpPr>
            <p:spPr bwMode="auto">
              <a:xfrm>
                <a:off x="3604" y="3442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1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7" name="Freeform 1355"/>
              <p:cNvSpPr>
                <a:spLocks/>
              </p:cNvSpPr>
              <p:nvPr/>
            </p:nvSpPr>
            <p:spPr bwMode="auto">
              <a:xfrm>
                <a:off x="3536" y="3442"/>
                <a:ext cx="73" cy="43"/>
              </a:xfrm>
              <a:custGeom>
                <a:avLst/>
                <a:gdLst>
                  <a:gd name="T0" fmla="*/ 136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6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8" name="Freeform 1356"/>
              <p:cNvSpPr>
                <a:spLocks/>
              </p:cNvSpPr>
              <p:nvPr/>
            </p:nvSpPr>
            <p:spPr bwMode="auto">
              <a:xfrm>
                <a:off x="3468" y="3442"/>
                <a:ext cx="73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69" name="Freeform 1357"/>
              <p:cNvSpPr>
                <a:spLocks/>
              </p:cNvSpPr>
              <p:nvPr/>
            </p:nvSpPr>
            <p:spPr bwMode="auto">
              <a:xfrm>
                <a:off x="3399" y="3442"/>
                <a:ext cx="73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1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0" name="Freeform 1358"/>
              <p:cNvSpPr>
                <a:spLocks/>
              </p:cNvSpPr>
              <p:nvPr/>
            </p:nvSpPr>
            <p:spPr bwMode="auto">
              <a:xfrm>
                <a:off x="3330" y="3442"/>
                <a:ext cx="74" cy="43"/>
              </a:xfrm>
              <a:custGeom>
                <a:avLst/>
                <a:gdLst>
                  <a:gd name="T0" fmla="*/ 136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6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1" name="Freeform 1359"/>
              <p:cNvSpPr>
                <a:spLocks/>
              </p:cNvSpPr>
              <p:nvPr/>
            </p:nvSpPr>
            <p:spPr bwMode="auto">
              <a:xfrm>
                <a:off x="3261" y="3442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2" name="Freeform 1360"/>
              <p:cNvSpPr>
                <a:spLocks/>
              </p:cNvSpPr>
              <p:nvPr/>
            </p:nvSpPr>
            <p:spPr bwMode="auto">
              <a:xfrm>
                <a:off x="3193" y="3442"/>
                <a:ext cx="74" cy="43"/>
              </a:xfrm>
              <a:custGeom>
                <a:avLst/>
                <a:gdLst>
                  <a:gd name="T0" fmla="*/ 137 w 147"/>
                  <a:gd name="T1" fmla="*/ 87 h 87"/>
                  <a:gd name="T2" fmla="*/ 0 w 147"/>
                  <a:gd name="T3" fmla="*/ 87 h 87"/>
                  <a:gd name="T4" fmla="*/ 9 w 147"/>
                  <a:gd name="T5" fmla="*/ 0 h 87"/>
                  <a:gd name="T6" fmla="*/ 147 w 147"/>
                  <a:gd name="T7" fmla="*/ 0 h 87"/>
                  <a:gd name="T8" fmla="*/ 137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7" y="87"/>
                    </a:moveTo>
                    <a:lnTo>
                      <a:pt x="0" y="87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7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3" name="Freeform 1361"/>
              <p:cNvSpPr>
                <a:spLocks/>
              </p:cNvSpPr>
              <p:nvPr/>
            </p:nvSpPr>
            <p:spPr bwMode="auto">
              <a:xfrm>
                <a:off x="3124" y="3442"/>
                <a:ext cx="74" cy="43"/>
              </a:xfrm>
              <a:custGeom>
                <a:avLst/>
                <a:gdLst>
                  <a:gd name="T0" fmla="*/ 138 w 147"/>
                  <a:gd name="T1" fmla="*/ 87 h 87"/>
                  <a:gd name="T2" fmla="*/ 0 w 147"/>
                  <a:gd name="T3" fmla="*/ 87 h 87"/>
                  <a:gd name="T4" fmla="*/ 11 w 147"/>
                  <a:gd name="T5" fmla="*/ 0 h 87"/>
                  <a:gd name="T6" fmla="*/ 147 w 147"/>
                  <a:gd name="T7" fmla="*/ 0 h 87"/>
                  <a:gd name="T8" fmla="*/ 138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4" name="Freeform 1362"/>
              <p:cNvSpPr>
                <a:spLocks/>
              </p:cNvSpPr>
              <p:nvPr/>
            </p:nvSpPr>
            <p:spPr bwMode="auto">
              <a:xfrm>
                <a:off x="3056" y="3442"/>
                <a:ext cx="73" cy="43"/>
              </a:xfrm>
              <a:custGeom>
                <a:avLst/>
                <a:gdLst>
                  <a:gd name="T0" fmla="*/ 136 w 147"/>
                  <a:gd name="T1" fmla="*/ 87 h 87"/>
                  <a:gd name="T2" fmla="*/ 0 w 147"/>
                  <a:gd name="T3" fmla="*/ 87 h 87"/>
                  <a:gd name="T4" fmla="*/ 10 w 147"/>
                  <a:gd name="T5" fmla="*/ 0 h 87"/>
                  <a:gd name="T6" fmla="*/ 147 w 147"/>
                  <a:gd name="T7" fmla="*/ 0 h 87"/>
                  <a:gd name="T8" fmla="*/ 136 w 147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7">
                    <a:moveTo>
                      <a:pt x="136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7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5" name="Freeform 1363"/>
              <p:cNvSpPr>
                <a:spLocks/>
              </p:cNvSpPr>
              <p:nvPr/>
            </p:nvSpPr>
            <p:spPr bwMode="auto">
              <a:xfrm>
                <a:off x="2987" y="3442"/>
                <a:ext cx="74" cy="43"/>
              </a:xfrm>
              <a:custGeom>
                <a:avLst/>
                <a:gdLst>
                  <a:gd name="T0" fmla="*/ 138 w 148"/>
                  <a:gd name="T1" fmla="*/ 87 h 87"/>
                  <a:gd name="T2" fmla="*/ 0 w 148"/>
                  <a:gd name="T3" fmla="*/ 87 h 87"/>
                  <a:gd name="T4" fmla="*/ 10 w 148"/>
                  <a:gd name="T5" fmla="*/ 0 h 87"/>
                  <a:gd name="T6" fmla="*/ 148 w 148"/>
                  <a:gd name="T7" fmla="*/ 0 h 87"/>
                  <a:gd name="T8" fmla="*/ 138 w 148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7">
                    <a:moveTo>
                      <a:pt x="138" y="87"/>
                    </a:moveTo>
                    <a:lnTo>
                      <a:pt x="0" y="87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8" y="87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6" name="Freeform 1364"/>
              <p:cNvSpPr>
                <a:spLocks/>
              </p:cNvSpPr>
              <p:nvPr/>
            </p:nvSpPr>
            <p:spPr bwMode="auto">
              <a:xfrm>
                <a:off x="2923" y="3442"/>
                <a:ext cx="69" cy="43"/>
              </a:xfrm>
              <a:custGeom>
                <a:avLst/>
                <a:gdLst>
                  <a:gd name="T0" fmla="*/ 128 w 138"/>
                  <a:gd name="T1" fmla="*/ 87 h 87"/>
                  <a:gd name="T2" fmla="*/ 0 w 138"/>
                  <a:gd name="T3" fmla="*/ 87 h 87"/>
                  <a:gd name="T4" fmla="*/ 112 w 138"/>
                  <a:gd name="T5" fmla="*/ 0 h 87"/>
                  <a:gd name="T6" fmla="*/ 138 w 138"/>
                  <a:gd name="T7" fmla="*/ 0 h 87"/>
                  <a:gd name="T8" fmla="*/ 128 w 138"/>
                  <a:gd name="T9" fmla="*/ 87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87">
                    <a:moveTo>
                      <a:pt x="128" y="87"/>
                    </a:moveTo>
                    <a:lnTo>
                      <a:pt x="0" y="87"/>
                    </a:lnTo>
                    <a:lnTo>
                      <a:pt x="112" y="0"/>
                    </a:lnTo>
                    <a:lnTo>
                      <a:pt x="138" y="0"/>
                    </a:lnTo>
                    <a:lnTo>
                      <a:pt x="128" y="87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7" name="Freeform 1365"/>
              <p:cNvSpPr>
                <a:spLocks/>
              </p:cNvSpPr>
              <p:nvPr/>
            </p:nvSpPr>
            <p:spPr bwMode="auto">
              <a:xfrm>
                <a:off x="2923" y="3442"/>
                <a:ext cx="1367" cy="43"/>
              </a:xfrm>
              <a:custGeom>
                <a:avLst/>
                <a:gdLst>
                  <a:gd name="T0" fmla="*/ 112 w 2735"/>
                  <a:gd name="T1" fmla="*/ 0 h 87"/>
                  <a:gd name="T2" fmla="*/ 0 w 2735"/>
                  <a:gd name="T3" fmla="*/ 87 h 87"/>
                  <a:gd name="T4" fmla="*/ 2735 w 2735"/>
                  <a:gd name="T5" fmla="*/ 87 h 87"/>
                  <a:gd name="T6" fmla="*/ 2610 w 2735"/>
                  <a:gd name="T7" fmla="*/ 0 h 87"/>
                  <a:gd name="T8" fmla="*/ 112 w 2735"/>
                  <a:gd name="T9" fmla="*/ 0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7">
                    <a:moveTo>
                      <a:pt x="112" y="0"/>
                    </a:moveTo>
                    <a:lnTo>
                      <a:pt x="0" y="87"/>
                    </a:lnTo>
                    <a:lnTo>
                      <a:pt x="2735" y="87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8" name="Freeform 1366"/>
              <p:cNvSpPr>
                <a:spLocks/>
              </p:cNvSpPr>
              <p:nvPr/>
            </p:nvSpPr>
            <p:spPr bwMode="auto">
              <a:xfrm>
                <a:off x="2923" y="3233"/>
                <a:ext cx="68" cy="43"/>
              </a:xfrm>
              <a:custGeom>
                <a:avLst/>
                <a:gdLst>
                  <a:gd name="T0" fmla="*/ 136 w 136"/>
                  <a:gd name="T1" fmla="*/ 0 h 86"/>
                  <a:gd name="T2" fmla="*/ 0 w 136"/>
                  <a:gd name="T3" fmla="*/ 0 h 86"/>
                  <a:gd name="T4" fmla="*/ 118 w 136"/>
                  <a:gd name="T5" fmla="*/ 86 h 86"/>
                  <a:gd name="T6" fmla="*/ 136 w 136"/>
                  <a:gd name="T7" fmla="*/ 86 h 86"/>
                  <a:gd name="T8" fmla="*/ 136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6"/>
                    </a:lnTo>
                    <a:lnTo>
                      <a:pt x="136" y="86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79" name="Rectangle 1367"/>
              <p:cNvSpPr>
                <a:spLocks noChangeArrowheads="1"/>
              </p:cNvSpPr>
              <p:nvPr/>
            </p:nvSpPr>
            <p:spPr bwMode="auto">
              <a:xfrm>
                <a:off x="2991" y="3233"/>
                <a:ext cx="68" cy="43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0" name="Rectangle 1368"/>
              <p:cNvSpPr>
                <a:spLocks noChangeArrowheads="1"/>
              </p:cNvSpPr>
              <p:nvPr/>
            </p:nvSpPr>
            <p:spPr bwMode="auto">
              <a:xfrm>
                <a:off x="3059" y="3233"/>
                <a:ext cx="69" cy="43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1" name="Rectangle 1369"/>
              <p:cNvSpPr>
                <a:spLocks noChangeArrowheads="1"/>
              </p:cNvSpPr>
              <p:nvPr/>
            </p:nvSpPr>
            <p:spPr bwMode="auto">
              <a:xfrm>
                <a:off x="3128" y="3233"/>
                <a:ext cx="68" cy="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2" name="Rectangle 1370"/>
              <p:cNvSpPr>
                <a:spLocks noChangeArrowheads="1"/>
              </p:cNvSpPr>
              <p:nvPr/>
            </p:nvSpPr>
            <p:spPr bwMode="auto">
              <a:xfrm>
                <a:off x="3196" y="3233"/>
                <a:ext cx="68" cy="43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3" name="Rectangle 1371"/>
              <p:cNvSpPr>
                <a:spLocks noChangeArrowheads="1"/>
              </p:cNvSpPr>
              <p:nvPr/>
            </p:nvSpPr>
            <p:spPr bwMode="auto">
              <a:xfrm>
                <a:off x="3264" y="3233"/>
                <a:ext cx="68" cy="4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4" name="Rectangle 1372"/>
              <p:cNvSpPr>
                <a:spLocks noChangeArrowheads="1"/>
              </p:cNvSpPr>
              <p:nvPr/>
            </p:nvSpPr>
            <p:spPr bwMode="auto">
              <a:xfrm>
                <a:off x="3332" y="3233"/>
                <a:ext cx="68" cy="43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5" name="Rectangle 1373"/>
              <p:cNvSpPr>
                <a:spLocks noChangeArrowheads="1"/>
              </p:cNvSpPr>
              <p:nvPr/>
            </p:nvSpPr>
            <p:spPr bwMode="auto">
              <a:xfrm>
                <a:off x="3400" y="3233"/>
                <a:ext cx="69" cy="43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6" name="Rectangle 1374"/>
              <p:cNvSpPr>
                <a:spLocks noChangeArrowheads="1"/>
              </p:cNvSpPr>
              <p:nvPr/>
            </p:nvSpPr>
            <p:spPr bwMode="auto">
              <a:xfrm>
                <a:off x="3469" y="3233"/>
                <a:ext cx="68" cy="43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7" name="Rectangle 1375"/>
              <p:cNvSpPr>
                <a:spLocks noChangeArrowheads="1"/>
              </p:cNvSpPr>
              <p:nvPr/>
            </p:nvSpPr>
            <p:spPr bwMode="auto">
              <a:xfrm>
                <a:off x="3537" y="3233"/>
                <a:ext cx="68" cy="43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8" name="Rectangle 1376"/>
              <p:cNvSpPr>
                <a:spLocks noChangeArrowheads="1"/>
              </p:cNvSpPr>
              <p:nvPr/>
            </p:nvSpPr>
            <p:spPr bwMode="auto">
              <a:xfrm>
                <a:off x="3605" y="3233"/>
                <a:ext cx="68" cy="43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89" name="Rectangle 1377"/>
              <p:cNvSpPr>
                <a:spLocks noChangeArrowheads="1"/>
              </p:cNvSpPr>
              <p:nvPr/>
            </p:nvSpPr>
            <p:spPr bwMode="auto">
              <a:xfrm>
                <a:off x="3673" y="3233"/>
                <a:ext cx="68" cy="43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0" name="Rectangle 1378"/>
              <p:cNvSpPr>
                <a:spLocks noChangeArrowheads="1"/>
              </p:cNvSpPr>
              <p:nvPr/>
            </p:nvSpPr>
            <p:spPr bwMode="auto">
              <a:xfrm>
                <a:off x="3741" y="3233"/>
                <a:ext cx="69" cy="43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1" name="Rectangle 1379"/>
              <p:cNvSpPr>
                <a:spLocks noChangeArrowheads="1"/>
              </p:cNvSpPr>
              <p:nvPr/>
            </p:nvSpPr>
            <p:spPr bwMode="auto">
              <a:xfrm>
                <a:off x="3810" y="3233"/>
                <a:ext cx="68" cy="43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2" name="Rectangle 1380"/>
              <p:cNvSpPr>
                <a:spLocks noChangeArrowheads="1"/>
              </p:cNvSpPr>
              <p:nvPr/>
            </p:nvSpPr>
            <p:spPr bwMode="auto">
              <a:xfrm>
                <a:off x="3878" y="3233"/>
                <a:ext cx="68" cy="43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3" name="Rectangle 1381"/>
              <p:cNvSpPr>
                <a:spLocks noChangeArrowheads="1"/>
              </p:cNvSpPr>
              <p:nvPr/>
            </p:nvSpPr>
            <p:spPr bwMode="auto">
              <a:xfrm>
                <a:off x="3946" y="3233"/>
                <a:ext cx="68" cy="43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4" name="Rectangle 1382"/>
              <p:cNvSpPr>
                <a:spLocks noChangeArrowheads="1"/>
              </p:cNvSpPr>
              <p:nvPr/>
            </p:nvSpPr>
            <p:spPr bwMode="auto">
              <a:xfrm>
                <a:off x="4014" y="3233"/>
                <a:ext cx="68" cy="43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5" name="Rectangle 1383"/>
              <p:cNvSpPr>
                <a:spLocks noChangeArrowheads="1"/>
              </p:cNvSpPr>
              <p:nvPr/>
            </p:nvSpPr>
            <p:spPr bwMode="auto">
              <a:xfrm>
                <a:off x="4082" y="3233"/>
                <a:ext cx="68" cy="43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6" name="Rectangle 1384"/>
              <p:cNvSpPr>
                <a:spLocks noChangeArrowheads="1"/>
              </p:cNvSpPr>
              <p:nvPr/>
            </p:nvSpPr>
            <p:spPr bwMode="auto">
              <a:xfrm>
                <a:off x="4150" y="3233"/>
                <a:ext cx="69" cy="43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7" name="Freeform 1385"/>
              <p:cNvSpPr>
                <a:spLocks/>
              </p:cNvSpPr>
              <p:nvPr/>
            </p:nvSpPr>
            <p:spPr bwMode="auto">
              <a:xfrm>
                <a:off x="4219" y="3233"/>
                <a:ext cx="69" cy="43"/>
              </a:xfrm>
              <a:custGeom>
                <a:avLst/>
                <a:gdLst>
                  <a:gd name="T0" fmla="*/ 0 w 136"/>
                  <a:gd name="T1" fmla="*/ 0 h 86"/>
                  <a:gd name="T2" fmla="*/ 136 w 136"/>
                  <a:gd name="T3" fmla="*/ 0 h 86"/>
                  <a:gd name="T4" fmla="*/ 24 w 136"/>
                  <a:gd name="T5" fmla="*/ 86 h 86"/>
                  <a:gd name="T6" fmla="*/ 0 w 136"/>
                  <a:gd name="T7" fmla="*/ 86 h 86"/>
                  <a:gd name="T8" fmla="*/ 0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0" y="0"/>
                    </a:moveTo>
                    <a:lnTo>
                      <a:pt x="136" y="0"/>
                    </a:lnTo>
                    <a:lnTo>
                      <a:pt x="24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8" name="Freeform 1386"/>
              <p:cNvSpPr>
                <a:spLocks/>
              </p:cNvSpPr>
              <p:nvPr/>
            </p:nvSpPr>
            <p:spPr bwMode="auto">
              <a:xfrm>
                <a:off x="2923" y="3233"/>
                <a:ext cx="1365" cy="43"/>
              </a:xfrm>
              <a:custGeom>
                <a:avLst/>
                <a:gdLst>
                  <a:gd name="T0" fmla="*/ 118 w 2729"/>
                  <a:gd name="T1" fmla="*/ 86 h 86"/>
                  <a:gd name="T2" fmla="*/ 0 w 2729"/>
                  <a:gd name="T3" fmla="*/ 0 h 86"/>
                  <a:gd name="T4" fmla="*/ 2729 w 2729"/>
                  <a:gd name="T5" fmla="*/ 0 h 86"/>
                  <a:gd name="T6" fmla="*/ 2617 w 2729"/>
                  <a:gd name="T7" fmla="*/ 86 h 86"/>
                  <a:gd name="T8" fmla="*/ 118 w 272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6">
                    <a:moveTo>
                      <a:pt x="118" y="86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6"/>
                    </a:lnTo>
                    <a:lnTo>
                      <a:pt x="118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699" name="Freeform 1387"/>
              <p:cNvSpPr>
                <a:spLocks/>
              </p:cNvSpPr>
              <p:nvPr/>
            </p:nvSpPr>
            <p:spPr bwMode="auto">
              <a:xfrm>
                <a:off x="2922" y="3231"/>
                <a:ext cx="16" cy="13"/>
              </a:xfrm>
              <a:custGeom>
                <a:avLst/>
                <a:gdLst>
                  <a:gd name="T0" fmla="*/ 31 w 31"/>
                  <a:gd name="T1" fmla="*/ 23 h 26"/>
                  <a:gd name="T2" fmla="*/ 0 w 31"/>
                  <a:gd name="T3" fmla="*/ 0 h 26"/>
                  <a:gd name="T4" fmla="*/ 0 w 31"/>
                  <a:gd name="T5" fmla="*/ 26 h 26"/>
                  <a:gd name="T6" fmla="*/ 31 w 31"/>
                  <a:gd name="T7" fmla="*/ 23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26">
                    <a:moveTo>
                      <a:pt x="31" y="23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1" y="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0" name="Freeform 1388"/>
              <p:cNvSpPr>
                <a:spLocks/>
              </p:cNvSpPr>
              <p:nvPr/>
            </p:nvSpPr>
            <p:spPr bwMode="auto">
              <a:xfrm>
                <a:off x="2922" y="3242"/>
                <a:ext cx="32" cy="15"/>
              </a:xfrm>
              <a:custGeom>
                <a:avLst/>
                <a:gdLst>
                  <a:gd name="T0" fmla="*/ 31 w 64"/>
                  <a:gd name="T1" fmla="*/ 0 h 29"/>
                  <a:gd name="T2" fmla="*/ 64 w 64"/>
                  <a:gd name="T3" fmla="*/ 22 h 29"/>
                  <a:gd name="T4" fmla="*/ 0 w 64"/>
                  <a:gd name="T5" fmla="*/ 29 h 29"/>
                  <a:gd name="T6" fmla="*/ 0 w 64"/>
                  <a:gd name="T7" fmla="*/ 3 h 29"/>
                  <a:gd name="T8" fmla="*/ 31 w 64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29">
                    <a:moveTo>
                      <a:pt x="31" y="0"/>
                    </a:moveTo>
                    <a:lnTo>
                      <a:pt x="64" y="22"/>
                    </a:lnTo>
                    <a:lnTo>
                      <a:pt x="0" y="29"/>
                    </a:lnTo>
                    <a:lnTo>
                      <a:pt x="0" y="3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1" name="Freeform 1389"/>
              <p:cNvSpPr>
                <a:spLocks/>
              </p:cNvSpPr>
              <p:nvPr/>
            </p:nvSpPr>
            <p:spPr bwMode="auto">
              <a:xfrm>
                <a:off x="2922" y="3254"/>
                <a:ext cx="48" cy="16"/>
              </a:xfrm>
              <a:custGeom>
                <a:avLst/>
                <a:gdLst>
                  <a:gd name="T0" fmla="*/ 64 w 95"/>
                  <a:gd name="T1" fmla="*/ 0 h 33"/>
                  <a:gd name="T2" fmla="*/ 95 w 95"/>
                  <a:gd name="T3" fmla="*/ 23 h 33"/>
                  <a:gd name="T4" fmla="*/ 0 w 95"/>
                  <a:gd name="T5" fmla="*/ 33 h 33"/>
                  <a:gd name="T6" fmla="*/ 0 w 95"/>
                  <a:gd name="T7" fmla="*/ 7 h 33"/>
                  <a:gd name="T8" fmla="*/ 64 w 95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33">
                    <a:moveTo>
                      <a:pt x="64" y="0"/>
                    </a:moveTo>
                    <a:lnTo>
                      <a:pt x="95" y="23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2" name="Freeform 1390"/>
              <p:cNvSpPr>
                <a:spLocks/>
              </p:cNvSpPr>
              <p:nvPr/>
            </p:nvSpPr>
            <p:spPr bwMode="auto">
              <a:xfrm>
                <a:off x="2922" y="3265"/>
                <a:ext cx="61" cy="18"/>
              </a:xfrm>
              <a:custGeom>
                <a:avLst/>
                <a:gdLst>
                  <a:gd name="T0" fmla="*/ 95 w 123"/>
                  <a:gd name="T1" fmla="*/ 0 h 36"/>
                  <a:gd name="T2" fmla="*/ 123 w 123"/>
                  <a:gd name="T3" fmla="*/ 19 h 36"/>
                  <a:gd name="T4" fmla="*/ 123 w 123"/>
                  <a:gd name="T5" fmla="*/ 22 h 36"/>
                  <a:gd name="T6" fmla="*/ 0 w 123"/>
                  <a:gd name="T7" fmla="*/ 36 h 36"/>
                  <a:gd name="T8" fmla="*/ 0 w 123"/>
                  <a:gd name="T9" fmla="*/ 10 h 36"/>
                  <a:gd name="T10" fmla="*/ 95 w 123"/>
                  <a:gd name="T11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6">
                    <a:moveTo>
                      <a:pt x="95" y="0"/>
                    </a:moveTo>
                    <a:lnTo>
                      <a:pt x="123" y="19"/>
                    </a:lnTo>
                    <a:lnTo>
                      <a:pt x="123" y="22"/>
                    </a:lnTo>
                    <a:lnTo>
                      <a:pt x="0" y="36"/>
                    </a:lnTo>
                    <a:lnTo>
                      <a:pt x="0" y="10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3" name="Freeform 1391"/>
              <p:cNvSpPr>
                <a:spLocks/>
              </p:cNvSpPr>
              <p:nvPr/>
            </p:nvSpPr>
            <p:spPr bwMode="auto">
              <a:xfrm>
                <a:off x="2922" y="3276"/>
                <a:ext cx="61" cy="21"/>
              </a:xfrm>
              <a:custGeom>
                <a:avLst/>
                <a:gdLst>
                  <a:gd name="T0" fmla="*/ 123 w 123"/>
                  <a:gd name="T1" fmla="*/ 0 h 41"/>
                  <a:gd name="T2" fmla="*/ 123 w 123"/>
                  <a:gd name="T3" fmla="*/ 26 h 41"/>
                  <a:gd name="T4" fmla="*/ 0 w 123"/>
                  <a:gd name="T5" fmla="*/ 41 h 41"/>
                  <a:gd name="T6" fmla="*/ 0 w 123"/>
                  <a:gd name="T7" fmla="*/ 14 h 41"/>
                  <a:gd name="T8" fmla="*/ 123 w 123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1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1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4" name="Freeform 1392"/>
              <p:cNvSpPr>
                <a:spLocks/>
              </p:cNvSpPr>
              <p:nvPr/>
            </p:nvSpPr>
            <p:spPr bwMode="auto">
              <a:xfrm>
                <a:off x="2922" y="3289"/>
                <a:ext cx="61" cy="21"/>
              </a:xfrm>
              <a:custGeom>
                <a:avLst/>
                <a:gdLst>
                  <a:gd name="T0" fmla="*/ 123 w 123"/>
                  <a:gd name="T1" fmla="*/ 0 h 41"/>
                  <a:gd name="T2" fmla="*/ 123 w 123"/>
                  <a:gd name="T3" fmla="*/ 26 h 41"/>
                  <a:gd name="T4" fmla="*/ 0 w 123"/>
                  <a:gd name="T5" fmla="*/ 41 h 41"/>
                  <a:gd name="T6" fmla="*/ 0 w 123"/>
                  <a:gd name="T7" fmla="*/ 15 h 41"/>
                  <a:gd name="T8" fmla="*/ 123 w 123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1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1"/>
                    </a:lnTo>
                    <a:lnTo>
                      <a:pt x="0" y="15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5" name="Freeform 1393"/>
              <p:cNvSpPr>
                <a:spLocks/>
              </p:cNvSpPr>
              <p:nvPr/>
            </p:nvSpPr>
            <p:spPr bwMode="auto">
              <a:xfrm>
                <a:off x="2922" y="3302"/>
                <a:ext cx="61" cy="21"/>
              </a:xfrm>
              <a:custGeom>
                <a:avLst/>
                <a:gdLst>
                  <a:gd name="T0" fmla="*/ 123 w 123"/>
                  <a:gd name="T1" fmla="*/ 0 h 41"/>
                  <a:gd name="T2" fmla="*/ 123 w 123"/>
                  <a:gd name="T3" fmla="*/ 26 h 41"/>
                  <a:gd name="T4" fmla="*/ 0 w 123"/>
                  <a:gd name="T5" fmla="*/ 41 h 41"/>
                  <a:gd name="T6" fmla="*/ 0 w 123"/>
                  <a:gd name="T7" fmla="*/ 15 h 41"/>
                  <a:gd name="T8" fmla="*/ 123 w 123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1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1"/>
                    </a:lnTo>
                    <a:lnTo>
                      <a:pt x="0" y="15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6" name="Freeform 1394"/>
              <p:cNvSpPr>
                <a:spLocks/>
              </p:cNvSpPr>
              <p:nvPr/>
            </p:nvSpPr>
            <p:spPr bwMode="auto">
              <a:xfrm>
                <a:off x="2922" y="3315"/>
                <a:ext cx="61" cy="21"/>
              </a:xfrm>
              <a:custGeom>
                <a:avLst/>
                <a:gdLst>
                  <a:gd name="T0" fmla="*/ 123 w 123"/>
                  <a:gd name="T1" fmla="*/ 0 h 41"/>
                  <a:gd name="T2" fmla="*/ 123 w 123"/>
                  <a:gd name="T3" fmla="*/ 26 h 41"/>
                  <a:gd name="T4" fmla="*/ 0 w 123"/>
                  <a:gd name="T5" fmla="*/ 41 h 41"/>
                  <a:gd name="T6" fmla="*/ 0 w 123"/>
                  <a:gd name="T7" fmla="*/ 15 h 41"/>
                  <a:gd name="T8" fmla="*/ 123 w 123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1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1"/>
                    </a:lnTo>
                    <a:lnTo>
                      <a:pt x="0" y="15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7" name="Freeform 1395"/>
              <p:cNvSpPr>
                <a:spLocks/>
              </p:cNvSpPr>
              <p:nvPr/>
            </p:nvSpPr>
            <p:spPr bwMode="auto">
              <a:xfrm>
                <a:off x="2922" y="3328"/>
                <a:ext cx="61" cy="20"/>
              </a:xfrm>
              <a:custGeom>
                <a:avLst/>
                <a:gdLst>
                  <a:gd name="T0" fmla="*/ 123 w 123"/>
                  <a:gd name="T1" fmla="*/ 0 h 41"/>
                  <a:gd name="T2" fmla="*/ 123 w 123"/>
                  <a:gd name="T3" fmla="*/ 25 h 41"/>
                  <a:gd name="T4" fmla="*/ 0 w 123"/>
                  <a:gd name="T5" fmla="*/ 41 h 41"/>
                  <a:gd name="T6" fmla="*/ 0 w 123"/>
                  <a:gd name="T7" fmla="*/ 15 h 41"/>
                  <a:gd name="T8" fmla="*/ 123 w 123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1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41"/>
                    </a:lnTo>
                    <a:lnTo>
                      <a:pt x="0" y="15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8" name="Freeform 1396"/>
              <p:cNvSpPr>
                <a:spLocks/>
              </p:cNvSpPr>
              <p:nvPr/>
            </p:nvSpPr>
            <p:spPr bwMode="auto">
              <a:xfrm>
                <a:off x="2922" y="3341"/>
                <a:ext cx="61" cy="20"/>
              </a:xfrm>
              <a:custGeom>
                <a:avLst/>
                <a:gdLst>
                  <a:gd name="T0" fmla="*/ 123 w 123"/>
                  <a:gd name="T1" fmla="*/ 0 h 42"/>
                  <a:gd name="T2" fmla="*/ 123 w 123"/>
                  <a:gd name="T3" fmla="*/ 26 h 42"/>
                  <a:gd name="T4" fmla="*/ 0 w 123"/>
                  <a:gd name="T5" fmla="*/ 42 h 42"/>
                  <a:gd name="T6" fmla="*/ 0 w 123"/>
                  <a:gd name="T7" fmla="*/ 16 h 42"/>
                  <a:gd name="T8" fmla="*/ 123 w 123"/>
                  <a:gd name="T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2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2"/>
                    </a:lnTo>
                    <a:lnTo>
                      <a:pt x="0" y="16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09" name="Freeform 1397"/>
              <p:cNvSpPr>
                <a:spLocks/>
              </p:cNvSpPr>
              <p:nvPr/>
            </p:nvSpPr>
            <p:spPr bwMode="auto">
              <a:xfrm>
                <a:off x="2922" y="3354"/>
                <a:ext cx="61" cy="20"/>
              </a:xfrm>
              <a:custGeom>
                <a:avLst/>
                <a:gdLst>
                  <a:gd name="T0" fmla="*/ 123 w 123"/>
                  <a:gd name="T1" fmla="*/ 0 h 42"/>
                  <a:gd name="T2" fmla="*/ 123 w 123"/>
                  <a:gd name="T3" fmla="*/ 28 h 42"/>
                  <a:gd name="T4" fmla="*/ 0 w 123"/>
                  <a:gd name="T5" fmla="*/ 42 h 42"/>
                  <a:gd name="T6" fmla="*/ 0 w 123"/>
                  <a:gd name="T7" fmla="*/ 16 h 42"/>
                  <a:gd name="T8" fmla="*/ 123 w 123"/>
                  <a:gd name="T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2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42"/>
                    </a:lnTo>
                    <a:lnTo>
                      <a:pt x="0" y="16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0" name="Freeform 1398"/>
              <p:cNvSpPr>
                <a:spLocks/>
              </p:cNvSpPr>
              <p:nvPr/>
            </p:nvSpPr>
            <p:spPr bwMode="auto">
              <a:xfrm>
                <a:off x="2922" y="3367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1" name="Freeform 1399"/>
              <p:cNvSpPr>
                <a:spLocks/>
              </p:cNvSpPr>
              <p:nvPr/>
            </p:nvSpPr>
            <p:spPr bwMode="auto">
              <a:xfrm>
                <a:off x="2922" y="3380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4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2" name="Freeform 1400"/>
              <p:cNvSpPr>
                <a:spLocks/>
              </p:cNvSpPr>
              <p:nvPr/>
            </p:nvSpPr>
            <p:spPr bwMode="auto">
              <a:xfrm>
                <a:off x="2922" y="3393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6 h 39"/>
                  <a:gd name="T4" fmla="*/ 0 w 123"/>
                  <a:gd name="T5" fmla="*/ 39 h 39"/>
                  <a:gd name="T6" fmla="*/ 0 w 123"/>
                  <a:gd name="T7" fmla="*/ 13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3" name="Freeform 1401"/>
              <p:cNvSpPr>
                <a:spLocks/>
              </p:cNvSpPr>
              <p:nvPr/>
            </p:nvSpPr>
            <p:spPr bwMode="auto">
              <a:xfrm>
                <a:off x="2922" y="3406"/>
                <a:ext cx="61" cy="21"/>
              </a:xfrm>
              <a:custGeom>
                <a:avLst/>
                <a:gdLst>
                  <a:gd name="T0" fmla="*/ 123 w 123"/>
                  <a:gd name="T1" fmla="*/ 0 h 41"/>
                  <a:gd name="T2" fmla="*/ 123 w 123"/>
                  <a:gd name="T3" fmla="*/ 25 h 41"/>
                  <a:gd name="T4" fmla="*/ 0 w 123"/>
                  <a:gd name="T5" fmla="*/ 41 h 41"/>
                  <a:gd name="T6" fmla="*/ 0 w 123"/>
                  <a:gd name="T7" fmla="*/ 13 h 41"/>
                  <a:gd name="T8" fmla="*/ 123 w 123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1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41"/>
                    </a:lnTo>
                    <a:lnTo>
                      <a:pt x="0" y="13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4" name="Freeform 1402"/>
              <p:cNvSpPr>
                <a:spLocks/>
              </p:cNvSpPr>
              <p:nvPr/>
            </p:nvSpPr>
            <p:spPr bwMode="auto">
              <a:xfrm>
                <a:off x="2922" y="3419"/>
                <a:ext cx="61" cy="21"/>
              </a:xfrm>
              <a:custGeom>
                <a:avLst/>
                <a:gdLst>
                  <a:gd name="T0" fmla="*/ 123 w 123"/>
                  <a:gd name="T1" fmla="*/ 0 h 42"/>
                  <a:gd name="T2" fmla="*/ 123 w 123"/>
                  <a:gd name="T3" fmla="*/ 26 h 42"/>
                  <a:gd name="T4" fmla="*/ 0 w 123"/>
                  <a:gd name="T5" fmla="*/ 42 h 42"/>
                  <a:gd name="T6" fmla="*/ 0 w 123"/>
                  <a:gd name="T7" fmla="*/ 16 h 42"/>
                  <a:gd name="T8" fmla="*/ 123 w 123"/>
                  <a:gd name="T9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2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2"/>
                    </a:lnTo>
                    <a:lnTo>
                      <a:pt x="0" y="16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5" name="Freeform 1403"/>
              <p:cNvSpPr>
                <a:spLocks/>
              </p:cNvSpPr>
              <p:nvPr/>
            </p:nvSpPr>
            <p:spPr bwMode="auto">
              <a:xfrm>
                <a:off x="2922" y="3432"/>
                <a:ext cx="61" cy="21"/>
              </a:xfrm>
              <a:custGeom>
                <a:avLst/>
                <a:gdLst>
                  <a:gd name="T0" fmla="*/ 123 w 123"/>
                  <a:gd name="T1" fmla="*/ 0 h 42"/>
                  <a:gd name="T2" fmla="*/ 123 w 123"/>
                  <a:gd name="T3" fmla="*/ 19 h 42"/>
                  <a:gd name="T4" fmla="*/ 111 w 123"/>
                  <a:gd name="T5" fmla="*/ 28 h 42"/>
                  <a:gd name="T6" fmla="*/ 0 w 123"/>
                  <a:gd name="T7" fmla="*/ 42 h 42"/>
                  <a:gd name="T8" fmla="*/ 0 w 123"/>
                  <a:gd name="T9" fmla="*/ 16 h 42"/>
                  <a:gd name="T10" fmla="*/ 123 w 123"/>
                  <a:gd name="T11" fmla="*/ 0 h 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42">
                    <a:moveTo>
                      <a:pt x="123" y="0"/>
                    </a:moveTo>
                    <a:lnTo>
                      <a:pt x="123" y="19"/>
                    </a:lnTo>
                    <a:lnTo>
                      <a:pt x="111" y="28"/>
                    </a:lnTo>
                    <a:lnTo>
                      <a:pt x="0" y="42"/>
                    </a:lnTo>
                    <a:lnTo>
                      <a:pt x="0" y="16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6" name="Freeform 1404"/>
              <p:cNvSpPr>
                <a:spLocks/>
              </p:cNvSpPr>
              <p:nvPr/>
            </p:nvSpPr>
            <p:spPr bwMode="auto">
              <a:xfrm>
                <a:off x="2922" y="3446"/>
                <a:ext cx="55" cy="20"/>
              </a:xfrm>
              <a:custGeom>
                <a:avLst/>
                <a:gdLst>
                  <a:gd name="T0" fmla="*/ 111 w 111"/>
                  <a:gd name="T1" fmla="*/ 0 h 40"/>
                  <a:gd name="T2" fmla="*/ 68 w 111"/>
                  <a:gd name="T3" fmla="*/ 31 h 40"/>
                  <a:gd name="T4" fmla="*/ 0 w 111"/>
                  <a:gd name="T5" fmla="*/ 40 h 40"/>
                  <a:gd name="T6" fmla="*/ 0 w 111"/>
                  <a:gd name="T7" fmla="*/ 14 h 40"/>
                  <a:gd name="T8" fmla="*/ 111 w 111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1" h="40">
                    <a:moveTo>
                      <a:pt x="111" y="0"/>
                    </a:moveTo>
                    <a:lnTo>
                      <a:pt x="68" y="31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1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7" name="Freeform 1405"/>
              <p:cNvSpPr>
                <a:spLocks/>
              </p:cNvSpPr>
              <p:nvPr/>
            </p:nvSpPr>
            <p:spPr bwMode="auto">
              <a:xfrm>
                <a:off x="2922" y="3461"/>
                <a:ext cx="34" cy="19"/>
              </a:xfrm>
              <a:custGeom>
                <a:avLst/>
                <a:gdLst>
                  <a:gd name="T0" fmla="*/ 68 w 68"/>
                  <a:gd name="T1" fmla="*/ 0 h 36"/>
                  <a:gd name="T2" fmla="*/ 21 w 68"/>
                  <a:gd name="T3" fmla="*/ 34 h 36"/>
                  <a:gd name="T4" fmla="*/ 0 w 68"/>
                  <a:gd name="T5" fmla="*/ 36 h 36"/>
                  <a:gd name="T6" fmla="*/ 0 w 68"/>
                  <a:gd name="T7" fmla="*/ 9 h 36"/>
                  <a:gd name="T8" fmla="*/ 68 w 68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8" h="36">
                    <a:moveTo>
                      <a:pt x="68" y="0"/>
                    </a:moveTo>
                    <a:lnTo>
                      <a:pt x="21" y="34"/>
                    </a:lnTo>
                    <a:lnTo>
                      <a:pt x="0" y="36"/>
                    </a:lnTo>
                    <a:lnTo>
                      <a:pt x="0" y="9"/>
                    </a:lnTo>
                    <a:lnTo>
                      <a:pt x="68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8" name="Freeform 1406"/>
              <p:cNvSpPr>
                <a:spLocks/>
              </p:cNvSpPr>
              <p:nvPr/>
            </p:nvSpPr>
            <p:spPr bwMode="auto">
              <a:xfrm>
                <a:off x="2922" y="3479"/>
                <a:ext cx="11" cy="7"/>
              </a:xfrm>
              <a:custGeom>
                <a:avLst/>
                <a:gdLst>
                  <a:gd name="T0" fmla="*/ 21 w 21"/>
                  <a:gd name="T1" fmla="*/ 0 h 14"/>
                  <a:gd name="T2" fmla="*/ 0 w 21"/>
                  <a:gd name="T3" fmla="*/ 14 h 14"/>
                  <a:gd name="T4" fmla="*/ 0 w 21"/>
                  <a:gd name="T5" fmla="*/ 2 h 14"/>
                  <a:gd name="T6" fmla="*/ 21 w 21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14">
                    <a:moveTo>
                      <a:pt x="21" y="0"/>
                    </a:moveTo>
                    <a:lnTo>
                      <a:pt x="0" y="14"/>
                    </a:lnTo>
                    <a:lnTo>
                      <a:pt x="0" y="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19" name="Freeform 1407"/>
              <p:cNvSpPr>
                <a:spLocks/>
              </p:cNvSpPr>
              <p:nvPr/>
            </p:nvSpPr>
            <p:spPr bwMode="auto">
              <a:xfrm>
                <a:off x="2922" y="3231"/>
                <a:ext cx="61" cy="255"/>
              </a:xfrm>
              <a:custGeom>
                <a:avLst/>
                <a:gdLst>
                  <a:gd name="T0" fmla="*/ 123 w 123"/>
                  <a:gd name="T1" fmla="*/ 421 h 509"/>
                  <a:gd name="T2" fmla="*/ 0 w 123"/>
                  <a:gd name="T3" fmla="*/ 509 h 509"/>
                  <a:gd name="T4" fmla="*/ 0 w 123"/>
                  <a:gd name="T5" fmla="*/ 0 h 509"/>
                  <a:gd name="T6" fmla="*/ 123 w 123"/>
                  <a:gd name="T7" fmla="*/ 87 h 509"/>
                  <a:gd name="T8" fmla="*/ 123 w 123"/>
                  <a:gd name="T9" fmla="*/ 421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09">
                    <a:moveTo>
                      <a:pt x="123" y="421"/>
                    </a:moveTo>
                    <a:lnTo>
                      <a:pt x="0" y="509"/>
                    </a:lnTo>
                    <a:lnTo>
                      <a:pt x="0" y="0"/>
                    </a:lnTo>
                    <a:lnTo>
                      <a:pt x="123" y="87"/>
                    </a:lnTo>
                    <a:lnTo>
                      <a:pt x="123" y="421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20" name="Rectangle 1408"/>
              <p:cNvSpPr>
                <a:spLocks noChangeArrowheads="1"/>
              </p:cNvSpPr>
              <p:nvPr/>
            </p:nvSpPr>
            <p:spPr bwMode="auto">
              <a:xfrm>
                <a:off x="2924" y="1904"/>
                <a:ext cx="68" cy="255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21" name="Rectangle 1409"/>
              <p:cNvSpPr>
                <a:spLocks noChangeArrowheads="1"/>
              </p:cNvSpPr>
              <p:nvPr/>
            </p:nvSpPr>
            <p:spPr bwMode="auto">
              <a:xfrm>
                <a:off x="2992" y="1904"/>
                <a:ext cx="68" cy="255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22" name="Rectangle 1410"/>
              <p:cNvSpPr>
                <a:spLocks noChangeArrowheads="1"/>
              </p:cNvSpPr>
              <p:nvPr/>
            </p:nvSpPr>
            <p:spPr bwMode="auto">
              <a:xfrm>
                <a:off x="3060" y="1904"/>
                <a:ext cx="68" cy="255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42723" name="Group 1411"/>
            <p:cNvGrpSpPr>
              <a:grpSpLocks/>
            </p:cNvGrpSpPr>
            <p:nvPr/>
          </p:nvGrpSpPr>
          <p:grpSpPr bwMode="auto">
            <a:xfrm>
              <a:off x="2922" y="1900"/>
              <a:ext cx="1368" cy="1147"/>
              <a:chOff x="2922" y="1900"/>
              <a:chExt cx="1368" cy="1147"/>
            </a:xfrm>
          </p:grpSpPr>
          <p:sp>
            <p:nvSpPr>
              <p:cNvPr id="142724" name="Rectangle 1412"/>
              <p:cNvSpPr>
                <a:spLocks noChangeArrowheads="1"/>
              </p:cNvSpPr>
              <p:nvPr/>
            </p:nvSpPr>
            <p:spPr bwMode="auto">
              <a:xfrm>
                <a:off x="3128" y="1904"/>
                <a:ext cx="69" cy="255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25" name="Rectangle 1413"/>
              <p:cNvSpPr>
                <a:spLocks noChangeArrowheads="1"/>
              </p:cNvSpPr>
              <p:nvPr/>
            </p:nvSpPr>
            <p:spPr bwMode="auto">
              <a:xfrm>
                <a:off x="3197" y="1904"/>
                <a:ext cx="68" cy="255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26" name="Rectangle 1414"/>
              <p:cNvSpPr>
                <a:spLocks noChangeArrowheads="1"/>
              </p:cNvSpPr>
              <p:nvPr/>
            </p:nvSpPr>
            <p:spPr bwMode="auto">
              <a:xfrm>
                <a:off x="3265" y="1904"/>
                <a:ext cx="68" cy="255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27" name="Rectangle 1415"/>
              <p:cNvSpPr>
                <a:spLocks noChangeArrowheads="1"/>
              </p:cNvSpPr>
              <p:nvPr/>
            </p:nvSpPr>
            <p:spPr bwMode="auto">
              <a:xfrm>
                <a:off x="3333" y="1904"/>
                <a:ext cx="68" cy="255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28" name="Rectangle 1416"/>
              <p:cNvSpPr>
                <a:spLocks noChangeArrowheads="1"/>
              </p:cNvSpPr>
              <p:nvPr/>
            </p:nvSpPr>
            <p:spPr bwMode="auto">
              <a:xfrm>
                <a:off x="3401" y="1904"/>
                <a:ext cx="68" cy="255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29" name="Rectangle 1417"/>
              <p:cNvSpPr>
                <a:spLocks noChangeArrowheads="1"/>
              </p:cNvSpPr>
              <p:nvPr/>
            </p:nvSpPr>
            <p:spPr bwMode="auto">
              <a:xfrm>
                <a:off x="3469" y="1904"/>
                <a:ext cx="69" cy="255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0" name="Rectangle 1418"/>
              <p:cNvSpPr>
                <a:spLocks noChangeArrowheads="1"/>
              </p:cNvSpPr>
              <p:nvPr/>
            </p:nvSpPr>
            <p:spPr bwMode="auto">
              <a:xfrm>
                <a:off x="3538" y="1904"/>
                <a:ext cx="69" cy="255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1" name="Rectangle 1419"/>
              <p:cNvSpPr>
                <a:spLocks noChangeArrowheads="1"/>
              </p:cNvSpPr>
              <p:nvPr/>
            </p:nvSpPr>
            <p:spPr bwMode="auto">
              <a:xfrm>
                <a:off x="3607" y="1904"/>
                <a:ext cx="68" cy="255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2" name="Rectangle 1420"/>
              <p:cNvSpPr>
                <a:spLocks noChangeArrowheads="1"/>
              </p:cNvSpPr>
              <p:nvPr/>
            </p:nvSpPr>
            <p:spPr bwMode="auto">
              <a:xfrm>
                <a:off x="3675" y="1904"/>
                <a:ext cx="68" cy="255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3" name="Rectangle 1421"/>
              <p:cNvSpPr>
                <a:spLocks noChangeArrowheads="1"/>
              </p:cNvSpPr>
              <p:nvPr/>
            </p:nvSpPr>
            <p:spPr bwMode="auto">
              <a:xfrm>
                <a:off x="3743" y="1904"/>
                <a:ext cx="68" cy="255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4" name="Rectangle 1422"/>
              <p:cNvSpPr>
                <a:spLocks noChangeArrowheads="1"/>
              </p:cNvSpPr>
              <p:nvPr/>
            </p:nvSpPr>
            <p:spPr bwMode="auto">
              <a:xfrm>
                <a:off x="3811" y="1904"/>
                <a:ext cx="68" cy="255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5" name="Rectangle 1423"/>
              <p:cNvSpPr>
                <a:spLocks noChangeArrowheads="1"/>
              </p:cNvSpPr>
              <p:nvPr/>
            </p:nvSpPr>
            <p:spPr bwMode="auto">
              <a:xfrm>
                <a:off x="3879" y="1904"/>
                <a:ext cx="69" cy="255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6" name="Rectangle 1424"/>
              <p:cNvSpPr>
                <a:spLocks noChangeArrowheads="1"/>
              </p:cNvSpPr>
              <p:nvPr/>
            </p:nvSpPr>
            <p:spPr bwMode="auto">
              <a:xfrm>
                <a:off x="3948" y="1904"/>
                <a:ext cx="68" cy="255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7" name="Rectangle 1425"/>
              <p:cNvSpPr>
                <a:spLocks noChangeArrowheads="1"/>
              </p:cNvSpPr>
              <p:nvPr/>
            </p:nvSpPr>
            <p:spPr bwMode="auto">
              <a:xfrm>
                <a:off x="4016" y="1904"/>
                <a:ext cx="68" cy="255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8" name="Rectangle 1426"/>
              <p:cNvSpPr>
                <a:spLocks noChangeArrowheads="1"/>
              </p:cNvSpPr>
              <p:nvPr/>
            </p:nvSpPr>
            <p:spPr bwMode="auto">
              <a:xfrm>
                <a:off x="4084" y="1904"/>
                <a:ext cx="68" cy="255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39" name="Rectangle 1427"/>
              <p:cNvSpPr>
                <a:spLocks noChangeArrowheads="1"/>
              </p:cNvSpPr>
              <p:nvPr/>
            </p:nvSpPr>
            <p:spPr bwMode="auto">
              <a:xfrm>
                <a:off x="4152" y="1904"/>
                <a:ext cx="69" cy="255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0" name="Rectangle 1428"/>
              <p:cNvSpPr>
                <a:spLocks noChangeArrowheads="1"/>
              </p:cNvSpPr>
              <p:nvPr/>
            </p:nvSpPr>
            <p:spPr bwMode="auto">
              <a:xfrm>
                <a:off x="4221" y="1904"/>
                <a:ext cx="68" cy="2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1" name="Rectangle 1429"/>
              <p:cNvSpPr>
                <a:spLocks noChangeArrowheads="1"/>
              </p:cNvSpPr>
              <p:nvPr/>
            </p:nvSpPr>
            <p:spPr bwMode="auto">
              <a:xfrm>
                <a:off x="2924" y="1904"/>
                <a:ext cx="1365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2" name="Rectangle 1430"/>
              <p:cNvSpPr>
                <a:spLocks noChangeArrowheads="1"/>
              </p:cNvSpPr>
              <p:nvPr/>
            </p:nvSpPr>
            <p:spPr bwMode="auto">
              <a:xfrm>
                <a:off x="2924" y="1901"/>
                <a:ext cx="68" cy="254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3" name="Rectangle 1431"/>
              <p:cNvSpPr>
                <a:spLocks noChangeArrowheads="1"/>
              </p:cNvSpPr>
              <p:nvPr/>
            </p:nvSpPr>
            <p:spPr bwMode="auto">
              <a:xfrm>
                <a:off x="2992" y="1901"/>
                <a:ext cx="68" cy="254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4" name="Rectangle 1432"/>
              <p:cNvSpPr>
                <a:spLocks noChangeArrowheads="1"/>
              </p:cNvSpPr>
              <p:nvPr/>
            </p:nvSpPr>
            <p:spPr bwMode="auto">
              <a:xfrm>
                <a:off x="3060" y="1901"/>
                <a:ext cx="68" cy="254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5" name="Rectangle 1433"/>
              <p:cNvSpPr>
                <a:spLocks noChangeArrowheads="1"/>
              </p:cNvSpPr>
              <p:nvPr/>
            </p:nvSpPr>
            <p:spPr bwMode="auto">
              <a:xfrm>
                <a:off x="3128" y="1901"/>
                <a:ext cx="69" cy="254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6" name="Rectangle 1434"/>
              <p:cNvSpPr>
                <a:spLocks noChangeArrowheads="1"/>
              </p:cNvSpPr>
              <p:nvPr/>
            </p:nvSpPr>
            <p:spPr bwMode="auto">
              <a:xfrm>
                <a:off x="3197" y="1901"/>
                <a:ext cx="68" cy="254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7" name="Rectangle 1435"/>
              <p:cNvSpPr>
                <a:spLocks noChangeArrowheads="1"/>
              </p:cNvSpPr>
              <p:nvPr/>
            </p:nvSpPr>
            <p:spPr bwMode="auto">
              <a:xfrm>
                <a:off x="3265" y="1901"/>
                <a:ext cx="68" cy="254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8" name="Rectangle 1436"/>
              <p:cNvSpPr>
                <a:spLocks noChangeArrowheads="1"/>
              </p:cNvSpPr>
              <p:nvPr/>
            </p:nvSpPr>
            <p:spPr bwMode="auto">
              <a:xfrm>
                <a:off x="3333" y="1901"/>
                <a:ext cx="68" cy="254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49" name="Rectangle 1437"/>
              <p:cNvSpPr>
                <a:spLocks noChangeArrowheads="1"/>
              </p:cNvSpPr>
              <p:nvPr/>
            </p:nvSpPr>
            <p:spPr bwMode="auto">
              <a:xfrm>
                <a:off x="3401" y="1901"/>
                <a:ext cx="68" cy="254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0" name="Rectangle 1438"/>
              <p:cNvSpPr>
                <a:spLocks noChangeArrowheads="1"/>
              </p:cNvSpPr>
              <p:nvPr/>
            </p:nvSpPr>
            <p:spPr bwMode="auto">
              <a:xfrm>
                <a:off x="3469" y="1901"/>
                <a:ext cx="69" cy="254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1" name="Rectangle 1439"/>
              <p:cNvSpPr>
                <a:spLocks noChangeArrowheads="1"/>
              </p:cNvSpPr>
              <p:nvPr/>
            </p:nvSpPr>
            <p:spPr bwMode="auto">
              <a:xfrm>
                <a:off x="3538" y="1901"/>
                <a:ext cx="69" cy="254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2" name="Rectangle 1440"/>
              <p:cNvSpPr>
                <a:spLocks noChangeArrowheads="1"/>
              </p:cNvSpPr>
              <p:nvPr/>
            </p:nvSpPr>
            <p:spPr bwMode="auto">
              <a:xfrm>
                <a:off x="3607" y="1901"/>
                <a:ext cx="68" cy="254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3" name="Rectangle 1441"/>
              <p:cNvSpPr>
                <a:spLocks noChangeArrowheads="1"/>
              </p:cNvSpPr>
              <p:nvPr/>
            </p:nvSpPr>
            <p:spPr bwMode="auto">
              <a:xfrm>
                <a:off x="3675" y="1901"/>
                <a:ext cx="68" cy="254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4" name="Rectangle 1442"/>
              <p:cNvSpPr>
                <a:spLocks noChangeArrowheads="1"/>
              </p:cNvSpPr>
              <p:nvPr/>
            </p:nvSpPr>
            <p:spPr bwMode="auto">
              <a:xfrm>
                <a:off x="3743" y="1901"/>
                <a:ext cx="68" cy="254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5" name="Rectangle 1443"/>
              <p:cNvSpPr>
                <a:spLocks noChangeArrowheads="1"/>
              </p:cNvSpPr>
              <p:nvPr/>
            </p:nvSpPr>
            <p:spPr bwMode="auto">
              <a:xfrm>
                <a:off x="3811" y="1901"/>
                <a:ext cx="68" cy="254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6" name="Rectangle 1444"/>
              <p:cNvSpPr>
                <a:spLocks noChangeArrowheads="1"/>
              </p:cNvSpPr>
              <p:nvPr/>
            </p:nvSpPr>
            <p:spPr bwMode="auto">
              <a:xfrm>
                <a:off x="3879" y="1901"/>
                <a:ext cx="69" cy="254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7" name="Rectangle 1445"/>
              <p:cNvSpPr>
                <a:spLocks noChangeArrowheads="1"/>
              </p:cNvSpPr>
              <p:nvPr/>
            </p:nvSpPr>
            <p:spPr bwMode="auto">
              <a:xfrm>
                <a:off x="3948" y="1901"/>
                <a:ext cx="68" cy="254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8" name="Rectangle 1446"/>
              <p:cNvSpPr>
                <a:spLocks noChangeArrowheads="1"/>
              </p:cNvSpPr>
              <p:nvPr/>
            </p:nvSpPr>
            <p:spPr bwMode="auto">
              <a:xfrm>
                <a:off x="4016" y="1901"/>
                <a:ext cx="68" cy="254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59" name="Rectangle 1447"/>
              <p:cNvSpPr>
                <a:spLocks noChangeArrowheads="1"/>
              </p:cNvSpPr>
              <p:nvPr/>
            </p:nvSpPr>
            <p:spPr bwMode="auto">
              <a:xfrm>
                <a:off x="4084" y="1901"/>
                <a:ext cx="68" cy="254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0" name="Rectangle 1448"/>
              <p:cNvSpPr>
                <a:spLocks noChangeArrowheads="1"/>
              </p:cNvSpPr>
              <p:nvPr/>
            </p:nvSpPr>
            <p:spPr bwMode="auto">
              <a:xfrm>
                <a:off x="4152" y="1901"/>
                <a:ext cx="69" cy="254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1" name="Rectangle 1449"/>
              <p:cNvSpPr>
                <a:spLocks noChangeArrowheads="1"/>
              </p:cNvSpPr>
              <p:nvPr/>
            </p:nvSpPr>
            <p:spPr bwMode="auto">
              <a:xfrm>
                <a:off x="4221" y="1901"/>
                <a:ext cx="68" cy="254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2" name="Rectangle 1450"/>
              <p:cNvSpPr>
                <a:spLocks noChangeArrowheads="1"/>
              </p:cNvSpPr>
              <p:nvPr/>
            </p:nvSpPr>
            <p:spPr bwMode="auto">
              <a:xfrm>
                <a:off x="2924" y="1901"/>
                <a:ext cx="1365" cy="254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3" name="Freeform 1451"/>
              <p:cNvSpPr>
                <a:spLocks/>
              </p:cNvSpPr>
              <p:nvPr/>
            </p:nvSpPr>
            <p:spPr bwMode="auto">
              <a:xfrm>
                <a:off x="4275" y="1903"/>
                <a:ext cx="9" cy="7"/>
              </a:xfrm>
              <a:custGeom>
                <a:avLst/>
                <a:gdLst>
                  <a:gd name="T0" fmla="*/ 19 w 19"/>
                  <a:gd name="T1" fmla="*/ 12 h 14"/>
                  <a:gd name="T2" fmla="*/ 19 w 19"/>
                  <a:gd name="T3" fmla="*/ 0 h 14"/>
                  <a:gd name="T4" fmla="*/ 0 w 19"/>
                  <a:gd name="T5" fmla="*/ 14 h 14"/>
                  <a:gd name="T6" fmla="*/ 19 w 19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19" y="12"/>
                    </a:moveTo>
                    <a:lnTo>
                      <a:pt x="19" y="0"/>
                    </a:lnTo>
                    <a:lnTo>
                      <a:pt x="0" y="14"/>
                    </a:lnTo>
                    <a:lnTo>
                      <a:pt x="19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4" name="Freeform 1452"/>
              <p:cNvSpPr>
                <a:spLocks/>
              </p:cNvSpPr>
              <p:nvPr/>
            </p:nvSpPr>
            <p:spPr bwMode="auto">
              <a:xfrm>
                <a:off x="4257" y="1909"/>
                <a:ext cx="27" cy="16"/>
              </a:xfrm>
              <a:custGeom>
                <a:avLst/>
                <a:gdLst>
                  <a:gd name="T0" fmla="*/ 55 w 55"/>
                  <a:gd name="T1" fmla="*/ 0 h 31"/>
                  <a:gd name="T2" fmla="*/ 55 w 55"/>
                  <a:gd name="T3" fmla="*/ 24 h 31"/>
                  <a:gd name="T4" fmla="*/ 0 w 55"/>
                  <a:gd name="T5" fmla="*/ 31 h 31"/>
                  <a:gd name="T6" fmla="*/ 36 w 55"/>
                  <a:gd name="T7" fmla="*/ 2 h 31"/>
                  <a:gd name="T8" fmla="*/ 55 w 55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5" h="31">
                    <a:moveTo>
                      <a:pt x="55" y="0"/>
                    </a:moveTo>
                    <a:lnTo>
                      <a:pt x="55" y="24"/>
                    </a:lnTo>
                    <a:lnTo>
                      <a:pt x="0" y="31"/>
                    </a:lnTo>
                    <a:lnTo>
                      <a:pt x="36" y="2"/>
                    </a:lnTo>
                    <a:lnTo>
                      <a:pt x="55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5" name="Freeform 1453"/>
              <p:cNvSpPr>
                <a:spLocks/>
              </p:cNvSpPr>
              <p:nvPr/>
            </p:nvSpPr>
            <p:spPr bwMode="auto">
              <a:xfrm>
                <a:off x="4236" y="1922"/>
                <a:ext cx="48" cy="18"/>
              </a:xfrm>
              <a:custGeom>
                <a:avLst/>
                <a:gdLst>
                  <a:gd name="T0" fmla="*/ 96 w 96"/>
                  <a:gd name="T1" fmla="*/ 0 h 38"/>
                  <a:gd name="T2" fmla="*/ 96 w 96"/>
                  <a:gd name="T3" fmla="*/ 26 h 38"/>
                  <a:gd name="T4" fmla="*/ 0 w 96"/>
                  <a:gd name="T5" fmla="*/ 38 h 38"/>
                  <a:gd name="T6" fmla="*/ 41 w 96"/>
                  <a:gd name="T7" fmla="*/ 7 h 38"/>
                  <a:gd name="T8" fmla="*/ 96 w 96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6" h="38">
                    <a:moveTo>
                      <a:pt x="96" y="0"/>
                    </a:moveTo>
                    <a:lnTo>
                      <a:pt x="96" y="26"/>
                    </a:lnTo>
                    <a:lnTo>
                      <a:pt x="0" y="38"/>
                    </a:lnTo>
                    <a:lnTo>
                      <a:pt x="41" y="7"/>
                    </a:lnTo>
                    <a:lnTo>
                      <a:pt x="96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6" name="Freeform 1454"/>
              <p:cNvSpPr>
                <a:spLocks/>
              </p:cNvSpPr>
              <p:nvPr/>
            </p:nvSpPr>
            <p:spPr bwMode="auto">
              <a:xfrm>
                <a:off x="4228" y="1934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24 h 40"/>
                  <a:gd name="T8" fmla="*/ 16 w 112"/>
                  <a:gd name="T9" fmla="*/ 12 h 40"/>
                  <a:gd name="T10" fmla="*/ 112 w 112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24"/>
                    </a:lnTo>
                    <a:lnTo>
                      <a:pt x="16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7" name="Freeform 1455"/>
              <p:cNvSpPr>
                <a:spLocks/>
              </p:cNvSpPr>
              <p:nvPr/>
            </p:nvSpPr>
            <p:spPr bwMode="auto">
              <a:xfrm>
                <a:off x="4228" y="1947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8" name="Freeform 1456"/>
              <p:cNvSpPr>
                <a:spLocks/>
              </p:cNvSpPr>
              <p:nvPr/>
            </p:nvSpPr>
            <p:spPr bwMode="auto">
              <a:xfrm>
                <a:off x="4228" y="1960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7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69" name="Freeform 1457"/>
              <p:cNvSpPr>
                <a:spLocks/>
              </p:cNvSpPr>
              <p:nvPr/>
            </p:nvSpPr>
            <p:spPr bwMode="auto">
              <a:xfrm>
                <a:off x="4228" y="197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0" name="Freeform 1458"/>
              <p:cNvSpPr>
                <a:spLocks/>
              </p:cNvSpPr>
              <p:nvPr/>
            </p:nvSpPr>
            <p:spPr bwMode="auto">
              <a:xfrm>
                <a:off x="4228" y="198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1" name="Freeform 1459"/>
              <p:cNvSpPr>
                <a:spLocks/>
              </p:cNvSpPr>
              <p:nvPr/>
            </p:nvSpPr>
            <p:spPr bwMode="auto">
              <a:xfrm>
                <a:off x="4228" y="2000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2" name="Freeform 1460"/>
              <p:cNvSpPr>
                <a:spLocks/>
              </p:cNvSpPr>
              <p:nvPr/>
            </p:nvSpPr>
            <p:spPr bwMode="auto">
              <a:xfrm>
                <a:off x="4228" y="2013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2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3" name="Freeform 1461"/>
              <p:cNvSpPr>
                <a:spLocks/>
              </p:cNvSpPr>
              <p:nvPr/>
            </p:nvSpPr>
            <p:spPr bwMode="auto">
              <a:xfrm>
                <a:off x="4228" y="2026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4" name="Freeform 1462"/>
              <p:cNvSpPr>
                <a:spLocks/>
              </p:cNvSpPr>
              <p:nvPr/>
            </p:nvSpPr>
            <p:spPr bwMode="auto">
              <a:xfrm>
                <a:off x="4228" y="2039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6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5" name="Freeform 1463"/>
              <p:cNvSpPr>
                <a:spLocks/>
              </p:cNvSpPr>
              <p:nvPr/>
            </p:nvSpPr>
            <p:spPr bwMode="auto">
              <a:xfrm>
                <a:off x="4228" y="2052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5 h 39"/>
                  <a:gd name="T4" fmla="*/ 0 w 112"/>
                  <a:gd name="T5" fmla="*/ 39 h 39"/>
                  <a:gd name="T6" fmla="*/ 0 w 112"/>
                  <a:gd name="T7" fmla="*/ 13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9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6" name="Freeform 1464"/>
              <p:cNvSpPr>
                <a:spLocks/>
              </p:cNvSpPr>
              <p:nvPr/>
            </p:nvSpPr>
            <p:spPr bwMode="auto">
              <a:xfrm>
                <a:off x="4228" y="2065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7" name="Freeform 1465"/>
              <p:cNvSpPr>
                <a:spLocks/>
              </p:cNvSpPr>
              <p:nvPr/>
            </p:nvSpPr>
            <p:spPr bwMode="auto">
              <a:xfrm>
                <a:off x="4228" y="2078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8" name="Freeform 1466"/>
              <p:cNvSpPr>
                <a:spLocks/>
              </p:cNvSpPr>
              <p:nvPr/>
            </p:nvSpPr>
            <p:spPr bwMode="auto">
              <a:xfrm>
                <a:off x="4228" y="2091"/>
                <a:ext cx="56" cy="19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8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79" name="Freeform 1467"/>
              <p:cNvSpPr>
                <a:spLocks/>
              </p:cNvSpPr>
              <p:nvPr/>
            </p:nvSpPr>
            <p:spPr bwMode="auto">
              <a:xfrm>
                <a:off x="4228" y="2104"/>
                <a:ext cx="56" cy="18"/>
              </a:xfrm>
              <a:custGeom>
                <a:avLst/>
                <a:gdLst>
                  <a:gd name="T0" fmla="*/ 112 w 112"/>
                  <a:gd name="T1" fmla="*/ 0 h 34"/>
                  <a:gd name="T2" fmla="*/ 112 w 112"/>
                  <a:gd name="T3" fmla="*/ 26 h 34"/>
                  <a:gd name="T4" fmla="*/ 28 w 112"/>
                  <a:gd name="T5" fmla="*/ 34 h 34"/>
                  <a:gd name="T6" fmla="*/ 0 w 112"/>
                  <a:gd name="T7" fmla="*/ 14 h 34"/>
                  <a:gd name="T8" fmla="*/ 0 w 112"/>
                  <a:gd name="T9" fmla="*/ 12 h 34"/>
                  <a:gd name="T10" fmla="*/ 112 w 112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4">
                    <a:moveTo>
                      <a:pt x="112" y="0"/>
                    </a:moveTo>
                    <a:lnTo>
                      <a:pt x="112" y="26"/>
                    </a:lnTo>
                    <a:lnTo>
                      <a:pt x="28" y="34"/>
                    </a:lnTo>
                    <a:lnTo>
                      <a:pt x="0" y="14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0" name="Freeform 1468"/>
              <p:cNvSpPr>
                <a:spLocks/>
              </p:cNvSpPr>
              <p:nvPr/>
            </p:nvSpPr>
            <p:spPr bwMode="auto">
              <a:xfrm>
                <a:off x="4242" y="2117"/>
                <a:ext cx="42" cy="16"/>
              </a:xfrm>
              <a:custGeom>
                <a:avLst/>
                <a:gdLst>
                  <a:gd name="T0" fmla="*/ 84 w 84"/>
                  <a:gd name="T1" fmla="*/ 0 h 31"/>
                  <a:gd name="T2" fmla="*/ 84 w 84"/>
                  <a:gd name="T3" fmla="*/ 26 h 31"/>
                  <a:gd name="T4" fmla="*/ 27 w 84"/>
                  <a:gd name="T5" fmla="*/ 31 h 31"/>
                  <a:gd name="T6" fmla="*/ 0 w 84"/>
                  <a:gd name="T7" fmla="*/ 8 h 31"/>
                  <a:gd name="T8" fmla="*/ 84 w 84"/>
                  <a:gd name="T9" fmla="*/ 0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31">
                    <a:moveTo>
                      <a:pt x="84" y="0"/>
                    </a:moveTo>
                    <a:lnTo>
                      <a:pt x="84" y="26"/>
                    </a:lnTo>
                    <a:lnTo>
                      <a:pt x="27" y="31"/>
                    </a:lnTo>
                    <a:lnTo>
                      <a:pt x="0" y="8"/>
                    </a:lnTo>
                    <a:lnTo>
                      <a:pt x="84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1" name="Freeform 1469"/>
              <p:cNvSpPr>
                <a:spLocks/>
              </p:cNvSpPr>
              <p:nvPr/>
            </p:nvSpPr>
            <p:spPr bwMode="auto">
              <a:xfrm>
                <a:off x="4256" y="2130"/>
                <a:ext cx="28" cy="15"/>
              </a:xfrm>
              <a:custGeom>
                <a:avLst/>
                <a:gdLst>
                  <a:gd name="T0" fmla="*/ 57 w 57"/>
                  <a:gd name="T1" fmla="*/ 0 h 29"/>
                  <a:gd name="T2" fmla="*/ 57 w 57"/>
                  <a:gd name="T3" fmla="*/ 25 h 29"/>
                  <a:gd name="T4" fmla="*/ 30 w 57"/>
                  <a:gd name="T5" fmla="*/ 29 h 29"/>
                  <a:gd name="T6" fmla="*/ 0 w 57"/>
                  <a:gd name="T7" fmla="*/ 5 h 29"/>
                  <a:gd name="T8" fmla="*/ 57 w 57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29">
                    <a:moveTo>
                      <a:pt x="57" y="0"/>
                    </a:moveTo>
                    <a:lnTo>
                      <a:pt x="57" y="25"/>
                    </a:lnTo>
                    <a:lnTo>
                      <a:pt x="30" y="29"/>
                    </a:lnTo>
                    <a:lnTo>
                      <a:pt x="0" y="5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2" name="Freeform 1470"/>
              <p:cNvSpPr>
                <a:spLocks/>
              </p:cNvSpPr>
              <p:nvPr/>
            </p:nvSpPr>
            <p:spPr bwMode="auto">
              <a:xfrm>
                <a:off x="4270" y="2143"/>
                <a:ext cx="14" cy="12"/>
              </a:xfrm>
              <a:custGeom>
                <a:avLst/>
                <a:gdLst>
                  <a:gd name="T0" fmla="*/ 27 w 27"/>
                  <a:gd name="T1" fmla="*/ 0 h 25"/>
                  <a:gd name="T2" fmla="*/ 27 w 27"/>
                  <a:gd name="T3" fmla="*/ 25 h 25"/>
                  <a:gd name="T4" fmla="*/ 0 w 27"/>
                  <a:gd name="T5" fmla="*/ 4 h 25"/>
                  <a:gd name="T6" fmla="*/ 27 w 27"/>
                  <a:gd name="T7" fmla="*/ 0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5">
                    <a:moveTo>
                      <a:pt x="27" y="0"/>
                    </a:moveTo>
                    <a:lnTo>
                      <a:pt x="27" y="25"/>
                    </a:lnTo>
                    <a:lnTo>
                      <a:pt x="0" y="4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3" name="Freeform 1471"/>
              <p:cNvSpPr>
                <a:spLocks/>
              </p:cNvSpPr>
              <p:nvPr/>
            </p:nvSpPr>
            <p:spPr bwMode="auto">
              <a:xfrm>
                <a:off x="4228" y="1903"/>
                <a:ext cx="56" cy="252"/>
              </a:xfrm>
              <a:custGeom>
                <a:avLst/>
                <a:gdLst>
                  <a:gd name="T0" fmla="*/ 0 w 112"/>
                  <a:gd name="T1" fmla="*/ 86 h 504"/>
                  <a:gd name="T2" fmla="*/ 112 w 112"/>
                  <a:gd name="T3" fmla="*/ 0 h 504"/>
                  <a:gd name="T4" fmla="*/ 112 w 112"/>
                  <a:gd name="T5" fmla="*/ 504 h 504"/>
                  <a:gd name="T6" fmla="*/ 0 w 112"/>
                  <a:gd name="T7" fmla="*/ 416 h 504"/>
                  <a:gd name="T8" fmla="*/ 0 w 112"/>
                  <a:gd name="T9" fmla="*/ 86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4">
                    <a:moveTo>
                      <a:pt x="0" y="86"/>
                    </a:moveTo>
                    <a:lnTo>
                      <a:pt x="112" y="0"/>
                    </a:lnTo>
                    <a:lnTo>
                      <a:pt x="112" y="504"/>
                    </a:lnTo>
                    <a:lnTo>
                      <a:pt x="0" y="416"/>
                    </a:lnTo>
                    <a:lnTo>
                      <a:pt x="0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4" name="Freeform 1472"/>
              <p:cNvSpPr>
                <a:spLocks/>
              </p:cNvSpPr>
              <p:nvPr/>
            </p:nvSpPr>
            <p:spPr bwMode="auto">
              <a:xfrm>
                <a:off x="4222" y="2110"/>
                <a:ext cx="68" cy="44"/>
              </a:xfrm>
              <a:custGeom>
                <a:avLst/>
                <a:gdLst>
                  <a:gd name="T0" fmla="*/ 0 w 137"/>
                  <a:gd name="T1" fmla="*/ 88 h 88"/>
                  <a:gd name="T2" fmla="*/ 137 w 137"/>
                  <a:gd name="T3" fmla="*/ 88 h 88"/>
                  <a:gd name="T4" fmla="*/ 12 w 137"/>
                  <a:gd name="T5" fmla="*/ 0 h 88"/>
                  <a:gd name="T6" fmla="*/ 9 w 137"/>
                  <a:gd name="T7" fmla="*/ 0 h 88"/>
                  <a:gd name="T8" fmla="*/ 0 w 13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8">
                    <a:moveTo>
                      <a:pt x="0" y="88"/>
                    </a:moveTo>
                    <a:lnTo>
                      <a:pt x="137" y="88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5" name="Freeform 1473"/>
              <p:cNvSpPr>
                <a:spLocks/>
              </p:cNvSpPr>
              <p:nvPr/>
            </p:nvSpPr>
            <p:spPr bwMode="auto">
              <a:xfrm>
                <a:off x="4153" y="2110"/>
                <a:ext cx="73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10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6" name="Freeform 1474"/>
              <p:cNvSpPr>
                <a:spLocks/>
              </p:cNvSpPr>
              <p:nvPr/>
            </p:nvSpPr>
            <p:spPr bwMode="auto">
              <a:xfrm>
                <a:off x="4085" y="2110"/>
                <a:ext cx="73" cy="44"/>
              </a:xfrm>
              <a:custGeom>
                <a:avLst/>
                <a:gdLst>
                  <a:gd name="T0" fmla="*/ 136 w 146"/>
                  <a:gd name="T1" fmla="*/ 88 h 88"/>
                  <a:gd name="T2" fmla="*/ 0 w 146"/>
                  <a:gd name="T3" fmla="*/ 88 h 88"/>
                  <a:gd name="T4" fmla="*/ 8 w 146"/>
                  <a:gd name="T5" fmla="*/ 0 h 88"/>
                  <a:gd name="T6" fmla="*/ 146 w 146"/>
                  <a:gd name="T7" fmla="*/ 0 h 88"/>
                  <a:gd name="T8" fmla="*/ 136 w 14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7" name="Freeform 1475"/>
              <p:cNvSpPr>
                <a:spLocks/>
              </p:cNvSpPr>
              <p:nvPr/>
            </p:nvSpPr>
            <p:spPr bwMode="auto">
              <a:xfrm>
                <a:off x="4016" y="2110"/>
                <a:ext cx="73" cy="44"/>
              </a:xfrm>
              <a:custGeom>
                <a:avLst/>
                <a:gdLst>
                  <a:gd name="T0" fmla="*/ 138 w 146"/>
                  <a:gd name="T1" fmla="*/ 88 h 88"/>
                  <a:gd name="T2" fmla="*/ 0 w 146"/>
                  <a:gd name="T3" fmla="*/ 88 h 88"/>
                  <a:gd name="T4" fmla="*/ 10 w 146"/>
                  <a:gd name="T5" fmla="*/ 0 h 88"/>
                  <a:gd name="T6" fmla="*/ 146 w 146"/>
                  <a:gd name="T7" fmla="*/ 0 h 88"/>
                  <a:gd name="T8" fmla="*/ 138 w 14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8" name="Freeform 1476"/>
              <p:cNvSpPr>
                <a:spLocks/>
              </p:cNvSpPr>
              <p:nvPr/>
            </p:nvSpPr>
            <p:spPr bwMode="auto">
              <a:xfrm>
                <a:off x="3948" y="2110"/>
                <a:ext cx="73" cy="44"/>
              </a:xfrm>
              <a:custGeom>
                <a:avLst/>
                <a:gdLst>
                  <a:gd name="T0" fmla="*/ 137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7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89" name="Freeform 1477"/>
              <p:cNvSpPr>
                <a:spLocks/>
              </p:cNvSpPr>
              <p:nvPr/>
            </p:nvSpPr>
            <p:spPr bwMode="auto">
              <a:xfrm>
                <a:off x="3879" y="2110"/>
                <a:ext cx="73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10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0" name="Freeform 1478"/>
              <p:cNvSpPr>
                <a:spLocks/>
              </p:cNvSpPr>
              <p:nvPr/>
            </p:nvSpPr>
            <p:spPr bwMode="auto">
              <a:xfrm>
                <a:off x="3810" y="2110"/>
                <a:ext cx="74" cy="44"/>
              </a:xfrm>
              <a:custGeom>
                <a:avLst/>
                <a:gdLst>
                  <a:gd name="T0" fmla="*/ 136 w 146"/>
                  <a:gd name="T1" fmla="*/ 88 h 88"/>
                  <a:gd name="T2" fmla="*/ 0 w 146"/>
                  <a:gd name="T3" fmla="*/ 88 h 88"/>
                  <a:gd name="T4" fmla="*/ 8 w 146"/>
                  <a:gd name="T5" fmla="*/ 0 h 88"/>
                  <a:gd name="T6" fmla="*/ 146 w 146"/>
                  <a:gd name="T7" fmla="*/ 0 h 88"/>
                  <a:gd name="T8" fmla="*/ 136 w 14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1" name="Freeform 1479"/>
              <p:cNvSpPr>
                <a:spLocks/>
              </p:cNvSpPr>
              <p:nvPr/>
            </p:nvSpPr>
            <p:spPr bwMode="auto">
              <a:xfrm>
                <a:off x="3741" y="2110"/>
                <a:ext cx="74" cy="44"/>
              </a:xfrm>
              <a:custGeom>
                <a:avLst/>
                <a:gdLst>
                  <a:gd name="T0" fmla="*/ 138 w 146"/>
                  <a:gd name="T1" fmla="*/ 88 h 88"/>
                  <a:gd name="T2" fmla="*/ 0 w 146"/>
                  <a:gd name="T3" fmla="*/ 88 h 88"/>
                  <a:gd name="T4" fmla="*/ 10 w 146"/>
                  <a:gd name="T5" fmla="*/ 0 h 88"/>
                  <a:gd name="T6" fmla="*/ 146 w 146"/>
                  <a:gd name="T7" fmla="*/ 0 h 88"/>
                  <a:gd name="T8" fmla="*/ 138 w 146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2" name="Freeform 1480"/>
              <p:cNvSpPr>
                <a:spLocks/>
              </p:cNvSpPr>
              <p:nvPr/>
            </p:nvSpPr>
            <p:spPr bwMode="auto">
              <a:xfrm>
                <a:off x="3673" y="2110"/>
                <a:ext cx="73" cy="44"/>
              </a:xfrm>
              <a:custGeom>
                <a:avLst/>
                <a:gdLst>
                  <a:gd name="T0" fmla="*/ 137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7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3" name="Freeform 1481"/>
              <p:cNvSpPr>
                <a:spLocks/>
              </p:cNvSpPr>
              <p:nvPr/>
            </p:nvSpPr>
            <p:spPr bwMode="auto">
              <a:xfrm>
                <a:off x="3604" y="2110"/>
                <a:ext cx="73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11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4" name="Freeform 1482"/>
              <p:cNvSpPr>
                <a:spLocks/>
              </p:cNvSpPr>
              <p:nvPr/>
            </p:nvSpPr>
            <p:spPr bwMode="auto">
              <a:xfrm>
                <a:off x="3536" y="2110"/>
                <a:ext cx="73" cy="44"/>
              </a:xfrm>
              <a:custGeom>
                <a:avLst/>
                <a:gdLst>
                  <a:gd name="T0" fmla="*/ 136 w 147"/>
                  <a:gd name="T1" fmla="*/ 88 h 88"/>
                  <a:gd name="T2" fmla="*/ 0 w 147"/>
                  <a:gd name="T3" fmla="*/ 88 h 88"/>
                  <a:gd name="T4" fmla="*/ 10 w 147"/>
                  <a:gd name="T5" fmla="*/ 0 h 88"/>
                  <a:gd name="T6" fmla="*/ 147 w 147"/>
                  <a:gd name="T7" fmla="*/ 0 h 88"/>
                  <a:gd name="T8" fmla="*/ 136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5" name="Freeform 1483"/>
              <p:cNvSpPr>
                <a:spLocks/>
              </p:cNvSpPr>
              <p:nvPr/>
            </p:nvSpPr>
            <p:spPr bwMode="auto">
              <a:xfrm>
                <a:off x="3468" y="2110"/>
                <a:ext cx="73" cy="44"/>
              </a:xfrm>
              <a:custGeom>
                <a:avLst/>
                <a:gdLst>
                  <a:gd name="T0" fmla="*/ 137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7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6" name="Freeform 1484"/>
              <p:cNvSpPr>
                <a:spLocks/>
              </p:cNvSpPr>
              <p:nvPr/>
            </p:nvSpPr>
            <p:spPr bwMode="auto">
              <a:xfrm>
                <a:off x="3399" y="2110"/>
                <a:ext cx="73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11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7" name="Freeform 1485"/>
              <p:cNvSpPr>
                <a:spLocks/>
              </p:cNvSpPr>
              <p:nvPr/>
            </p:nvSpPr>
            <p:spPr bwMode="auto">
              <a:xfrm>
                <a:off x="3330" y="2110"/>
                <a:ext cx="74" cy="44"/>
              </a:xfrm>
              <a:custGeom>
                <a:avLst/>
                <a:gdLst>
                  <a:gd name="T0" fmla="*/ 136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6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8" name="Freeform 1486"/>
              <p:cNvSpPr>
                <a:spLocks/>
              </p:cNvSpPr>
              <p:nvPr/>
            </p:nvSpPr>
            <p:spPr bwMode="auto">
              <a:xfrm>
                <a:off x="3261" y="2110"/>
                <a:ext cx="74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10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99" name="Freeform 1487"/>
              <p:cNvSpPr>
                <a:spLocks/>
              </p:cNvSpPr>
              <p:nvPr/>
            </p:nvSpPr>
            <p:spPr bwMode="auto">
              <a:xfrm>
                <a:off x="3193" y="2110"/>
                <a:ext cx="74" cy="44"/>
              </a:xfrm>
              <a:custGeom>
                <a:avLst/>
                <a:gdLst>
                  <a:gd name="T0" fmla="*/ 137 w 147"/>
                  <a:gd name="T1" fmla="*/ 88 h 88"/>
                  <a:gd name="T2" fmla="*/ 0 w 147"/>
                  <a:gd name="T3" fmla="*/ 88 h 88"/>
                  <a:gd name="T4" fmla="*/ 9 w 147"/>
                  <a:gd name="T5" fmla="*/ 0 h 88"/>
                  <a:gd name="T6" fmla="*/ 147 w 147"/>
                  <a:gd name="T7" fmla="*/ 0 h 88"/>
                  <a:gd name="T8" fmla="*/ 137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7" y="88"/>
                    </a:moveTo>
                    <a:lnTo>
                      <a:pt x="0" y="88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8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0" name="Freeform 1488"/>
              <p:cNvSpPr>
                <a:spLocks/>
              </p:cNvSpPr>
              <p:nvPr/>
            </p:nvSpPr>
            <p:spPr bwMode="auto">
              <a:xfrm>
                <a:off x="3124" y="2110"/>
                <a:ext cx="74" cy="44"/>
              </a:xfrm>
              <a:custGeom>
                <a:avLst/>
                <a:gdLst>
                  <a:gd name="T0" fmla="*/ 138 w 147"/>
                  <a:gd name="T1" fmla="*/ 88 h 88"/>
                  <a:gd name="T2" fmla="*/ 0 w 147"/>
                  <a:gd name="T3" fmla="*/ 88 h 88"/>
                  <a:gd name="T4" fmla="*/ 11 w 147"/>
                  <a:gd name="T5" fmla="*/ 0 h 88"/>
                  <a:gd name="T6" fmla="*/ 147 w 147"/>
                  <a:gd name="T7" fmla="*/ 0 h 88"/>
                  <a:gd name="T8" fmla="*/ 138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1" name="Freeform 1489"/>
              <p:cNvSpPr>
                <a:spLocks/>
              </p:cNvSpPr>
              <p:nvPr/>
            </p:nvSpPr>
            <p:spPr bwMode="auto">
              <a:xfrm>
                <a:off x="3056" y="2110"/>
                <a:ext cx="73" cy="44"/>
              </a:xfrm>
              <a:custGeom>
                <a:avLst/>
                <a:gdLst>
                  <a:gd name="T0" fmla="*/ 136 w 147"/>
                  <a:gd name="T1" fmla="*/ 88 h 88"/>
                  <a:gd name="T2" fmla="*/ 0 w 147"/>
                  <a:gd name="T3" fmla="*/ 88 h 88"/>
                  <a:gd name="T4" fmla="*/ 10 w 147"/>
                  <a:gd name="T5" fmla="*/ 0 h 88"/>
                  <a:gd name="T6" fmla="*/ 147 w 147"/>
                  <a:gd name="T7" fmla="*/ 0 h 88"/>
                  <a:gd name="T8" fmla="*/ 136 w 147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8">
                    <a:moveTo>
                      <a:pt x="136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8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2" name="Freeform 1490"/>
              <p:cNvSpPr>
                <a:spLocks/>
              </p:cNvSpPr>
              <p:nvPr/>
            </p:nvSpPr>
            <p:spPr bwMode="auto">
              <a:xfrm>
                <a:off x="2987" y="2110"/>
                <a:ext cx="74" cy="44"/>
              </a:xfrm>
              <a:custGeom>
                <a:avLst/>
                <a:gdLst>
                  <a:gd name="T0" fmla="*/ 138 w 148"/>
                  <a:gd name="T1" fmla="*/ 88 h 88"/>
                  <a:gd name="T2" fmla="*/ 0 w 148"/>
                  <a:gd name="T3" fmla="*/ 88 h 88"/>
                  <a:gd name="T4" fmla="*/ 10 w 148"/>
                  <a:gd name="T5" fmla="*/ 0 h 88"/>
                  <a:gd name="T6" fmla="*/ 148 w 148"/>
                  <a:gd name="T7" fmla="*/ 0 h 88"/>
                  <a:gd name="T8" fmla="*/ 138 w 148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8" h="88">
                    <a:moveTo>
                      <a:pt x="138" y="88"/>
                    </a:moveTo>
                    <a:lnTo>
                      <a:pt x="0" y="88"/>
                    </a:lnTo>
                    <a:lnTo>
                      <a:pt x="10" y="0"/>
                    </a:lnTo>
                    <a:lnTo>
                      <a:pt x="148" y="0"/>
                    </a:lnTo>
                    <a:lnTo>
                      <a:pt x="138" y="88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3" name="Freeform 1491"/>
              <p:cNvSpPr>
                <a:spLocks/>
              </p:cNvSpPr>
              <p:nvPr/>
            </p:nvSpPr>
            <p:spPr bwMode="auto">
              <a:xfrm>
                <a:off x="2923" y="2110"/>
                <a:ext cx="69" cy="44"/>
              </a:xfrm>
              <a:custGeom>
                <a:avLst/>
                <a:gdLst>
                  <a:gd name="T0" fmla="*/ 128 w 138"/>
                  <a:gd name="T1" fmla="*/ 88 h 88"/>
                  <a:gd name="T2" fmla="*/ 0 w 138"/>
                  <a:gd name="T3" fmla="*/ 88 h 88"/>
                  <a:gd name="T4" fmla="*/ 112 w 138"/>
                  <a:gd name="T5" fmla="*/ 0 h 88"/>
                  <a:gd name="T6" fmla="*/ 138 w 138"/>
                  <a:gd name="T7" fmla="*/ 0 h 88"/>
                  <a:gd name="T8" fmla="*/ 128 w 138"/>
                  <a:gd name="T9" fmla="*/ 88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88">
                    <a:moveTo>
                      <a:pt x="128" y="88"/>
                    </a:moveTo>
                    <a:lnTo>
                      <a:pt x="0" y="88"/>
                    </a:lnTo>
                    <a:lnTo>
                      <a:pt x="112" y="0"/>
                    </a:lnTo>
                    <a:lnTo>
                      <a:pt x="138" y="0"/>
                    </a:lnTo>
                    <a:lnTo>
                      <a:pt x="128" y="88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4" name="Freeform 1492"/>
              <p:cNvSpPr>
                <a:spLocks/>
              </p:cNvSpPr>
              <p:nvPr/>
            </p:nvSpPr>
            <p:spPr bwMode="auto">
              <a:xfrm>
                <a:off x="2923" y="2110"/>
                <a:ext cx="1367" cy="44"/>
              </a:xfrm>
              <a:custGeom>
                <a:avLst/>
                <a:gdLst>
                  <a:gd name="T0" fmla="*/ 112 w 2735"/>
                  <a:gd name="T1" fmla="*/ 0 h 88"/>
                  <a:gd name="T2" fmla="*/ 0 w 2735"/>
                  <a:gd name="T3" fmla="*/ 88 h 88"/>
                  <a:gd name="T4" fmla="*/ 2735 w 2735"/>
                  <a:gd name="T5" fmla="*/ 88 h 88"/>
                  <a:gd name="T6" fmla="*/ 2610 w 2735"/>
                  <a:gd name="T7" fmla="*/ 0 h 88"/>
                  <a:gd name="T8" fmla="*/ 112 w 2735"/>
                  <a:gd name="T9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35" h="88">
                    <a:moveTo>
                      <a:pt x="112" y="0"/>
                    </a:moveTo>
                    <a:lnTo>
                      <a:pt x="0" y="88"/>
                    </a:lnTo>
                    <a:lnTo>
                      <a:pt x="2735" y="88"/>
                    </a:lnTo>
                    <a:lnTo>
                      <a:pt x="2610" y="0"/>
                    </a:lnTo>
                    <a:lnTo>
                      <a:pt x="112" y="0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5" name="Freeform 1493"/>
              <p:cNvSpPr>
                <a:spLocks/>
              </p:cNvSpPr>
              <p:nvPr/>
            </p:nvSpPr>
            <p:spPr bwMode="auto">
              <a:xfrm>
                <a:off x="2923" y="1903"/>
                <a:ext cx="68" cy="43"/>
              </a:xfrm>
              <a:custGeom>
                <a:avLst/>
                <a:gdLst>
                  <a:gd name="T0" fmla="*/ 136 w 136"/>
                  <a:gd name="T1" fmla="*/ 0 h 86"/>
                  <a:gd name="T2" fmla="*/ 0 w 136"/>
                  <a:gd name="T3" fmla="*/ 0 h 86"/>
                  <a:gd name="T4" fmla="*/ 118 w 136"/>
                  <a:gd name="T5" fmla="*/ 86 h 86"/>
                  <a:gd name="T6" fmla="*/ 136 w 136"/>
                  <a:gd name="T7" fmla="*/ 86 h 86"/>
                  <a:gd name="T8" fmla="*/ 136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136" y="0"/>
                    </a:moveTo>
                    <a:lnTo>
                      <a:pt x="0" y="0"/>
                    </a:lnTo>
                    <a:lnTo>
                      <a:pt x="118" y="86"/>
                    </a:lnTo>
                    <a:lnTo>
                      <a:pt x="136" y="86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6" name="Rectangle 1494"/>
              <p:cNvSpPr>
                <a:spLocks noChangeArrowheads="1"/>
              </p:cNvSpPr>
              <p:nvPr/>
            </p:nvSpPr>
            <p:spPr bwMode="auto">
              <a:xfrm>
                <a:off x="2991" y="1903"/>
                <a:ext cx="68" cy="43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7" name="Rectangle 1495"/>
              <p:cNvSpPr>
                <a:spLocks noChangeArrowheads="1"/>
              </p:cNvSpPr>
              <p:nvPr/>
            </p:nvSpPr>
            <p:spPr bwMode="auto">
              <a:xfrm>
                <a:off x="3059" y="1903"/>
                <a:ext cx="69" cy="43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8" name="Rectangle 1496"/>
              <p:cNvSpPr>
                <a:spLocks noChangeArrowheads="1"/>
              </p:cNvSpPr>
              <p:nvPr/>
            </p:nvSpPr>
            <p:spPr bwMode="auto">
              <a:xfrm>
                <a:off x="3128" y="1903"/>
                <a:ext cx="68" cy="43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09" name="Rectangle 1497"/>
              <p:cNvSpPr>
                <a:spLocks noChangeArrowheads="1"/>
              </p:cNvSpPr>
              <p:nvPr/>
            </p:nvSpPr>
            <p:spPr bwMode="auto">
              <a:xfrm>
                <a:off x="3196" y="1903"/>
                <a:ext cx="68" cy="43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0" name="Rectangle 1498"/>
              <p:cNvSpPr>
                <a:spLocks noChangeArrowheads="1"/>
              </p:cNvSpPr>
              <p:nvPr/>
            </p:nvSpPr>
            <p:spPr bwMode="auto">
              <a:xfrm>
                <a:off x="3264" y="1903"/>
                <a:ext cx="68" cy="43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1" name="Rectangle 1499"/>
              <p:cNvSpPr>
                <a:spLocks noChangeArrowheads="1"/>
              </p:cNvSpPr>
              <p:nvPr/>
            </p:nvSpPr>
            <p:spPr bwMode="auto">
              <a:xfrm>
                <a:off x="3332" y="1903"/>
                <a:ext cx="68" cy="43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2" name="Rectangle 1500"/>
              <p:cNvSpPr>
                <a:spLocks noChangeArrowheads="1"/>
              </p:cNvSpPr>
              <p:nvPr/>
            </p:nvSpPr>
            <p:spPr bwMode="auto">
              <a:xfrm>
                <a:off x="3400" y="1903"/>
                <a:ext cx="69" cy="43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3" name="Rectangle 1501"/>
              <p:cNvSpPr>
                <a:spLocks noChangeArrowheads="1"/>
              </p:cNvSpPr>
              <p:nvPr/>
            </p:nvSpPr>
            <p:spPr bwMode="auto">
              <a:xfrm>
                <a:off x="3469" y="1903"/>
                <a:ext cx="68" cy="43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4" name="Rectangle 1502"/>
              <p:cNvSpPr>
                <a:spLocks noChangeArrowheads="1"/>
              </p:cNvSpPr>
              <p:nvPr/>
            </p:nvSpPr>
            <p:spPr bwMode="auto">
              <a:xfrm>
                <a:off x="3537" y="1903"/>
                <a:ext cx="68" cy="43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5" name="Rectangle 1503"/>
              <p:cNvSpPr>
                <a:spLocks noChangeArrowheads="1"/>
              </p:cNvSpPr>
              <p:nvPr/>
            </p:nvSpPr>
            <p:spPr bwMode="auto">
              <a:xfrm>
                <a:off x="3605" y="1903"/>
                <a:ext cx="68" cy="43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6" name="Rectangle 1504"/>
              <p:cNvSpPr>
                <a:spLocks noChangeArrowheads="1"/>
              </p:cNvSpPr>
              <p:nvPr/>
            </p:nvSpPr>
            <p:spPr bwMode="auto">
              <a:xfrm>
                <a:off x="3673" y="1903"/>
                <a:ext cx="68" cy="43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7" name="Rectangle 1505"/>
              <p:cNvSpPr>
                <a:spLocks noChangeArrowheads="1"/>
              </p:cNvSpPr>
              <p:nvPr/>
            </p:nvSpPr>
            <p:spPr bwMode="auto">
              <a:xfrm>
                <a:off x="3741" y="1903"/>
                <a:ext cx="69" cy="43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8" name="Rectangle 1506"/>
              <p:cNvSpPr>
                <a:spLocks noChangeArrowheads="1"/>
              </p:cNvSpPr>
              <p:nvPr/>
            </p:nvSpPr>
            <p:spPr bwMode="auto">
              <a:xfrm>
                <a:off x="3810" y="1903"/>
                <a:ext cx="68" cy="43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19" name="Rectangle 1507"/>
              <p:cNvSpPr>
                <a:spLocks noChangeArrowheads="1"/>
              </p:cNvSpPr>
              <p:nvPr/>
            </p:nvSpPr>
            <p:spPr bwMode="auto">
              <a:xfrm>
                <a:off x="3878" y="1903"/>
                <a:ext cx="68" cy="43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0" name="Rectangle 1508"/>
              <p:cNvSpPr>
                <a:spLocks noChangeArrowheads="1"/>
              </p:cNvSpPr>
              <p:nvPr/>
            </p:nvSpPr>
            <p:spPr bwMode="auto">
              <a:xfrm>
                <a:off x="3946" y="1903"/>
                <a:ext cx="68" cy="43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1" name="Rectangle 1509"/>
              <p:cNvSpPr>
                <a:spLocks noChangeArrowheads="1"/>
              </p:cNvSpPr>
              <p:nvPr/>
            </p:nvSpPr>
            <p:spPr bwMode="auto">
              <a:xfrm>
                <a:off x="4014" y="1903"/>
                <a:ext cx="68" cy="43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2" name="Rectangle 1510"/>
              <p:cNvSpPr>
                <a:spLocks noChangeArrowheads="1"/>
              </p:cNvSpPr>
              <p:nvPr/>
            </p:nvSpPr>
            <p:spPr bwMode="auto">
              <a:xfrm>
                <a:off x="4082" y="1903"/>
                <a:ext cx="68" cy="43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3" name="Rectangle 1511"/>
              <p:cNvSpPr>
                <a:spLocks noChangeArrowheads="1"/>
              </p:cNvSpPr>
              <p:nvPr/>
            </p:nvSpPr>
            <p:spPr bwMode="auto">
              <a:xfrm>
                <a:off x="4150" y="1903"/>
                <a:ext cx="69" cy="43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4" name="Freeform 1512"/>
              <p:cNvSpPr>
                <a:spLocks/>
              </p:cNvSpPr>
              <p:nvPr/>
            </p:nvSpPr>
            <p:spPr bwMode="auto">
              <a:xfrm>
                <a:off x="4219" y="1903"/>
                <a:ext cx="69" cy="43"/>
              </a:xfrm>
              <a:custGeom>
                <a:avLst/>
                <a:gdLst>
                  <a:gd name="T0" fmla="*/ 0 w 136"/>
                  <a:gd name="T1" fmla="*/ 0 h 86"/>
                  <a:gd name="T2" fmla="*/ 136 w 136"/>
                  <a:gd name="T3" fmla="*/ 0 h 86"/>
                  <a:gd name="T4" fmla="*/ 24 w 136"/>
                  <a:gd name="T5" fmla="*/ 86 h 86"/>
                  <a:gd name="T6" fmla="*/ 0 w 136"/>
                  <a:gd name="T7" fmla="*/ 86 h 86"/>
                  <a:gd name="T8" fmla="*/ 0 w 136"/>
                  <a:gd name="T9" fmla="*/ 0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86">
                    <a:moveTo>
                      <a:pt x="0" y="0"/>
                    </a:moveTo>
                    <a:lnTo>
                      <a:pt x="136" y="0"/>
                    </a:lnTo>
                    <a:lnTo>
                      <a:pt x="24" y="86"/>
                    </a:lnTo>
                    <a:lnTo>
                      <a:pt x="0" y="8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5" name="Freeform 1513"/>
              <p:cNvSpPr>
                <a:spLocks/>
              </p:cNvSpPr>
              <p:nvPr/>
            </p:nvSpPr>
            <p:spPr bwMode="auto">
              <a:xfrm>
                <a:off x="2923" y="1903"/>
                <a:ext cx="1365" cy="43"/>
              </a:xfrm>
              <a:custGeom>
                <a:avLst/>
                <a:gdLst>
                  <a:gd name="T0" fmla="*/ 118 w 2729"/>
                  <a:gd name="T1" fmla="*/ 86 h 86"/>
                  <a:gd name="T2" fmla="*/ 0 w 2729"/>
                  <a:gd name="T3" fmla="*/ 0 h 86"/>
                  <a:gd name="T4" fmla="*/ 2729 w 2729"/>
                  <a:gd name="T5" fmla="*/ 0 h 86"/>
                  <a:gd name="T6" fmla="*/ 2617 w 2729"/>
                  <a:gd name="T7" fmla="*/ 86 h 86"/>
                  <a:gd name="T8" fmla="*/ 118 w 2729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729" h="86">
                    <a:moveTo>
                      <a:pt x="118" y="86"/>
                    </a:moveTo>
                    <a:lnTo>
                      <a:pt x="0" y="0"/>
                    </a:lnTo>
                    <a:lnTo>
                      <a:pt x="2729" y="0"/>
                    </a:lnTo>
                    <a:lnTo>
                      <a:pt x="2617" y="86"/>
                    </a:lnTo>
                    <a:lnTo>
                      <a:pt x="118" y="86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6" name="Freeform 1514"/>
              <p:cNvSpPr>
                <a:spLocks/>
              </p:cNvSpPr>
              <p:nvPr/>
            </p:nvSpPr>
            <p:spPr bwMode="auto">
              <a:xfrm>
                <a:off x="2922" y="1900"/>
                <a:ext cx="16" cy="13"/>
              </a:xfrm>
              <a:custGeom>
                <a:avLst/>
                <a:gdLst>
                  <a:gd name="T0" fmla="*/ 31 w 31"/>
                  <a:gd name="T1" fmla="*/ 22 h 26"/>
                  <a:gd name="T2" fmla="*/ 0 w 31"/>
                  <a:gd name="T3" fmla="*/ 0 h 26"/>
                  <a:gd name="T4" fmla="*/ 0 w 31"/>
                  <a:gd name="T5" fmla="*/ 26 h 26"/>
                  <a:gd name="T6" fmla="*/ 31 w 31"/>
                  <a:gd name="T7" fmla="*/ 22 h 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1" h="26">
                    <a:moveTo>
                      <a:pt x="31" y="22"/>
                    </a:moveTo>
                    <a:lnTo>
                      <a:pt x="0" y="0"/>
                    </a:lnTo>
                    <a:lnTo>
                      <a:pt x="0" y="26"/>
                    </a:lnTo>
                    <a:lnTo>
                      <a:pt x="31" y="2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7" name="Freeform 1515"/>
              <p:cNvSpPr>
                <a:spLocks/>
              </p:cNvSpPr>
              <p:nvPr/>
            </p:nvSpPr>
            <p:spPr bwMode="auto">
              <a:xfrm>
                <a:off x="2922" y="1911"/>
                <a:ext cx="32" cy="15"/>
              </a:xfrm>
              <a:custGeom>
                <a:avLst/>
                <a:gdLst>
                  <a:gd name="T0" fmla="*/ 31 w 64"/>
                  <a:gd name="T1" fmla="*/ 0 h 30"/>
                  <a:gd name="T2" fmla="*/ 64 w 64"/>
                  <a:gd name="T3" fmla="*/ 23 h 30"/>
                  <a:gd name="T4" fmla="*/ 0 w 64"/>
                  <a:gd name="T5" fmla="*/ 30 h 30"/>
                  <a:gd name="T6" fmla="*/ 0 w 64"/>
                  <a:gd name="T7" fmla="*/ 4 h 30"/>
                  <a:gd name="T8" fmla="*/ 31 w 64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4" h="30">
                    <a:moveTo>
                      <a:pt x="31" y="0"/>
                    </a:moveTo>
                    <a:lnTo>
                      <a:pt x="64" y="23"/>
                    </a:lnTo>
                    <a:lnTo>
                      <a:pt x="0" y="30"/>
                    </a:lnTo>
                    <a:lnTo>
                      <a:pt x="0" y="4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8" name="Freeform 1516"/>
              <p:cNvSpPr>
                <a:spLocks/>
              </p:cNvSpPr>
              <p:nvPr/>
            </p:nvSpPr>
            <p:spPr bwMode="auto">
              <a:xfrm>
                <a:off x="2922" y="1922"/>
                <a:ext cx="48" cy="17"/>
              </a:xfrm>
              <a:custGeom>
                <a:avLst/>
                <a:gdLst>
                  <a:gd name="T0" fmla="*/ 64 w 95"/>
                  <a:gd name="T1" fmla="*/ 0 h 33"/>
                  <a:gd name="T2" fmla="*/ 95 w 95"/>
                  <a:gd name="T3" fmla="*/ 24 h 33"/>
                  <a:gd name="T4" fmla="*/ 0 w 95"/>
                  <a:gd name="T5" fmla="*/ 33 h 33"/>
                  <a:gd name="T6" fmla="*/ 0 w 95"/>
                  <a:gd name="T7" fmla="*/ 7 h 33"/>
                  <a:gd name="T8" fmla="*/ 64 w 95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33">
                    <a:moveTo>
                      <a:pt x="64" y="0"/>
                    </a:moveTo>
                    <a:lnTo>
                      <a:pt x="95" y="24"/>
                    </a:lnTo>
                    <a:lnTo>
                      <a:pt x="0" y="33"/>
                    </a:lnTo>
                    <a:lnTo>
                      <a:pt x="0" y="7"/>
                    </a:lnTo>
                    <a:lnTo>
                      <a:pt x="64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29" name="Freeform 1517"/>
              <p:cNvSpPr>
                <a:spLocks/>
              </p:cNvSpPr>
              <p:nvPr/>
            </p:nvSpPr>
            <p:spPr bwMode="auto">
              <a:xfrm>
                <a:off x="2922" y="1934"/>
                <a:ext cx="61" cy="18"/>
              </a:xfrm>
              <a:custGeom>
                <a:avLst/>
                <a:gdLst>
                  <a:gd name="T0" fmla="*/ 95 w 123"/>
                  <a:gd name="T1" fmla="*/ 0 h 34"/>
                  <a:gd name="T2" fmla="*/ 123 w 123"/>
                  <a:gd name="T3" fmla="*/ 19 h 34"/>
                  <a:gd name="T4" fmla="*/ 123 w 123"/>
                  <a:gd name="T5" fmla="*/ 22 h 34"/>
                  <a:gd name="T6" fmla="*/ 0 w 123"/>
                  <a:gd name="T7" fmla="*/ 34 h 34"/>
                  <a:gd name="T8" fmla="*/ 0 w 123"/>
                  <a:gd name="T9" fmla="*/ 9 h 34"/>
                  <a:gd name="T10" fmla="*/ 95 w 123"/>
                  <a:gd name="T11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34">
                    <a:moveTo>
                      <a:pt x="95" y="0"/>
                    </a:moveTo>
                    <a:lnTo>
                      <a:pt x="123" y="19"/>
                    </a:lnTo>
                    <a:lnTo>
                      <a:pt x="123" y="22"/>
                    </a:lnTo>
                    <a:lnTo>
                      <a:pt x="0" y="34"/>
                    </a:lnTo>
                    <a:lnTo>
                      <a:pt x="0" y="9"/>
                    </a:lnTo>
                    <a:lnTo>
                      <a:pt x="95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0" name="Freeform 1518"/>
              <p:cNvSpPr>
                <a:spLocks/>
              </p:cNvSpPr>
              <p:nvPr/>
            </p:nvSpPr>
            <p:spPr bwMode="auto">
              <a:xfrm>
                <a:off x="2922" y="1946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2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1" name="Freeform 1519"/>
              <p:cNvSpPr>
                <a:spLocks/>
              </p:cNvSpPr>
              <p:nvPr/>
            </p:nvSpPr>
            <p:spPr bwMode="auto">
              <a:xfrm>
                <a:off x="2922" y="1959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2" name="Freeform 1520"/>
              <p:cNvSpPr>
                <a:spLocks/>
              </p:cNvSpPr>
              <p:nvPr/>
            </p:nvSpPr>
            <p:spPr bwMode="auto">
              <a:xfrm>
                <a:off x="2922" y="1972"/>
                <a:ext cx="61" cy="19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3" name="Freeform 1521"/>
              <p:cNvSpPr>
                <a:spLocks/>
              </p:cNvSpPr>
              <p:nvPr/>
            </p:nvSpPr>
            <p:spPr bwMode="auto">
              <a:xfrm>
                <a:off x="2922" y="1984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4" name="Freeform 1522"/>
              <p:cNvSpPr>
                <a:spLocks/>
              </p:cNvSpPr>
              <p:nvPr/>
            </p:nvSpPr>
            <p:spPr bwMode="auto">
              <a:xfrm>
                <a:off x="2922" y="1997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5" name="Freeform 1523"/>
              <p:cNvSpPr>
                <a:spLocks/>
              </p:cNvSpPr>
              <p:nvPr/>
            </p:nvSpPr>
            <p:spPr bwMode="auto">
              <a:xfrm>
                <a:off x="2922" y="2010"/>
                <a:ext cx="61" cy="21"/>
              </a:xfrm>
              <a:custGeom>
                <a:avLst/>
                <a:gdLst>
                  <a:gd name="T0" fmla="*/ 123 w 123"/>
                  <a:gd name="T1" fmla="*/ 0 h 41"/>
                  <a:gd name="T2" fmla="*/ 123 w 123"/>
                  <a:gd name="T3" fmla="*/ 27 h 41"/>
                  <a:gd name="T4" fmla="*/ 0 w 123"/>
                  <a:gd name="T5" fmla="*/ 41 h 41"/>
                  <a:gd name="T6" fmla="*/ 0 w 123"/>
                  <a:gd name="T7" fmla="*/ 14 h 41"/>
                  <a:gd name="T8" fmla="*/ 123 w 123"/>
                  <a:gd name="T9" fmla="*/ 0 h 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1">
                    <a:moveTo>
                      <a:pt x="123" y="0"/>
                    </a:moveTo>
                    <a:lnTo>
                      <a:pt x="123" y="27"/>
                    </a:lnTo>
                    <a:lnTo>
                      <a:pt x="0" y="41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6" name="Freeform 1524"/>
              <p:cNvSpPr>
                <a:spLocks/>
              </p:cNvSpPr>
              <p:nvPr/>
            </p:nvSpPr>
            <p:spPr bwMode="auto">
              <a:xfrm>
                <a:off x="2922" y="2024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8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7" name="Freeform 1525"/>
              <p:cNvSpPr>
                <a:spLocks/>
              </p:cNvSpPr>
              <p:nvPr/>
            </p:nvSpPr>
            <p:spPr bwMode="auto">
              <a:xfrm>
                <a:off x="2922" y="2038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8" name="Freeform 1526"/>
              <p:cNvSpPr>
                <a:spLocks/>
              </p:cNvSpPr>
              <p:nvPr/>
            </p:nvSpPr>
            <p:spPr bwMode="auto">
              <a:xfrm>
                <a:off x="2922" y="2051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39" name="Freeform 1527"/>
              <p:cNvSpPr>
                <a:spLocks/>
              </p:cNvSpPr>
              <p:nvPr/>
            </p:nvSpPr>
            <p:spPr bwMode="auto">
              <a:xfrm>
                <a:off x="2922" y="2064"/>
                <a:ext cx="61" cy="19"/>
              </a:xfrm>
              <a:custGeom>
                <a:avLst/>
                <a:gdLst>
                  <a:gd name="T0" fmla="*/ 123 w 123"/>
                  <a:gd name="T1" fmla="*/ 0 h 38"/>
                  <a:gd name="T2" fmla="*/ 123 w 123"/>
                  <a:gd name="T3" fmla="*/ 26 h 38"/>
                  <a:gd name="T4" fmla="*/ 0 w 123"/>
                  <a:gd name="T5" fmla="*/ 38 h 38"/>
                  <a:gd name="T6" fmla="*/ 0 w 123"/>
                  <a:gd name="T7" fmla="*/ 12 h 38"/>
                  <a:gd name="T8" fmla="*/ 123 w 123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8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0" name="Freeform 1528"/>
              <p:cNvSpPr>
                <a:spLocks/>
              </p:cNvSpPr>
              <p:nvPr/>
            </p:nvSpPr>
            <p:spPr bwMode="auto">
              <a:xfrm>
                <a:off x="2922" y="2077"/>
                <a:ext cx="61" cy="20"/>
              </a:xfrm>
              <a:custGeom>
                <a:avLst/>
                <a:gdLst>
                  <a:gd name="T0" fmla="*/ 123 w 123"/>
                  <a:gd name="T1" fmla="*/ 0 h 39"/>
                  <a:gd name="T2" fmla="*/ 123 w 123"/>
                  <a:gd name="T3" fmla="*/ 25 h 39"/>
                  <a:gd name="T4" fmla="*/ 0 w 123"/>
                  <a:gd name="T5" fmla="*/ 39 h 39"/>
                  <a:gd name="T6" fmla="*/ 0 w 123"/>
                  <a:gd name="T7" fmla="*/ 12 h 39"/>
                  <a:gd name="T8" fmla="*/ 123 w 123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39">
                    <a:moveTo>
                      <a:pt x="123" y="0"/>
                    </a:moveTo>
                    <a:lnTo>
                      <a:pt x="123" y="25"/>
                    </a:lnTo>
                    <a:lnTo>
                      <a:pt x="0" y="39"/>
                    </a:lnTo>
                    <a:lnTo>
                      <a:pt x="0" y="12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1" name="Freeform 1529"/>
              <p:cNvSpPr>
                <a:spLocks/>
              </p:cNvSpPr>
              <p:nvPr/>
            </p:nvSpPr>
            <p:spPr bwMode="auto">
              <a:xfrm>
                <a:off x="2922" y="2090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26 h 40"/>
                  <a:gd name="T4" fmla="*/ 0 w 123"/>
                  <a:gd name="T5" fmla="*/ 40 h 40"/>
                  <a:gd name="T6" fmla="*/ 0 w 123"/>
                  <a:gd name="T7" fmla="*/ 14 h 40"/>
                  <a:gd name="T8" fmla="*/ 123 w 123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2" name="Freeform 1530"/>
              <p:cNvSpPr>
                <a:spLocks/>
              </p:cNvSpPr>
              <p:nvPr/>
            </p:nvSpPr>
            <p:spPr bwMode="auto">
              <a:xfrm>
                <a:off x="2922" y="2103"/>
                <a:ext cx="61" cy="20"/>
              </a:xfrm>
              <a:custGeom>
                <a:avLst/>
                <a:gdLst>
                  <a:gd name="T0" fmla="*/ 123 w 123"/>
                  <a:gd name="T1" fmla="*/ 0 h 40"/>
                  <a:gd name="T2" fmla="*/ 123 w 123"/>
                  <a:gd name="T3" fmla="*/ 18 h 40"/>
                  <a:gd name="T4" fmla="*/ 109 w 123"/>
                  <a:gd name="T5" fmla="*/ 28 h 40"/>
                  <a:gd name="T6" fmla="*/ 0 w 123"/>
                  <a:gd name="T7" fmla="*/ 40 h 40"/>
                  <a:gd name="T8" fmla="*/ 0 w 123"/>
                  <a:gd name="T9" fmla="*/ 14 h 40"/>
                  <a:gd name="T10" fmla="*/ 123 w 123"/>
                  <a:gd name="T11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3" h="40">
                    <a:moveTo>
                      <a:pt x="123" y="0"/>
                    </a:moveTo>
                    <a:lnTo>
                      <a:pt x="123" y="18"/>
                    </a:lnTo>
                    <a:lnTo>
                      <a:pt x="109" y="28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23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3" name="Freeform 1531"/>
              <p:cNvSpPr>
                <a:spLocks/>
              </p:cNvSpPr>
              <p:nvPr/>
            </p:nvSpPr>
            <p:spPr bwMode="auto">
              <a:xfrm>
                <a:off x="2922" y="2116"/>
                <a:ext cx="55" cy="19"/>
              </a:xfrm>
              <a:custGeom>
                <a:avLst/>
                <a:gdLst>
                  <a:gd name="T0" fmla="*/ 109 w 109"/>
                  <a:gd name="T1" fmla="*/ 0 h 38"/>
                  <a:gd name="T2" fmla="*/ 66 w 109"/>
                  <a:gd name="T3" fmla="*/ 31 h 38"/>
                  <a:gd name="T4" fmla="*/ 0 w 109"/>
                  <a:gd name="T5" fmla="*/ 38 h 38"/>
                  <a:gd name="T6" fmla="*/ 0 w 109"/>
                  <a:gd name="T7" fmla="*/ 12 h 38"/>
                  <a:gd name="T8" fmla="*/ 109 w 109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9" h="38">
                    <a:moveTo>
                      <a:pt x="109" y="0"/>
                    </a:moveTo>
                    <a:lnTo>
                      <a:pt x="66" y="31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4" name="Freeform 1532"/>
              <p:cNvSpPr>
                <a:spLocks/>
              </p:cNvSpPr>
              <p:nvPr/>
            </p:nvSpPr>
            <p:spPr bwMode="auto">
              <a:xfrm>
                <a:off x="2922" y="2132"/>
                <a:ext cx="33" cy="17"/>
              </a:xfrm>
              <a:custGeom>
                <a:avLst/>
                <a:gdLst>
                  <a:gd name="T0" fmla="*/ 66 w 66"/>
                  <a:gd name="T1" fmla="*/ 0 h 35"/>
                  <a:gd name="T2" fmla="*/ 21 w 66"/>
                  <a:gd name="T3" fmla="*/ 33 h 35"/>
                  <a:gd name="T4" fmla="*/ 0 w 66"/>
                  <a:gd name="T5" fmla="*/ 35 h 35"/>
                  <a:gd name="T6" fmla="*/ 0 w 66"/>
                  <a:gd name="T7" fmla="*/ 7 h 35"/>
                  <a:gd name="T8" fmla="*/ 66 w 66"/>
                  <a:gd name="T9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6" h="35">
                    <a:moveTo>
                      <a:pt x="66" y="0"/>
                    </a:moveTo>
                    <a:lnTo>
                      <a:pt x="21" y="33"/>
                    </a:lnTo>
                    <a:lnTo>
                      <a:pt x="0" y="35"/>
                    </a:lnTo>
                    <a:lnTo>
                      <a:pt x="0" y="7"/>
                    </a:lnTo>
                    <a:lnTo>
                      <a:pt x="66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5" name="Freeform 1533"/>
              <p:cNvSpPr>
                <a:spLocks/>
              </p:cNvSpPr>
              <p:nvPr/>
            </p:nvSpPr>
            <p:spPr bwMode="auto">
              <a:xfrm>
                <a:off x="2922" y="2148"/>
                <a:ext cx="11" cy="7"/>
              </a:xfrm>
              <a:custGeom>
                <a:avLst/>
                <a:gdLst>
                  <a:gd name="T0" fmla="*/ 21 w 21"/>
                  <a:gd name="T1" fmla="*/ 0 h 14"/>
                  <a:gd name="T2" fmla="*/ 0 w 21"/>
                  <a:gd name="T3" fmla="*/ 14 h 14"/>
                  <a:gd name="T4" fmla="*/ 0 w 21"/>
                  <a:gd name="T5" fmla="*/ 2 h 14"/>
                  <a:gd name="T6" fmla="*/ 21 w 21"/>
                  <a:gd name="T7" fmla="*/ 0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1" h="14">
                    <a:moveTo>
                      <a:pt x="21" y="0"/>
                    </a:moveTo>
                    <a:lnTo>
                      <a:pt x="0" y="14"/>
                    </a:lnTo>
                    <a:lnTo>
                      <a:pt x="0" y="2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6" name="Freeform 1534"/>
              <p:cNvSpPr>
                <a:spLocks/>
              </p:cNvSpPr>
              <p:nvPr/>
            </p:nvSpPr>
            <p:spPr bwMode="auto">
              <a:xfrm>
                <a:off x="2922" y="1900"/>
                <a:ext cx="61" cy="255"/>
              </a:xfrm>
              <a:custGeom>
                <a:avLst/>
                <a:gdLst>
                  <a:gd name="T0" fmla="*/ 123 w 123"/>
                  <a:gd name="T1" fmla="*/ 423 h 511"/>
                  <a:gd name="T2" fmla="*/ 0 w 123"/>
                  <a:gd name="T3" fmla="*/ 511 h 511"/>
                  <a:gd name="T4" fmla="*/ 0 w 123"/>
                  <a:gd name="T5" fmla="*/ 0 h 511"/>
                  <a:gd name="T6" fmla="*/ 123 w 123"/>
                  <a:gd name="T7" fmla="*/ 88 h 511"/>
                  <a:gd name="T8" fmla="*/ 123 w 123"/>
                  <a:gd name="T9" fmla="*/ 423 h 5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3" h="511">
                    <a:moveTo>
                      <a:pt x="123" y="423"/>
                    </a:moveTo>
                    <a:lnTo>
                      <a:pt x="0" y="511"/>
                    </a:lnTo>
                    <a:lnTo>
                      <a:pt x="0" y="0"/>
                    </a:lnTo>
                    <a:lnTo>
                      <a:pt x="123" y="88"/>
                    </a:lnTo>
                    <a:lnTo>
                      <a:pt x="123" y="423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7" name="Rectangle 1535"/>
              <p:cNvSpPr>
                <a:spLocks noChangeArrowheads="1"/>
              </p:cNvSpPr>
              <p:nvPr/>
            </p:nvSpPr>
            <p:spPr bwMode="auto">
              <a:xfrm>
                <a:off x="2924" y="2792"/>
                <a:ext cx="68" cy="255"/>
              </a:xfrm>
              <a:prstGeom prst="rect">
                <a:avLst/>
              </a:prstGeom>
              <a:solidFill>
                <a:srgbClr val="FF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8" name="Rectangle 1536"/>
              <p:cNvSpPr>
                <a:spLocks noChangeArrowheads="1"/>
              </p:cNvSpPr>
              <p:nvPr/>
            </p:nvSpPr>
            <p:spPr bwMode="auto">
              <a:xfrm>
                <a:off x="2992" y="2792"/>
                <a:ext cx="68" cy="255"/>
              </a:xfrm>
              <a:prstGeom prst="rect">
                <a:avLst/>
              </a:prstGeom>
              <a:solidFill>
                <a:srgbClr val="FFC1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49" name="Rectangle 1537"/>
              <p:cNvSpPr>
                <a:spLocks noChangeArrowheads="1"/>
              </p:cNvSpPr>
              <p:nvPr/>
            </p:nvSpPr>
            <p:spPr bwMode="auto">
              <a:xfrm>
                <a:off x="3060" y="2792"/>
                <a:ext cx="68" cy="255"/>
              </a:xfrm>
              <a:prstGeom prst="rect">
                <a:avLst/>
              </a:prstGeom>
              <a:solidFill>
                <a:srgbClr val="FFB6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0" name="Rectangle 1538"/>
              <p:cNvSpPr>
                <a:spLocks noChangeArrowheads="1"/>
              </p:cNvSpPr>
              <p:nvPr/>
            </p:nvSpPr>
            <p:spPr bwMode="auto">
              <a:xfrm>
                <a:off x="3128" y="2792"/>
                <a:ext cx="69" cy="255"/>
              </a:xfrm>
              <a:prstGeom prst="rect">
                <a:avLst/>
              </a:prstGeom>
              <a:solidFill>
                <a:srgbClr val="FFABA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1" name="Rectangle 1539"/>
              <p:cNvSpPr>
                <a:spLocks noChangeArrowheads="1"/>
              </p:cNvSpPr>
              <p:nvPr/>
            </p:nvSpPr>
            <p:spPr bwMode="auto">
              <a:xfrm>
                <a:off x="3197" y="2792"/>
                <a:ext cx="68" cy="255"/>
              </a:xfrm>
              <a:prstGeom prst="rect">
                <a:avLst/>
              </a:prstGeom>
              <a:solidFill>
                <a:srgbClr val="FFA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2" name="Rectangle 1540"/>
              <p:cNvSpPr>
                <a:spLocks noChangeArrowheads="1"/>
              </p:cNvSpPr>
              <p:nvPr/>
            </p:nvSpPr>
            <p:spPr bwMode="auto">
              <a:xfrm>
                <a:off x="3265" y="2792"/>
                <a:ext cx="68" cy="255"/>
              </a:xfrm>
              <a:prstGeom prst="rect">
                <a:avLst/>
              </a:prstGeom>
              <a:solidFill>
                <a:srgbClr val="FF9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3" name="Rectangle 1541"/>
              <p:cNvSpPr>
                <a:spLocks noChangeArrowheads="1"/>
              </p:cNvSpPr>
              <p:nvPr/>
            </p:nvSpPr>
            <p:spPr bwMode="auto">
              <a:xfrm>
                <a:off x="3333" y="2792"/>
                <a:ext cx="68" cy="255"/>
              </a:xfrm>
              <a:prstGeom prst="rect">
                <a:avLst/>
              </a:prstGeom>
              <a:solidFill>
                <a:srgbClr val="FF8B8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4" name="Rectangle 1542"/>
              <p:cNvSpPr>
                <a:spLocks noChangeArrowheads="1"/>
              </p:cNvSpPr>
              <p:nvPr/>
            </p:nvSpPr>
            <p:spPr bwMode="auto">
              <a:xfrm>
                <a:off x="3401" y="2792"/>
                <a:ext cx="68" cy="255"/>
              </a:xfrm>
              <a:prstGeom prst="rect">
                <a:avLst/>
              </a:prstGeom>
              <a:solidFill>
                <a:srgbClr val="FF80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5" name="Rectangle 1543"/>
              <p:cNvSpPr>
                <a:spLocks noChangeArrowheads="1"/>
              </p:cNvSpPr>
              <p:nvPr/>
            </p:nvSpPr>
            <p:spPr bwMode="auto">
              <a:xfrm>
                <a:off x="3469" y="2792"/>
                <a:ext cx="69" cy="255"/>
              </a:xfrm>
              <a:prstGeom prst="rect">
                <a:avLst/>
              </a:prstGeom>
              <a:solidFill>
                <a:srgbClr val="FF76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6" name="Rectangle 1544"/>
              <p:cNvSpPr>
                <a:spLocks noChangeArrowheads="1"/>
              </p:cNvSpPr>
              <p:nvPr/>
            </p:nvSpPr>
            <p:spPr bwMode="auto">
              <a:xfrm>
                <a:off x="3538" y="2792"/>
                <a:ext cx="69" cy="255"/>
              </a:xfrm>
              <a:prstGeom prst="rect">
                <a:avLst/>
              </a:prstGeom>
              <a:solidFill>
                <a:srgbClr val="FF6B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7" name="Rectangle 1545"/>
              <p:cNvSpPr>
                <a:spLocks noChangeArrowheads="1"/>
              </p:cNvSpPr>
              <p:nvPr/>
            </p:nvSpPr>
            <p:spPr bwMode="auto">
              <a:xfrm>
                <a:off x="3607" y="2792"/>
                <a:ext cx="68" cy="255"/>
              </a:xfrm>
              <a:prstGeom prst="rect">
                <a:avLst/>
              </a:prstGeom>
              <a:solidFill>
                <a:srgbClr val="FF6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8" name="Rectangle 1546"/>
              <p:cNvSpPr>
                <a:spLocks noChangeArrowheads="1"/>
              </p:cNvSpPr>
              <p:nvPr/>
            </p:nvSpPr>
            <p:spPr bwMode="auto">
              <a:xfrm>
                <a:off x="3675" y="2792"/>
                <a:ext cx="68" cy="255"/>
              </a:xfrm>
              <a:prstGeom prst="rect">
                <a:avLst/>
              </a:prstGeom>
              <a:solidFill>
                <a:srgbClr val="FF555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59" name="Rectangle 1547"/>
              <p:cNvSpPr>
                <a:spLocks noChangeArrowheads="1"/>
              </p:cNvSpPr>
              <p:nvPr/>
            </p:nvSpPr>
            <p:spPr bwMode="auto">
              <a:xfrm>
                <a:off x="3743" y="2792"/>
                <a:ext cx="68" cy="255"/>
              </a:xfrm>
              <a:prstGeom prst="rect">
                <a:avLst/>
              </a:prstGeom>
              <a:solidFill>
                <a:srgbClr val="FF4B4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0" name="Rectangle 1548"/>
              <p:cNvSpPr>
                <a:spLocks noChangeArrowheads="1"/>
              </p:cNvSpPr>
              <p:nvPr/>
            </p:nvSpPr>
            <p:spPr bwMode="auto">
              <a:xfrm>
                <a:off x="3811" y="2792"/>
                <a:ext cx="68" cy="255"/>
              </a:xfrm>
              <a:prstGeom prst="rect">
                <a:avLst/>
              </a:prstGeom>
              <a:solidFill>
                <a:srgbClr val="FF404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1" name="Rectangle 1549"/>
              <p:cNvSpPr>
                <a:spLocks noChangeArrowheads="1"/>
              </p:cNvSpPr>
              <p:nvPr/>
            </p:nvSpPr>
            <p:spPr bwMode="auto">
              <a:xfrm>
                <a:off x="3879" y="2792"/>
                <a:ext cx="69" cy="255"/>
              </a:xfrm>
              <a:prstGeom prst="rect">
                <a:avLst/>
              </a:prstGeom>
              <a:solidFill>
                <a:srgbClr val="FF353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2" name="Rectangle 1550"/>
              <p:cNvSpPr>
                <a:spLocks noChangeArrowheads="1"/>
              </p:cNvSpPr>
              <p:nvPr/>
            </p:nvSpPr>
            <p:spPr bwMode="auto">
              <a:xfrm>
                <a:off x="3948" y="2792"/>
                <a:ext cx="68" cy="255"/>
              </a:xfrm>
              <a:prstGeom prst="rect">
                <a:avLst/>
              </a:prstGeom>
              <a:solidFill>
                <a:srgbClr val="FF2A2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3" name="Rectangle 1551"/>
              <p:cNvSpPr>
                <a:spLocks noChangeArrowheads="1"/>
              </p:cNvSpPr>
              <p:nvPr/>
            </p:nvSpPr>
            <p:spPr bwMode="auto">
              <a:xfrm>
                <a:off x="4016" y="2792"/>
                <a:ext cx="68" cy="255"/>
              </a:xfrm>
              <a:prstGeom prst="rect">
                <a:avLst/>
              </a:prstGeom>
              <a:solidFill>
                <a:srgbClr val="FF202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4" name="Rectangle 1552"/>
              <p:cNvSpPr>
                <a:spLocks noChangeArrowheads="1"/>
              </p:cNvSpPr>
              <p:nvPr/>
            </p:nvSpPr>
            <p:spPr bwMode="auto">
              <a:xfrm>
                <a:off x="4084" y="2792"/>
                <a:ext cx="68" cy="255"/>
              </a:xfrm>
              <a:prstGeom prst="rect">
                <a:avLst/>
              </a:prstGeom>
              <a:solidFill>
                <a:srgbClr val="FF151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5" name="Rectangle 1553"/>
              <p:cNvSpPr>
                <a:spLocks noChangeArrowheads="1"/>
              </p:cNvSpPr>
              <p:nvPr/>
            </p:nvSpPr>
            <p:spPr bwMode="auto">
              <a:xfrm>
                <a:off x="4152" y="2792"/>
                <a:ext cx="69" cy="255"/>
              </a:xfrm>
              <a:prstGeom prst="rect">
                <a:avLst/>
              </a:prstGeom>
              <a:solidFill>
                <a:srgbClr val="FF0A0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6" name="Rectangle 1554"/>
              <p:cNvSpPr>
                <a:spLocks noChangeArrowheads="1"/>
              </p:cNvSpPr>
              <p:nvPr/>
            </p:nvSpPr>
            <p:spPr bwMode="auto">
              <a:xfrm>
                <a:off x="4221" y="2792"/>
                <a:ext cx="68" cy="255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7" name="Rectangle 1555"/>
              <p:cNvSpPr>
                <a:spLocks noChangeArrowheads="1"/>
              </p:cNvSpPr>
              <p:nvPr/>
            </p:nvSpPr>
            <p:spPr bwMode="auto">
              <a:xfrm>
                <a:off x="2924" y="2792"/>
                <a:ext cx="1365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8" name="Rectangle 1556"/>
              <p:cNvSpPr>
                <a:spLocks noChangeArrowheads="1"/>
              </p:cNvSpPr>
              <p:nvPr/>
            </p:nvSpPr>
            <p:spPr bwMode="auto">
              <a:xfrm>
                <a:off x="2924" y="2789"/>
                <a:ext cx="68" cy="25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69" name="Rectangle 1557"/>
              <p:cNvSpPr>
                <a:spLocks noChangeArrowheads="1"/>
              </p:cNvSpPr>
              <p:nvPr/>
            </p:nvSpPr>
            <p:spPr bwMode="auto">
              <a:xfrm>
                <a:off x="2992" y="2789"/>
                <a:ext cx="68" cy="255"/>
              </a:xfrm>
              <a:prstGeom prst="rect">
                <a:avLst/>
              </a:pr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0" name="Rectangle 1558"/>
              <p:cNvSpPr>
                <a:spLocks noChangeArrowheads="1"/>
              </p:cNvSpPr>
              <p:nvPr/>
            </p:nvSpPr>
            <p:spPr bwMode="auto">
              <a:xfrm>
                <a:off x="3060" y="2789"/>
                <a:ext cx="68" cy="255"/>
              </a:xfrm>
              <a:prstGeom prst="rect">
                <a:avLst/>
              </a:pr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1" name="Rectangle 1559"/>
              <p:cNvSpPr>
                <a:spLocks noChangeArrowheads="1"/>
              </p:cNvSpPr>
              <p:nvPr/>
            </p:nvSpPr>
            <p:spPr bwMode="auto">
              <a:xfrm>
                <a:off x="3128" y="2789"/>
                <a:ext cx="69" cy="255"/>
              </a:xfrm>
              <a:prstGeom prst="rect">
                <a:avLst/>
              </a:pr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2" name="Rectangle 1560"/>
              <p:cNvSpPr>
                <a:spLocks noChangeArrowheads="1"/>
              </p:cNvSpPr>
              <p:nvPr/>
            </p:nvSpPr>
            <p:spPr bwMode="auto">
              <a:xfrm>
                <a:off x="3197" y="2789"/>
                <a:ext cx="68" cy="255"/>
              </a:xfrm>
              <a:prstGeom prst="rect">
                <a:avLst/>
              </a:pr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3" name="Rectangle 1561"/>
              <p:cNvSpPr>
                <a:spLocks noChangeArrowheads="1"/>
              </p:cNvSpPr>
              <p:nvPr/>
            </p:nvSpPr>
            <p:spPr bwMode="auto">
              <a:xfrm>
                <a:off x="3265" y="2789"/>
                <a:ext cx="68" cy="255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4" name="Rectangle 1562"/>
              <p:cNvSpPr>
                <a:spLocks noChangeArrowheads="1"/>
              </p:cNvSpPr>
              <p:nvPr/>
            </p:nvSpPr>
            <p:spPr bwMode="auto">
              <a:xfrm>
                <a:off x="3333" y="2789"/>
                <a:ext cx="68" cy="255"/>
              </a:xfrm>
              <a:prstGeom prst="rect">
                <a:avLst/>
              </a:pr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5" name="Rectangle 1563"/>
              <p:cNvSpPr>
                <a:spLocks noChangeArrowheads="1"/>
              </p:cNvSpPr>
              <p:nvPr/>
            </p:nvSpPr>
            <p:spPr bwMode="auto">
              <a:xfrm>
                <a:off x="3401" y="2789"/>
                <a:ext cx="68" cy="255"/>
              </a:xfrm>
              <a:prstGeom prst="rect">
                <a:avLst/>
              </a:pr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6" name="Rectangle 1564"/>
              <p:cNvSpPr>
                <a:spLocks noChangeArrowheads="1"/>
              </p:cNvSpPr>
              <p:nvPr/>
            </p:nvSpPr>
            <p:spPr bwMode="auto">
              <a:xfrm>
                <a:off x="3469" y="2789"/>
                <a:ext cx="69" cy="255"/>
              </a:xfrm>
              <a:prstGeom prst="rect">
                <a:avLst/>
              </a:pr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7" name="Rectangle 1565"/>
              <p:cNvSpPr>
                <a:spLocks noChangeArrowheads="1"/>
              </p:cNvSpPr>
              <p:nvPr/>
            </p:nvSpPr>
            <p:spPr bwMode="auto">
              <a:xfrm>
                <a:off x="3538" y="2789"/>
                <a:ext cx="69" cy="255"/>
              </a:xfrm>
              <a:prstGeom prst="rect">
                <a:avLst/>
              </a:pr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8" name="Rectangle 1566"/>
              <p:cNvSpPr>
                <a:spLocks noChangeArrowheads="1"/>
              </p:cNvSpPr>
              <p:nvPr/>
            </p:nvSpPr>
            <p:spPr bwMode="auto">
              <a:xfrm>
                <a:off x="3607" y="2789"/>
                <a:ext cx="68" cy="255"/>
              </a:xfrm>
              <a:prstGeom prst="rect">
                <a:avLst/>
              </a:pr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79" name="Rectangle 1567"/>
              <p:cNvSpPr>
                <a:spLocks noChangeArrowheads="1"/>
              </p:cNvSpPr>
              <p:nvPr/>
            </p:nvSpPr>
            <p:spPr bwMode="auto">
              <a:xfrm>
                <a:off x="3675" y="2789"/>
                <a:ext cx="68" cy="255"/>
              </a:xfrm>
              <a:prstGeom prst="rect">
                <a:avLst/>
              </a:pr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0" name="Rectangle 1568"/>
              <p:cNvSpPr>
                <a:spLocks noChangeArrowheads="1"/>
              </p:cNvSpPr>
              <p:nvPr/>
            </p:nvSpPr>
            <p:spPr bwMode="auto">
              <a:xfrm>
                <a:off x="3743" y="2789"/>
                <a:ext cx="68" cy="255"/>
              </a:xfrm>
              <a:prstGeom prst="rect">
                <a:avLst/>
              </a:pr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1" name="Rectangle 1569"/>
              <p:cNvSpPr>
                <a:spLocks noChangeArrowheads="1"/>
              </p:cNvSpPr>
              <p:nvPr/>
            </p:nvSpPr>
            <p:spPr bwMode="auto">
              <a:xfrm>
                <a:off x="3811" y="2789"/>
                <a:ext cx="68" cy="255"/>
              </a:xfrm>
              <a:prstGeom prst="rect">
                <a:avLst/>
              </a:pr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2" name="Rectangle 1570"/>
              <p:cNvSpPr>
                <a:spLocks noChangeArrowheads="1"/>
              </p:cNvSpPr>
              <p:nvPr/>
            </p:nvSpPr>
            <p:spPr bwMode="auto">
              <a:xfrm>
                <a:off x="3879" y="2789"/>
                <a:ext cx="69" cy="255"/>
              </a:xfrm>
              <a:prstGeom prst="rect">
                <a:avLst/>
              </a:pr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3" name="Rectangle 1571"/>
              <p:cNvSpPr>
                <a:spLocks noChangeArrowheads="1"/>
              </p:cNvSpPr>
              <p:nvPr/>
            </p:nvSpPr>
            <p:spPr bwMode="auto">
              <a:xfrm>
                <a:off x="3948" y="2789"/>
                <a:ext cx="68" cy="255"/>
              </a:xfrm>
              <a:prstGeom prst="rect">
                <a:avLst/>
              </a:pr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4" name="Rectangle 1572"/>
              <p:cNvSpPr>
                <a:spLocks noChangeArrowheads="1"/>
              </p:cNvSpPr>
              <p:nvPr/>
            </p:nvSpPr>
            <p:spPr bwMode="auto">
              <a:xfrm>
                <a:off x="4016" y="2789"/>
                <a:ext cx="68" cy="255"/>
              </a:xfrm>
              <a:prstGeom prst="rect">
                <a:avLst/>
              </a:pr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5" name="Rectangle 1573"/>
              <p:cNvSpPr>
                <a:spLocks noChangeArrowheads="1"/>
              </p:cNvSpPr>
              <p:nvPr/>
            </p:nvSpPr>
            <p:spPr bwMode="auto">
              <a:xfrm>
                <a:off x="4084" y="2789"/>
                <a:ext cx="68" cy="255"/>
              </a:xfrm>
              <a:prstGeom prst="rect">
                <a:avLst/>
              </a:pr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6" name="Rectangle 1574"/>
              <p:cNvSpPr>
                <a:spLocks noChangeArrowheads="1"/>
              </p:cNvSpPr>
              <p:nvPr/>
            </p:nvSpPr>
            <p:spPr bwMode="auto">
              <a:xfrm>
                <a:off x="4152" y="2789"/>
                <a:ext cx="69" cy="255"/>
              </a:xfrm>
              <a:prstGeom prst="rect">
                <a:avLst/>
              </a:pr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7" name="Rectangle 1575"/>
              <p:cNvSpPr>
                <a:spLocks noChangeArrowheads="1"/>
              </p:cNvSpPr>
              <p:nvPr/>
            </p:nvSpPr>
            <p:spPr bwMode="auto">
              <a:xfrm>
                <a:off x="4221" y="2789"/>
                <a:ext cx="68" cy="255"/>
              </a:xfrm>
              <a:prstGeom prst="rect">
                <a:avLst/>
              </a:pr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8" name="Rectangle 1576"/>
              <p:cNvSpPr>
                <a:spLocks noChangeArrowheads="1"/>
              </p:cNvSpPr>
              <p:nvPr/>
            </p:nvSpPr>
            <p:spPr bwMode="auto">
              <a:xfrm>
                <a:off x="2924" y="2789"/>
                <a:ext cx="1365" cy="255"/>
              </a:xfrm>
              <a:prstGeom prst="rect">
                <a:avLst/>
              </a:prstGeom>
              <a:noFill/>
              <a:ln w="0">
                <a:solidFill>
                  <a:srgbClr val="7F7F7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89" name="Freeform 1577"/>
              <p:cNvSpPr>
                <a:spLocks/>
              </p:cNvSpPr>
              <p:nvPr/>
            </p:nvSpPr>
            <p:spPr bwMode="auto">
              <a:xfrm>
                <a:off x="4276" y="2791"/>
                <a:ext cx="8" cy="7"/>
              </a:xfrm>
              <a:custGeom>
                <a:avLst/>
                <a:gdLst>
                  <a:gd name="T0" fmla="*/ 17 w 17"/>
                  <a:gd name="T1" fmla="*/ 12 h 14"/>
                  <a:gd name="T2" fmla="*/ 17 w 17"/>
                  <a:gd name="T3" fmla="*/ 0 h 14"/>
                  <a:gd name="T4" fmla="*/ 0 w 17"/>
                  <a:gd name="T5" fmla="*/ 14 h 14"/>
                  <a:gd name="T6" fmla="*/ 17 w 17"/>
                  <a:gd name="T7" fmla="*/ 12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7" h="14">
                    <a:moveTo>
                      <a:pt x="17" y="12"/>
                    </a:moveTo>
                    <a:lnTo>
                      <a:pt x="17" y="0"/>
                    </a:lnTo>
                    <a:lnTo>
                      <a:pt x="0" y="14"/>
                    </a:lnTo>
                    <a:lnTo>
                      <a:pt x="17" y="1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0" name="Freeform 1578"/>
              <p:cNvSpPr>
                <a:spLocks/>
              </p:cNvSpPr>
              <p:nvPr/>
            </p:nvSpPr>
            <p:spPr bwMode="auto">
              <a:xfrm>
                <a:off x="4257" y="2797"/>
                <a:ext cx="27" cy="15"/>
              </a:xfrm>
              <a:custGeom>
                <a:avLst/>
                <a:gdLst>
                  <a:gd name="T0" fmla="*/ 53 w 53"/>
                  <a:gd name="T1" fmla="*/ 0 h 30"/>
                  <a:gd name="T2" fmla="*/ 53 w 53"/>
                  <a:gd name="T3" fmla="*/ 25 h 30"/>
                  <a:gd name="T4" fmla="*/ 0 w 53"/>
                  <a:gd name="T5" fmla="*/ 30 h 30"/>
                  <a:gd name="T6" fmla="*/ 36 w 53"/>
                  <a:gd name="T7" fmla="*/ 2 h 30"/>
                  <a:gd name="T8" fmla="*/ 53 w 53"/>
                  <a:gd name="T9" fmla="*/ 0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3" h="30">
                    <a:moveTo>
                      <a:pt x="53" y="0"/>
                    </a:moveTo>
                    <a:lnTo>
                      <a:pt x="53" y="25"/>
                    </a:lnTo>
                    <a:lnTo>
                      <a:pt x="0" y="30"/>
                    </a:lnTo>
                    <a:lnTo>
                      <a:pt x="36" y="2"/>
                    </a:lnTo>
                    <a:lnTo>
                      <a:pt x="53" y="0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1" name="Freeform 1579"/>
              <p:cNvSpPr>
                <a:spLocks/>
              </p:cNvSpPr>
              <p:nvPr/>
            </p:nvSpPr>
            <p:spPr bwMode="auto">
              <a:xfrm>
                <a:off x="4238" y="2809"/>
                <a:ext cx="46" cy="18"/>
              </a:xfrm>
              <a:custGeom>
                <a:avLst/>
                <a:gdLst>
                  <a:gd name="T0" fmla="*/ 91 w 91"/>
                  <a:gd name="T1" fmla="*/ 0 h 36"/>
                  <a:gd name="T2" fmla="*/ 91 w 91"/>
                  <a:gd name="T3" fmla="*/ 25 h 36"/>
                  <a:gd name="T4" fmla="*/ 0 w 91"/>
                  <a:gd name="T5" fmla="*/ 36 h 36"/>
                  <a:gd name="T6" fmla="*/ 38 w 91"/>
                  <a:gd name="T7" fmla="*/ 5 h 36"/>
                  <a:gd name="T8" fmla="*/ 91 w 91"/>
                  <a:gd name="T9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1" h="36">
                    <a:moveTo>
                      <a:pt x="91" y="0"/>
                    </a:moveTo>
                    <a:lnTo>
                      <a:pt x="91" y="25"/>
                    </a:lnTo>
                    <a:lnTo>
                      <a:pt x="0" y="36"/>
                    </a:lnTo>
                    <a:lnTo>
                      <a:pt x="38" y="5"/>
                    </a:lnTo>
                    <a:lnTo>
                      <a:pt x="91" y="0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2" name="Freeform 1580"/>
              <p:cNvSpPr>
                <a:spLocks/>
              </p:cNvSpPr>
              <p:nvPr/>
            </p:nvSpPr>
            <p:spPr bwMode="auto">
              <a:xfrm>
                <a:off x="4228" y="2822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26 h 38"/>
                  <a:gd name="T8" fmla="*/ 21 w 112"/>
                  <a:gd name="T9" fmla="*/ 11 h 38"/>
                  <a:gd name="T10" fmla="*/ 112 w 112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26"/>
                    </a:lnTo>
                    <a:lnTo>
                      <a:pt x="21" y="11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3" name="Freeform 1581"/>
              <p:cNvSpPr>
                <a:spLocks/>
              </p:cNvSpPr>
              <p:nvPr/>
            </p:nvSpPr>
            <p:spPr bwMode="auto">
              <a:xfrm>
                <a:off x="4228" y="2835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4" name="Freeform 1582"/>
              <p:cNvSpPr>
                <a:spLocks/>
              </p:cNvSpPr>
              <p:nvPr/>
            </p:nvSpPr>
            <p:spPr bwMode="auto">
              <a:xfrm>
                <a:off x="4228" y="2848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8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8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5" name="Freeform 1583"/>
              <p:cNvSpPr>
                <a:spLocks/>
              </p:cNvSpPr>
              <p:nvPr/>
            </p:nvSpPr>
            <p:spPr bwMode="auto">
              <a:xfrm>
                <a:off x="4228" y="2862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0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0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6" name="Freeform 1584"/>
              <p:cNvSpPr>
                <a:spLocks/>
              </p:cNvSpPr>
              <p:nvPr/>
            </p:nvSpPr>
            <p:spPr bwMode="auto">
              <a:xfrm>
                <a:off x="4228" y="2875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7" name="Freeform 1585"/>
              <p:cNvSpPr>
                <a:spLocks/>
              </p:cNvSpPr>
              <p:nvPr/>
            </p:nvSpPr>
            <p:spPr bwMode="auto">
              <a:xfrm>
                <a:off x="4228" y="2888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5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5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8" name="Freeform 1586"/>
              <p:cNvSpPr>
                <a:spLocks/>
              </p:cNvSpPr>
              <p:nvPr/>
            </p:nvSpPr>
            <p:spPr bwMode="auto">
              <a:xfrm>
                <a:off x="4228" y="2901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3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3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99" name="Freeform 1587"/>
              <p:cNvSpPr>
                <a:spLocks/>
              </p:cNvSpPr>
              <p:nvPr/>
            </p:nvSpPr>
            <p:spPr bwMode="auto">
              <a:xfrm>
                <a:off x="4228" y="2914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0" name="Freeform 1588"/>
              <p:cNvSpPr>
                <a:spLocks/>
              </p:cNvSpPr>
              <p:nvPr/>
            </p:nvSpPr>
            <p:spPr bwMode="auto">
              <a:xfrm>
                <a:off x="4228" y="2927"/>
                <a:ext cx="56" cy="19"/>
              </a:xfrm>
              <a:custGeom>
                <a:avLst/>
                <a:gdLst>
                  <a:gd name="T0" fmla="*/ 112 w 112"/>
                  <a:gd name="T1" fmla="*/ 0 h 38"/>
                  <a:gd name="T2" fmla="*/ 112 w 112"/>
                  <a:gd name="T3" fmla="*/ 26 h 38"/>
                  <a:gd name="T4" fmla="*/ 0 w 112"/>
                  <a:gd name="T5" fmla="*/ 38 h 38"/>
                  <a:gd name="T6" fmla="*/ 0 w 112"/>
                  <a:gd name="T7" fmla="*/ 12 h 38"/>
                  <a:gd name="T8" fmla="*/ 112 w 112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8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38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1" name="Freeform 1589"/>
              <p:cNvSpPr>
                <a:spLocks/>
              </p:cNvSpPr>
              <p:nvPr/>
            </p:nvSpPr>
            <p:spPr bwMode="auto">
              <a:xfrm>
                <a:off x="4228" y="2940"/>
                <a:ext cx="56" cy="19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2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2" name="Freeform 1590"/>
              <p:cNvSpPr>
                <a:spLocks/>
              </p:cNvSpPr>
              <p:nvPr/>
            </p:nvSpPr>
            <p:spPr bwMode="auto">
              <a:xfrm>
                <a:off x="4228" y="2952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3" name="Freeform 1591"/>
              <p:cNvSpPr>
                <a:spLocks/>
              </p:cNvSpPr>
              <p:nvPr/>
            </p:nvSpPr>
            <p:spPr bwMode="auto">
              <a:xfrm>
                <a:off x="4228" y="2965"/>
                <a:ext cx="56" cy="20"/>
              </a:xfrm>
              <a:custGeom>
                <a:avLst/>
                <a:gdLst>
                  <a:gd name="T0" fmla="*/ 112 w 112"/>
                  <a:gd name="T1" fmla="*/ 0 h 40"/>
                  <a:gd name="T2" fmla="*/ 112 w 112"/>
                  <a:gd name="T3" fmla="*/ 26 h 40"/>
                  <a:gd name="T4" fmla="*/ 0 w 112"/>
                  <a:gd name="T5" fmla="*/ 40 h 40"/>
                  <a:gd name="T6" fmla="*/ 0 w 112"/>
                  <a:gd name="T7" fmla="*/ 14 h 40"/>
                  <a:gd name="T8" fmla="*/ 112 w 112"/>
                  <a:gd name="T9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40">
                    <a:moveTo>
                      <a:pt x="112" y="0"/>
                    </a:moveTo>
                    <a:lnTo>
                      <a:pt x="112" y="26"/>
                    </a:lnTo>
                    <a:lnTo>
                      <a:pt x="0" y="40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A0A0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4" name="Freeform 1592"/>
              <p:cNvSpPr>
                <a:spLocks/>
              </p:cNvSpPr>
              <p:nvPr/>
            </p:nvSpPr>
            <p:spPr bwMode="auto">
              <a:xfrm>
                <a:off x="4228" y="2978"/>
                <a:ext cx="56" cy="20"/>
              </a:xfrm>
              <a:custGeom>
                <a:avLst/>
                <a:gdLst>
                  <a:gd name="T0" fmla="*/ 112 w 112"/>
                  <a:gd name="T1" fmla="*/ 0 h 39"/>
                  <a:gd name="T2" fmla="*/ 112 w 112"/>
                  <a:gd name="T3" fmla="*/ 27 h 39"/>
                  <a:gd name="T4" fmla="*/ 0 w 112"/>
                  <a:gd name="T5" fmla="*/ 39 h 39"/>
                  <a:gd name="T6" fmla="*/ 0 w 112"/>
                  <a:gd name="T7" fmla="*/ 14 h 39"/>
                  <a:gd name="T8" fmla="*/ 112 w 112"/>
                  <a:gd name="T9" fmla="*/ 0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39">
                    <a:moveTo>
                      <a:pt x="112" y="0"/>
                    </a:moveTo>
                    <a:lnTo>
                      <a:pt x="112" y="27"/>
                    </a:lnTo>
                    <a:lnTo>
                      <a:pt x="0" y="39"/>
                    </a:lnTo>
                    <a:lnTo>
                      <a:pt x="0" y="14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999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5" name="Freeform 1593"/>
              <p:cNvSpPr>
                <a:spLocks/>
              </p:cNvSpPr>
              <p:nvPr/>
            </p:nvSpPr>
            <p:spPr bwMode="auto">
              <a:xfrm>
                <a:off x="4228" y="2992"/>
                <a:ext cx="56" cy="17"/>
              </a:xfrm>
              <a:custGeom>
                <a:avLst/>
                <a:gdLst>
                  <a:gd name="T0" fmla="*/ 112 w 112"/>
                  <a:gd name="T1" fmla="*/ 0 h 35"/>
                  <a:gd name="T2" fmla="*/ 112 w 112"/>
                  <a:gd name="T3" fmla="*/ 26 h 35"/>
                  <a:gd name="T4" fmla="*/ 26 w 112"/>
                  <a:gd name="T5" fmla="*/ 35 h 35"/>
                  <a:gd name="T6" fmla="*/ 0 w 112"/>
                  <a:gd name="T7" fmla="*/ 16 h 35"/>
                  <a:gd name="T8" fmla="*/ 0 w 112"/>
                  <a:gd name="T9" fmla="*/ 12 h 35"/>
                  <a:gd name="T10" fmla="*/ 112 w 112"/>
                  <a:gd name="T11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12" h="35">
                    <a:moveTo>
                      <a:pt x="112" y="0"/>
                    </a:moveTo>
                    <a:lnTo>
                      <a:pt x="112" y="26"/>
                    </a:lnTo>
                    <a:lnTo>
                      <a:pt x="26" y="35"/>
                    </a:lnTo>
                    <a:lnTo>
                      <a:pt x="0" y="16"/>
                    </a:lnTo>
                    <a:lnTo>
                      <a:pt x="0" y="12"/>
                    </a:lnTo>
                    <a:lnTo>
                      <a:pt x="112" y="0"/>
                    </a:lnTo>
                    <a:close/>
                  </a:path>
                </a:pathLst>
              </a:custGeom>
              <a:solidFill>
                <a:srgbClr val="93939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6" name="Freeform 1594"/>
              <p:cNvSpPr>
                <a:spLocks/>
              </p:cNvSpPr>
              <p:nvPr/>
            </p:nvSpPr>
            <p:spPr bwMode="auto">
              <a:xfrm>
                <a:off x="4241" y="3005"/>
                <a:ext cx="43" cy="16"/>
              </a:xfrm>
              <a:custGeom>
                <a:avLst/>
                <a:gdLst>
                  <a:gd name="T0" fmla="*/ 86 w 86"/>
                  <a:gd name="T1" fmla="*/ 0 h 33"/>
                  <a:gd name="T2" fmla="*/ 86 w 86"/>
                  <a:gd name="T3" fmla="*/ 26 h 33"/>
                  <a:gd name="T4" fmla="*/ 29 w 86"/>
                  <a:gd name="T5" fmla="*/ 33 h 33"/>
                  <a:gd name="T6" fmla="*/ 0 w 86"/>
                  <a:gd name="T7" fmla="*/ 9 h 33"/>
                  <a:gd name="T8" fmla="*/ 86 w 86"/>
                  <a:gd name="T9" fmla="*/ 0 h 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6" h="33">
                    <a:moveTo>
                      <a:pt x="86" y="0"/>
                    </a:moveTo>
                    <a:lnTo>
                      <a:pt x="86" y="26"/>
                    </a:lnTo>
                    <a:lnTo>
                      <a:pt x="29" y="33"/>
                    </a:lnTo>
                    <a:lnTo>
                      <a:pt x="0" y="9"/>
                    </a:lnTo>
                    <a:lnTo>
                      <a:pt x="86" y="0"/>
                    </a:lnTo>
                    <a:close/>
                  </a:path>
                </a:pathLst>
              </a:custGeom>
              <a:solidFill>
                <a:srgbClr val="8C8C8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7" name="Freeform 1595"/>
              <p:cNvSpPr>
                <a:spLocks/>
              </p:cNvSpPr>
              <p:nvPr/>
            </p:nvSpPr>
            <p:spPr bwMode="auto">
              <a:xfrm>
                <a:off x="4256" y="3018"/>
                <a:ext cx="28" cy="15"/>
              </a:xfrm>
              <a:custGeom>
                <a:avLst/>
                <a:gdLst>
                  <a:gd name="T0" fmla="*/ 57 w 57"/>
                  <a:gd name="T1" fmla="*/ 0 h 29"/>
                  <a:gd name="T2" fmla="*/ 57 w 57"/>
                  <a:gd name="T3" fmla="*/ 26 h 29"/>
                  <a:gd name="T4" fmla="*/ 30 w 57"/>
                  <a:gd name="T5" fmla="*/ 29 h 29"/>
                  <a:gd name="T6" fmla="*/ 0 w 57"/>
                  <a:gd name="T7" fmla="*/ 7 h 29"/>
                  <a:gd name="T8" fmla="*/ 57 w 57"/>
                  <a:gd name="T9" fmla="*/ 0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7" h="29">
                    <a:moveTo>
                      <a:pt x="57" y="0"/>
                    </a:moveTo>
                    <a:lnTo>
                      <a:pt x="57" y="26"/>
                    </a:lnTo>
                    <a:lnTo>
                      <a:pt x="30" y="29"/>
                    </a:lnTo>
                    <a:lnTo>
                      <a:pt x="0" y="7"/>
                    </a:lnTo>
                    <a:lnTo>
                      <a:pt x="57" y="0"/>
                    </a:lnTo>
                    <a:close/>
                  </a:path>
                </a:pathLst>
              </a:custGeom>
              <a:solidFill>
                <a:srgbClr val="85858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8" name="Freeform 1596"/>
              <p:cNvSpPr>
                <a:spLocks/>
              </p:cNvSpPr>
              <p:nvPr/>
            </p:nvSpPr>
            <p:spPr bwMode="auto">
              <a:xfrm>
                <a:off x="4270" y="3031"/>
                <a:ext cx="14" cy="12"/>
              </a:xfrm>
              <a:custGeom>
                <a:avLst/>
                <a:gdLst>
                  <a:gd name="T0" fmla="*/ 27 w 27"/>
                  <a:gd name="T1" fmla="*/ 0 h 24"/>
                  <a:gd name="T2" fmla="*/ 27 w 27"/>
                  <a:gd name="T3" fmla="*/ 24 h 24"/>
                  <a:gd name="T4" fmla="*/ 0 w 27"/>
                  <a:gd name="T5" fmla="*/ 3 h 24"/>
                  <a:gd name="T6" fmla="*/ 27 w 27"/>
                  <a:gd name="T7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7" h="24">
                    <a:moveTo>
                      <a:pt x="27" y="0"/>
                    </a:moveTo>
                    <a:lnTo>
                      <a:pt x="27" y="24"/>
                    </a:lnTo>
                    <a:lnTo>
                      <a:pt x="0" y="3"/>
                    </a:ln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7F7F7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09" name="Freeform 1597"/>
              <p:cNvSpPr>
                <a:spLocks/>
              </p:cNvSpPr>
              <p:nvPr/>
            </p:nvSpPr>
            <p:spPr bwMode="auto">
              <a:xfrm>
                <a:off x="4228" y="2791"/>
                <a:ext cx="56" cy="252"/>
              </a:xfrm>
              <a:custGeom>
                <a:avLst/>
                <a:gdLst>
                  <a:gd name="T0" fmla="*/ 0 w 112"/>
                  <a:gd name="T1" fmla="*/ 88 h 504"/>
                  <a:gd name="T2" fmla="*/ 112 w 112"/>
                  <a:gd name="T3" fmla="*/ 0 h 504"/>
                  <a:gd name="T4" fmla="*/ 112 w 112"/>
                  <a:gd name="T5" fmla="*/ 504 h 504"/>
                  <a:gd name="T6" fmla="*/ 0 w 112"/>
                  <a:gd name="T7" fmla="*/ 418 h 504"/>
                  <a:gd name="T8" fmla="*/ 0 w 112"/>
                  <a:gd name="T9" fmla="*/ 88 h 5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12" h="504">
                    <a:moveTo>
                      <a:pt x="0" y="88"/>
                    </a:moveTo>
                    <a:lnTo>
                      <a:pt x="112" y="0"/>
                    </a:lnTo>
                    <a:lnTo>
                      <a:pt x="112" y="504"/>
                    </a:lnTo>
                    <a:lnTo>
                      <a:pt x="0" y="418"/>
                    </a:lnTo>
                    <a:lnTo>
                      <a:pt x="0" y="88"/>
                    </a:lnTo>
                  </a:path>
                </a:pathLst>
              </a:custGeom>
              <a:noFill/>
              <a:ln w="0">
                <a:solidFill>
                  <a:srgbClr val="7F7F7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0" name="Freeform 1598"/>
              <p:cNvSpPr>
                <a:spLocks/>
              </p:cNvSpPr>
              <p:nvPr/>
            </p:nvSpPr>
            <p:spPr bwMode="auto">
              <a:xfrm>
                <a:off x="4222" y="2999"/>
                <a:ext cx="68" cy="43"/>
              </a:xfrm>
              <a:custGeom>
                <a:avLst/>
                <a:gdLst>
                  <a:gd name="T0" fmla="*/ 0 w 137"/>
                  <a:gd name="T1" fmla="*/ 86 h 86"/>
                  <a:gd name="T2" fmla="*/ 137 w 137"/>
                  <a:gd name="T3" fmla="*/ 86 h 86"/>
                  <a:gd name="T4" fmla="*/ 12 w 137"/>
                  <a:gd name="T5" fmla="*/ 0 h 86"/>
                  <a:gd name="T6" fmla="*/ 9 w 137"/>
                  <a:gd name="T7" fmla="*/ 0 h 86"/>
                  <a:gd name="T8" fmla="*/ 0 w 13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7" h="86">
                    <a:moveTo>
                      <a:pt x="0" y="86"/>
                    </a:moveTo>
                    <a:lnTo>
                      <a:pt x="137" y="86"/>
                    </a:lnTo>
                    <a:lnTo>
                      <a:pt x="12" y="0"/>
                    </a:lnTo>
                    <a:lnTo>
                      <a:pt x="9" y="0"/>
                    </a:lnTo>
                    <a:lnTo>
                      <a:pt x="0" y="86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1" name="Freeform 1599"/>
              <p:cNvSpPr>
                <a:spLocks/>
              </p:cNvSpPr>
              <p:nvPr/>
            </p:nvSpPr>
            <p:spPr bwMode="auto">
              <a:xfrm>
                <a:off x="4153" y="2999"/>
                <a:ext cx="73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F8F8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2" name="Freeform 1600"/>
              <p:cNvSpPr>
                <a:spLocks/>
              </p:cNvSpPr>
              <p:nvPr/>
            </p:nvSpPr>
            <p:spPr bwMode="auto">
              <a:xfrm>
                <a:off x="4085" y="2999"/>
                <a:ext cx="73" cy="43"/>
              </a:xfrm>
              <a:custGeom>
                <a:avLst/>
                <a:gdLst>
                  <a:gd name="T0" fmla="*/ 136 w 146"/>
                  <a:gd name="T1" fmla="*/ 86 h 86"/>
                  <a:gd name="T2" fmla="*/ 0 w 146"/>
                  <a:gd name="T3" fmla="*/ 86 h 86"/>
                  <a:gd name="T4" fmla="*/ 8 w 146"/>
                  <a:gd name="T5" fmla="*/ 0 h 86"/>
                  <a:gd name="T6" fmla="*/ 146 w 146"/>
                  <a:gd name="T7" fmla="*/ 0 h 86"/>
                  <a:gd name="T8" fmla="*/ 136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F1F1F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3" name="Freeform 1601"/>
              <p:cNvSpPr>
                <a:spLocks/>
              </p:cNvSpPr>
              <p:nvPr/>
            </p:nvSpPr>
            <p:spPr bwMode="auto">
              <a:xfrm>
                <a:off x="4016" y="2999"/>
                <a:ext cx="73" cy="43"/>
              </a:xfrm>
              <a:custGeom>
                <a:avLst/>
                <a:gdLst>
                  <a:gd name="T0" fmla="*/ 138 w 146"/>
                  <a:gd name="T1" fmla="*/ 86 h 86"/>
                  <a:gd name="T2" fmla="*/ 0 w 146"/>
                  <a:gd name="T3" fmla="*/ 86 h 86"/>
                  <a:gd name="T4" fmla="*/ 10 w 146"/>
                  <a:gd name="T5" fmla="*/ 0 h 86"/>
                  <a:gd name="T6" fmla="*/ 146 w 146"/>
                  <a:gd name="T7" fmla="*/ 0 h 86"/>
                  <a:gd name="T8" fmla="*/ 138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EAEA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4" name="Freeform 1602"/>
              <p:cNvSpPr>
                <a:spLocks/>
              </p:cNvSpPr>
              <p:nvPr/>
            </p:nvSpPr>
            <p:spPr bwMode="auto">
              <a:xfrm>
                <a:off x="3948" y="2999"/>
                <a:ext cx="73" cy="43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E4E4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5" name="Freeform 1603"/>
              <p:cNvSpPr>
                <a:spLocks/>
              </p:cNvSpPr>
              <p:nvPr/>
            </p:nvSpPr>
            <p:spPr bwMode="auto">
              <a:xfrm>
                <a:off x="3879" y="2999"/>
                <a:ext cx="73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DDDDD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6" name="Freeform 1604"/>
              <p:cNvSpPr>
                <a:spLocks/>
              </p:cNvSpPr>
              <p:nvPr/>
            </p:nvSpPr>
            <p:spPr bwMode="auto">
              <a:xfrm>
                <a:off x="3810" y="2999"/>
                <a:ext cx="74" cy="43"/>
              </a:xfrm>
              <a:custGeom>
                <a:avLst/>
                <a:gdLst>
                  <a:gd name="T0" fmla="*/ 136 w 146"/>
                  <a:gd name="T1" fmla="*/ 86 h 86"/>
                  <a:gd name="T2" fmla="*/ 0 w 146"/>
                  <a:gd name="T3" fmla="*/ 86 h 86"/>
                  <a:gd name="T4" fmla="*/ 8 w 146"/>
                  <a:gd name="T5" fmla="*/ 0 h 86"/>
                  <a:gd name="T6" fmla="*/ 146 w 146"/>
                  <a:gd name="T7" fmla="*/ 0 h 86"/>
                  <a:gd name="T8" fmla="*/ 136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8" y="0"/>
                    </a:lnTo>
                    <a:lnTo>
                      <a:pt x="146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D6D6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7" name="Freeform 1605"/>
              <p:cNvSpPr>
                <a:spLocks/>
              </p:cNvSpPr>
              <p:nvPr/>
            </p:nvSpPr>
            <p:spPr bwMode="auto">
              <a:xfrm>
                <a:off x="3741" y="2999"/>
                <a:ext cx="74" cy="43"/>
              </a:xfrm>
              <a:custGeom>
                <a:avLst/>
                <a:gdLst>
                  <a:gd name="T0" fmla="*/ 138 w 146"/>
                  <a:gd name="T1" fmla="*/ 86 h 86"/>
                  <a:gd name="T2" fmla="*/ 0 w 146"/>
                  <a:gd name="T3" fmla="*/ 86 h 86"/>
                  <a:gd name="T4" fmla="*/ 10 w 146"/>
                  <a:gd name="T5" fmla="*/ 0 h 86"/>
                  <a:gd name="T6" fmla="*/ 146 w 146"/>
                  <a:gd name="T7" fmla="*/ 0 h 86"/>
                  <a:gd name="T8" fmla="*/ 138 w 146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6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6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FCFC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8" name="Freeform 1606"/>
              <p:cNvSpPr>
                <a:spLocks/>
              </p:cNvSpPr>
              <p:nvPr/>
            </p:nvSpPr>
            <p:spPr bwMode="auto">
              <a:xfrm>
                <a:off x="3673" y="2999"/>
                <a:ext cx="73" cy="43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C9C9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19" name="Freeform 1607"/>
              <p:cNvSpPr>
                <a:spLocks/>
              </p:cNvSpPr>
              <p:nvPr/>
            </p:nvSpPr>
            <p:spPr bwMode="auto">
              <a:xfrm>
                <a:off x="3604" y="2999"/>
                <a:ext cx="73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C2C2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20" name="Freeform 1608"/>
              <p:cNvSpPr>
                <a:spLocks/>
              </p:cNvSpPr>
              <p:nvPr/>
            </p:nvSpPr>
            <p:spPr bwMode="auto">
              <a:xfrm>
                <a:off x="3536" y="2999"/>
                <a:ext cx="73" cy="43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10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10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BBBB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21" name="Freeform 1609"/>
              <p:cNvSpPr>
                <a:spLocks/>
              </p:cNvSpPr>
              <p:nvPr/>
            </p:nvSpPr>
            <p:spPr bwMode="auto">
              <a:xfrm>
                <a:off x="3468" y="2999"/>
                <a:ext cx="73" cy="43"/>
              </a:xfrm>
              <a:custGeom>
                <a:avLst/>
                <a:gdLst>
                  <a:gd name="T0" fmla="*/ 137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7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7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7" y="86"/>
                    </a:lnTo>
                    <a:close/>
                  </a:path>
                </a:pathLst>
              </a:custGeom>
              <a:solidFill>
                <a:srgbClr val="B4B4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22" name="Freeform 1610"/>
              <p:cNvSpPr>
                <a:spLocks/>
              </p:cNvSpPr>
              <p:nvPr/>
            </p:nvSpPr>
            <p:spPr bwMode="auto">
              <a:xfrm>
                <a:off x="3399" y="2999"/>
                <a:ext cx="73" cy="43"/>
              </a:xfrm>
              <a:custGeom>
                <a:avLst/>
                <a:gdLst>
                  <a:gd name="T0" fmla="*/ 138 w 147"/>
                  <a:gd name="T1" fmla="*/ 86 h 86"/>
                  <a:gd name="T2" fmla="*/ 0 w 147"/>
                  <a:gd name="T3" fmla="*/ 86 h 86"/>
                  <a:gd name="T4" fmla="*/ 11 w 147"/>
                  <a:gd name="T5" fmla="*/ 0 h 86"/>
                  <a:gd name="T6" fmla="*/ 147 w 147"/>
                  <a:gd name="T7" fmla="*/ 0 h 86"/>
                  <a:gd name="T8" fmla="*/ 138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8" y="86"/>
                    </a:moveTo>
                    <a:lnTo>
                      <a:pt x="0" y="86"/>
                    </a:lnTo>
                    <a:lnTo>
                      <a:pt x="11" y="0"/>
                    </a:lnTo>
                    <a:lnTo>
                      <a:pt x="147" y="0"/>
                    </a:lnTo>
                    <a:lnTo>
                      <a:pt x="138" y="86"/>
                    </a:lnTo>
                    <a:close/>
                  </a:path>
                </a:pathLst>
              </a:custGeom>
              <a:solidFill>
                <a:srgbClr val="AEAE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23" name="Freeform 1611"/>
              <p:cNvSpPr>
                <a:spLocks/>
              </p:cNvSpPr>
              <p:nvPr/>
            </p:nvSpPr>
            <p:spPr bwMode="auto">
              <a:xfrm>
                <a:off x="3330" y="2999"/>
                <a:ext cx="74" cy="43"/>
              </a:xfrm>
              <a:custGeom>
                <a:avLst/>
                <a:gdLst>
                  <a:gd name="T0" fmla="*/ 136 w 147"/>
                  <a:gd name="T1" fmla="*/ 86 h 86"/>
                  <a:gd name="T2" fmla="*/ 0 w 147"/>
                  <a:gd name="T3" fmla="*/ 86 h 86"/>
                  <a:gd name="T4" fmla="*/ 9 w 147"/>
                  <a:gd name="T5" fmla="*/ 0 h 86"/>
                  <a:gd name="T6" fmla="*/ 147 w 147"/>
                  <a:gd name="T7" fmla="*/ 0 h 86"/>
                  <a:gd name="T8" fmla="*/ 136 w 147"/>
                  <a:gd name="T9" fmla="*/ 86 h 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47" h="86">
                    <a:moveTo>
                      <a:pt x="136" y="86"/>
                    </a:moveTo>
                    <a:lnTo>
                      <a:pt x="0" y="86"/>
                    </a:lnTo>
                    <a:lnTo>
                      <a:pt x="9" y="0"/>
                    </a:lnTo>
                    <a:lnTo>
                      <a:pt x="147" y="0"/>
                    </a:lnTo>
                    <a:lnTo>
                      <a:pt x="136" y="86"/>
                    </a:lnTo>
                    <a:close/>
                  </a:path>
                </a:pathLst>
              </a:custGeom>
              <a:solidFill>
                <a:srgbClr val="A7A7A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42924" name="Freeform 1612"/>
            <p:cNvSpPr>
              <a:spLocks/>
            </p:cNvSpPr>
            <p:nvPr/>
          </p:nvSpPr>
          <p:spPr bwMode="auto">
            <a:xfrm>
              <a:off x="3261" y="2999"/>
              <a:ext cx="74" cy="43"/>
            </a:xfrm>
            <a:custGeom>
              <a:avLst/>
              <a:gdLst>
                <a:gd name="T0" fmla="*/ 138 w 147"/>
                <a:gd name="T1" fmla="*/ 86 h 86"/>
                <a:gd name="T2" fmla="*/ 0 w 147"/>
                <a:gd name="T3" fmla="*/ 86 h 86"/>
                <a:gd name="T4" fmla="*/ 10 w 147"/>
                <a:gd name="T5" fmla="*/ 0 h 86"/>
                <a:gd name="T6" fmla="*/ 147 w 147"/>
                <a:gd name="T7" fmla="*/ 0 h 86"/>
                <a:gd name="T8" fmla="*/ 138 w 147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86">
                  <a:moveTo>
                    <a:pt x="138" y="86"/>
                  </a:moveTo>
                  <a:lnTo>
                    <a:pt x="0" y="86"/>
                  </a:lnTo>
                  <a:lnTo>
                    <a:pt x="10" y="0"/>
                  </a:lnTo>
                  <a:lnTo>
                    <a:pt x="147" y="0"/>
                  </a:lnTo>
                  <a:lnTo>
                    <a:pt x="138" y="86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25" name="Freeform 1613"/>
            <p:cNvSpPr>
              <a:spLocks/>
            </p:cNvSpPr>
            <p:nvPr/>
          </p:nvSpPr>
          <p:spPr bwMode="auto">
            <a:xfrm>
              <a:off x="3193" y="2999"/>
              <a:ext cx="74" cy="43"/>
            </a:xfrm>
            <a:custGeom>
              <a:avLst/>
              <a:gdLst>
                <a:gd name="T0" fmla="*/ 137 w 147"/>
                <a:gd name="T1" fmla="*/ 86 h 86"/>
                <a:gd name="T2" fmla="*/ 0 w 147"/>
                <a:gd name="T3" fmla="*/ 86 h 86"/>
                <a:gd name="T4" fmla="*/ 9 w 147"/>
                <a:gd name="T5" fmla="*/ 0 h 86"/>
                <a:gd name="T6" fmla="*/ 147 w 147"/>
                <a:gd name="T7" fmla="*/ 0 h 86"/>
                <a:gd name="T8" fmla="*/ 137 w 147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86">
                  <a:moveTo>
                    <a:pt x="137" y="86"/>
                  </a:moveTo>
                  <a:lnTo>
                    <a:pt x="0" y="86"/>
                  </a:lnTo>
                  <a:lnTo>
                    <a:pt x="9" y="0"/>
                  </a:lnTo>
                  <a:lnTo>
                    <a:pt x="147" y="0"/>
                  </a:lnTo>
                  <a:lnTo>
                    <a:pt x="137" y="86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26" name="Freeform 1614"/>
            <p:cNvSpPr>
              <a:spLocks/>
            </p:cNvSpPr>
            <p:nvPr/>
          </p:nvSpPr>
          <p:spPr bwMode="auto">
            <a:xfrm>
              <a:off x="3124" y="2999"/>
              <a:ext cx="74" cy="43"/>
            </a:xfrm>
            <a:custGeom>
              <a:avLst/>
              <a:gdLst>
                <a:gd name="T0" fmla="*/ 138 w 147"/>
                <a:gd name="T1" fmla="*/ 86 h 86"/>
                <a:gd name="T2" fmla="*/ 0 w 147"/>
                <a:gd name="T3" fmla="*/ 86 h 86"/>
                <a:gd name="T4" fmla="*/ 11 w 147"/>
                <a:gd name="T5" fmla="*/ 0 h 86"/>
                <a:gd name="T6" fmla="*/ 147 w 147"/>
                <a:gd name="T7" fmla="*/ 0 h 86"/>
                <a:gd name="T8" fmla="*/ 138 w 147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86">
                  <a:moveTo>
                    <a:pt x="138" y="86"/>
                  </a:moveTo>
                  <a:lnTo>
                    <a:pt x="0" y="86"/>
                  </a:lnTo>
                  <a:lnTo>
                    <a:pt x="11" y="0"/>
                  </a:lnTo>
                  <a:lnTo>
                    <a:pt x="147" y="0"/>
                  </a:lnTo>
                  <a:lnTo>
                    <a:pt x="138" y="86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27" name="Freeform 1615"/>
            <p:cNvSpPr>
              <a:spLocks/>
            </p:cNvSpPr>
            <p:nvPr/>
          </p:nvSpPr>
          <p:spPr bwMode="auto">
            <a:xfrm>
              <a:off x="3056" y="2999"/>
              <a:ext cx="73" cy="43"/>
            </a:xfrm>
            <a:custGeom>
              <a:avLst/>
              <a:gdLst>
                <a:gd name="T0" fmla="*/ 136 w 147"/>
                <a:gd name="T1" fmla="*/ 86 h 86"/>
                <a:gd name="T2" fmla="*/ 0 w 147"/>
                <a:gd name="T3" fmla="*/ 86 h 86"/>
                <a:gd name="T4" fmla="*/ 10 w 147"/>
                <a:gd name="T5" fmla="*/ 0 h 86"/>
                <a:gd name="T6" fmla="*/ 147 w 147"/>
                <a:gd name="T7" fmla="*/ 0 h 86"/>
                <a:gd name="T8" fmla="*/ 136 w 147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7" h="86">
                  <a:moveTo>
                    <a:pt x="136" y="86"/>
                  </a:moveTo>
                  <a:lnTo>
                    <a:pt x="0" y="86"/>
                  </a:lnTo>
                  <a:lnTo>
                    <a:pt x="10" y="0"/>
                  </a:lnTo>
                  <a:lnTo>
                    <a:pt x="147" y="0"/>
                  </a:lnTo>
                  <a:lnTo>
                    <a:pt x="136" y="86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28" name="Freeform 1616"/>
            <p:cNvSpPr>
              <a:spLocks/>
            </p:cNvSpPr>
            <p:nvPr/>
          </p:nvSpPr>
          <p:spPr bwMode="auto">
            <a:xfrm>
              <a:off x="2987" y="2999"/>
              <a:ext cx="74" cy="43"/>
            </a:xfrm>
            <a:custGeom>
              <a:avLst/>
              <a:gdLst>
                <a:gd name="T0" fmla="*/ 138 w 148"/>
                <a:gd name="T1" fmla="*/ 86 h 86"/>
                <a:gd name="T2" fmla="*/ 0 w 148"/>
                <a:gd name="T3" fmla="*/ 86 h 86"/>
                <a:gd name="T4" fmla="*/ 10 w 148"/>
                <a:gd name="T5" fmla="*/ 0 h 86"/>
                <a:gd name="T6" fmla="*/ 148 w 148"/>
                <a:gd name="T7" fmla="*/ 0 h 86"/>
                <a:gd name="T8" fmla="*/ 138 w 14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86">
                  <a:moveTo>
                    <a:pt x="138" y="86"/>
                  </a:moveTo>
                  <a:lnTo>
                    <a:pt x="0" y="86"/>
                  </a:lnTo>
                  <a:lnTo>
                    <a:pt x="10" y="0"/>
                  </a:lnTo>
                  <a:lnTo>
                    <a:pt x="148" y="0"/>
                  </a:lnTo>
                  <a:lnTo>
                    <a:pt x="138" y="86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29" name="Freeform 1617"/>
            <p:cNvSpPr>
              <a:spLocks/>
            </p:cNvSpPr>
            <p:nvPr/>
          </p:nvSpPr>
          <p:spPr bwMode="auto">
            <a:xfrm>
              <a:off x="2923" y="2999"/>
              <a:ext cx="69" cy="43"/>
            </a:xfrm>
            <a:custGeom>
              <a:avLst/>
              <a:gdLst>
                <a:gd name="T0" fmla="*/ 128 w 138"/>
                <a:gd name="T1" fmla="*/ 86 h 86"/>
                <a:gd name="T2" fmla="*/ 0 w 138"/>
                <a:gd name="T3" fmla="*/ 86 h 86"/>
                <a:gd name="T4" fmla="*/ 112 w 138"/>
                <a:gd name="T5" fmla="*/ 0 h 86"/>
                <a:gd name="T6" fmla="*/ 138 w 138"/>
                <a:gd name="T7" fmla="*/ 0 h 86"/>
                <a:gd name="T8" fmla="*/ 128 w 138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86">
                  <a:moveTo>
                    <a:pt x="128" y="86"/>
                  </a:moveTo>
                  <a:lnTo>
                    <a:pt x="0" y="86"/>
                  </a:lnTo>
                  <a:lnTo>
                    <a:pt x="112" y="0"/>
                  </a:lnTo>
                  <a:lnTo>
                    <a:pt x="138" y="0"/>
                  </a:lnTo>
                  <a:lnTo>
                    <a:pt x="128" y="86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0" name="Freeform 1618"/>
            <p:cNvSpPr>
              <a:spLocks/>
            </p:cNvSpPr>
            <p:nvPr/>
          </p:nvSpPr>
          <p:spPr bwMode="auto">
            <a:xfrm>
              <a:off x="2923" y="2999"/>
              <a:ext cx="1367" cy="43"/>
            </a:xfrm>
            <a:custGeom>
              <a:avLst/>
              <a:gdLst>
                <a:gd name="T0" fmla="*/ 112 w 2735"/>
                <a:gd name="T1" fmla="*/ 0 h 86"/>
                <a:gd name="T2" fmla="*/ 0 w 2735"/>
                <a:gd name="T3" fmla="*/ 86 h 86"/>
                <a:gd name="T4" fmla="*/ 2735 w 2735"/>
                <a:gd name="T5" fmla="*/ 86 h 86"/>
                <a:gd name="T6" fmla="*/ 2610 w 2735"/>
                <a:gd name="T7" fmla="*/ 0 h 86"/>
                <a:gd name="T8" fmla="*/ 112 w 2735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86">
                  <a:moveTo>
                    <a:pt x="112" y="0"/>
                  </a:moveTo>
                  <a:lnTo>
                    <a:pt x="0" y="86"/>
                  </a:lnTo>
                  <a:lnTo>
                    <a:pt x="2735" y="86"/>
                  </a:lnTo>
                  <a:lnTo>
                    <a:pt x="2610" y="0"/>
                  </a:lnTo>
                  <a:lnTo>
                    <a:pt x="112" y="0"/>
                  </a:lnTo>
                </a:path>
              </a:pathLst>
            </a:custGeom>
            <a:noFill/>
            <a:ln w="0">
              <a:solidFill>
                <a:srgbClr val="7F7F7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1" name="Freeform 1619"/>
            <p:cNvSpPr>
              <a:spLocks/>
            </p:cNvSpPr>
            <p:nvPr/>
          </p:nvSpPr>
          <p:spPr bwMode="auto">
            <a:xfrm>
              <a:off x="2923" y="2790"/>
              <a:ext cx="68" cy="44"/>
            </a:xfrm>
            <a:custGeom>
              <a:avLst/>
              <a:gdLst>
                <a:gd name="T0" fmla="*/ 136 w 136"/>
                <a:gd name="T1" fmla="*/ 0 h 88"/>
                <a:gd name="T2" fmla="*/ 0 w 136"/>
                <a:gd name="T3" fmla="*/ 0 h 88"/>
                <a:gd name="T4" fmla="*/ 118 w 136"/>
                <a:gd name="T5" fmla="*/ 88 h 88"/>
                <a:gd name="T6" fmla="*/ 136 w 136"/>
                <a:gd name="T7" fmla="*/ 88 h 88"/>
                <a:gd name="T8" fmla="*/ 136 w 136"/>
                <a:gd name="T9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88">
                  <a:moveTo>
                    <a:pt x="136" y="0"/>
                  </a:moveTo>
                  <a:lnTo>
                    <a:pt x="0" y="0"/>
                  </a:lnTo>
                  <a:lnTo>
                    <a:pt x="118" y="88"/>
                  </a:lnTo>
                  <a:lnTo>
                    <a:pt x="136" y="88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2" name="Rectangle 1620"/>
            <p:cNvSpPr>
              <a:spLocks noChangeArrowheads="1"/>
            </p:cNvSpPr>
            <p:nvPr/>
          </p:nvSpPr>
          <p:spPr bwMode="auto">
            <a:xfrm>
              <a:off x="2991" y="2790"/>
              <a:ext cx="68" cy="44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3" name="Rectangle 1621"/>
            <p:cNvSpPr>
              <a:spLocks noChangeArrowheads="1"/>
            </p:cNvSpPr>
            <p:nvPr/>
          </p:nvSpPr>
          <p:spPr bwMode="auto">
            <a:xfrm>
              <a:off x="3059" y="2790"/>
              <a:ext cx="69" cy="44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4" name="Rectangle 1622"/>
            <p:cNvSpPr>
              <a:spLocks noChangeArrowheads="1"/>
            </p:cNvSpPr>
            <p:nvPr/>
          </p:nvSpPr>
          <p:spPr bwMode="auto">
            <a:xfrm>
              <a:off x="3128" y="2790"/>
              <a:ext cx="68" cy="44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5" name="Rectangle 1623"/>
            <p:cNvSpPr>
              <a:spLocks noChangeArrowheads="1"/>
            </p:cNvSpPr>
            <p:nvPr/>
          </p:nvSpPr>
          <p:spPr bwMode="auto">
            <a:xfrm>
              <a:off x="3196" y="2790"/>
              <a:ext cx="68" cy="44"/>
            </a:xfrm>
            <a:prstGeom prst="rect">
              <a:avLst/>
            </a:pr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6" name="Rectangle 1624"/>
            <p:cNvSpPr>
              <a:spLocks noChangeArrowheads="1"/>
            </p:cNvSpPr>
            <p:nvPr/>
          </p:nvSpPr>
          <p:spPr bwMode="auto">
            <a:xfrm>
              <a:off x="3264" y="2790"/>
              <a:ext cx="68" cy="44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7" name="Rectangle 1625"/>
            <p:cNvSpPr>
              <a:spLocks noChangeArrowheads="1"/>
            </p:cNvSpPr>
            <p:nvPr/>
          </p:nvSpPr>
          <p:spPr bwMode="auto">
            <a:xfrm>
              <a:off x="3332" y="2790"/>
              <a:ext cx="68" cy="44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8" name="Rectangle 1626"/>
            <p:cNvSpPr>
              <a:spLocks noChangeArrowheads="1"/>
            </p:cNvSpPr>
            <p:nvPr/>
          </p:nvSpPr>
          <p:spPr bwMode="auto">
            <a:xfrm>
              <a:off x="3400" y="2790"/>
              <a:ext cx="69" cy="44"/>
            </a:xfrm>
            <a:prstGeom prst="rect">
              <a:avLst/>
            </a:pr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39" name="Rectangle 1627"/>
            <p:cNvSpPr>
              <a:spLocks noChangeArrowheads="1"/>
            </p:cNvSpPr>
            <p:nvPr/>
          </p:nvSpPr>
          <p:spPr bwMode="auto">
            <a:xfrm>
              <a:off x="3469" y="2790"/>
              <a:ext cx="68" cy="44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0" name="Rectangle 1628"/>
            <p:cNvSpPr>
              <a:spLocks noChangeArrowheads="1"/>
            </p:cNvSpPr>
            <p:nvPr/>
          </p:nvSpPr>
          <p:spPr bwMode="auto">
            <a:xfrm>
              <a:off x="3537" y="2790"/>
              <a:ext cx="68" cy="44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1" name="Rectangle 1629"/>
            <p:cNvSpPr>
              <a:spLocks noChangeArrowheads="1"/>
            </p:cNvSpPr>
            <p:nvPr/>
          </p:nvSpPr>
          <p:spPr bwMode="auto">
            <a:xfrm>
              <a:off x="3605" y="2790"/>
              <a:ext cx="68" cy="44"/>
            </a:xfrm>
            <a:prstGeom prst="rect">
              <a:avLst/>
            </a:pr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2" name="Rectangle 1630"/>
            <p:cNvSpPr>
              <a:spLocks noChangeArrowheads="1"/>
            </p:cNvSpPr>
            <p:nvPr/>
          </p:nvSpPr>
          <p:spPr bwMode="auto">
            <a:xfrm>
              <a:off x="3673" y="2790"/>
              <a:ext cx="68" cy="44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3" name="Rectangle 1631"/>
            <p:cNvSpPr>
              <a:spLocks noChangeArrowheads="1"/>
            </p:cNvSpPr>
            <p:nvPr/>
          </p:nvSpPr>
          <p:spPr bwMode="auto">
            <a:xfrm>
              <a:off x="3741" y="2790"/>
              <a:ext cx="69" cy="44"/>
            </a:xfrm>
            <a:prstGeom prst="rect">
              <a:avLst/>
            </a:pr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4" name="Rectangle 1632"/>
            <p:cNvSpPr>
              <a:spLocks noChangeArrowheads="1"/>
            </p:cNvSpPr>
            <p:nvPr/>
          </p:nvSpPr>
          <p:spPr bwMode="auto">
            <a:xfrm>
              <a:off x="3810" y="2790"/>
              <a:ext cx="68" cy="44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5" name="Rectangle 1633"/>
            <p:cNvSpPr>
              <a:spLocks noChangeArrowheads="1"/>
            </p:cNvSpPr>
            <p:nvPr/>
          </p:nvSpPr>
          <p:spPr bwMode="auto">
            <a:xfrm>
              <a:off x="3878" y="2790"/>
              <a:ext cx="68" cy="44"/>
            </a:xfrm>
            <a:prstGeom prst="rect">
              <a:avLst/>
            </a:pr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6" name="Rectangle 1634"/>
            <p:cNvSpPr>
              <a:spLocks noChangeArrowheads="1"/>
            </p:cNvSpPr>
            <p:nvPr/>
          </p:nvSpPr>
          <p:spPr bwMode="auto">
            <a:xfrm>
              <a:off x="3946" y="2790"/>
              <a:ext cx="68" cy="44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7" name="Rectangle 1635"/>
            <p:cNvSpPr>
              <a:spLocks noChangeArrowheads="1"/>
            </p:cNvSpPr>
            <p:nvPr/>
          </p:nvSpPr>
          <p:spPr bwMode="auto">
            <a:xfrm>
              <a:off x="4014" y="2790"/>
              <a:ext cx="68" cy="44"/>
            </a:xfrm>
            <a:prstGeom prst="rect">
              <a:avLst/>
            </a:pr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8" name="Rectangle 1636"/>
            <p:cNvSpPr>
              <a:spLocks noChangeArrowheads="1"/>
            </p:cNvSpPr>
            <p:nvPr/>
          </p:nvSpPr>
          <p:spPr bwMode="auto">
            <a:xfrm>
              <a:off x="4082" y="2790"/>
              <a:ext cx="68" cy="44"/>
            </a:xfrm>
            <a:prstGeom prst="rect">
              <a:avLst/>
            </a:pr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49" name="Rectangle 1637"/>
            <p:cNvSpPr>
              <a:spLocks noChangeArrowheads="1"/>
            </p:cNvSpPr>
            <p:nvPr/>
          </p:nvSpPr>
          <p:spPr bwMode="auto">
            <a:xfrm>
              <a:off x="4150" y="2790"/>
              <a:ext cx="69" cy="44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0" name="Freeform 1638"/>
            <p:cNvSpPr>
              <a:spLocks/>
            </p:cNvSpPr>
            <p:nvPr/>
          </p:nvSpPr>
          <p:spPr bwMode="auto">
            <a:xfrm>
              <a:off x="4219" y="2790"/>
              <a:ext cx="69" cy="44"/>
            </a:xfrm>
            <a:custGeom>
              <a:avLst/>
              <a:gdLst>
                <a:gd name="T0" fmla="*/ 0 w 136"/>
                <a:gd name="T1" fmla="*/ 0 h 88"/>
                <a:gd name="T2" fmla="*/ 136 w 136"/>
                <a:gd name="T3" fmla="*/ 0 h 88"/>
                <a:gd name="T4" fmla="*/ 24 w 136"/>
                <a:gd name="T5" fmla="*/ 88 h 88"/>
                <a:gd name="T6" fmla="*/ 0 w 136"/>
                <a:gd name="T7" fmla="*/ 88 h 88"/>
                <a:gd name="T8" fmla="*/ 0 w 136"/>
                <a:gd name="T9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88">
                  <a:moveTo>
                    <a:pt x="0" y="0"/>
                  </a:moveTo>
                  <a:lnTo>
                    <a:pt x="136" y="0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1" name="Freeform 1639"/>
            <p:cNvSpPr>
              <a:spLocks/>
            </p:cNvSpPr>
            <p:nvPr/>
          </p:nvSpPr>
          <p:spPr bwMode="auto">
            <a:xfrm>
              <a:off x="2923" y="2790"/>
              <a:ext cx="1365" cy="44"/>
            </a:xfrm>
            <a:custGeom>
              <a:avLst/>
              <a:gdLst>
                <a:gd name="T0" fmla="*/ 118 w 2729"/>
                <a:gd name="T1" fmla="*/ 88 h 88"/>
                <a:gd name="T2" fmla="*/ 0 w 2729"/>
                <a:gd name="T3" fmla="*/ 0 h 88"/>
                <a:gd name="T4" fmla="*/ 2729 w 2729"/>
                <a:gd name="T5" fmla="*/ 0 h 88"/>
                <a:gd name="T6" fmla="*/ 2617 w 2729"/>
                <a:gd name="T7" fmla="*/ 88 h 88"/>
                <a:gd name="T8" fmla="*/ 118 w 272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29" h="88">
                  <a:moveTo>
                    <a:pt x="118" y="88"/>
                  </a:moveTo>
                  <a:lnTo>
                    <a:pt x="0" y="0"/>
                  </a:lnTo>
                  <a:lnTo>
                    <a:pt x="2729" y="0"/>
                  </a:lnTo>
                  <a:lnTo>
                    <a:pt x="2617" y="88"/>
                  </a:lnTo>
                  <a:lnTo>
                    <a:pt x="118" y="88"/>
                  </a:lnTo>
                </a:path>
              </a:pathLst>
            </a:custGeom>
            <a:noFill/>
            <a:ln w="0">
              <a:solidFill>
                <a:srgbClr val="7F7F7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2" name="Freeform 1640"/>
            <p:cNvSpPr>
              <a:spLocks/>
            </p:cNvSpPr>
            <p:nvPr/>
          </p:nvSpPr>
          <p:spPr bwMode="auto">
            <a:xfrm>
              <a:off x="2922" y="2789"/>
              <a:ext cx="16" cy="12"/>
            </a:xfrm>
            <a:custGeom>
              <a:avLst/>
              <a:gdLst>
                <a:gd name="T0" fmla="*/ 31 w 31"/>
                <a:gd name="T1" fmla="*/ 23 h 26"/>
                <a:gd name="T2" fmla="*/ 0 w 31"/>
                <a:gd name="T3" fmla="*/ 0 h 26"/>
                <a:gd name="T4" fmla="*/ 0 w 31"/>
                <a:gd name="T5" fmla="*/ 26 h 26"/>
                <a:gd name="T6" fmla="*/ 31 w 31"/>
                <a:gd name="T7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6">
                  <a:moveTo>
                    <a:pt x="31" y="23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31" y="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3" name="Freeform 1641"/>
            <p:cNvSpPr>
              <a:spLocks/>
            </p:cNvSpPr>
            <p:nvPr/>
          </p:nvSpPr>
          <p:spPr bwMode="auto">
            <a:xfrm>
              <a:off x="2922" y="2800"/>
              <a:ext cx="32" cy="14"/>
            </a:xfrm>
            <a:custGeom>
              <a:avLst/>
              <a:gdLst>
                <a:gd name="T0" fmla="*/ 31 w 64"/>
                <a:gd name="T1" fmla="*/ 0 h 29"/>
                <a:gd name="T2" fmla="*/ 64 w 64"/>
                <a:gd name="T3" fmla="*/ 22 h 29"/>
                <a:gd name="T4" fmla="*/ 0 w 64"/>
                <a:gd name="T5" fmla="*/ 29 h 29"/>
                <a:gd name="T6" fmla="*/ 0 w 64"/>
                <a:gd name="T7" fmla="*/ 3 h 29"/>
                <a:gd name="T8" fmla="*/ 31 w 64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29">
                  <a:moveTo>
                    <a:pt x="31" y="0"/>
                  </a:moveTo>
                  <a:lnTo>
                    <a:pt x="64" y="22"/>
                  </a:lnTo>
                  <a:lnTo>
                    <a:pt x="0" y="29"/>
                  </a:lnTo>
                  <a:lnTo>
                    <a:pt x="0" y="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4" name="Freeform 1642"/>
            <p:cNvSpPr>
              <a:spLocks/>
            </p:cNvSpPr>
            <p:nvPr/>
          </p:nvSpPr>
          <p:spPr bwMode="auto">
            <a:xfrm>
              <a:off x="2922" y="2811"/>
              <a:ext cx="48" cy="16"/>
            </a:xfrm>
            <a:custGeom>
              <a:avLst/>
              <a:gdLst>
                <a:gd name="T0" fmla="*/ 64 w 95"/>
                <a:gd name="T1" fmla="*/ 0 h 33"/>
                <a:gd name="T2" fmla="*/ 95 w 95"/>
                <a:gd name="T3" fmla="*/ 22 h 33"/>
                <a:gd name="T4" fmla="*/ 0 w 95"/>
                <a:gd name="T5" fmla="*/ 33 h 33"/>
                <a:gd name="T6" fmla="*/ 0 w 95"/>
                <a:gd name="T7" fmla="*/ 7 h 33"/>
                <a:gd name="T8" fmla="*/ 64 w 95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33">
                  <a:moveTo>
                    <a:pt x="64" y="0"/>
                  </a:moveTo>
                  <a:lnTo>
                    <a:pt x="95" y="22"/>
                  </a:lnTo>
                  <a:lnTo>
                    <a:pt x="0" y="33"/>
                  </a:lnTo>
                  <a:lnTo>
                    <a:pt x="0" y="7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5" name="Freeform 1643"/>
            <p:cNvSpPr>
              <a:spLocks/>
            </p:cNvSpPr>
            <p:nvPr/>
          </p:nvSpPr>
          <p:spPr bwMode="auto">
            <a:xfrm>
              <a:off x="2922" y="2822"/>
              <a:ext cx="61" cy="18"/>
            </a:xfrm>
            <a:custGeom>
              <a:avLst/>
              <a:gdLst>
                <a:gd name="T0" fmla="*/ 95 w 123"/>
                <a:gd name="T1" fmla="*/ 0 h 37"/>
                <a:gd name="T2" fmla="*/ 123 w 123"/>
                <a:gd name="T3" fmla="*/ 19 h 37"/>
                <a:gd name="T4" fmla="*/ 123 w 123"/>
                <a:gd name="T5" fmla="*/ 23 h 37"/>
                <a:gd name="T6" fmla="*/ 0 w 123"/>
                <a:gd name="T7" fmla="*/ 37 h 37"/>
                <a:gd name="T8" fmla="*/ 0 w 123"/>
                <a:gd name="T9" fmla="*/ 11 h 37"/>
                <a:gd name="T10" fmla="*/ 95 w 123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37">
                  <a:moveTo>
                    <a:pt x="95" y="0"/>
                  </a:moveTo>
                  <a:lnTo>
                    <a:pt x="123" y="19"/>
                  </a:lnTo>
                  <a:lnTo>
                    <a:pt x="123" y="23"/>
                  </a:lnTo>
                  <a:lnTo>
                    <a:pt x="0" y="37"/>
                  </a:lnTo>
                  <a:lnTo>
                    <a:pt x="0" y="11"/>
                  </a:lnTo>
                  <a:lnTo>
                    <a:pt x="95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6" name="Freeform 1644"/>
            <p:cNvSpPr>
              <a:spLocks/>
            </p:cNvSpPr>
            <p:nvPr/>
          </p:nvSpPr>
          <p:spPr bwMode="auto">
            <a:xfrm>
              <a:off x="2922" y="2833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6 h 41"/>
                <a:gd name="T4" fmla="*/ 0 w 123"/>
                <a:gd name="T5" fmla="*/ 41 h 41"/>
                <a:gd name="T6" fmla="*/ 0 w 123"/>
                <a:gd name="T7" fmla="*/ 14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6"/>
                  </a:lnTo>
                  <a:lnTo>
                    <a:pt x="0" y="41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7" name="Freeform 1645"/>
            <p:cNvSpPr>
              <a:spLocks/>
            </p:cNvSpPr>
            <p:nvPr/>
          </p:nvSpPr>
          <p:spPr bwMode="auto">
            <a:xfrm>
              <a:off x="2922" y="2846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6 h 41"/>
                <a:gd name="T4" fmla="*/ 0 w 123"/>
                <a:gd name="T5" fmla="*/ 41 h 41"/>
                <a:gd name="T6" fmla="*/ 0 w 123"/>
                <a:gd name="T7" fmla="*/ 15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6"/>
                  </a:lnTo>
                  <a:lnTo>
                    <a:pt x="0" y="41"/>
                  </a:lnTo>
                  <a:lnTo>
                    <a:pt x="0" y="1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8" name="Freeform 1646"/>
            <p:cNvSpPr>
              <a:spLocks/>
            </p:cNvSpPr>
            <p:nvPr/>
          </p:nvSpPr>
          <p:spPr bwMode="auto">
            <a:xfrm>
              <a:off x="2922" y="2859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5 h 41"/>
                <a:gd name="T4" fmla="*/ 0 w 123"/>
                <a:gd name="T5" fmla="*/ 41 h 41"/>
                <a:gd name="T6" fmla="*/ 0 w 123"/>
                <a:gd name="T7" fmla="*/ 15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5"/>
                  </a:lnTo>
                  <a:lnTo>
                    <a:pt x="0" y="41"/>
                  </a:lnTo>
                  <a:lnTo>
                    <a:pt x="0" y="1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59" name="Freeform 1647"/>
            <p:cNvSpPr>
              <a:spLocks/>
            </p:cNvSpPr>
            <p:nvPr/>
          </p:nvSpPr>
          <p:spPr bwMode="auto">
            <a:xfrm>
              <a:off x="2922" y="2872"/>
              <a:ext cx="61" cy="21"/>
            </a:xfrm>
            <a:custGeom>
              <a:avLst/>
              <a:gdLst>
                <a:gd name="T0" fmla="*/ 123 w 123"/>
                <a:gd name="T1" fmla="*/ 0 h 42"/>
                <a:gd name="T2" fmla="*/ 123 w 123"/>
                <a:gd name="T3" fmla="*/ 28 h 42"/>
                <a:gd name="T4" fmla="*/ 0 w 123"/>
                <a:gd name="T5" fmla="*/ 42 h 42"/>
                <a:gd name="T6" fmla="*/ 0 w 123"/>
                <a:gd name="T7" fmla="*/ 16 h 42"/>
                <a:gd name="T8" fmla="*/ 123 w 123"/>
                <a:gd name="T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2">
                  <a:moveTo>
                    <a:pt x="123" y="0"/>
                  </a:moveTo>
                  <a:lnTo>
                    <a:pt x="123" y="28"/>
                  </a:lnTo>
                  <a:lnTo>
                    <a:pt x="0" y="42"/>
                  </a:lnTo>
                  <a:lnTo>
                    <a:pt x="0" y="16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0" name="Freeform 1648"/>
            <p:cNvSpPr>
              <a:spLocks/>
            </p:cNvSpPr>
            <p:nvPr/>
          </p:nvSpPr>
          <p:spPr bwMode="auto">
            <a:xfrm>
              <a:off x="2922" y="2886"/>
              <a:ext cx="61" cy="20"/>
            </a:xfrm>
            <a:custGeom>
              <a:avLst/>
              <a:gdLst>
                <a:gd name="T0" fmla="*/ 123 w 123"/>
                <a:gd name="T1" fmla="*/ 0 h 40"/>
                <a:gd name="T2" fmla="*/ 123 w 123"/>
                <a:gd name="T3" fmla="*/ 26 h 40"/>
                <a:gd name="T4" fmla="*/ 0 w 123"/>
                <a:gd name="T5" fmla="*/ 40 h 40"/>
                <a:gd name="T6" fmla="*/ 0 w 123"/>
                <a:gd name="T7" fmla="*/ 14 h 40"/>
                <a:gd name="T8" fmla="*/ 123 w 123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0">
                  <a:moveTo>
                    <a:pt x="123" y="0"/>
                  </a:moveTo>
                  <a:lnTo>
                    <a:pt x="123" y="26"/>
                  </a:lnTo>
                  <a:lnTo>
                    <a:pt x="0" y="40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1" name="Freeform 1649"/>
            <p:cNvSpPr>
              <a:spLocks/>
            </p:cNvSpPr>
            <p:nvPr/>
          </p:nvSpPr>
          <p:spPr bwMode="auto">
            <a:xfrm>
              <a:off x="2922" y="2899"/>
              <a:ext cx="61" cy="20"/>
            </a:xfrm>
            <a:custGeom>
              <a:avLst/>
              <a:gdLst>
                <a:gd name="T0" fmla="*/ 123 w 123"/>
                <a:gd name="T1" fmla="*/ 0 h 40"/>
                <a:gd name="T2" fmla="*/ 123 w 123"/>
                <a:gd name="T3" fmla="*/ 26 h 40"/>
                <a:gd name="T4" fmla="*/ 0 w 123"/>
                <a:gd name="T5" fmla="*/ 40 h 40"/>
                <a:gd name="T6" fmla="*/ 0 w 123"/>
                <a:gd name="T7" fmla="*/ 14 h 40"/>
                <a:gd name="T8" fmla="*/ 123 w 123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0">
                  <a:moveTo>
                    <a:pt x="123" y="0"/>
                  </a:moveTo>
                  <a:lnTo>
                    <a:pt x="123" y="26"/>
                  </a:lnTo>
                  <a:lnTo>
                    <a:pt x="0" y="40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2" name="Freeform 1650"/>
            <p:cNvSpPr>
              <a:spLocks/>
            </p:cNvSpPr>
            <p:nvPr/>
          </p:nvSpPr>
          <p:spPr bwMode="auto">
            <a:xfrm>
              <a:off x="2922" y="2912"/>
              <a:ext cx="61" cy="20"/>
            </a:xfrm>
            <a:custGeom>
              <a:avLst/>
              <a:gdLst>
                <a:gd name="T0" fmla="*/ 123 w 123"/>
                <a:gd name="T1" fmla="*/ 0 h 40"/>
                <a:gd name="T2" fmla="*/ 123 w 123"/>
                <a:gd name="T3" fmla="*/ 26 h 40"/>
                <a:gd name="T4" fmla="*/ 0 w 123"/>
                <a:gd name="T5" fmla="*/ 40 h 40"/>
                <a:gd name="T6" fmla="*/ 0 w 123"/>
                <a:gd name="T7" fmla="*/ 14 h 40"/>
                <a:gd name="T8" fmla="*/ 123 w 123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0">
                  <a:moveTo>
                    <a:pt x="123" y="0"/>
                  </a:moveTo>
                  <a:lnTo>
                    <a:pt x="123" y="26"/>
                  </a:lnTo>
                  <a:lnTo>
                    <a:pt x="0" y="40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3" name="Freeform 1651"/>
            <p:cNvSpPr>
              <a:spLocks/>
            </p:cNvSpPr>
            <p:nvPr/>
          </p:nvSpPr>
          <p:spPr bwMode="auto">
            <a:xfrm>
              <a:off x="2922" y="2925"/>
              <a:ext cx="61" cy="20"/>
            </a:xfrm>
            <a:custGeom>
              <a:avLst/>
              <a:gdLst>
                <a:gd name="T0" fmla="*/ 123 w 123"/>
                <a:gd name="T1" fmla="*/ 0 h 39"/>
                <a:gd name="T2" fmla="*/ 123 w 123"/>
                <a:gd name="T3" fmla="*/ 26 h 39"/>
                <a:gd name="T4" fmla="*/ 0 w 123"/>
                <a:gd name="T5" fmla="*/ 39 h 39"/>
                <a:gd name="T6" fmla="*/ 0 w 123"/>
                <a:gd name="T7" fmla="*/ 14 h 39"/>
                <a:gd name="T8" fmla="*/ 123 w 123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39">
                  <a:moveTo>
                    <a:pt x="123" y="0"/>
                  </a:moveTo>
                  <a:lnTo>
                    <a:pt x="123" y="26"/>
                  </a:lnTo>
                  <a:lnTo>
                    <a:pt x="0" y="39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4" name="Freeform 1652"/>
            <p:cNvSpPr>
              <a:spLocks/>
            </p:cNvSpPr>
            <p:nvPr/>
          </p:nvSpPr>
          <p:spPr bwMode="auto">
            <a:xfrm>
              <a:off x="2922" y="2938"/>
              <a:ext cx="61" cy="20"/>
            </a:xfrm>
            <a:custGeom>
              <a:avLst/>
              <a:gdLst>
                <a:gd name="T0" fmla="*/ 123 w 123"/>
                <a:gd name="T1" fmla="*/ 0 h 39"/>
                <a:gd name="T2" fmla="*/ 123 w 123"/>
                <a:gd name="T3" fmla="*/ 26 h 39"/>
                <a:gd name="T4" fmla="*/ 0 w 123"/>
                <a:gd name="T5" fmla="*/ 39 h 39"/>
                <a:gd name="T6" fmla="*/ 0 w 123"/>
                <a:gd name="T7" fmla="*/ 13 h 39"/>
                <a:gd name="T8" fmla="*/ 123 w 123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39">
                  <a:moveTo>
                    <a:pt x="123" y="0"/>
                  </a:moveTo>
                  <a:lnTo>
                    <a:pt x="123" y="26"/>
                  </a:lnTo>
                  <a:lnTo>
                    <a:pt x="0" y="39"/>
                  </a:lnTo>
                  <a:lnTo>
                    <a:pt x="0" y="1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5" name="Freeform 1653"/>
            <p:cNvSpPr>
              <a:spLocks/>
            </p:cNvSpPr>
            <p:nvPr/>
          </p:nvSpPr>
          <p:spPr bwMode="auto">
            <a:xfrm>
              <a:off x="2922" y="2951"/>
              <a:ext cx="61" cy="20"/>
            </a:xfrm>
            <a:custGeom>
              <a:avLst/>
              <a:gdLst>
                <a:gd name="T0" fmla="*/ 123 w 123"/>
                <a:gd name="T1" fmla="*/ 0 h 39"/>
                <a:gd name="T2" fmla="*/ 123 w 123"/>
                <a:gd name="T3" fmla="*/ 27 h 39"/>
                <a:gd name="T4" fmla="*/ 0 w 123"/>
                <a:gd name="T5" fmla="*/ 39 h 39"/>
                <a:gd name="T6" fmla="*/ 0 w 123"/>
                <a:gd name="T7" fmla="*/ 13 h 39"/>
                <a:gd name="T8" fmla="*/ 123 w 123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39">
                  <a:moveTo>
                    <a:pt x="123" y="0"/>
                  </a:moveTo>
                  <a:lnTo>
                    <a:pt x="123" y="27"/>
                  </a:lnTo>
                  <a:lnTo>
                    <a:pt x="0" y="39"/>
                  </a:lnTo>
                  <a:lnTo>
                    <a:pt x="0" y="1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6" name="Freeform 1654"/>
            <p:cNvSpPr>
              <a:spLocks/>
            </p:cNvSpPr>
            <p:nvPr/>
          </p:nvSpPr>
          <p:spPr bwMode="auto">
            <a:xfrm>
              <a:off x="2922" y="2965"/>
              <a:ext cx="61" cy="19"/>
            </a:xfrm>
            <a:custGeom>
              <a:avLst/>
              <a:gdLst>
                <a:gd name="T0" fmla="*/ 123 w 123"/>
                <a:gd name="T1" fmla="*/ 0 h 40"/>
                <a:gd name="T2" fmla="*/ 123 w 123"/>
                <a:gd name="T3" fmla="*/ 26 h 40"/>
                <a:gd name="T4" fmla="*/ 0 w 123"/>
                <a:gd name="T5" fmla="*/ 40 h 40"/>
                <a:gd name="T6" fmla="*/ 0 w 123"/>
                <a:gd name="T7" fmla="*/ 12 h 40"/>
                <a:gd name="T8" fmla="*/ 123 w 123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0">
                  <a:moveTo>
                    <a:pt x="123" y="0"/>
                  </a:moveTo>
                  <a:lnTo>
                    <a:pt x="123" y="26"/>
                  </a:lnTo>
                  <a:lnTo>
                    <a:pt x="0" y="40"/>
                  </a:lnTo>
                  <a:lnTo>
                    <a:pt x="0" y="12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7" name="Freeform 1655"/>
            <p:cNvSpPr>
              <a:spLocks/>
            </p:cNvSpPr>
            <p:nvPr/>
          </p:nvSpPr>
          <p:spPr bwMode="auto">
            <a:xfrm>
              <a:off x="2922" y="2977"/>
              <a:ext cx="61" cy="20"/>
            </a:xfrm>
            <a:custGeom>
              <a:avLst/>
              <a:gdLst>
                <a:gd name="T0" fmla="*/ 123 w 123"/>
                <a:gd name="T1" fmla="*/ 0 h 40"/>
                <a:gd name="T2" fmla="*/ 123 w 123"/>
                <a:gd name="T3" fmla="*/ 26 h 40"/>
                <a:gd name="T4" fmla="*/ 0 w 123"/>
                <a:gd name="T5" fmla="*/ 40 h 40"/>
                <a:gd name="T6" fmla="*/ 0 w 123"/>
                <a:gd name="T7" fmla="*/ 14 h 40"/>
                <a:gd name="T8" fmla="*/ 123 w 123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0">
                  <a:moveTo>
                    <a:pt x="123" y="0"/>
                  </a:moveTo>
                  <a:lnTo>
                    <a:pt x="123" y="26"/>
                  </a:lnTo>
                  <a:lnTo>
                    <a:pt x="0" y="40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8" name="Freeform 1656"/>
            <p:cNvSpPr>
              <a:spLocks/>
            </p:cNvSpPr>
            <p:nvPr/>
          </p:nvSpPr>
          <p:spPr bwMode="auto">
            <a:xfrm>
              <a:off x="2922" y="2990"/>
              <a:ext cx="61" cy="20"/>
            </a:xfrm>
            <a:custGeom>
              <a:avLst/>
              <a:gdLst>
                <a:gd name="T0" fmla="*/ 123 w 123"/>
                <a:gd name="T1" fmla="*/ 0 h 40"/>
                <a:gd name="T2" fmla="*/ 123 w 123"/>
                <a:gd name="T3" fmla="*/ 19 h 40"/>
                <a:gd name="T4" fmla="*/ 111 w 123"/>
                <a:gd name="T5" fmla="*/ 27 h 40"/>
                <a:gd name="T6" fmla="*/ 0 w 123"/>
                <a:gd name="T7" fmla="*/ 40 h 40"/>
                <a:gd name="T8" fmla="*/ 0 w 123"/>
                <a:gd name="T9" fmla="*/ 14 h 40"/>
                <a:gd name="T10" fmla="*/ 123 w 123"/>
                <a:gd name="T11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40">
                  <a:moveTo>
                    <a:pt x="123" y="0"/>
                  </a:moveTo>
                  <a:lnTo>
                    <a:pt x="123" y="19"/>
                  </a:lnTo>
                  <a:lnTo>
                    <a:pt x="111" y="27"/>
                  </a:lnTo>
                  <a:lnTo>
                    <a:pt x="0" y="40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69" name="Freeform 1657"/>
            <p:cNvSpPr>
              <a:spLocks/>
            </p:cNvSpPr>
            <p:nvPr/>
          </p:nvSpPr>
          <p:spPr bwMode="auto">
            <a:xfrm>
              <a:off x="2922" y="3004"/>
              <a:ext cx="55" cy="19"/>
            </a:xfrm>
            <a:custGeom>
              <a:avLst/>
              <a:gdLst>
                <a:gd name="T0" fmla="*/ 111 w 111"/>
                <a:gd name="T1" fmla="*/ 0 h 38"/>
                <a:gd name="T2" fmla="*/ 68 w 111"/>
                <a:gd name="T3" fmla="*/ 32 h 38"/>
                <a:gd name="T4" fmla="*/ 0 w 111"/>
                <a:gd name="T5" fmla="*/ 38 h 38"/>
                <a:gd name="T6" fmla="*/ 0 w 111"/>
                <a:gd name="T7" fmla="*/ 13 h 38"/>
                <a:gd name="T8" fmla="*/ 111 w 111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38">
                  <a:moveTo>
                    <a:pt x="111" y="0"/>
                  </a:moveTo>
                  <a:lnTo>
                    <a:pt x="68" y="32"/>
                  </a:lnTo>
                  <a:lnTo>
                    <a:pt x="0" y="38"/>
                  </a:lnTo>
                  <a:lnTo>
                    <a:pt x="0" y="13"/>
                  </a:lnTo>
                  <a:lnTo>
                    <a:pt x="111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0" name="Freeform 1658"/>
            <p:cNvSpPr>
              <a:spLocks/>
            </p:cNvSpPr>
            <p:nvPr/>
          </p:nvSpPr>
          <p:spPr bwMode="auto">
            <a:xfrm>
              <a:off x="2922" y="3020"/>
              <a:ext cx="34" cy="17"/>
            </a:xfrm>
            <a:custGeom>
              <a:avLst/>
              <a:gdLst>
                <a:gd name="T0" fmla="*/ 68 w 68"/>
                <a:gd name="T1" fmla="*/ 0 h 34"/>
                <a:gd name="T2" fmla="*/ 21 w 68"/>
                <a:gd name="T3" fmla="*/ 32 h 34"/>
                <a:gd name="T4" fmla="*/ 0 w 68"/>
                <a:gd name="T5" fmla="*/ 34 h 34"/>
                <a:gd name="T6" fmla="*/ 0 w 68"/>
                <a:gd name="T7" fmla="*/ 6 h 34"/>
                <a:gd name="T8" fmla="*/ 68 w 68"/>
                <a:gd name="T9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8" h="34">
                  <a:moveTo>
                    <a:pt x="68" y="0"/>
                  </a:moveTo>
                  <a:lnTo>
                    <a:pt x="21" y="32"/>
                  </a:lnTo>
                  <a:lnTo>
                    <a:pt x="0" y="34"/>
                  </a:lnTo>
                  <a:lnTo>
                    <a:pt x="0" y="6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1" name="Freeform 1659"/>
            <p:cNvSpPr>
              <a:spLocks/>
            </p:cNvSpPr>
            <p:nvPr/>
          </p:nvSpPr>
          <p:spPr bwMode="auto">
            <a:xfrm>
              <a:off x="2922" y="2789"/>
              <a:ext cx="61" cy="254"/>
            </a:xfrm>
            <a:custGeom>
              <a:avLst/>
              <a:gdLst>
                <a:gd name="T0" fmla="*/ 123 w 123"/>
                <a:gd name="T1" fmla="*/ 423 h 509"/>
                <a:gd name="T2" fmla="*/ 0 w 123"/>
                <a:gd name="T3" fmla="*/ 509 h 509"/>
                <a:gd name="T4" fmla="*/ 0 w 123"/>
                <a:gd name="T5" fmla="*/ 0 h 509"/>
                <a:gd name="T6" fmla="*/ 123 w 123"/>
                <a:gd name="T7" fmla="*/ 86 h 509"/>
                <a:gd name="T8" fmla="*/ 123 w 123"/>
                <a:gd name="T9" fmla="*/ 423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509">
                  <a:moveTo>
                    <a:pt x="123" y="423"/>
                  </a:moveTo>
                  <a:lnTo>
                    <a:pt x="0" y="509"/>
                  </a:lnTo>
                  <a:lnTo>
                    <a:pt x="0" y="0"/>
                  </a:lnTo>
                  <a:lnTo>
                    <a:pt x="123" y="86"/>
                  </a:lnTo>
                  <a:lnTo>
                    <a:pt x="123" y="423"/>
                  </a:lnTo>
                </a:path>
              </a:pathLst>
            </a:custGeom>
            <a:noFill/>
            <a:ln w="0">
              <a:solidFill>
                <a:srgbClr val="7F7F7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2" name="Rectangle 1660"/>
            <p:cNvSpPr>
              <a:spLocks noChangeArrowheads="1"/>
            </p:cNvSpPr>
            <p:nvPr/>
          </p:nvSpPr>
          <p:spPr bwMode="auto">
            <a:xfrm>
              <a:off x="2924" y="3681"/>
              <a:ext cx="68" cy="255"/>
            </a:xfrm>
            <a:prstGeom prst="rect">
              <a:avLst/>
            </a:prstGeom>
            <a:solidFill>
              <a:srgbClr val="FF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3" name="Rectangle 1661"/>
            <p:cNvSpPr>
              <a:spLocks noChangeArrowheads="1"/>
            </p:cNvSpPr>
            <p:nvPr/>
          </p:nvSpPr>
          <p:spPr bwMode="auto">
            <a:xfrm>
              <a:off x="2992" y="3681"/>
              <a:ext cx="68" cy="255"/>
            </a:xfrm>
            <a:prstGeom prst="rect">
              <a:avLst/>
            </a:prstGeom>
            <a:solidFill>
              <a:srgbClr val="FFC1C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4" name="Rectangle 1662"/>
            <p:cNvSpPr>
              <a:spLocks noChangeArrowheads="1"/>
            </p:cNvSpPr>
            <p:nvPr/>
          </p:nvSpPr>
          <p:spPr bwMode="auto">
            <a:xfrm>
              <a:off x="3060" y="3681"/>
              <a:ext cx="68" cy="255"/>
            </a:xfrm>
            <a:prstGeom prst="rect">
              <a:avLst/>
            </a:prstGeom>
            <a:solidFill>
              <a:srgbClr val="FFB6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5" name="Rectangle 1663"/>
            <p:cNvSpPr>
              <a:spLocks noChangeArrowheads="1"/>
            </p:cNvSpPr>
            <p:nvPr/>
          </p:nvSpPr>
          <p:spPr bwMode="auto">
            <a:xfrm>
              <a:off x="3128" y="3681"/>
              <a:ext cx="69" cy="255"/>
            </a:xfrm>
            <a:prstGeom prst="rect">
              <a:avLst/>
            </a:prstGeom>
            <a:solidFill>
              <a:srgbClr val="FFAB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6" name="Rectangle 1664"/>
            <p:cNvSpPr>
              <a:spLocks noChangeArrowheads="1"/>
            </p:cNvSpPr>
            <p:nvPr/>
          </p:nvSpPr>
          <p:spPr bwMode="auto">
            <a:xfrm>
              <a:off x="3197" y="3681"/>
              <a:ext cx="68" cy="255"/>
            </a:xfrm>
            <a:prstGeom prst="rect">
              <a:avLst/>
            </a:prstGeom>
            <a:solidFill>
              <a:srgbClr val="FFA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7" name="Rectangle 1665"/>
            <p:cNvSpPr>
              <a:spLocks noChangeArrowheads="1"/>
            </p:cNvSpPr>
            <p:nvPr/>
          </p:nvSpPr>
          <p:spPr bwMode="auto">
            <a:xfrm>
              <a:off x="3265" y="3681"/>
              <a:ext cx="68" cy="255"/>
            </a:xfrm>
            <a:prstGeom prst="rect">
              <a:avLst/>
            </a:prstGeom>
            <a:solidFill>
              <a:srgbClr val="FF9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8" name="Rectangle 1666"/>
            <p:cNvSpPr>
              <a:spLocks noChangeArrowheads="1"/>
            </p:cNvSpPr>
            <p:nvPr/>
          </p:nvSpPr>
          <p:spPr bwMode="auto">
            <a:xfrm>
              <a:off x="3333" y="3681"/>
              <a:ext cx="68" cy="255"/>
            </a:xfrm>
            <a:prstGeom prst="rect">
              <a:avLst/>
            </a:prstGeom>
            <a:solidFill>
              <a:srgbClr val="FF8B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79" name="Rectangle 1667"/>
            <p:cNvSpPr>
              <a:spLocks noChangeArrowheads="1"/>
            </p:cNvSpPr>
            <p:nvPr/>
          </p:nvSpPr>
          <p:spPr bwMode="auto">
            <a:xfrm>
              <a:off x="3401" y="3681"/>
              <a:ext cx="68" cy="255"/>
            </a:xfrm>
            <a:prstGeom prst="rect">
              <a:avLst/>
            </a:prstGeom>
            <a:solidFill>
              <a:srgbClr val="FF808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0" name="Rectangle 1668"/>
            <p:cNvSpPr>
              <a:spLocks noChangeArrowheads="1"/>
            </p:cNvSpPr>
            <p:nvPr/>
          </p:nvSpPr>
          <p:spPr bwMode="auto">
            <a:xfrm>
              <a:off x="3469" y="3681"/>
              <a:ext cx="69" cy="255"/>
            </a:xfrm>
            <a:prstGeom prst="rect">
              <a:avLst/>
            </a:prstGeom>
            <a:solidFill>
              <a:srgbClr val="FF767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1" name="Rectangle 1669"/>
            <p:cNvSpPr>
              <a:spLocks noChangeArrowheads="1"/>
            </p:cNvSpPr>
            <p:nvPr/>
          </p:nvSpPr>
          <p:spPr bwMode="auto">
            <a:xfrm>
              <a:off x="3538" y="3681"/>
              <a:ext cx="69" cy="255"/>
            </a:xfrm>
            <a:prstGeom prst="rect">
              <a:avLst/>
            </a:prstGeom>
            <a:solidFill>
              <a:srgbClr val="FF6B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2" name="Rectangle 1670"/>
            <p:cNvSpPr>
              <a:spLocks noChangeArrowheads="1"/>
            </p:cNvSpPr>
            <p:nvPr/>
          </p:nvSpPr>
          <p:spPr bwMode="auto">
            <a:xfrm>
              <a:off x="3607" y="3681"/>
              <a:ext cx="68" cy="255"/>
            </a:xfrm>
            <a:prstGeom prst="rect">
              <a:avLst/>
            </a:prstGeom>
            <a:solidFill>
              <a:srgbClr val="FF6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3" name="Rectangle 1671"/>
            <p:cNvSpPr>
              <a:spLocks noChangeArrowheads="1"/>
            </p:cNvSpPr>
            <p:nvPr/>
          </p:nvSpPr>
          <p:spPr bwMode="auto">
            <a:xfrm>
              <a:off x="3675" y="3681"/>
              <a:ext cx="68" cy="255"/>
            </a:xfrm>
            <a:prstGeom prst="rect">
              <a:avLst/>
            </a:prstGeom>
            <a:solidFill>
              <a:srgbClr val="FF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4" name="Rectangle 1672"/>
            <p:cNvSpPr>
              <a:spLocks noChangeArrowheads="1"/>
            </p:cNvSpPr>
            <p:nvPr/>
          </p:nvSpPr>
          <p:spPr bwMode="auto">
            <a:xfrm>
              <a:off x="3743" y="3681"/>
              <a:ext cx="68" cy="255"/>
            </a:xfrm>
            <a:prstGeom prst="rect">
              <a:avLst/>
            </a:prstGeom>
            <a:solidFill>
              <a:srgbClr val="FF4B4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5" name="Rectangle 1673"/>
            <p:cNvSpPr>
              <a:spLocks noChangeArrowheads="1"/>
            </p:cNvSpPr>
            <p:nvPr/>
          </p:nvSpPr>
          <p:spPr bwMode="auto">
            <a:xfrm>
              <a:off x="3811" y="3681"/>
              <a:ext cx="68" cy="255"/>
            </a:xfrm>
            <a:prstGeom prst="rect">
              <a:avLst/>
            </a:prstGeom>
            <a:solidFill>
              <a:srgbClr val="FF404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6" name="Rectangle 1674"/>
            <p:cNvSpPr>
              <a:spLocks noChangeArrowheads="1"/>
            </p:cNvSpPr>
            <p:nvPr/>
          </p:nvSpPr>
          <p:spPr bwMode="auto">
            <a:xfrm>
              <a:off x="3879" y="3681"/>
              <a:ext cx="69" cy="255"/>
            </a:xfrm>
            <a:prstGeom prst="rect">
              <a:avLst/>
            </a:prstGeom>
            <a:solidFill>
              <a:srgbClr val="FF353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7" name="Rectangle 1675"/>
            <p:cNvSpPr>
              <a:spLocks noChangeArrowheads="1"/>
            </p:cNvSpPr>
            <p:nvPr/>
          </p:nvSpPr>
          <p:spPr bwMode="auto">
            <a:xfrm>
              <a:off x="3948" y="3681"/>
              <a:ext cx="68" cy="255"/>
            </a:xfrm>
            <a:prstGeom prst="rect">
              <a:avLst/>
            </a:prstGeom>
            <a:solidFill>
              <a:srgbClr val="FF2A2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8" name="Rectangle 1676"/>
            <p:cNvSpPr>
              <a:spLocks noChangeArrowheads="1"/>
            </p:cNvSpPr>
            <p:nvPr/>
          </p:nvSpPr>
          <p:spPr bwMode="auto">
            <a:xfrm>
              <a:off x="4016" y="3681"/>
              <a:ext cx="68" cy="255"/>
            </a:xfrm>
            <a:prstGeom prst="rect">
              <a:avLst/>
            </a:prstGeom>
            <a:solidFill>
              <a:srgbClr val="FF202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89" name="Rectangle 1677"/>
            <p:cNvSpPr>
              <a:spLocks noChangeArrowheads="1"/>
            </p:cNvSpPr>
            <p:nvPr/>
          </p:nvSpPr>
          <p:spPr bwMode="auto">
            <a:xfrm>
              <a:off x="4084" y="3681"/>
              <a:ext cx="68" cy="255"/>
            </a:xfrm>
            <a:prstGeom prst="rect">
              <a:avLst/>
            </a:prstGeom>
            <a:solidFill>
              <a:srgbClr val="FF151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0" name="Rectangle 1678"/>
            <p:cNvSpPr>
              <a:spLocks noChangeArrowheads="1"/>
            </p:cNvSpPr>
            <p:nvPr/>
          </p:nvSpPr>
          <p:spPr bwMode="auto">
            <a:xfrm>
              <a:off x="4152" y="3681"/>
              <a:ext cx="69" cy="255"/>
            </a:xfrm>
            <a:prstGeom prst="rect">
              <a:avLst/>
            </a:prstGeom>
            <a:solidFill>
              <a:srgbClr val="FF0A0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1" name="Rectangle 1679"/>
            <p:cNvSpPr>
              <a:spLocks noChangeArrowheads="1"/>
            </p:cNvSpPr>
            <p:nvPr/>
          </p:nvSpPr>
          <p:spPr bwMode="auto">
            <a:xfrm>
              <a:off x="4221" y="3681"/>
              <a:ext cx="68" cy="25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2" name="Rectangle 1680"/>
            <p:cNvSpPr>
              <a:spLocks noChangeArrowheads="1"/>
            </p:cNvSpPr>
            <p:nvPr/>
          </p:nvSpPr>
          <p:spPr bwMode="auto">
            <a:xfrm>
              <a:off x="2924" y="3681"/>
              <a:ext cx="1365" cy="255"/>
            </a:xfrm>
            <a:prstGeom prst="rect">
              <a:avLst/>
            </a:prstGeom>
            <a:noFill/>
            <a:ln w="0">
              <a:solidFill>
                <a:srgbClr val="7F7F7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3" name="Rectangle 1681"/>
            <p:cNvSpPr>
              <a:spLocks noChangeArrowheads="1"/>
            </p:cNvSpPr>
            <p:nvPr/>
          </p:nvSpPr>
          <p:spPr bwMode="auto">
            <a:xfrm>
              <a:off x="2924" y="3678"/>
              <a:ext cx="68" cy="25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4" name="Rectangle 1682"/>
            <p:cNvSpPr>
              <a:spLocks noChangeArrowheads="1"/>
            </p:cNvSpPr>
            <p:nvPr/>
          </p:nvSpPr>
          <p:spPr bwMode="auto">
            <a:xfrm>
              <a:off x="2992" y="3678"/>
              <a:ext cx="68" cy="255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5" name="Rectangle 1683"/>
            <p:cNvSpPr>
              <a:spLocks noChangeArrowheads="1"/>
            </p:cNvSpPr>
            <p:nvPr/>
          </p:nvSpPr>
          <p:spPr bwMode="auto">
            <a:xfrm>
              <a:off x="3060" y="3678"/>
              <a:ext cx="68" cy="255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6" name="Rectangle 1684"/>
            <p:cNvSpPr>
              <a:spLocks noChangeArrowheads="1"/>
            </p:cNvSpPr>
            <p:nvPr/>
          </p:nvSpPr>
          <p:spPr bwMode="auto">
            <a:xfrm>
              <a:off x="3128" y="3678"/>
              <a:ext cx="69" cy="255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7" name="Rectangle 1685"/>
            <p:cNvSpPr>
              <a:spLocks noChangeArrowheads="1"/>
            </p:cNvSpPr>
            <p:nvPr/>
          </p:nvSpPr>
          <p:spPr bwMode="auto">
            <a:xfrm>
              <a:off x="3197" y="3678"/>
              <a:ext cx="68" cy="255"/>
            </a:xfrm>
            <a:prstGeom prst="rect">
              <a:avLst/>
            </a:pr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8" name="Rectangle 1686"/>
            <p:cNvSpPr>
              <a:spLocks noChangeArrowheads="1"/>
            </p:cNvSpPr>
            <p:nvPr/>
          </p:nvSpPr>
          <p:spPr bwMode="auto">
            <a:xfrm>
              <a:off x="3265" y="3678"/>
              <a:ext cx="68" cy="255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999" name="Rectangle 1687"/>
            <p:cNvSpPr>
              <a:spLocks noChangeArrowheads="1"/>
            </p:cNvSpPr>
            <p:nvPr/>
          </p:nvSpPr>
          <p:spPr bwMode="auto">
            <a:xfrm>
              <a:off x="3333" y="3678"/>
              <a:ext cx="68" cy="255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0" name="Rectangle 1688"/>
            <p:cNvSpPr>
              <a:spLocks noChangeArrowheads="1"/>
            </p:cNvSpPr>
            <p:nvPr/>
          </p:nvSpPr>
          <p:spPr bwMode="auto">
            <a:xfrm>
              <a:off x="3401" y="3678"/>
              <a:ext cx="68" cy="255"/>
            </a:xfrm>
            <a:prstGeom prst="rect">
              <a:avLst/>
            </a:pr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1" name="Rectangle 1689"/>
            <p:cNvSpPr>
              <a:spLocks noChangeArrowheads="1"/>
            </p:cNvSpPr>
            <p:nvPr/>
          </p:nvSpPr>
          <p:spPr bwMode="auto">
            <a:xfrm>
              <a:off x="3469" y="3678"/>
              <a:ext cx="69" cy="255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2" name="Rectangle 1690"/>
            <p:cNvSpPr>
              <a:spLocks noChangeArrowheads="1"/>
            </p:cNvSpPr>
            <p:nvPr/>
          </p:nvSpPr>
          <p:spPr bwMode="auto">
            <a:xfrm>
              <a:off x="3538" y="3678"/>
              <a:ext cx="69" cy="255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3" name="Rectangle 1691"/>
            <p:cNvSpPr>
              <a:spLocks noChangeArrowheads="1"/>
            </p:cNvSpPr>
            <p:nvPr/>
          </p:nvSpPr>
          <p:spPr bwMode="auto">
            <a:xfrm>
              <a:off x="3607" y="3678"/>
              <a:ext cx="68" cy="255"/>
            </a:xfrm>
            <a:prstGeom prst="rect">
              <a:avLst/>
            </a:pr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4" name="Rectangle 1692"/>
            <p:cNvSpPr>
              <a:spLocks noChangeArrowheads="1"/>
            </p:cNvSpPr>
            <p:nvPr/>
          </p:nvSpPr>
          <p:spPr bwMode="auto">
            <a:xfrm>
              <a:off x="3675" y="3678"/>
              <a:ext cx="68" cy="255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5" name="Rectangle 1693"/>
            <p:cNvSpPr>
              <a:spLocks noChangeArrowheads="1"/>
            </p:cNvSpPr>
            <p:nvPr/>
          </p:nvSpPr>
          <p:spPr bwMode="auto">
            <a:xfrm>
              <a:off x="3743" y="3678"/>
              <a:ext cx="68" cy="255"/>
            </a:xfrm>
            <a:prstGeom prst="rect">
              <a:avLst/>
            </a:pr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6" name="Rectangle 1694"/>
            <p:cNvSpPr>
              <a:spLocks noChangeArrowheads="1"/>
            </p:cNvSpPr>
            <p:nvPr/>
          </p:nvSpPr>
          <p:spPr bwMode="auto">
            <a:xfrm>
              <a:off x="3811" y="3678"/>
              <a:ext cx="68" cy="255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7" name="Rectangle 1695"/>
            <p:cNvSpPr>
              <a:spLocks noChangeArrowheads="1"/>
            </p:cNvSpPr>
            <p:nvPr/>
          </p:nvSpPr>
          <p:spPr bwMode="auto">
            <a:xfrm>
              <a:off x="3879" y="3678"/>
              <a:ext cx="69" cy="255"/>
            </a:xfrm>
            <a:prstGeom prst="rect">
              <a:avLst/>
            </a:pr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8" name="Rectangle 1696"/>
            <p:cNvSpPr>
              <a:spLocks noChangeArrowheads="1"/>
            </p:cNvSpPr>
            <p:nvPr/>
          </p:nvSpPr>
          <p:spPr bwMode="auto">
            <a:xfrm>
              <a:off x="3948" y="3678"/>
              <a:ext cx="68" cy="255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09" name="Rectangle 1697"/>
            <p:cNvSpPr>
              <a:spLocks noChangeArrowheads="1"/>
            </p:cNvSpPr>
            <p:nvPr/>
          </p:nvSpPr>
          <p:spPr bwMode="auto">
            <a:xfrm>
              <a:off x="4016" y="3678"/>
              <a:ext cx="68" cy="255"/>
            </a:xfrm>
            <a:prstGeom prst="rect">
              <a:avLst/>
            </a:pr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0" name="Rectangle 1698"/>
            <p:cNvSpPr>
              <a:spLocks noChangeArrowheads="1"/>
            </p:cNvSpPr>
            <p:nvPr/>
          </p:nvSpPr>
          <p:spPr bwMode="auto">
            <a:xfrm>
              <a:off x="4084" y="3678"/>
              <a:ext cx="68" cy="255"/>
            </a:xfrm>
            <a:prstGeom prst="rect">
              <a:avLst/>
            </a:pr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1" name="Rectangle 1699"/>
            <p:cNvSpPr>
              <a:spLocks noChangeArrowheads="1"/>
            </p:cNvSpPr>
            <p:nvPr/>
          </p:nvSpPr>
          <p:spPr bwMode="auto">
            <a:xfrm>
              <a:off x="4152" y="3678"/>
              <a:ext cx="69" cy="255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2" name="Rectangle 1700"/>
            <p:cNvSpPr>
              <a:spLocks noChangeArrowheads="1"/>
            </p:cNvSpPr>
            <p:nvPr/>
          </p:nvSpPr>
          <p:spPr bwMode="auto">
            <a:xfrm>
              <a:off x="4221" y="3678"/>
              <a:ext cx="68" cy="255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3" name="Rectangle 1701"/>
            <p:cNvSpPr>
              <a:spLocks noChangeArrowheads="1"/>
            </p:cNvSpPr>
            <p:nvPr/>
          </p:nvSpPr>
          <p:spPr bwMode="auto">
            <a:xfrm>
              <a:off x="2924" y="3678"/>
              <a:ext cx="1365" cy="255"/>
            </a:xfrm>
            <a:prstGeom prst="rect">
              <a:avLst/>
            </a:prstGeom>
            <a:noFill/>
            <a:ln w="0">
              <a:solidFill>
                <a:srgbClr val="7F7F7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4" name="Freeform 1702"/>
            <p:cNvSpPr>
              <a:spLocks/>
            </p:cNvSpPr>
            <p:nvPr/>
          </p:nvSpPr>
          <p:spPr bwMode="auto">
            <a:xfrm>
              <a:off x="4275" y="3681"/>
              <a:ext cx="9" cy="7"/>
            </a:xfrm>
            <a:custGeom>
              <a:avLst/>
              <a:gdLst>
                <a:gd name="T0" fmla="*/ 19 w 19"/>
                <a:gd name="T1" fmla="*/ 12 h 14"/>
                <a:gd name="T2" fmla="*/ 19 w 19"/>
                <a:gd name="T3" fmla="*/ 0 h 14"/>
                <a:gd name="T4" fmla="*/ 0 w 19"/>
                <a:gd name="T5" fmla="*/ 14 h 14"/>
                <a:gd name="T6" fmla="*/ 19 w 19"/>
                <a:gd name="T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" h="14">
                  <a:moveTo>
                    <a:pt x="19" y="12"/>
                  </a:moveTo>
                  <a:lnTo>
                    <a:pt x="19" y="0"/>
                  </a:lnTo>
                  <a:lnTo>
                    <a:pt x="0" y="14"/>
                  </a:lnTo>
                  <a:lnTo>
                    <a:pt x="19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5" name="Freeform 1703"/>
            <p:cNvSpPr>
              <a:spLocks/>
            </p:cNvSpPr>
            <p:nvPr/>
          </p:nvSpPr>
          <p:spPr bwMode="auto">
            <a:xfrm>
              <a:off x="4257" y="3687"/>
              <a:ext cx="27" cy="14"/>
            </a:xfrm>
            <a:custGeom>
              <a:avLst/>
              <a:gdLst>
                <a:gd name="T0" fmla="*/ 55 w 55"/>
                <a:gd name="T1" fmla="*/ 0 h 30"/>
                <a:gd name="T2" fmla="*/ 55 w 55"/>
                <a:gd name="T3" fmla="*/ 24 h 30"/>
                <a:gd name="T4" fmla="*/ 0 w 55"/>
                <a:gd name="T5" fmla="*/ 30 h 30"/>
                <a:gd name="T6" fmla="*/ 36 w 55"/>
                <a:gd name="T7" fmla="*/ 2 h 30"/>
                <a:gd name="T8" fmla="*/ 55 w 55"/>
                <a:gd name="T9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5" h="30">
                  <a:moveTo>
                    <a:pt x="55" y="0"/>
                  </a:moveTo>
                  <a:lnTo>
                    <a:pt x="55" y="24"/>
                  </a:lnTo>
                  <a:lnTo>
                    <a:pt x="0" y="30"/>
                  </a:lnTo>
                  <a:lnTo>
                    <a:pt x="36" y="2"/>
                  </a:lnTo>
                  <a:lnTo>
                    <a:pt x="55" y="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6" name="Freeform 1704"/>
            <p:cNvSpPr>
              <a:spLocks/>
            </p:cNvSpPr>
            <p:nvPr/>
          </p:nvSpPr>
          <p:spPr bwMode="auto">
            <a:xfrm>
              <a:off x="4238" y="3699"/>
              <a:ext cx="46" cy="18"/>
            </a:xfrm>
            <a:custGeom>
              <a:avLst/>
              <a:gdLst>
                <a:gd name="T0" fmla="*/ 93 w 93"/>
                <a:gd name="T1" fmla="*/ 0 h 37"/>
                <a:gd name="T2" fmla="*/ 93 w 93"/>
                <a:gd name="T3" fmla="*/ 26 h 37"/>
                <a:gd name="T4" fmla="*/ 0 w 93"/>
                <a:gd name="T5" fmla="*/ 37 h 37"/>
                <a:gd name="T6" fmla="*/ 38 w 93"/>
                <a:gd name="T7" fmla="*/ 6 h 37"/>
                <a:gd name="T8" fmla="*/ 93 w 93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3" h="37">
                  <a:moveTo>
                    <a:pt x="93" y="0"/>
                  </a:moveTo>
                  <a:lnTo>
                    <a:pt x="93" y="26"/>
                  </a:lnTo>
                  <a:lnTo>
                    <a:pt x="0" y="37"/>
                  </a:lnTo>
                  <a:lnTo>
                    <a:pt x="38" y="6"/>
                  </a:lnTo>
                  <a:lnTo>
                    <a:pt x="9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7" name="Freeform 1705"/>
            <p:cNvSpPr>
              <a:spLocks/>
            </p:cNvSpPr>
            <p:nvPr/>
          </p:nvSpPr>
          <p:spPr bwMode="auto">
            <a:xfrm>
              <a:off x="4228" y="3712"/>
              <a:ext cx="56" cy="19"/>
            </a:xfrm>
            <a:custGeom>
              <a:avLst/>
              <a:gdLst>
                <a:gd name="T0" fmla="*/ 112 w 112"/>
                <a:gd name="T1" fmla="*/ 0 h 38"/>
                <a:gd name="T2" fmla="*/ 112 w 112"/>
                <a:gd name="T3" fmla="*/ 26 h 38"/>
                <a:gd name="T4" fmla="*/ 0 w 112"/>
                <a:gd name="T5" fmla="*/ 38 h 38"/>
                <a:gd name="T6" fmla="*/ 0 w 112"/>
                <a:gd name="T7" fmla="*/ 25 h 38"/>
                <a:gd name="T8" fmla="*/ 19 w 112"/>
                <a:gd name="T9" fmla="*/ 11 h 38"/>
                <a:gd name="T10" fmla="*/ 112 w 112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38">
                  <a:moveTo>
                    <a:pt x="112" y="0"/>
                  </a:moveTo>
                  <a:lnTo>
                    <a:pt x="112" y="26"/>
                  </a:lnTo>
                  <a:lnTo>
                    <a:pt x="0" y="38"/>
                  </a:lnTo>
                  <a:lnTo>
                    <a:pt x="0" y="25"/>
                  </a:lnTo>
                  <a:lnTo>
                    <a:pt x="19" y="1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8" name="Freeform 1706"/>
            <p:cNvSpPr>
              <a:spLocks/>
            </p:cNvSpPr>
            <p:nvPr/>
          </p:nvSpPr>
          <p:spPr bwMode="auto">
            <a:xfrm>
              <a:off x="4228" y="3725"/>
              <a:ext cx="56" cy="19"/>
            </a:xfrm>
            <a:custGeom>
              <a:avLst/>
              <a:gdLst>
                <a:gd name="T0" fmla="*/ 112 w 112"/>
                <a:gd name="T1" fmla="*/ 0 h 38"/>
                <a:gd name="T2" fmla="*/ 112 w 112"/>
                <a:gd name="T3" fmla="*/ 26 h 38"/>
                <a:gd name="T4" fmla="*/ 0 w 112"/>
                <a:gd name="T5" fmla="*/ 38 h 38"/>
                <a:gd name="T6" fmla="*/ 0 w 112"/>
                <a:gd name="T7" fmla="*/ 12 h 38"/>
                <a:gd name="T8" fmla="*/ 112 w 112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8">
                  <a:moveTo>
                    <a:pt x="112" y="0"/>
                  </a:moveTo>
                  <a:lnTo>
                    <a:pt x="112" y="26"/>
                  </a:lnTo>
                  <a:lnTo>
                    <a:pt x="0" y="38"/>
                  </a:lnTo>
                  <a:lnTo>
                    <a:pt x="0" y="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19" name="Freeform 1707"/>
            <p:cNvSpPr>
              <a:spLocks/>
            </p:cNvSpPr>
            <p:nvPr/>
          </p:nvSpPr>
          <p:spPr bwMode="auto">
            <a:xfrm>
              <a:off x="4228" y="3738"/>
              <a:ext cx="56" cy="19"/>
            </a:xfrm>
            <a:custGeom>
              <a:avLst/>
              <a:gdLst>
                <a:gd name="T0" fmla="*/ 112 w 112"/>
                <a:gd name="T1" fmla="*/ 0 h 38"/>
                <a:gd name="T2" fmla="*/ 112 w 112"/>
                <a:gd name="T3" fmla="*/ 28 h 38"/>
                <a:gd name="T4" fmla="*/ 0 w 112"/>
                <a:gd name="T5" fmla="*/ 38 h 38"/>
                <a:gd name="T6" fmla="*/ 0 w 112"/>
                <a:gd name="T7" fmla="*/ 12 h 38"/>
                <a:gd name="T8" fmla="*/ 112 w 112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8">
                  <a:moveTo>
                    <a:pt x="112" y="0"/>
                  </a:moveTo>
                  <a:lnTo>
                    <a:pt x="112" y="28"/>
                  </a:lnTo>
                  <a:lnTo>
                    <a:pt x="0" y="38"/>
                  </a:lnTo>
                  <a:lnTo>
                    <a:pt x="0" y="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0" name="Freeform 1708"/>
            <p:cNvSpPr>
              <a:spLocks/>
            </p:cNvSpPr>
            <p:nvPr/>
          </p:nvSpPr>
          <p:spPr bwMode="auto">
            <a:xfrm>
              <a:off x="4228" y="3751"/>
              <a:ext cx="56" cy="18"/>
            </a:xfrm>
            <a:custGeom>
              <a:avLst/>
              <a:gdLst>
                <a:gd name="T0" fmla="*/ 112 w 112"/>
                <a:gd name="T1" fmla="*/ 0 h 36"/>
                <a:gd name="T2" fmla="*/ 112 w 112"/>
                <a:gd name="T3" fmla="*/ 26 h 36"/>
                <a:gd name="T4" fmla="*/ 0 w 112"/>
                <a:gd name="T5" fmla="*/ 36 h 36"/>
                <a:gd name="T6" fmla="*/ 0 w 112"/>
                <a:gd name="T7" fmla="*/ 10 h 36"/>
                <a:gd name="T8" fmla="*/ 112 w 112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6">
                  <a:moveTo>
                    <a:pt x="112" y="0"/>
                  </a:moveTo>
                  <a:lnTo>
                    <a:pt x="112" y="26"/>
                  </a:lnTo>
                  <a:lnTo>
                    <a:pt x="0" y="36"/>
                  </a:lnTo>
                  <a:lnTo>
                    <a:pt x="0" y="10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1" name="Freeform 1709"/>
            <p:cNvSpPr>
              <a:spLocks/>
            </p:cNvSpPr>
            <p:nvPr/>
          </p:nvSpPr>
          <p:spPr bwMode="auto">
            <a:xfrm>
              <a:off x="4228" y="3764"/>
              <a:ext cx="56" cy="18"/>
            </a:xfrm>
            <a:custGeom>
              <a:avLst/>
              <a:gdLst>
                <a:gd name="T0" fmla="*/ 112 w 112"/>
                <a:gd name="T1" fmla="*/ 0 h 36"/>
                <a:gd name="T2" fmla="*/ 112 w 112"/>
                <a:gd name="T3" fmla="*/ 26 h 36"/>
                <a:gd name="T4" fmla="*/ 0 w 112"/>
                <a:gd name="T5" fmla="*/ 36 h 36"/>
                <a:gd name="T6" fmla="*/ 0 w 112"/>
                <a:gd name="T7" fmla="*/ 10 h 36"/>
                <a:gd name="T8" fmla="*/ 112 w 112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6">
                  <a:moveTo>
                    <a:pt x="112" y="0"/>
                  </a:moveTo>
                  <a:lnTo>
                    <a:pt x="112" y="26"/>
                  </a:lnTo>
                  <a:lnTo>
                    <a:pt x="0" y="36"/>
                  </a:lnTo>
                  <a:lnTo>
                    <a:pt x="0" y="10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2" name="Freeform 1710"/>
            <p:cNvSpPr>
              <a:spLocks/>
            </p:cNvSpPr>
            <p:nvPr/>
          </p:nvSpPr>
          <p:spPr bwMode="auto">
            <a:xfrm>
              <a:off x="4228" y="3777"/>
              <a:ext cx="56" cy="18"/>
            </a:xfrm>
            <a:custGeom>
              <a:avLst/>
              <a:gdLst>
                <a:gd name="T0" fmla="*/ 112 w 112"/>
                <a:gd name="T1" fmla="*/ 0 h 36"/>
                <a:gd name="T2" fmla="*/ 112 w 112"/>
                <a:gd name="T3" fmla="*/ 25 h 36"/>
                <a:gd name="T4" fmla="*/ 0 w 112"/>
                <a:gd name="T5" fmla="*/ 36 h 36"/>
                <a:gd name="T6" fmla="*/ 0 w 112"/>
                <a:gd name="T7" fmla="*/ 10 h 36"/>
                <a:gd name="T8" fmla="*/ 112 w 112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6">
                  <a:moveTo>
                    <a:pt x="112" y="0"/>
                  </a:moveTo>
                  <a:lnTo>
                    <a:pt x="112" y="25"/>
                  </a:lnTo>
                  <a:lnTo>
                    <a:pt x="0" y="36"/>
                  </a:lnTo>
                  <a:lnTo>
                    <a:pt x="0" y="10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3" name="Freeform 1711"/>
            <p:cNvSpPr>
              <a:spLocks/>
            </p:cNvSpPr>
            <p:nvPr/>
          </p:nvSpPr>
          <p:spPr bwMode="auto">
            <a:xfrm>
              <a:off x="4228" y="3790"/>
              <a:ext cx="56" cy="19"/>
            </a:xfrm>
            <a:custGeom>
              <a:avLst/>
              <a:gdLst>
                <a:gd name="T0" fmla="*/ 112 w 112"/>
                <a:gd name="T1" fmla="*/ 0 h 38"/>
                <a:gd name="T2" fmla="*/ 112 w 112"/>
                <a:gd name="T3" fmla="*/ 26 h 38"/>
                <a:gd name="T4" fmla="*/ 0 w 112"/>
                <a:gd name="T5" fmla="*/ 38 h 38"/>
                <a:gd name="T6" fmla="*/ 0 w 112"/>
                <a:gd name="T7" fmla="*/ 11 h 38"/>
                <a:gd name="T8" fmla="*/ 112 w 112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8">
                  <a:moveTo>
                    <a:pt x="112" y="0"/>
                  </a:moveTo>
                  <a:lnTo>
                    <a:pt x="112" y="26"/>
                  </a:lnTo>
                  <a:lnTo>
                    <a:pt x="0" y="38"/>
                  </a:lnTo>
                  <a:lnTo>
                    <a:pt x="0" y="11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4" name="Freeform 1712"/>
            <p:cNvSpPr>
              <a:spLocks/>
            </p:cNvSpPr>
            <p:nvPr/>
          </p:nvSpPr>
          <p:spPr bwMode="auto">
            <a:xfrm>
              <a:off x="4228" y="3803"/>
              <a:ext cx="56" cy="18"/>
            </a:xfrm>
            <a:custGeom>
              <a:avLst/>
              <a:gdLst>
                <a:gd name="T0" fmla="*/ 112 w 112"/>
                <a:gd name="T1" fmla="*/ 0 h 37"/>
                <a:gd name="T2" fmla="*/ 112 w 112"/>
                <a:gd name="T3" fmla="*/ 24 h 37"/>
                <a:gd name="T4" fmla="*/ 0 w 112"/>
                <a:gd name="T5" fmla="*/ 37 h 37"/>
                <a:gd name="T6" fmla="*/ 0 w 112"/>
                <a:gd name="T7" fmla="*/ 12 h 37"/>
                <a:gd name="T8" fmla="*/ 112 w 112"/>
                <a:gd name="T9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7">
                  <a:moveTo>
                    <a:pt x="112" y="0"/>
                  </a:moveTo>
                  <a:lnTo>
                    <a:pt x="112" y="24"/>
                  </a:lnTo>
                  <a:lnTo>
                    <a:pt x="0" y="37"/>
                  </a:lnTo>
                  <a:lnTo>
                    <a:pt x="0" y="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5" name="Freeform 1713"/>
            <p:cNvSpPr>
              <a:spLocks/>
            </p:cNvSpPr>
            <p:nvPr/>
          </p:nvSpPr>
          <p:spPr bwMode="auto">
            <a:xfrm>
              <a:off x="4228" y="3815"/>
              <a:ext cx="56" cy="19"/>
            </a:xfrm>
            <a:custGeom>
              <a:avLst/>
              <a:gdLst>
                <a:gd name="T0" fmla="*/ 112 w 112"/>
                <a:gd name="T1" fmla="*/ 0 h 38"/>
                <a:gd name="T2" fmla="*/ 112 w 112"/>
                <a:gd name="T3" fmla="*/ 26 h 38"/>
                <a:gd name="T4" fmla="*/ 0 w 112"/>
                <a:gd name="T5" fmla="*/ 38 h 38"/>
                <a:gd name="T6" fmla="*/ 0 w 112"/>
                <a:gd name="T7" fmla="*/ 13 h 38"/>
                <a:gd name="T8" fmla="*/ 112 w 112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8">
                  <a:moveTo>
                    <a:pt x="112" y="0"/>
                  </a:moveTo>
                  <a:lnTo>
                    <a:pt x="112" y="26"/>
                  </a:lnTo>
                  <a:lnTo>
                    <a:pt x="0" y="38"/>
                  </a:lnTo>
                  <a:lnTo>
                    <a:pt x="0" y="13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6" name="Freeform 1714"/>
            <p:cNvSpPr>
              <a:spLocks/>
            </p:cNvSpPr>
            <p:nvPr/>
          </p:nvSpPr>
          <p:spPr bwMode="auto">
            <a:xfrm>
              <a:off x="4228" y="3828"/>
              <a:ext cx="56" cy="19"/>
            </a:xfrm>
            <a:custGeom>
              <a:avLst/>
              <a:gdLst>
                <a:gd name="T0" fmla="*/ 112 w 112"/>
                <a:gd name="T1" fmla="*/ 0 h 38"/>
                <a:gd name="T2" fmla="*/ 112 w 112"/>
                <a:gd name="T3" fmla="*/ 26 h 38"/>
                <a:gd name="T4" fmla="*/ 0 w 112"/>
                <a:gd name="T5" fmla="*/ 38 h 38"/>
                <a:gd name="T6" fmla="*/ 0 w 112"/>
                <a:gd name="T7" fmla="*/ 12 h 38"/>
                <a:gd name="T8" fmla="*/ 112 w 112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8">
                  <a:moveTo>
                    <a:pt x="112" y="0"/>
                  </a:moveTo>
                  <a:lnTo>
                    <a:pt x="112" y="26"/>
                  </a:lnTo>
                  <a:lnTo>
                    <a:pt x="0" y="38"/>
                  </a:lnTo>
                  <a:lnTo>
                    <a:pt x="0" y="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7" name="Freeform 1715"/>
            <p:cNvSpPr>
              <a:spLocks/>
            </p:cNvSpPr>
            <p:nvPr/>
          </p:nvSpPr>
          <p:spPr bwMode="auto">
            <a:xfrm>
              <a:off x="4228" y="3841"/>
              <a:ext cx="56" cy="19"/>
            </a:xfrm>
            <a:custGeom>
              <a:avLst/>
              <a:gdLst>
                <a:gd name="T0" fmla="*/ 112 w 112"/>
                <a:gd name="T1" fmla="*/ 0 h 38"/>
                <a:gd name="T2" fmla="*/ 112 w 112"/>
                <a:gd name="T3" fmla="*/ 26 h 38"/>
                <a:gd name="T4" fmla="*/ 0 w 112"/>
                <a:gd name="T5" fmla="*/ 38 h 38"/>
                <a:gd name="T6" fmla="*/ 0 w 112"/>
                <a:gd name="T7" fmla="*/ 12 h 38"/>
                <a:gd name="T8" fmla="*/ 112 w 112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8">
                  <a:moveTo>
                    <a:pt x="112" y="0"/>
                  </a:moveTo>
                  <a:lnTo>
                    <a:pt x="112" y="26"/>
                  </a:lnTo>
                  <a:lnTo>
                    <a:pt x="0" y="38"/>
                  </a:lnTo>
                  <a:lnTo>
                    <a:pt x="0" y="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8" name="Freeform 1716"/>
            <p:cNvSpPr>
              <a:spLocks/>
            </p:cNvSpPr>
            <p:nvPr/>
          </p:nvSpPr>
          <p:spPr bwMode="auto">
            <a:xfrm>
              <a:off x="4228" y="3854"/>
              <a:ext cx="56" cy="19"/>
            </a:xfrm>
            <a:custGeom>
              <a:avLst/>
              <a:gdLst>
                <a:gd name="T0" fmla="*/ 112 w 112"/>
                <a:gd name="T1" fmla="*/ 0 h 38"/>
                <a:gd name="T2" fmla="*/ 112 w 112"/>
                <a:gd name="T3" fmla="*/ 26 h 38"/>
                <a:gd name="T4" fmla="*/ 0 w 112"/>
                <a:gd name="T5" fmla="*/ 38 h 38"/>
                <a:gd name="T6" fmla="*/ 0 w 112"/>
                <a:gd name="T7" fmla="*/ 12 h 38"/>
                <a:gd name="T8" fmla="*/ 112 w 112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8">
                  <a:moveTo>
                    <a:pt x="112" y="0"/>
                  </a:moveTo>
                  <a:lnTo>
                    <a:pt x="112" y="26"/>
                  </a:lnTo>
                  <a:lnTo>
                    <a:pt x="0" y="38"/>
                  </a:lnTo>
                  <a:lnTo>
                    <a:pt x="0" y="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29" name="Freeform 1717"/>
            <p:cNvSpPr>
              <a:spLocks/>
            </p:cNvSpPr>
            <p:nvPr/>
          </p:nvSpPr>
          <p:spPr bwMode="auto">
            <a:xfrm>
              <a:off x="4228" y="3867"/>
              <a:ext cx="56" cy="19"/>
            </a:xfrm>
            <a:custGeom>
              <a:avLst/>
              <a:gdLst>
                <a:gd name="T0" fmla="*/ 112 w 112"/>
                <a:gd name="T1" fmla="*/ 0 h 38"/>
                <a:gd name="T2" fmla="*/ 112 w 112"/>
                <a:gd name="T3" fmla="*/ 28 h 38"/>
                <a:gd name="T4" fmla="*/ 0 w 112"/>
                <a:gd name="T5" fmla="*/ 38 h 38"/>
                <a:gd name="T6" fmla="*/ 0 w 112"/>
                <a:gd name="T7" fmla="*/ 12 h 38"/>
                <a:gd name="T8" fmla="*/ 112 w 112"/>
                <a:gd name="T9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38">
                  <a:moveTo>
                    <a:pt x="112" y="0"/>
                  </a:moveTo>
                  <a:lnTo>
                    <a:pt x="112" y="28"/>
                  </a:lnTo>
                  <a:lnTo>
                    <a:pt x="0" y="38"/>
                  </a:lnTo>
                  <a:lnTo>
                    <a:pt x="0" y="12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0" name="Freeform 1718"/>
            <p:cNvSpPr>
              <a:spLocks/>
            </p:cNvSpPr>
            <p:nvPr/>
          </p:nvSpPr>
          <p:spPr bwMode="auto">
            <a:xfrm>
              <a:off x="4228" y="3881"/>
              <a:ext cx="56" cy="17"/>
            </a:xfrm>
            <a:custGeom>
              <a:avLst/>
              <a:gdLst>
                <a:gd name="T0" fmla="*/ 112 w 112"/>
                <a:gd name="T1" fmla="*/ 0 h 34"/>
                <a:gd name="T2" fmla="*/ 112 w 112"/>
                <a:gd name="T3" fmla="*/ 25 h 34"/>
                <a:gd name="T4" fmla="*/ 24 w 112"/>
                <a:gd name="T5" fmla="*/ 34 h 34"/>
                <a:gd name="T6" fmla="*/ 0 w 112"/>
                <a:gd name="T7" fmla="*/ 15 h 34"/>
                <a:gd name="T8" fmla="*/ 0 w 112"/>
                <a:gd name="T9" fmla="*/ 10 h 34"/>
                <a:gd name="T10" fmla="*/ 112 w 112"/>
                <a:gd name="T11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12" h="34">
                  <a:moveTo>
                    <a:pt x="112" y="0"/>
                  </a:moveTo>
                  <a:lnTo>
                    <a:pt x="112" y="25"/>
                  </a:lnTo>
                  <a:lnTo>
                    <a:pt x="24" y="34"/>
                  </a:lnTo>
                  <a:lnTo>
                    <a:pt x="0" y="15"/>
                  </a:lnTo>
                  <a:lnTo>
                    <a:pt x="0" y="10"/>
                  </a:lnTo>
                  <a:lnTo>
                    <a:pt x="112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1" name="Freeform 1719"/>
            <p:cNvSpPr>
              <a:spLocks/>
            </p:cNvSpPr>
            <p:nvPr/>
          </p:nvSpPr>
          <p:spPr bwMode="auto">
            <a:xfrm>
              <a:off x="4240" y="3894"/>
              <a:ext cx="44" cy="15"/>
            </a:xfrm>
            <a:custGeom>
              <a:avLst/>
              <a:gdLst>
                <a:gd name="T0" fmla="*/ 88 w 88"/>
                <a:gd name="T1" fmla="*/ 0 h 32"/>
                <a:gd name="T2" fmla="*/ 88 w 88"/>
                <a:gd name="T3" fmla="*/ 26 h 32"/>
                <a:gd name="T4" fmla="*/ 30 w 88"/>
                <a:gd name="T5" fmla="*/ 32 h 32"/>
                <a:gd name="T6" fmla="*/ 0 w 88"/>
                <a:gd name="T7" fmla="*/ 9 h 32"/>
                <a:gd name="T8" fmla="*/ 88 w 88"/>
                <a:gd name="T9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8" h="32">
                  <a:moveTo>
                    <a:pt x="88" y="0"/>
                  </a:moveTo>
                  <a:lnTo>
                    <a:pt x="88" y="26"/>
                  </a:lnTo>
                  <a:lnTo>
                    <a:pt x="30" y="32"/>
                  </a:lnTo>
                  <a:lnTo>
                    <a:pt x="0" y="9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2" name="Freeform 1720"/>
            <p:cNvSpPr>
              <a:spLocks/>
            </p:cNvSpPr>
            <p:nvPr/>
          </p:nvSpPr>
          <p:spPr bwMode="auto">
            <a:xfrm>
              <a:off x="4255" y="3907"/>
              <a:ext cx="29" cy="13"/>
            </a:xfrm>
            <a:custGeom>
              <a:avLst/>
              <a:gdLst>
                <a:gd name="T0" fmla="*/ 58 w 58"/>
                <a:gd name="T1" fmla="*/ 0 h 28"/>
                <a:gd name="T2" fmla="*/ 58 w 58"/>
                <a:gd name="T3" fmla="*/ 26 h 28"/>
                <a:gd name="T4" fmla="*/ 31 w 58"/>
                <a:gd name="T5" fmla="*/ 28 h 28"/>
                <a:gd name="T6" fmla="*/ 0 w 58"/>
                <a:gd name="T7" fmla="*/ 6 h 28"/>
                <a:gd name="T8" fmla="*/ 58 w 58"/>
                <a:gd name="T9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8" h="28">
                  <a:moveTo>
                    <a:pt x="58" y="0"/>
                  </a:moveTo>
                  <a:lnTo>
                    <a:pt x="58" y="26"/>
                  </a:lnTo>
                  <a:lnTo>
                    <a:pt x="31" y="28"/>
                  </a:lnTo>
                  <a:lnTo>
                    <a:pt x="0" y="6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3" name="Freeform 1721"/>
            <p:cNvSpPr>
              <a:spLocks/>
            </p:cNvSpPr>
            <p:nvPr/>
          </p:nvSpPr>
          <p:spPr bwMode="auto">
            <a:xfrm>
              <a:off x="4270" y="3920"/>
              <a:ext cx="14" cy="12"/>
            </a:xfrm>
            <a:custGeom>
              <a:avLst/>
              <a:gdLst>
                <a:gd name="T0" fmla="*/ 27 w 27"/>
                <a:gd name="T1" fmla="*/ 0 h 24"/>
                <a:gd name="T2" fmla="*/ 27 w 27"/>
                <a:gd name="T3" fmla="*/ 24 h 24"/>
                <a:gd name="T4" fmla="*/ 0 w 27"/>
                <a:gd name="T5" fmla="*/ 2 h 24"/>
                <a:gd name="T6" fmla="*/ 27 w 27"/>
                <a:gd name="T7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7" h="24">
                  <a:moveTo>
                    <a:pt x="27" y="0"/>
                  </a:moveTo>
                  <a:lnTo>
                    <a:pt x="27" y="24"/>
                  </a:lnTo>
                  <a:lnTo>
                    <a:pt x="0" y="2"/>
                  </a:lnTo>
                  <a:lnTo>
                    <a:pt x="27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4" name="Freeform 1722"/>
            <p:cNvSpPr>
              <a:spLocks/>
            </p:cNvSpPr>
            <p:nvPr/>
          </p:nvSpPr>
          <p:spPr bwMode="auto">
            <a:xfrm>
              <a:off x="4228" y="3681"/>
              <a:ext cx="56" cy="251"/>
            </a:xfrm>
            <a:custGeom>
              <a:avLst/>
              <a:gdLst>
                <a:gd name="T0" fmla="*/ 0 w 112"/>
                <a:gd name="T1" fmla="*/ 87 h 502"/>
                <a:gd name="T2" fmla="*/ 112 w 112"/>
                <a:gd name="T3" fmla="*/ 0 h 502"/>
                <a:gd name="T4" fmla="*/ 112 w 112"/>
                <a:gd name="T5" fmla="*/ 502 h 502"/>
                <a:gd name="T6" fmla="*/ 0 w 112"/>
                <a:gd name="T7" fmla="*/ 416 h 502"/>
                <a:gd name="T8" fmla="*/ 0 w 112"/>
                <a:gd name="T9" fmla="*/ 87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2" h="502">
                  <a:moveTo>
                    <a:pt x="0" y="87"/>
                  </a:moveTo>
                  <a:lnTo>
                    <a:pt x="112" y="0"/>
                  </a:lnTo>
                  <a:lnTo>
                    <a:pt x="112" y="502"/>
                  </a:lnTo>
                  <a:lnTo>
                    <a:pt x="0" y="416"/>
                  </a:lnTo>
                  <a:lnTo>
                    <a:pt x="0" y="87"/>
                  </a:lnTo>
                </a:path>
              </a:pathLst>
            </a:custGeom>
            <a:noFill/>
            <a:ln w="0">
              <a:solidFill>
                <a:srgbClr val="7F7F7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5" name="Freeform 1723"/>
            <p:cNvSpPr>
              <a:spLocks/>
            </p:cNvSpPr>
            <p:nvPr/>
          </p:nvSpPr>
          <p:spPr bwMode="auto">
            <a:xfrm>
              <a:off x="4222" y="3888"/>
              <a:ext cx="68" cy="44"/>
            </a:xfrm>
            <a:custGeom>
              <a:avLst/>
              <a:gdLst>
                <a:gd name="T0" fmla="*/ 0 w 137"/>
                <a:gd name="T1" fmla="*/ 88 h 88"/>
                <a:gd name="T2" fmla="*/ 137 w 137"/>
                <a:gd name="T3" fmla="*/ 88 h 88"/>
                <a:gd name="T4" fmla="*/ 12 w 137"/>
                <a:gd name="T5" fmla="*/ 0 h 88"/>
                <a:gd name="T6" fmla="*/ 11 w 137"/>
                <a:gd name="T7" fmla="*/ 0 h 88"/>
                <a:gd name="T8" fmla="*/ 0 w 137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7" h="88">
                  <a:moveTo>
                    <a:pt x="0" y="88"/>
                  </a:moveTo>
                  <a:lnTo>
                    <a:pt x="137" y="88"/>
                  </a:lnTo>
                  <a:lnTo>
                    <a:pt x="12" y="0"/>
                  </a:lnTo>
                  <a:lnTo>
                    <a:pt x="11" y="0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6" name="Freeform 1724"/>
            <p:cNvSpPr>
              <a:spLocks/>
            </p:cNvSpPr>
            <p:nvPr/>
          </p:nvSpPr>
          <p:spPr bwMode="auto">
            <a:xfrm>
              <a:off x="4153" y="3888"/>
              <a:ext cx="74" cy="44"/>
            </a:xfrm>
            <a:custGeom>
              <a:avLst/>
              <a:gdLst>
                <a:gd name="T0" fmla="*/ 138 w 149"/>
                <a:gd name="T1" fmla="*/ 88 h 88"/>
                <a:gd name="T2" fmla="*/ 0 w 149"/>
                <a:gd name="T3" fmla="*/ 88 h 88"/>
                <a:gd name="T4" fmla="*/ 12 w 149"/>
                <a:gd name="T5" fmla="*/ 0 h 88"/>
                <a:gd name="T6" fmla="*/ 149 w 149"/>
                <a:gd name="T7" fmla="*/ 0 h 88"/>
                <a:gd name="T8" fmla="*/ 138 w 14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88">
                  <a:moveTo>
                    <a:pt x="138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9" y="0"/>
                  </a:lnTo>
                  <a:lnTo>
                    <a:pt x="138" y="88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7" name="Freeform 1725"/>
            <p:cNvSpPr>
              <a:spLocks/>
            </p:cNvSpPr>
            <p:nvPr/>
          </p:nvSpPr>
          <p:spPr bwMode="auto">
            <a:xfrm>
              <a:off x="4085" y="3888"/>
              <a:ext cx="74" cy="44"/>
            </a:xfrm>
            <a:custGeom>
              <a:avLst/>
              <a:gdLst>
                <a:gd name="T0" fmla="*/ 136 w 148"/>
                <a:gd name="T1" fmla="*/ 88 h 88"/>
                <a:gd name="T2" fmla="*/ 0 w 148"/>
                <a:gd name="T3" fmla="*/ 88 h 88"/>
                <a:gd name="T4" fmla="*/ 10 w 148"/>
                <a:gd name="T5" fmla="*/ 0 h 88"/>
                <a:gd name="T6" fmla="*/ 148 w 148"/>
                <a:gd name="T7" fmla="*/ 0 h 88"/>
                <a:gd name="T8" fmla="*/ 136 w 148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88">
                  <a:moveTo>
                    <a:pt x="136" y="88"/>
                  </a:moveTo>
                  <a:lnTo>
                    <a:pt x="0" y="88"/>
                  </a:lnTo>
                  <a:lnTo>
                    <a:pt x="10" y="0"/>
                  </a:lnTo>
                  <a:lnTo>
                    <a:pt x="148" y="0"/>
                  </a:lnTo>
                  <a:lnTo>
                    <a:pt x="136" y="88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8" name="Freeform 1726"/>
            <p:cNvSpPr>
              <a:spLocks/>
            </p:cNvSpPr>
            <p:nvPr/>
          </p:nvSpPr>
          <p:spPr bwMode="auto">
            <a:xfrm>
              <a:off x="4016" y="3888"/>
              <a:ext cx="74" cy="44"/>
            </a:xfrm>
            <a:custGeom>
              <a:avLst/>
              <a:gdLst>
                <a:gd name="T0" fmla="*/ 138 w 148"/>
                <a:gd name="T1" fmla="*/ 88 h 88"/>
                <a:gd name="T2" fmla="*/ 0 w 148"/>
                <a:gd name="T3" fmla="*/ 88 h 88"/>
                <a:gd name="T4" fmla="*/ 12 w 148"/>
                <a:gd name="T5" fmla="*/ 0 h 88"/>
                <a:gd name="T6" fmla="*/ 148 w 148"/>
                <a:gd name="T7" fmla="*/ 0 h 88"/>
                <a:gd name="T8" fmla="*/ 138 w 148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88">
                  <a:moveTo>
                    <a:pt x="138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8" y="0"/>
                  </a:lnTo>
                  <a:lnTo>
                    <a:pt x="138" y="88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39" name="Freeform 1727"/>
            <p:cNvSpPr>
              <a:spLocks/>
            </p:cNvSpPr>
            <p:nvPr/>
          </p:nvSpPr>
          <p:spPr bwMode="auto">
            <a:xfrm>
              <a:off x="3948" y="3888"/>
              <a:ext cx="74" cy="44"/>
            </a:xfrm>
            <a:custGeom>
              <a:avLst/>
              <a:gdLst>
                <a:gd name="T0" fmla="*/ 137 w 149"/>
                <a:gd name="T1" fmla="*/ 88 h 88"/>
                <a:gd name="T2" fmla="*/ 0 w 149"/>
                <a:gd name="T3" fmla="*/ 88 h 88"/>
                <a:gd name="T4" fmla="*/ 11 w 149"/>
                <a:gd name="T5" fmla="*/ 0 h 88"/>
                <a:gd name="T6" fmla="*/ 149 w 149"/>
                <a:gd name="T7" fmla="*/ 0 h 88"/>
                <a:gd name="T8" fmla="*/ 137 w 14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88">
                  <a:moveTo>
                    <a:pt x="137" y="88"/>
                  </a:moveTo>
                  <a:lnTo>
                    <a:pt x="0" y="88"/>
                  </a:lnTo>
                  <a:lnTo>
                    <a:pt x="11" y="0"/>
                  </a:lnTo>
                  <a:lnTo>
                    <a:pt x="149" y="0"/>
                  </a:lnTo>
                  <a:lnTo>
                    <a:pt x="137" y="88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0" name="Freeform 1728"/>
            <p:cNvSpPr>
              <a:spLocks/>
            </p:cNvSpPr>
            <p:nvPr/>
          </p:nvSpPr>
          <p:spPr bwMode="auto">
            <a:xfrm>
              <a:off x="3879" y="3888"/>
              <a:ext cx="74" cy="44"/>
            </a:xfrm>
            <a:custGeom>
              <a:avLst/>
              <a:gdLst>
                <a:gd name="T0" fmla="*/ 138 w 149"/>
                <a:gd name="T1" fmla="*/ 88 h 88"/>
                <a:gd name="T2" fmla="*/ 0 w 149"/>
                <a:gd name="T3" fmla="*/ 88 h 88"/>
                <a:gd name="T4" fmla="*/ 12 w 149"/>
                <a:gd name="T5" fmla="*/ 0 h 88"/>
                <a:gd name="T6" fmla="*/ 149 w 149"/>
                <a:gd name="T7" fmla="*/ 0 h 88"/>
                <a:gd name="T8" fmla="*/ 138 w 14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88">
                  <a:moveTo>
                    <a:pt x="138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9" y="0"/>
                  </a:lnTo>
                  <a:lnTo>
                    <a:pt x="138" y="88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1" name="Freeform 1729"/>
            <p:cNvSpPr>
              <a:spLocks/>
            </p:cNvSpPr>
            <p:nvPr/>
          </p:nvSpPr>
          <p:spPr bwMode="auto">
            <a:xfrm>
              <a:off x="3810" y="3888"/>
              <a:ext cx="75" cy="44"/>
            </a:xfrm>
            <a:custGeom>
              <a:avLst/>
              <a:gdLst>
                <a:gd name="T0" fmla="*/ 136 w 148"/>
                <a:gd name="T1" fmla="*/ 88 h 88"/>
                <a:gd name="T2" fmla="*/ 0 w 148"/>
                <a:gd name="T3" fmla="*/ 88 h 88"/>
                <a:gd name="T4" fmla="*/ 10 w 148"/>
                <a:gd name="T5" fmla="*/ 0 h 88"/>
                <a:gd name="T6" fmla="*/ 148 w 148"/>
                <a:gd name="T7" fmla="*/ 0 h 88"/>
                <a:gd name="T8" fmla="*/ 136 w 148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88">
                  <a:moveTo>
                    <a:pt x="136" y="88"/>
                  </a:moveTo>
                  <a:lnTo>
                    <a:pt x="0" y="88"/>
                  </a:lnTo>
                  <a:lnTo>
                    <a:pt x="10" y="0"/>
                  </a:lnTo>
                  <a:lnTo>
                    <a:pt x="148" y="0"/>
                  </a:lnTo>
                  <a:lnTo>
                    <a:pt x="136" y="88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2" name="Freeform 1730"/>
            <p:cNvSpPr>
              <a:spLocks/>
            </p:cNvSpPr>
            <p:nvPr/>
          </p:nvSpPr>
          <p:spPr bwMode="auto">
            <a:xfrm>
              <a:off x="3741" y="3888"/>
              <a:ext cx="75" cy="44"/>
            </a:xfrm>
            <a:custGeom>
              <a:avLst/>
              <a:gdLst>
                <a:gd name="T0" fmla="*/ 138 w 148"/>
                <a:gd name="T1" fmla="*/ 88 h 88"/>
                <a:gd name="T2" fmla="*/ 0 w 148"/>
                <a:gd name="T3" fmla="*/ 88 h 88"/>
                <a:gd name="T4" fmla="*/ 12 w 148"/>
                <a:gd name="T5" fmla="*/ 0 h 88"/>
                <a:gd name="T6" fmla="*/ 148 w 148"/>
                <a:gd name="T7" fmla="*/ 0 h 88"/>
                <a:gd name="T8" fmla="*/ 138 w 148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88">
                  <a:moveTo>
                    <a:pt x="138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8" y="0"/>
                  </a:lnTo>
                  <a:lnTo>
                    <a:pt x="138" y="88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3" name="Freeform 1731"/>
            <p:cNvSpPr>
              <a:spLocks/>
            </p:cNvSpPr>
            <p:nvPr/>
          </p:nvSpPr>
          <p:spPr bwMode="auto">
            <a:xfrm>
              <a:off x="3673" y="3888"/>
              <a:ext cx="74" cy="44"/>
            </a:xfrm>
            <a:custGeom>
              <a:avLst/>
              <a:gdLst>
                <a:gd name="T0" fmla="*/ 137 w 149"/>
                <a:gd name="T1" fmla="*/ 88 h 88"/>
                <a:gd name="T2" fmla="*/ 0 w 149"/>
                <a:gd name="T3" fmla="*/ 88 h 88"/>
                <a:gd name="T4" fmla="*/ 11 w 149"/>
                <a:gd name="T5" fmla="*/ 0 h 88"/>
                <a:gd name="T6" fmla="*/ 149 w 149"/>
                <a:gd name="T7" fmla="*/ 0 h 88"/>
                <a:gd name="T8" fmla="*/ 137 w 14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88">
                  <a:moveTo>
                    <a:pt x="137" y="88"/>
                  </a:moveTo>
                  <a:lnTo>
                    <a:pt x="0" y="88"/>
                  </a:lnTo>
                  <a:lnTo>
                    <a:pt x="11" y="0"/>
                  </a:lnTo>
                  <a:lnTo>
                    <a:pt x="149" y="0"/>
                  </a:lnTo>
                  <a:lnTo>
                    <a:pt x="137" y="88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4" name="Freeform 1732"/>
            <p:cNvSpPr>
              <a:spLocks/>
            </p:cNvSpPr>
            <p:nvPr/>
          </p:nvSpPr>
          <p:spPr bwMode="auto">
            <a:xfrm>
              <a:off x="3604" y="3888"/>
              <a:ext cx="74" cy="44"/>
            </a:xfrm>
            <a:custGeom>
              <a:avLst/>
              <a:gdLst>
                <a:gd name="T0" fmla="*/ 138 w 149"/>
                <a:gd name="T1" fmla="*/ 88 h 88"/>
                <a:gd name="T2" fmla="*/ 0 w 149"/>
                <a:gd name="T3" fmla="*/ 88 h 88"/>
                <a:gd name="T4" fmla="*/ 12 w 149"/>
                <a:gd name="T5" fmla="*/ 0 h 88"/>
                <a:gd name="T6" fmla="*/ 149 w 149"/>
                <a:gd name="T7" fmla="*/ 0 h 88"/>
                <a:gd name="T8" fmla="*/ 138 w 14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88">
                  <a:moveTo>
                    <a:pt x="138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9" y="0"/>
                  </a:lnTo>
                  <a:lnTo>
                    <a:pt x="138" y="88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5" name="Freeform 1733"/>
            <p:cNvSpPr>
              <a:spLocks/>
            </p:cNvSpPr>
            <p:nvPr/>
          </p:nvSpPr>
          <p:spPr bwMode="auto">
            <a:xfrm>
              <a:off x="3536" y="3888"/>
              <a:ext cx="74" cy="44"/>
            </a:xfrm>
            <a:custGeom>
              <a:avLst/>
              <a:gdLst>
                <a:gd name="T0" fmla="*/ 136 w 148"/>
                <a:gd name="T1" fmla="*/ 88 h 88"/>
                <a:gd name="T2" fmla="*/ 0 w 148"/>
                <a:gd name="T3" fmla="*/ 88 h 88"/>
                <a:gd name="T4" fmla="*/ 12 w 148"/>
                <a:gd name="T5" fmla="*/ 0 h 88"/>
                <a:gd name="T6" fmla="*/ 148 w 148"/>
                <a:gd name="T7" fmla="*/ 0 h 88"/>
                <a:gd name="T8" fmla="*/ 136 w 148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88">
                  <a:moveTo>
                    <a:pt x="136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8" y="0"/>
                  </a:lnTo>
                  <a:lnTo>
                    <a:pt x="136" y="88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6" name="Freeform 1734"/>
            <p:cNvSpPr>
              <a:spLocks/>
            </p:cNvSpPr>
            <p:nvPr/>
          </p:nvSpPr>
          <p:spPr bwMode="auto">
            <a:xfrm>
              <a:off x="3468" y="3888"/>
              <a:ext cx="74" cy="44"/>
            </a:xfrm>
            <a:custGeom>
              <a:avLst/>
              <a:gdLst>
                <a:gd name="T0" fmla="*/ 137 w 149"/>
                <a:gd name="T1" fmla="*/ 88 h 88"/>
                <a:gd name="T2" fmla="*/ 0 w 149"/>
                <a:gd name="T3" fmla="*/ 88 h 88"/>
                <a:gd name="T4" fmla="*/ 11 w 149"/>
                <a:gd name="T5" fmla="*/ 0 h 88"/>
                <a:gd name="T6" fmla="*/ 149 w 149"/>
                <a:gd name="T7" fmla="*/ 0 h 88"/>
                <a:gd name="T8" fmla="*/ 137 w 14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88">
                  <a:moveTo>
                    <a:pt x="137" y="88"/>
                  </a:moveTo>
                  <a:lnTo>
                    <a:pt x="0" y="88"/>
                  </a:lnTo>
                  <a:lnTo>
                    <a:pt x="11" y="0"/>
                  </a:lnTo>
                  <a:lnTo>
                    <a:pt x="149" y="0"/>
                  </a:lnTo>
                  <a:lnTo>
                    <a:pt x="137" y="88"/>
                  </a:ln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7" name="Freeform 1735"/>
            <p:cNvSpPr>
              <a:spLocks/>
            </p:cNvSpPr>
            <p:nvPr/>
          </p:nvSpPr>
          <p:spPr bwMode="auto">
            <a:xfrm>
              <a:off x="3399" y="3888"/>
              <a:ext cx="74" cy="44"/>
            </a:xfrm>
            <a:custGeom>
              <a:avLst/>
              <a:gdLst>
                <a:gd name="T0" fmla="*/ 138 w 149"/>
                <a:gd name="T1" fmla="*/ 88 h 88"/>
                <a:gd name="T2" fmla="*/ 0 w 149"/>
                <a:gd name="T3" fmla="*/ 88 h 88"/>
                <a:gd name="T4" fmla="*/ 12 w 149"/>
                <a:gd name="T5" fmla="*/ 0 h 88"/>
                <a:gd name="T6" fmla="*/ 149 w 149"/>
                <a:gd name="T7" fmla="*/ 0 h 88"/>
                <a:gd name="T8" fmla="*/ 138 w 14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88">
                  <a:moveTo>
                    <a:pt x="138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9" y="0"/>
                  </a:lnTo>
                  <a:lnTo>
                    <a:pt x="138" y="88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8" name="Freeform 1736"/>
            <p:cNvSpPr>
              <a:spLocks/>
            </p:cNvSpPr>
            <p:nvPr/>
          </p:nvSpPr>
          <p:spPr bwMode="auto">
            <a:xfrm>
              <a:off x="3330" y="3888"/>
              <a:ext cx="75" cy="44"/>
            </a:xfrm>
            <a:custGeom>
              <a:avLst/>
              <a:gdLst>
                <a:gd name="T0" fmla="*/ 136 w 148"/>
                <a:gd name="T1" fmla="*/ 88 h 88"/>
                <a:gd name="T2" fmla="*/ 0 w 148"/>
                <a:gd name="T3" fmla="*/ 88 h 88"/>
                <a:gd name="T4" fmla="*/ 10 w 148"/>
                <a:gd name="T5" fmla="*/ 0 h 88"/>
                <a:gd name="T6" fmla="*/ 148 w 148"/>
                <a:gd name="T7" fmla="*/ 0 h 88"/>
                <a:gd name="T8" fmla="*/ 136 w 148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88">
                  <a:moveTo>
                    <a:pt x="136" y="88"/>
                  </a:moveTo>
                  <a:lnTo>
                    <a:pt x="0" y="88"/>
                  </a:lnTo>
                  <a:lnTo>
                    <a:pt x="10" y="0"/>
                  </a:lnTo>
                  <a:lnTo>
                    <a:pt x="148" y="0"/>
                  </a:lnTo>
                  <a:lnTo>
                    <a:pt x="136" y="88"/>
                  </a:ln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49" name="Freeform 1737"/>
            <p:cNvSpPr>
              <a:spLocks/>
            </p:cNvSpPr>
            <p:nvPr/>
          </p:nvSpPr>
          <p:spPr bwMode="auto">
            <a:xfrm>
              <a:off x="3261" y="3888"/>
              <a:ext cx="75" cy="44"/>
            </a:xfrm>
            <a:custGeom>
              <a:avLst/>
              <a:gdLst>
                <a:gd name="T0" fmla="*/ 138 w 148"/>
                <a:gd name="T1" fmla="*/ 88 h 88"/>
                <a:gd name="T2" fmla="*/ 0 w 148"/>
                <a:gd name="T3" fmla="*/ 88 h 88"/>
                <a:gd name="T4" fmla="*/ 12 w 148"/>
                <a:gd name="T5" fmla="*/ 0 h 88"/>
                <a:gd name="T6" fmla="*/ 148 w 148"/>
                <a:gd name="T7" fmla="*/ 0 h 88"/>
                <a:gd name="T8" fmla="*/ 138 w 148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88">
                  <a:moveTo>
                    <a:pt x="138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8" y="0"/>
                  </a:lnTo>
                  <a:lnTo>
                    <a:pt x="138" y="88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0" name="Freeform 1738"/>
            <p:cNvSpPr>
              <a:spLocks/>
            </p:cNvSpPr>
            <p:nvPr/>
          </p:nvSpPr>
          <p:spPr bwMode="auto">
            <a:xfrm>
              <a:off x="3193" y="3888"/>
              <a:ext cx="74" cy="44"/>
            </a:xfrm>
            <a:custGeom>
              <a:avLst/>
              <a:gdLst>
                <a:gd name="T0" fmla="*/ 137 w 149"/>
                <a:gd name="T1" fmla="*/ 88 h 88"/>
                <a:gd name="T2" fmla="*/ 0 w 149"/>
                <a:gd name="T3" fmla="*/ 88 h 88"/>
                <a:gd name="T4" fmla="*/ 11 w 149"/>
                <a:gd name="T5" fmla="*/ 0 h 88"/>
                <a:gd name="T6" fmla="*/ 149 w 149"/>
                <a:gd name="T7" fmla="*/ 0 h 88"/>
                <a:gd name="T8" fmla="*/ 137 w 14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88">
                  <a:moveTo>
                    <a:pt x="137" y="88"/>
                  </a:moveTo>
                  <a:lnTo>
                    <a:pt x="0" y="88"/>
                  </a:lnTo>
                  <a:lnTo>
                    <a:pt x="11" y="0"/>
                  </a:lnTo>
                  <a:lnTo>
                    <a:pt x="149" y="0"/>
                  </a:lnTo>
                  <a:lnTo>
                    <a:pt x="137" y="88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1" name="Freeform 1739"/>
            <p:cNvSpPr>
              <a:spLocks/>
            </p:cNvSpPr>
            <p:nvPr/>
          </p:nvSpPr>
          <p:spPr bwMode="auto">
            <a:xfrm>
              <a:off x="3124" y="3888"/>
              <a:ext cx="74" cy="44"/>
            </a:xfrm>
            <a:custGeom>
              <a:avLst/>
              <a:gdLst>
                <a:gd name="T0" fmla="*/ 138 w 149"/>
                <a:gd name="T1" fmla="*/ 88 h 88"/>
                <a:gd name="T2" fmla="*/ 0 w 149"/>
                <a:gd name="T3" fmla="*/ 88 h 88"/>
                <a:gd name="T4" fmla="*/ 12 w 149"/>
                <a:gd name="T5" fmla="*/ 0 h 88"/>
                <a:gd name="T6" fmla="*/ 149 w 149"/>
                <a:gd name="T7" fmla="*/ 0 h 88"/>
                <a:gd name="T8" fmla="*/ 138 w 149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9" h="88">
                  <a:moveTo>
                    <a:pt x="138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9" y="0"/>
                  </a:lnTo>
                  <a:lnTo>
                    <a:pt x="138" y="88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2" name="Freeform 1740"/>
            <p:cNvSpPr>
              <a:spLocks/>
            </p:cNvSpPr>
            <p:nvPr/>
          </p:nvSpPr>
          <p:spPr bwMode="auto">
            <a:xfrm>
              <a:off x="3056" y="3888"/>
              <a:ext cx="74" cy="44"/>
            </a:xfrm>
            <a:custGeom>
              <a:avLst/>
              <a:gdLst>
                <a:gd name="T0" fmla="*/ 136 w 148"/>
                <a:gd name="T1" fmla="*/ 88 h 88"/>
                <a:gd name="T2" fmla="*/ 0 w 148"/>
                <a:gd name="T3" fmla="*/ 88 h 88"/>
                <a:gd name="T4" fmla="*/ 12 w 148"/>
                <a:gd name="T5" fmla="*/ 0 h 88"/>
                <a:gd name="T6" fmla="*/ 148 w 148"/>
                <a:gd name="T7" fmla="*/ 0 h 88"/>
                <a:gd name="T8" fmla="*/ 136 w 148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48" h="88">
                  <a:moveTo>
                    <a:pt x="136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48" y="0"/>
                  </a:lnTo>
                  <a:lnTo>
                    <a:pt x="136" y="88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3" name="Freeform 1741"/>
            <p:cNvSpPr>
              <a:spLocks/>
            </p:cNvSpPr>
            <p:nvPr/>
          </p:nvSpPr>
          <p:spPr bwMode="auto">
            <a:xfrm>
              <a:off x="2986" y="3888"/>
              <a:ext cx="76" cy="44"/>
            </a:xfrm>
            <a:custGeom>
              <a:avLst/>
              <a:gdLst>
                <a:gd name="T0" fmla="*/ 140 w 152"/>
                <a:gd name="T1" fmla="*/ 88 h 88"/>
                <a:gd name="T2" fmla="*/ 0 w 152"/>
                <a:gd name="T3" fmla="*/ 88 h 88"/>
                <a:gd name="T4" fmla="*/ 12 w 152"/>
                <a:gd name="T5" fmla="*/ 0 h 88"/>
                <a:gd name="T6" fmla="*/ 152 w 152"/>
                <a:gd name="T7" fmla="*/ 0 h 88"/>
                <a:gd name="T8" fmla="*/ 140 w 152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52" h="88">
                  <a:moveTo>
                    <a:pt x="140" y="88"/>
                  </a:moveTo>
                  <a:lnTo>
                    <a:pt x="0" y="88"/>
                  </a:lnTo>
                  <a:lnTo>
                    <a:pt x="12" y="0"/>
                  </a:lnTo>
                  <a:lnTo>
                    <a:pt x="152" y="0"/>
                  </a:lnTo>
                  <a:lnTo>
                    <a:pt x="140" y="88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4" name="Freeform 1742"/>
            <p:cNvSpPr>
              <a:spLocks/>
            </p:cNvSpPr>
            <p:nvPr/>
          </p:nvSpPr>
          <p:spPr bwMode="auto">
            <a:xfrm>
              <a:off x="2923" y="3888"/>
              <a:ext cx="69" cy="44"/>
            </a:xfrm>
            <a:custGeom>
              <a:avLst/>
              <a:gdLst>
                <a:gd name="T0" fmla="*/ 126 w 138"/>
                <a:gd name="T1" fmla="*/ 88 h 88"/>
                <a:gd name="T2" fmla="*/ 0 w 138"/>
                <a:gd name="T3" fmla="*/ 88 h 88"/>
                <a:gd name="T4" fmla="*/ 112 w 138"/>
                <a:gd name="T5" fmla="*/ 0 h 88"/>
                <a:gd name="T6" fmla="*/ 138 w 138"/>
                <a:gd name="T7" fmla="*/ 0 h 88"/>
                <a:gd name="T8" fmla="*/ 126 w 138"/>
                <a:gd name="T9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88">
                  <a:moveTo>
                    <a:pt x="126" y="88"/>
                  </a:moveTo>
                  <a:lnTo>
                    <a:pt x="0" y="88"/>
                  </a:lnTo>
                  <a:lnTo>
                    <a:pt x="112" y="0"/>
                  </a:lnTo>
                  <a:lnTo>
                    <a:pt x="138" y="0"/>
                  </a:lnTo>
                  <a:lnTo>
                    <a:pt x="126" y="88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5" name="Freeform 1743"/>
            <p:cNvSpPr>
              <a:spLocks/>
            </p:cNvSpPr>
            <p:nvPr/>
          </p:nvSpPr>
          <p:spPr bwMode="auto">
            <a:xfrm>
              <a:off x="2923" y="3888"/>
              <a:ext cx="1367" cy="44"/>
            </a:xfrm>
            <a:custGeom>
              <a:avLst/>
              <a:gdLst>
                <a:gd name="T0" fmla="*/ 112 w 2735"/>
                <a:gd name="T1" fmla="*/ 0 h 88"/>
                <a:gd name="T2" fmla="*/ 0 w 2735"/>
                <a:gd name="T3" fmla="*/ 88 h 88"/>
                <a:gd name="T4" fmla="*/ 2735 w 2735"/>
                <a:gd name="T5" fmla="*/ 88 h 88"/>
                <a:gd name="T6" fmla="*/ 2610 w 2735"/>
                <a:gd name="T7" fmla="*/ 0 h 88"/>
                <a:gd name="T8" fmla="*/ 112 w 2735"/>
                <a:gd name="T9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35" h="88">
                  <a:moveTo>
                    <a:pt x="112" y="0"/>
                  </a:moveTo>
                  <a:lnTo>
                    <a:pt x="0" y="88"/>
                  </a:lnTo>
                  <a:lnTo>
                    <a:pt x="2735" y="88"/>
                  </a:lnTo>
                  <a:lnTo>
                    <a:pt x="2610" y="0"/>
                  </a:lnTo>
                  <a:lnTo>
                    <a:pt x="112" y="0"/>
                  </a:lnTo>
                </a:path>
              </a:pathLst>
            </a:custGeom>
            <a:noFill/>
            <a:ln w="0">
              <a:solidFill>
                <a:srgbClr val="7F7F7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6" name="Freeform 1744"/>
            <p:cNvSpPr>
              <a:spLocks/>
            </p:cNvSpPr>
            <p:nvPr/>
          </p:nvSpPr>
          <p:spPr bwMode="auto">
            <a:xfrm>
              <a:off x="2923" y="3680"/>
              <a:ext cx="68" cy="43"/>
            </a:xfrm>
            <a:custGeom>
              <a:avLst/>
              <a:gdLst>
                <a:gd name="T0" fmla="*/ 136 w 136"/>
                <a:gd name="T1" fmla="*/ 0 h 86"/>
                <a:gd name="T2" fmla="*/ 0 w 136"/>
                <a:gd name="T3" fmla="*/ 0 h 86"/>
                <a:gd name="T4" fmla="*/ 118 w 136"/>
                <a:gd name="T5" fmla="*/ 86 h 86"/>
                <a:gd name="T6" fmla="*/ 136 w 136"/>
                <a:gd name="T7" fmla="*/ 86 h 86"/>
                <a:gd name="T8" fmla="*/ 136 w 136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86">
                  <a:moveTo>
                    <a:pt x="136" y="0"/>
                  </a:moveTo>
                  <a:lnTo>
                    <a:pt x="0" y="0"/>
                  </a:lnTo>
                  <a:lnTo>
                    <a:pt x="118" y="86"/>
                  </a:lnTo>
                  <a:lnTo>
                    <a:pt x="136" y="86"/>
                  </a:lnTo>
                  <a:lnTo>
                    <a:pt x="1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7" name="Rectangle 1745"/>
            <p:cNvSpPr>
              <a:spLocks noChangeArrowheads="1"/>
            </p:cNvSpPr>
            <p:nvPr/>
          </p:nvSpPr>
          <p:spPr bwMode="auto">
            <a:xfrm>
              <a:off x="2991" y="3680"/>
              <a:ext cx="68" cy="43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8" name="Rectangle 1746"/>
            <p:cNvSpPr>
              <a:spLocks noChangeArrowheads="1"/>
            </p:cNvSpPr>
            <p:nvPr/>
          </p:nvSpPr>
          <p:spPr bwMode="auto">
            <a:xfrm>
              <a:off x="3059" y="3680"/>
              <a:ext cx="69" cy="43"/>
            </a:xfrm>
            <a:prstGeom prst="rect">
              <a:avLst/>
            </a:pr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59" name="Rectangle 1747"/>
            <p:cNvSpPr>
              <a:spLocks noChangeArrowheads="1"/>
            </p:cNvSpPr>
            <p:nvPr/>
          </p:nvSpPr>
          <p:spPr bwMode="auto">
            <a:xfrm>
              <a:off x="3128" y="3680"/>
              <a:ext cx="68" cy="4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0" name="Rectangle 1748"/>
            <p:cNvSpPr>
              <a:spLocks noChangeArrowheads="1"/>
            </p:cNvSpPr>
            <p:nvPr/>
          </p:nvSpPr>
          <p:spPr bwMode="auto">
            <a:xfrm>
              <a:off x="3196" y="3680"/>
              <a:ext cx="68" cy="43"/>
            </a:xfrm>
            <a:prstGeom prst="rect">
              <a:avLst/>
            </a:pr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1" name="Rectangle 1749"/>
            <p:cNvSpPr>
              <a:spLocks noChangeArrowheads="1"/>
            </p:cNvSpPr>
            <p:nvPr/>
          </p:nvSpPr>
          <p:spPr bwMode="auto">
            <a:xfrm>
              <a:off x="3264" y="3680"/>
              <a:ext cx="68" cy="43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2" name="Rectangle 1750"/>
            <p:cNvSpPr>
              <a:spLocks noChangeArrowheads="1"/>
            </p:cNvSpPr>
            <p:nvPr/>
          </p:nvSpPr>
          <p:spPr bwMode="auto">
            <a:xfrm>
              <a:off x="3332" y="3680"/>
              <a:ext cx="68" cy="43"/>
            </a:xfrm>
            <a:prstGeom prst="rect">
              <a:avLst/>
            </a:pr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3" name="Rectangle 1751"/>
            <p:cNvSpPr>
              <a:spLocks noChangeArrowheads="1"/>
            </p:cNvSpPr>
            <p:nvPr/>
          </p:nvSpPr>
          <p:spPr bwMode="auto">
            <a:xfrm>
              <a:off x="3400" y="3680"/>
              <a:ext cx="69" cy="43"/>
            </a:xfrm>
            <a:prstGeom prst="rect">
              <a:avLst/>
            </a:pr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4" name="Rectangle 1752"/>
            <p:cNvSpPr>
              <a:spLocks noChangeArrowheads="1"/>
            </p:cNvSpPr>
            <p:nvPr/>
          </p:nvSpPr>
          <p:spPr bwMode="auto">
            <a:xfrm>
              <a:off x="3469" y="3680"/>
              <a:ext cx="68" cy="43"/>
            </a:xfrm>
            <a:prstGeom prst="rect">
              <a:avLst/>
            </a:pr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5" name="Rectangle 1753"/>
            <p:cNvSpPr>
              <a:spLocks noChangeArrowheads="1"/>
            </p:cNvSpPr>
            <p:nvPr/>
          </p:nvSpPr>
          <p:spPr bwMode="auto">
            <a:xfrm>
              <a:off x="3537" y="3680"/>
              <a:ext cx="68" cy="43"/>
            </a:xfrm>
            <a:prstGeom prst="rect">
              <a:avLst/>
            </a:pr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6" name="Rectangle 1754"/>
            <p:cNvSpPr>
              <a:spLocks noChangeArrowheads="1"/>
            </p:cNvSpPr>
            <p:nvPr/>
          </p:nvSpPr>
          <p:spPr bwMode="auto">
            <a:xfrm>
              <a:off x="3605" y="3680"/>
              <a:ext cx="68" cy="43"/>
            </a:xfrm>
            <a:prstGeom prst="rect">
              <a:avLst/>
            </a:pr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7" name="Rectangle 1755"/>
            <p:cNvSpPr>
              <a:spLocks noChangeArrowheads="1"/>
            </p:cNvSpPr>
            <p:nvPr/>
          </p:nvSpPr>
          <p:spPr bwMode="auto">
            <a:xfrm>
              <a:off x="3673" y="3680"/>
              <a:ext cx="68" cy="43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8" name="Rectangle 1756"/>
            <p:cNvSpPr>
              <a:spLocks noChangeArrowheads="1"/>
            </p:cNvSpPr>
            <p:nvPr/>
          </p:nvSpPr>
          <p:spPr bwMode="auto">
            <a:xfrm>
              <a:off x="3741" y="3680"/>
              <a:ext cx="69" cy="43"/>
            </a:xfrm>
            <a:prstGeom prst="rect">
              <a:avLst/>
            </a:pr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69" name="Rectangle 1757"/>
            <p:cNvSpPr>
              <a:spLocks noChangeArrowheads="1"/>
            </p:cNvSpPr>
            <p:nvPr/>
          </p:nvSpPr>
          <p:spPr bwMode="auto">
            <a:xfrm>
              <a:off x="3810" y="3680"/>
              <a:ext cx="68" cy="43"/>
            </a:xfrm>
            <a:prstGeom prst="rect">
              <a:avLst/>
            </a:prstGeom>
            <a:solidFill>
              <a:srgbClr val="A7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0" name="Rectangle 1758"/>
            <p:cNvSpPr>
              <a:spLocks noChangeArrowheads="1"/>
            </p:cNvSpPr>
            <p:nvPr/>
          </p:nvSpPr>
          <p:spPr bwMode="auto">
            <a:xfrm>
              <a:off x="3878" y="3680"/>
              <a:ext cx="68" cy="43"/>
            </a:xfrm>
            <a:prstGeom prst="rect">
              <a:avLst/>
            </a:pr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1" name="Rectangle 1759"/>
            <p:cNvSpPr>
              <a:spLocks noChangeArrowheads="1"/>
            </p:cNvSpPr>
            <p:nvPr/>
          </p:nvSpPr>
          <p:spPr bwMode="auto">
            <a:xfrm>
              <a:off x="3946" y="3680"/>
              <a:ext cx="68" cy="43"/>
            </a:xfrm>
            <a:prstGeom prst="rect">
              <a:avLst/>
            </a:pr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2" name="Rectangle 1760"/>
            <p:cNvSpPr>
              <a:spLocks noChangeArrowheads="1"/>
            </p:cNvSpPr>
            <p:nvPr/>
          </p:nvSpPr>
          <p:spPr bwMode="auto">
            <a:xfrm>
              <a:off x="4014" y="3680"/>
              <a:ext cx="68" cy="43"/>
            </a:xfrm>
            <a:prstGeom prst="rect">
              <a:avLst/>
            </a:pr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3" name="Rectangle 1761"/>
            <p:cNvSpPr>
              <a:spLocks noChangeArrowheads="1"/>
            </p:cNvSpPr>
            <p:nvPr/>
          </p:nvSpPr>
          <p:spPr bwMode="auto">
            <a:xfrm>
              <a:off x="4082" y="3680"/>
              <a:ext cx="68" cy="43"/>
            </a:xfrm>
            <a:prstGeom prst="rect">
              <a:avLst/>
            </a:pr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4" name="Rectangle 1762"/>
            <p:cNvSpPr>
              <a:spLocks noChangeArrowheads="1"/>
            </p:cNvSpPr>
            <p:nvPr/>
          </p:nvSpPr>
          <p:spPr bwMode="auto">
            <a:xfrm>
              <a:off x="4150" y="3680"/>
              <a:ext cx="69" cy="43"/>
            </a:xfrm>
            <a:prstGeom prst="rect">
              <a:avLst/>
            </a:pr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5" name="Freeform 1763"/>
            <p:cNvSpPr>
              <a:spLocks/>
            </p:cNvSpPr>
            <p:nvPr/>
          </p:nvSpPr>
          <p:spPr bwMode="auto">
            <a:xfrm>
              <a:off x="4219" y="3680"/>
              <a:ext cx="69" cy="43"/>
            </a:xfrm>
            <a:custGeom>
              <a:avLst/>
              <a:gdLst>
                <a:gd name="T0" fmla="*/ 0 w 136"/>
                <a:gd name="T1" fmla="*/ 0 h 86"/>
                <a:gd name="T2" fmla="*/ 136 w 136"/>
                <a:gd name="T3" fmla="*/ 0 h 86"/>
                <a:gd name="T4" fmla="*/ 24 w 136"/>
                <a:gd name="T5" fmla="*/ 86 h 86"/>
                <a:gd name="T6" fmla="*/ 0 w 136"/>
                <a:gd name="T7" fmla="*/ 86 h 86"/>
                <a:gd name="T8" fmla="*/ 0 w 136"/>
                <a:gd name="T9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86">
                  <a:moveTo>
                    <a:pt x="0" y="0"/>
                  </a:moveTo>
                  <a:lnTo>
                    <a:pt x="136" y="0"/>
                  </a:lnTo>
                  <a:lnTo>
                    <a:pt x="24" y="86"/>
                  </a:lnTo>
                  <a:lnTo>
                    <a:pt x="0" y="8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6" name="Freeform 1764"/>
            <p:cNvSpPr>
              <a:spLocks/>
            </p:cNvSpPr>
            <p:nvPr/>
          </p:nvSpPr>
          <p:spPr bwMode="auto">
            <a:xfrm>
              <a:off x="2923" y="3680"/>
              <a:ext cx="1365" cy="43"/>
            </a:xfrm>
            <a:custGeom>
              <a:avLst/>
              <a:gdLst>
                <a:gd name="T0" fmla="*/ 118 w 2729"/>
                <a:gd name="T1" fmla="*/ 86 h 86"/>
                <a:gd name="T2" fmla="*/ 0 w 2729"/>
                <a:gd name="T3" fmla="*/ 0 h 86"/>
                <a:gd name="T4" fmla="*/ 2729 w 2729"/>
                <a:gd name="T5" fmla="*/ 0 h 86"/>
                <a:gd name="T6" fmla="*/ 2617 w 2729"/>
                <a:gd name="T7" fmla="*/ 86 h 86"/>
                <a:gd name="T8" fmla="*/ 118 w 2729"/>
                <a:gd name="T9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729" h="86">
                  <a:moveTo>
                    <a:pt x="118" y="86"/>
                  </a:moveTo>
                  <a:lnTo>
                    <a:pt x="0" y="0"/>
                  </a:lnTo>
                  <a:lnTo>
                    <a:pt x="2729" y="0"/>
                  </a:lnTo>
                  <a:lnTo>
                    <a:pt x="2617" y="86"/>
                  </a:lnTo>
                  <a:lnTo>
                    <a:pt x="118" y="86"/>
                  </a:lnTo>
                </a:path>
              </a:pathLst>
            </a:custGeom>
            <a:noFill/>
            <a:ln w="0">
              <a:solidFill>
                <a:srgbClr val="7F7F7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7" name="Freeform 1765"/>
            <p:cNvSpPr>
              <a:spLocks/>
            </p:cNvSpPr>
            <p:nvPr/>
          </p:nvSpPr>
          <p:spPr bwMode="auto">
            <a:xfrm>
              <a:off x="2922" y="3677"/>
              <a:ext cx="16" cy="13"/>
            </a:xfrm>
            <a:custGeom>
              <a:avLst/>
              <a:gdLst>
                <a:gd name="T0" fmla="*/ 31 w 31"/>
                <a:gd name="T1" fmla="*/ 23 h 26"/>
                <a:gd name="T2" fmla="*/ 0 w 31"/>
                <a:gd name="T3" fmla="*/ 0 h 26"/>
                <a:gd name="T4" fmla="*/ 0 w 31"/>
                <a:gd name="T5" fmla="*/ 26 h 26"/>
                <a:gd name="T6" fmla="*/ 31 w 31"/>
                <a:gd name="T7" fmla="*/ 23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1" h="26">
                  <a:moveTo>
                    <a:pt x="31" y="23"/>
                  </a:moveTo>
                  <a:lnTo>
                    <a:pt x="0" y="0"/>
                  </a:lnTo>
                  <a:lnTo>
                    <a:pt x="0" y="26"/>
                  </a:lnTo>
                  <a:lnTo>
                    <a:pt x="31" y="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8" name="Freeform 1766"/>
            <p:cNvSpPr>
              <a:spLocks/>
            </p:cNvSpPr>
            <p:nvPr/>
          </p:nvSpPr>
          <p:spPr bwMode="auto">
            <a:xfrm>
              <a:off x="2922" y="3688"/>
              <a:ext cx="31" cy="15"/>
            </a:xfrm>
            <a:custGeom>
              <a:avLst/>
              <a:gdLst>
                <a:gd name="T0" fmla="*/ 31 w 63"/>
                <a:gd name="T1" fmla="*/ 0 h 29"/>
                <a:gd name="T2" fmla="*/ 63 w 63"/>
                <a:gd name="T3" fmla="*/ 22 h 29"/>
                <a:gd name="T4" fmla="*/ 0 w 63"/>
                <a:gd name="T5" fmla="*/ 29 h 29"/>
                <a:gd name="T6" fmla="*/ 0 w 63"/>
                <a:gd name="T7" fmla="*/ 3 h 29"/>
                <a:gd name="T8" fmla="*/ 31 w 63"/>
                <a:gd name="T9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">
                  <a:moveTo>
                    <a:pt x="31" y="0"/>
                  </a:moveTo>
                  <a:lnTo>
                    <a:pt x="63" y="22"/>
                  </a:lnTo>
                  <a:lnTo>
                    <a:pt x="0" y="29"/>
                  </a:lnTo>
                  <a:lnTo>
                    <a:pt x="0" y="3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F8F8F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79" name="Freeform 1767"/>
            <p:cNvSpPr>
              <a:spLocks/>
            </p:cNvSpPr>
            <p:nvPr/>
          </p:nvSpPr>
          <p:spPr bwMode="auto">
            <a:xfrm>
              <a:off x="2922" y="3700"/>
              <a:ext cx="47" cy="16"/>
            </a:xfrm>
            <a:custGeom>
              <a:avLst/>
              <a:gdLst>
                <a:gd name="T0" fmla="*/ 63 w 94"/>
                <a:gd name="T1" fmla="*/ 0 h 33"/>
                <a:gd name="T2" fmla="*/ 94 w 94"/>
                <a:gd name="T3" fmla="*/ 23 h 33"/>
                <a:gd name="T4" fmla="*/ 0 w 94"/>
                <a:gd name="T5" fmla="*/ 33 h 33"/>
                <a:gd name="T6" fmla="*/ 0 w 94"/>
                <a:gd name="T7" fmla="*/ 7 h 33"/>
                <a:gd name="T8" fmla="*/ 63 w 94"/>
                <a:gd name="T9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4" h="33">
                  <a:moveTo>
                    <a:pt x="63" y="0"/>
                  </a:moveTo>
                  <a:lnTo>
                    <a:pt x="94" y="23"/>
                  </a:lnTo>
                  <a:lnTo>
                    <a:pt x="0" y="33"/>
                  </a:lnTo>
                  <a:lnTo>
                    <a:pt x="0" y="7"/>
                  </a:lnTo>
                  <a:lnTo>
                    <a:pt x="63" y="0"/>
                  </a:lnTo>
                  <a:close/>
                </a:path>
              </a:pathLst>
            </a:custGeom>
            <a:solidFill>
              <a:srgbClr val="F1F1F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0" name="Freeform 1768"/>
            <p:cNvSpPr>
              <a:spLocks/>
            </p:cNvSpPr>
            <p:nvPr/>
          </p:nvSpPr>
          <p:spPr bwMode="auto">
            <a:xfrm>
              <a:off x="2922" y="3711"/>
              <a:ext cx="61" cy="18"/>
            </a:xfrm>
            <a:custGeom>
              <a:avLst/>
              <a:gdLst>
                <a:gd name="T0" fmla="*/ 94 w 123"/>
                <a:gd name="T1" fmla="*/ 0 h 36"/>
                <a:gd name="T2" fmla="*/ 123 w 123"/>
                <a:gd name="T3" fmla="*/ 20 h 36"/>
                <a:gd name="T4" fmla="*/ 123 w 123"/>
                <a:gd name="T5" fmla="*/ 22 h 36"/>
                <a:gd name="T6" fmla="*/ 0 w 123"/>
                <a:gd name="T7" fmla="*/ 36 h 36"/>
                <a:gd name="T8" fmla="*/ 0 w 123"/>
                <a:gd name="T9" fmla="*/ 10 h 36"/>
                <a:gd name="T10" fmla="*/ 94 w 123"/>
                <a:gd name="T1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36">
                  <a:moveTo>
                    <a:pt x="94" y="0"/>
                  </a:moveTo>
                  <a:lnTo>
                    <a:pt x="123" y="20"/>
                  </a:lnTo>
                  <a:lnTo>
                    <a:pt x="123" y="22"/>
                  </a:lnTo>
                  <a:lnTo>
                    <a:pt x="0" y="36"/>
                  </a:lnTo>
                  <a:lnTo>
                    <a:pt x="0" y="10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EAEA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1" name="Freeform 1769"/>
            <p:cNvSpPr>
              <a:spLocks/>
            </p:cNvSpPr>
            <p:nvPr/>
          </p:nvSpPr>
          <p:spPr bwMode="auto">
            <a:xfrm>
              <a:off x="2922" y="3722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6 h 41"/>
                <a:gd name="T4" fmla="*/ 0 w 123"/>
                <a:gd name="T5" fmla="*/ 41 h 41"/>
                <a:gd name="T6" fmla="*/ 0 w 123"/>
                <a:gd name="T7" fmla="*/ 14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6"/>
                  </a:lnTo>
                  <a:lnTo>
                    <a:pt x="0" y="41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E4E4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2" name="Freeform 1770"/>
            <p:cNvSpPr>
              <a:spLocks/>
            </p:cNvSpPr>
            <p:nvPr/>
          </p:nvSpPr>
          <p:spPr bwMode="auto">
            <a:xfrm>
              <a:off x="2922" y="3735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6 h 41"/>
                <a:gd name="T4" fmla="*/ 0 w 123"/>
                <a:gd name="T5" fmla="*/ 41 h 41"/>
                <a:gd name="T6" fmla="*/ 0 w 123"/>
                <a:gd name="T7" fmla="*/ 15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6"/>
                  </a:lnTo>
                  <a:lnTo>
                    <a:pt x="0" y="41"/>
                  </a:lnTo>
                  <a:lnTo>
                    <a:pt x="0" y="1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3" name="Freeform 1771"/>
            <p:cNvSpPr>
              <a:spLocks/>
            </p:cNvSpPr>
            <p:nvPr/>
          </p:nvSpPr>
          <p:spPr bwMode="auto">
            <a:xfrm>
              <a:off x="2922" y="3748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6 h 41"/>
                <a:gd name="T4" fmla="*/ 0 w 123"/>
                <a:gd name="T5" fmla="*/ 41 h 41"/>
                <a:gd name="T6" fmla="*/ 0 w 123"/>
                <a:gd name="T7" fmla="*/ 15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6"/>
                  </a:lnTo>
                  <a:lnTo>
                    <a:pt x="0" y="41"/>
                  </a:lnTo>
                  <a:lnTo>
                    <a:pt x="0" y="1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D6D6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4" name="Freeform 1772"/>
            <p:cNvSpPr>
              <a:spLocks/>
            </p:cNvSpPr>
            <p:nvPr/>
          </p:nvSpPr>
          <p:spPr bwMode="auto">
            <a:xfrm>
              <a:off x="2922" y="3761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6 h 41"/>
                <a:gd name="T4" fmla="*/ 0 w 123"/>
                <a:gd name="T5" fmla="*/ 41 h 41"/>
                <a:gd name="T6" fmla="*/ 0 w 123"/>
                <a:gd name="T7" fmla="*/ 15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6"/>
                  </a:lnTo>
                  <a:lnTo>
                    <a:pt x="0" y="41"/>
                  </a:lnTo>
                  <a:lnTo>
                    <a:pt x="0" y="1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FCF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5" name="Freeform 1773"/>
            <p:cNvSpPr>
              <a:spLocks/>
            </p:cNvSpPr>
            <p:nvPr/>
          </p:nvSpPr>
          <p:spPr bwMode="auto">
            <a:xfrm>
              <a:off x="2922" y="3774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5 h 41"/>
                <a:gd name="T4" fmla="*/ 0 w 123"/>
                <a:gd name="T5" fmla="*/ 41 h 41"/>
                <a:gd name="T6" fmla="*/ 0 w 123"/>
                <a:gd name="T7" fmla="*/ 15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5"/>
                  </a:lnTo>
                  <a:lnTo>
                    <a:pt x="0" y="41"/>
                  </a:lnTo>
                  <a:lnTo>
                    <a:pt x="0" y="1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9C9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6" name="Freeform 1774"/>
            <p:cNvSpPr>
              <a:spLocks/>
            </p:cNvSpPr>
            <p:nvPr/>
          </p:nvSpPr>
          <p:spPr bwMode="auto">
            <a:xfrm>
              <a:off x="2922" y="3787"/>
              <a:ext cx="61" cy="20"/>
            </a:xfrm>
            <a:custGeom>
              <a:avLst/>
              <a:gdLst>
                <a:gd name="T0" fmla="*/ 123 w 123"/>
                <a:gd name="T1" fmla="*/ 0 h 42"/>
                <a:gd name="T2" fmla="*/ 123 w 123"/>
                <a:gd name="T3" fmla="*/ 26 h 42"/>
                <a:gd name="T4" fmla="*/ 0 w 123"/>
                <a:gd name="T5" fmla="*/ 42 h 42"/>
                <a:gd name="T6" fmla="*/ 0 w 123"/>
                <a:gd name="T7" fmla="*/ 16 h 42"/>
                <a:gd name="T8" fmla="*/ 123 w 123"/>
                <a:gd name="T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2">
                  <a:moveTo>
                    <a:pt x="123" y="0"/>
                  </a:moveTo>
                  <a:lnTo>
                    <a:pt x="123" y="26"/>
                  </a:lnTo>
                  <a:lnTo>
                    <a:pt x="0" y="42"/>
                  </a:lnTo>
                  <a:lnTo>
                    <a:pt x="0" y="16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C2C2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7" name="Freeform 1775"/>
            <p:cNvSpPr>
              <a:spLocks/>
            </p:cNvSpPr>
            <p:nvPr/>
          </p:nvSpPr>
          <p:spPr bwMode="auto">
            <a:xfrm>
              <a:off x="2922" y="3800"/>
              <a:ext cx="61" cy="20"/>
            </a:xfrm>
            <a:custGeom>
              <a:avLst/>
              <a:gdLst>
                <a:gd name="T0" fmla="*/ 123 w 123"/>
                <a:gd name="T1" fmla="*/ 0 h 42"/>
                <a:gd name="T2" fmla="*/ 123 w 123"/>
                <a:gd name="T3" fmla="*/ 28 h 42"/>
                <a:gd name="T4" fmla="*/ 0 w 123"/>
                <a:gd name="T5" fmla="*/ 42 h 42"/>
                <a:gd name="T6" fmla="*/ 0 w 123"/>
                <a:gd name="T7" fmla="*/ 16 h 42"/>
                <a:gd name="T8" fmla="*/ 123 w 123"/>
                <a:gd name="T9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2">
                  <a:moveTo>
                    <a:pt x="123" y="0"/>
                  </a:moveTo>
                  <a:lnTo>
                    <a:pt x="123" y="28"/>
                  </a:lnTo>
                  <a:lnTo>
                    <a:pt x="0" y="42"/>
                  </a:lnTo>
                  <a:lnTo>
                    <a:pt x="0" y="16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BBBBB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8" name="Freeform 1776"/>
            <p:cNvSpPr>
              <a:spLocks/>
            </p:cNvSpPr>
            <p:nvPr/>
          </p:nvSpPr>
          <p:spPr bwMode="auto">
            <a:xfrm>
              <a:off x="2922" y="3813"/>
              <a:ext cx="61" cy="20"/>
            </a:xfrm>
            <a:custGeom>
              <a:avLst/>
              <a:gdLst>
                <a:gd name="T0" fmla="*/ 123 w 123"/>
                <a:gd name="T1" fmla="*/ 0 h 40"/>
                <a:gd name="T2" fmla="*/ 123 w 123"/>
                <a:gd name="T3" fmla="*/ 26 h 40"/>
                <a:gd name="T4" fmla="*/ 0 w 123"/>
                <a:gd name="T5" fmla="*/ 40 h 40"/>
                <a:gd name="T6" fmla="*/ 0 w 123"/>
                <a:gd name="T7" fmla="*/ 14 h 40"/>
                <a:gd name="T8" fmla="*/ 123 w 123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0">
                  <a:moveTo>
                    <a:pt x="123" y="0"/>
                  </a:moveTo>
                  <a:lnTo>
                    <a:pt x="123" y="26"/>
                  </a:lnTo>
                  <a:lnTo>
                    <a:pt x="0" y="40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B4B4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89" name="Freeform 1777"/>
            <p:cNvSpPr>
              <a:spLocks/>
            </p:cNvSpPr>
            <p:nvPr/>
          </p:nvSpPr>
          <p:spPr bwMode="auto">
            <a:xfrm>
              <a:off x="2922" y="3826"/>
              <a:ext cx="61" cy="20"/>
            </a:xfrm>
            <a:custGeom>
              <a:avLst/>
              <a:gdLst>
                <a:gd name="T0" fmla="*/ 123 w 123"/>
                <a:gd name="T1" fmla="*/ 0 h 40"/>
                <a:gd name="T2" fmla="*/ 123 w 123"/>
                <a:gd name="T3" fmla="*/ 26 h 40"/>
                <a:gd name="T4" fmla="*/ 0 w 123"/>
                <a:gd name="T5" fmla="*/ 40 h 40"/>
                <a:gd name="T6" fmla="*/ 0 w 123"/>
                <a:gd name="T7" fmla="*/ 14 h 40"/>
                <a:gd name="T8" fmla="*/ 123 w 123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0">
                  <a:moveTo>
                    <a:pt x="123" y="0"/>
                  </a:moveTo>
                  <a:lnTo>
                    <a:pt x="123" y="26"/>
                  </a:lnTo>
                  <a:lnTo>
                    <a:pt x="0" y="40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AEAE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0" name="Freeform 1778"/>
            <p:cNvSpPr>
              <a:spLocks/>
            </p:cNvSpPr>
            <p:nvPr/>
          </p:nvSpPr>
          <p:spPr bwMode="auto">
            <a:xfrm>
              <a:off x="2922" y="3839"/>
              <a:ext cx="61" cy="20"/>
            </a:xfrm>
            <a:custGeom>
              <a:avLst/>
              <a:gdLst>
                <a:gd name="T0" fmla="*/ 123 w 123"/>
                <a:gd name="T1" fmla="*/ 0 h 39"/>
                <a:gd name="T2" fmla="*/ 123 w 123"/>
                <a:gd name="T3" fmla="*/ 26 h 39"/>
                <a:gd name="T4" fmla="*/ 0 w 123"/>
                <a:gd name="T5" fmla="*/ 39 h 39"/>
                <a:gd name="T6" fmla="*/ 0 w 123"/>
                <a:gd name="T7" fmla="*/ 14 h 39"/>
                <a:gd name="T8" fmla="*/ 123 w 123"/>
                <a:gd name="T9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39">
                  <a:moveTo>
                    <a:pt x="123" y="0"/>
                  </a:moveTo>
                  <a:lnTo>
                    <a:pt x="123" y="26"/>
                  </a:lnTo>
                  <a:lnTo>
                    <a:pt x="0" y="39"/>
                  </a:lnTo>
                  <a:lnTo>
                    <a:pt x="0" y="14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A7A7A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1" name="Freeform 1779"/>
            <p:cNvSpPr>
              <a:spLocks/>
            </p:cNvSpPr>
            <p:nvPr/>
          </p:nvSpPr>
          <p:spPr bwMode="auto">
            <a:xfrm>
              <a:off x="2922" y="3852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6 h 41"/>
                <a:gd name="T4" fmla="*/ 0 w 123"/>
                <a:gd name="T5" fmla="*/ 41 h 41"/>
                <a:gd name="T6" fmla="*/ 0 w 123"/>
                <a:gd name="T7" fmla="*/ 13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6"/>
                  </a:lnTo>
                  <a:lnTo>
                    <a:pt x="0" y="41"/>
                  </a:lnTo>
                  <a:lnTo>
                    <a:pt x="0" y="13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2" name="Freeform 1780"/>
            <p:cNvSpPr>
              <a:spLocks/>
            </p:cNvSpPr>
            <p:nvPr/>
          </p:nvSpPr>
          <p:spPr bwMode="auto">
            <a:xfrm>
              <a:off x="2922" y="3865"/>
              <a:ext cx="61" cy="21"/>
            </a:xfrm>
            <a:custGeom>
              <a:avLst/>
              <a:gdLst>
                <a:gd name="T0" fmla="*/ 123 w 123"/>
                <a:gd name="T1" fmla="*/ 0 h 41"/>
                <a:gd name="T2" fmla="*/ 123 w 123"/>
                <a:gd name="T3" fmla="*/ 25 h 41"/>
                <a:gd name="T4" fmla="*/ 0 w 123"/>
                <a:gd name="T5" fmla="*/ 41 h 41"/>
                <a:gd name="T6" fmla="*/ 0 w 123"/>
                <a:gd name="T7" fmla="*/ 15 h 41"/>
                <a:gd name="T8" fmla="*/ 123 w 123"/>
                <a:gd name="T9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41">
                  <a:moveTo>
                    <a:pt x="123" y="0"/>
                  </a:moveTo>
                  <a:lnTo>
                    <a:pt x="123" y="25"/>
                  </a:lnTo>
                  <a:lnTo>
                    <a:pt x="0" y="41"/>
                  </a:lnTo>
                  <a:lnTo>
                    <a:pt x="0" y="15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3" name="Freeform 1781"/>
            <p:cNvSpPr>
              <a:spLocks/>
            </p:cNvSpPr>
            <p:nvPr/>
          </p:nvSpPr>
          <p:spPr bwMode="auto">
            <a:xfrm>
              <a:off x="2922" y="3878"/>
              <a:ext cx="61" cy="21"/>
            </a:xfrm>
            <a:custGeom>
              <a:avLst/>
              <a:gdLst>
                <a:gd name="T0" fmla="*/ 123 w 123"/>
                <a:gd name="T1" fmla="*/ 0 h 42"/>
                <a:gd name="T2" fmla="*/ 123 w 123"/>
                <a:gd name="T3" fmla="*/ 21 h 42"/>
                <a:gd name="T4" fmla="*/ 114 w 123"/>
                <a:gd name="T5" fmla="*/ 28 h 42"/>
                <a:gd name="T6" fmla="*/ 0 w 123"/>
                <a:gd name="T7" fmla="*/ 42 h 42"/>
                <a:gd name="T8" fmla="*/ 0 w 123"/>
                <a:gd name="T9" fmla="*/ 16 h 42"/>
                <a:gd name="T10" fmla="*/ 123 w 123"/>
                <a:gd name="T11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3" h="42">
                  <a:moveTo>
                    <a:pt x="123" y="0"/>
                  </a:moveTo>
                  <a:lnTo>
                    <a:pt x="123" y="21"/>
                  </a:lnTo>
                  <a:lnTo>
                    <a:pt x="114" y="28"/>
                  </a:lnTo>
                  <a:lnTo>
                    <a:pt x="0" y="42"/>
                  </a:lnTo>
                  <a:lnTo>
                    <a:pt x="0" y="16"/>
                  </a:lnTo>
                  <a:lnTo>
                    <a:pt x="123" y="0"/>
                  </a:lnTo>
                  <a:close/>
                </a:path>
              </a:pathLst>
            </a:custGeom>
            <a:solidFill>
              <a:srgbClr val="93939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4" name="Freeform 1782"/>
            <p:cNvSpPr>
              <a:spLocks/>
            </p:cNvSpPr>
            <p:nvPr/>
          </p:nvSpPr>
          <p:spPr bwMode="auto">
            <a:xfrm>
              <a:off x="2922" y="3892"/>
              <a:ext cx="57" cy="20"/>
            </a:xfrm>
            <a:custGeom>
              <a:avLst/>
              <a:gdLst>
                <a:gd name="T0" fmla="*/ 114 w 114"/>
                <a:gd name="T1" fmla="*/ 0 h 40"/>
                <a:gd name="T2" fmla="*/ 69 w 114"/>
                <a:gd name="T3" fmla="*/ 31 h 40"/>
                <a:gd name="T4" fmla="*/ 0 w 114"/>
                <a:gd name="T5" fmla="*/ 40 h 40"/>
                <a:gd name="T6" fmla="*/ 0 w 114"/>
                <a:gd name="T7" fmla="*/ 14 h 40"/>
                <a:gd name="T8" fmla="*/ 114 w 114"/>
                <a:gd name="T9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4" h="40">
                  <a:moveTo>
                    <a:pt x="114" y="0"/>
                  </a:moveTo>
                  <a:lnTo>
                    <a:pt x="69" y="31"/>
                  </a:lnTo>
                  <a:lnTo>
                    <a:pt x="0" y="40"/>
                  </a:lnTo>
                  <a:lnTo>
                    <a:pt x="0" y="14"/>
                  </a:lnTo>
                  <a:lnTo>
                    <a:pt x="114" y="0"/>
                  </a:lnTo>
                  <a:close/>
                </a:path>
              </a:pathLst>
            </a:custGeom>
            <a:solidFill>
              <a:srgbClr val="8C8C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5" name="Freeform 1783"/>
            <p:cNvSpPr>
              <a:spLocks/>
            </p:cNvSpPr>
            <p:nvPr/>
          </p:nvSpPr>
          <p:spPr bwMode="auto">
            <a:xfrm>
              <a:off x="2922" y="3908"/>
              <a:ext cx="35" cy="18"/>
            </a:xfrm>
            <a:custGeom>
              <a:avLst/>
              <a:gdLst>
                <a:gd name="T0" fmla="*/ 69 w 69"/>
                <a:gd name="T1" fmla="*/ 0 h 36"/>
                <a:gd name="T2" fmla="*/ 21 w 69"/>
                <a:gd name="T3" fmla="*/ 33 h 36"/>
                <a:gd name="T4" fmla="*/ 0 w 69"/>
                <a:gd name="T5" fmla="*/ 36 h 36"/>
                <a:gd name="T6" fmla="*/ 0 w 69"/>
                <a:gd name="T7" fmla="*/ 9 h 36"/>
                <a:gd name="T8" fmla="*/ 69 w 69"/>
                <a:gd name="T9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36">
                  <a:moveTo>
                    <a:pt x="69" y="0"/>
                  </a:moveTo>
                  <a:lnTo>
                    <a:pt x="21" y="33"/>
                  </a:lnTo>
                  <a:lnTo>
                    <a:pt x="0" y="36"/>
                  </a:lnTo>
                  <a:lnTo>
                    <a:pt x="0" y="9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6" name="Freeform 1784"/>
            <p:cNvSpPr>
              <a:spLocks/>
            </p:cNvSpPr>
            <p:nvPr/>
          </p:nvSpPr>
          <p:spPr bwMode="auto">
            <a:xfrm>
              <a:off x="2922" y="3924"/>
              <a:ext cx="11" cy="8"/>
            </a:xfrm>
            <a:custGeom>
              <a:avLst/>
              <a:gdLst>
                <a:gd name="T0" fmla="*/ 21 w 21"/>
                <a:gd name="T1" fmla="*/ 0 h 15"/>
                <a:gd name="T2" fmla="*/ 0 w 21"/>
                <a:gd name="T3" fmla="*/ 15 h 15"/>
                <a:gd name="T4" fmla="*/ 0 w 21"/>
                <a:gd name="T5" fmla="*/ 3 h 15"/>
                <a:gd name="T6" fmla="*/ 21 w 21"/>
                <a:gd name="T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" h="15">
                  <a:moveTo>
                    <a:pt x="21" y="0"/>
                  </a:moveTo>
                  <a:lnTo>
                    <a:pt x="0" y="15"/>
                  </a:lnTo>
                  <a:lnTo>
                    <a:pt x="0" y="3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7" name="Freeform 1785"/>
            <p:cNvSpPr>
              <a:spLocks/>
            </p:cNvSpPr>
            <p:nvPr/>
          </p:nvSpPr>
          <p:spPr bwMode="auto">
            <a:xfrm>
              <a:off x="2922" y="3677"/>
              <a:ext cx="61" cy="255"/>
            </a:xfrm>
            <a:custGeom>
              <a:avLst/>
              <a:gdLst>
                <a:gd name="T0" fmla="*/ 123 w 123"/>
                <a:gd name="T1" fmla="*/ 423 h 509"/>
                <a:gd name="T2" fmla="*/ 0 w 123"/>
                <a:gd name="T3" fmla="*/ 509 h 509"/>
                <a:gd name="T4" fmla="*/ 0 w 123"/>
                <a:gd name="T5" fmla="*/ 0 h 509"/>
                <a:gd name="T6" fmla="*/ 123 w 123"/>
                <a:gd name="T7" fmla="*/ 88 h 509"/>
                <a:gd name="T8" fmla="*/ 123 w 123"/>
                <a:gd name="T9" fmla="*/ 423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3" h="509">
                  <a:moveTo>
                    <a:pt x="123" y="423"/>
                  </a:moveTo>
                  <a:lnTo>
                    <a:pt x="0" y="509"/>
                  </a:lnTo>
                  <a:lnTo>
                    <a:pt x="0" y="0"/>
                  </a:lnTo>
                  <a:lnTo>
                    <a:pt x="123" y="88"/>
                  </a:lnTo>
                  <a:lnTo>
                    <a:pt x="123" y="423"/>
                  </a:lnTo>
                </a:path>
              </a:pathLst>
            </a:custGeom>
            <a:noFill/>
            <a:ln w="0">
              <a:solidFill>
                <a:srgbClr val="7F7F7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8" name="Freeform 1786"/>
            <p:cNvSpPr>
              <a:spLocks noEditPoints="1"/>
            </p:cNvSpPr>
            <p:nvPr/>
          </p:nvSpPr>
          <p:spPr bwMode="auto">
            <a:xfrm>
              <a:off x="3052" y="1521"/>
              <a:ext cx="95" cy="84"/>
            </a:xfrm>
            <a:custGeom>
              <a:avLst/>
              <a:gdLst>
                <a:gd name="T0" fmla="*/ 0 w 192"/>
                <a:gd name="T1" fmla="*/ 0 h 168"/>
                <a:gd name="T2" fmla="*/ 56 w 192"/>
                <a:gd name="T3" fmla="*/ 0 h 168"/>
                <a:gd name="T4" fmla="*/ 73 w 192"/>
                <a:gd name="T5" fmla="*/ 0 h 168"/>
                <a:gd name="T6" fmla="*/ 83 w 192"/>
                <a:gd name="T7" fmla="*/ 6 h 168"/>
                <a:gd name="T8" fmla="*/ 94 w 192"/>
                <a:gd name="T9" fmla="*/ 12 h 168"/>
                <a:gd name="T10" fmla="*/ 102 w 192"/>
                <a:gd name="T11" fmla="*/ 26 h 168"/>
                <a:gd name="T12" fmla="*/ 106 w 192"/>
                <a:gd name="T13" fmla="*/ 44 h 168"/>
                <a:gd name="T14" fmla="*/ 106 w 192"/>
                <a:gd name="T15" fmla="*/ 61 h 168"/>
                <a:gd name="T16" fmla="*/ 102 w 192"/>
                <a:gd name="T17" fmla="*/ 76 h 168"/>
                <a:gd name="T18" fmla="*/ 95 w 192"/>
                <a:gd name="T19" fmla="*/ 88 h 168"/>
                <a:gd name="T20" fmla="*/ 87 w 192"/>
                <a:gd name="T21" fmla="*/ 97 h 168"/>
                <a:gd name="T22" fmla="*/ 76 w 192"/>
                <a:gd name="T23" fmla="*/ 102 h 168"/>
                <a:gd name="T24" fmla="*/ 57 w 192"/>
                <a:gd name="T25" fmla="*/ 106 h 168"/>
                <a:gd name="T26" fmla="*/ 26 w 192"/>
                <a:gd name="T27" fmla="*/ 106 h 168"/>
                <a:gd name="T28" fmla="*/ 0 w 192"/>
                <a:gd name="T29" fmla="*/ 168 h 168"/>
                <a:gd name="T30" fmla="*/ 26 w 192"/>
                <a:gd name="T31" fmla="*/ 76 h 168"/>
                <a:gd name="T32" fmla="*/ 50 w 192"/>
                <a:gd name="T33" fmla="*/ 76 h 168"/>
                <a:gd name="T34" fmla="*/ 61 w 192"/>
                <a:gd name="T35" fmla="*/ 76 h 168"/>
                <a:gd name="T36" fmla="*/ 68 w 192"/>
                <a:gd name="T37" fmla="*/ 75 h 168"/>
                <a:gd name="T38" fmla="*/ 73 w 192"/>
                <a:gd name="T39" fmla="*/ 69 h 168"/>
                <a:gd name="T40" fmla="*/ 76 w 192"/>
                <a:gd name="T41" fmla="*/ 64 h 168"/>
                <a:gd name="T42" fmla="*/ 78 w 192"/>
                <a:gd name="T43" fmla="*/ 57 h 168"/>
                <a:gd name="T44" fmla="*/ 78 w 192"/>
                <a:gd name="T45" fmla="*/ 49 h 168"/>
                <a:gd name="T46" fmla="*/ 76 w 192"/>
                <a:gd name="T47" fmla="*/ 42 h 168"/>
                <a:gd name="T48" fmla="*/ 73 w 192"/>
                <a:gd name="T49" fmla="*/ 37 h 168"/>
                <a:gd name="T50" fmla="*/ 68 w 192"/>
                <a:gd name="T51" fmla="*/ 33 h 168"/>
                <a:gd name="T52" fmla="*/ 61 w 192"/>
                <a:gd name="T53" fmla="*/ 30 h 168"/>
                <a:gd name="T54" fmla="*/ 50 w 192"/>
                <a:gd name="T55" fmla="*/ 28 h 168"/>
                <a:gd name="T56" fmla="*/ 26 w 192"/>
                <a:gd name="T57" fmla="*/ 28 h 168"/>
                <a:gd name="T58" fmla="*/ 128 w 192"/>
                <a:gd name="T59" fmla="*/ 168 h 168"/>
                <a:gd name="T60" fmla="*/ 154 w 192"/>
                <a:gd name="T61" fmla="*/ 47 h 168"/>
                <a:gd name="T62" fmla="*/ 156 w 192"/>
                <a:gd name="T63" fmla="*/ 59 h 168"/>
                <a:gd name="T64" fmla="*/ 161 w 192"/>
                <a:gd name="T65" fmla="*/ 50 h 168"/>
                <a:gd name="T66" fmla="*/ 166 w 192"/>
                <a:gd name="T67" fmla="*/ 45 h 168"/>
                <a:gd name="T68" fmla="*/ 171 w 192"/>
                <a:gd name="T69" fmla="*/ 44 h 168"/>
                <a:gd name="T70" fmla="*/ 178 w 192"/>
                <a:gd name="T71" fmla="*/ 44 h 168"/>
                <a:gd name="T72" fmla="*/ 189 w 192"/>
                <a:gd name="T73" fmla="*/ 49 h 168"/>
                <a:gd name="T74" fmla="*/ 185 w 192"/>
                <a:gd name="T75" fmla="*/ 78 h 168"/>
                <a:gd name="T76" fmla="*/ 176 w 192"/>
                <a:gd name="T77" fmla="*/ 76 h 168"/>
                <a:gd name="T78" fmla="*/ 173 w 192"/>
                <a:gd name="T79" fmla="*/ 75 h 168"/>
                <a:gd name="T80" fmla="*/ 168 w 192"/>
                <a:gd name="T81" fmla="*/ 75 h 168"/>
                <a:gd name="T82" fmla="*/ 163 w 192"/>
                <a:gd name="T83" fmla="*/ 78 h 168"/>
                <a:gd name="T84" fmla="*/ 157 w 192"/>
                <a:gd name="T85" fmla="*/ 83 h 168"/>
                <a:gd name="T86" fmla="*/ 156 w 192"/>
                <a:gd name="T87" fmla="*/ 94 h 168"/>
                <a:gd name="T88" fmla="*/ 156 w 192"/>
                <a:gd name="T89" fmla="*/ 107 h 168"/>
                <a:gd name="T90" fmla="*/ 156 w 192"/>
                <a:gd name="T91" fmla="*/ 130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92" h="168">
                  <a:moveTo>
                    <a:pt x="0" y="168"/>
                  </a:moveTo>
                  <a:lnTo>
                    <a:pt x="0" y="0"/>
                  </a:lnTo>
                  <a:lnTo>
                    <a:pt x="45" y="0"/>
                  </a:lnTo>
                  <a:lnTo>
                    <a:pt x="56" y="0"/>
                  </a:lnTo>
                  <a:lnTo>
                    <a:pt x="66" y="0"/>
                  </a:lnTo>
                  <a:lnTo>
                    <a:pt x="73" y="0"/>
                  </a:lnTo>
                  <a:lnTo>
                    <a:pt x="78" y="2"/>
                  </a:lnTo>
                  <a:lnTo>
                    <a:pt x="83" y="6"/>
                  </a:lnTo>
                  <a:lnTo>
                    <a:pt x="88" y="9"/>
                  </a:lnTo>
                  <a:lnTo>
                    <a:pt x="94" y="12"/>
                  </a:lnTo>
                  <a:lnTo>
                    <a:pt x="99" y="18"/>
                  </a:lnTo>
                  <a:lnTo>
                    <a:pt x="102" y="26"/>
                  </a:lnTo>
                  <a:lnTo>
                    <a:pt x="104" y="33"/>
                  </a:lnTo>
                  <a:lnTo>
                    <a:pt x="106" y="44"/>
                  </a:lnTo>
                  <a:lnTo>
                    <a:pt x="106" y="54"/>
                  </a:lnTo>
                  <a:lnTo>
                    <a:pt x="106" y="61"/>
                  </a:lnTo>
                  <a:lnTo>
                    <a:pt x="104" y="69"/>
                  </a:lnTo>
                  <a:lnTo>
                    <a:pt x="102" y="76"/>
                  </a:lnTo>
                  <a:lnTo>
                    <a:pt x="99" y="83"/>
                  </a:lnTo>
                  <a:lnTo>
                    <a:pt x="95" y="88"/>
                  </a:lnTo>
                  <a:lnTo>
                    <a:pt x="92" y="94"/>
                  </a:lnTo>
                  <a:lnTo>
                    <a:pt x="87" y="97"/>
                  </a:lnTo>
                  <a:lnTo>
                    <a:pt x="81" y="100"/>
                  </a:lnTo>
                  <a:lnTo>
                    <a:pt x="76" y="102"/>
                  </a:lnTo>
                  <a:lnTo>
                    <a:pt x="68" y="104"/>
                  </a:lnTo>
                  <a:lnTo>
                    <a:pt x="57" y="106"/>
                  </a:lnTo>
                  <a:lnTo>
                    <a:pt x="45" y="106"/>
                  </a:lnTo>
                  <a:lnTo>
                    <a:pt x="26" y="106"/>
                  </a:lnTo>
                  <a:lnTo>
                    <a:pt x="26" y="168"/>
                  </a:lnTo>
                  <a:lnTo>
                    <a:pt x="0" y="168"/>
                  </a:lnTo>
                  <a:close/>
                  <a:moveTo>
                    <a:pt x="26" y="28"/>
                  </a:moveTo>
                  <a:lnTo>
                    <a:pt x="26" y="76"/>
                  </a:lnTo>
                  <a:lnTo>
                    <a:pt x="43" y="76"/>
                  </a:lnTo>
                  <a:lnTo>
                    <a:pt x="50" y="76"/>
                  </a:lnTo>
                  <a:lnTo>
                    <a:pt x="57" y="76"/>
                  </a:lnTo>
                  <a:lnTo>
                    <a:pt x="61" y="76"/>
                  </a:lnTo>
                  <a:lnTo>
                    <a:pt x="64" y="75"/>
                  </a:lnTo>
                  <a:lnTo>
                    <a:pt x="68" y="75"/>
                  </a:lnTo>
                  <a:lnTo>
                    <a:pt x="69" y="73"/>
                  </a:lnTo>
                  <a:lnTo>
                    <a:pt x="73" y="69"/>
                  </a:lnTo>
                  <a:lnTo>
                    <a:pt x="75" y="68"/>
                  </a:lnTo>
                  <a:lnTo>
                    <a:pt x="76" y="64"/>
                  </a:lnTo>
                  <a:lnTo>
                    <a:pt x="76" y="61"/>
                  </a:lnTo>
                  <a:lnTo>
                    <a:pt x="78" y="57"/>
                  </a:lnTo>
                  <a:lnTo>
                    <a:pt x="78" y="54"/>
                  </a:lnTo>
                  <a:lnTo>
                    <a:pt x="78" y="49"/>
                  </a:lnTo>
                  <a:lnTo>
                    <a:pt x="76" y="45"/>
                  </a:lnTo>
                  <a:lnTo>
                    <a:pt x="76" y="42"/>
                  </a:lnTo>
                  <a:lnTo>
                    <a:pt x="75" y="38"/>
                  </a:lnTo>
                  <a:lnTo>
                    <a:pt x="73" y="37"/>
                  </a:lnTo>
                  <a:lnTo>
                    <a:pt x="69" y="35"/>
                  </a:lnTo>
                  <a:lnTo>
                    <a:pt x="68" y="33"/>
                  </a:lnTo>
                  <a:lnTo>
                    <a:pt x="64" y="31"/>
                  </a:lnTo>
                  <a:lnTo>
                    <a:pt x="61" y="30"/>
                  </a:lnTo>
                  <a:lnTo>
                    <a:pt x="56" y="30"/>
                  </a:lnTo>
                  <a:lnTo>
                    <a:pt x="50" y="28"/>
                  </a:lnTo>
                  <a:lnTo>
                    <a:pt x="42" y="28"/>
                  </a:lnTo>
                  <a:lnTo>
                    <a:pt x="26" y="28"/>
                  </a:lnTo>
                  <a:close/>
                  <a:moveTo>
                    <a:pt x="156" y="168"/>
                  </a:moveTo>
                  <a:lnTo>
                    <a:pt x="128" y="168"/>
                  </a:lnTo>
                  <a:lnTo>
                    <a:pt x="128" y="47"/>
                  </a:lnTo>
                  <a:lnTo>
                    <a:pt x="154" y="47"/>
                  </a:lnTo>
                  <a:lnTo>
                    <a:pt x="154" y="64"/>
                  </a:lnTo>
                  <a:lnTo>
                    <a:pt x="156" y="59"/>
                  </a:lnTo>
                  <a:lnTo>
                    <a:pt x="157" y="54"/>
                  </a:lnTo>
                  <a:lnTo>
                    <a:pt x="161" y="50"/>
                  </a:lnTo>
                  <a:lnTo>
                    <a:pt x="164" y="47"/>
                  </a:lnTo>
                  <a:lnTo>
                    <a:pt x="166" y="45"/>
                  </a:lnTo>
                  <a:lnTo>
                    <a:pt x="170" y="45"/>
                  </a:lnTo>
                  <a:lnTo>
                    <a:pt x="171" y="44"/>
                  </a:lnTo>
                  <a:lnTo>
                    <a:pt x="175" y="44"/>
                  </a:lnTo>
                  <a:lnTo>
                    <a:pt x="178" y="44"/>
                  </a:lnTo>
                  <a:lnTo>
                    <a:pt x="183" y="45"/>
                  </a:lnTo>
                  <a:lnTo>
                    <a:pt x="189" y="49"/>
                  </a:lnTo>
                  <a:lnTo>
                    <a:pt x="192" y="50"/>
                  </a:lnTo>
                  <a:lnTo>
                    <a:pt x="185" y="78"/>
                  </a:lnTo>
                  <a:lnTo>
                    <a:pt x="180" y="76"/>
                  </a:lnTo>
                  <a:lnTo>
                    <a:pt x="176" y="76"/>
                  </a:lnTo>
                  <a:lnTo>
                    <a:pt x="175" y="75"/>
                  </a:lnTo>
                  <a:lnTo>
                    <a:pt x="173" y="75"/>
                  </a:lnTo>
                  <a:lnTo>
                    <a:pt x="170" y="75"/>
                  </a:lnTo>
                  <a:lnTo>
                    <a:pt x="168" y="75"/>
                  </a:lnTo>
                  <a:lnTo>
                    <a:pt x="164" y="76"/>
                  </a:lnTo>
                  <a:lnTo>
                    <a:pt x="163" y="78"/>
                  </a:lnTo>
                  <a:lnTo>
                    <a:pt x="161" y="80"/>
                  </a:lnTo>
                  <a:lnTo>
                    <a:pt x="157" y="83"/>
                  </a:lnTo>
                  <a:lnTo>
                    <a:pt x="156" y="88"/>
                  </a:lnTo>
                  <a:lnTo>
                    <a:pt x="156" y="94"/>
                  </a:lnTo>
                  <a:lnTo>
                    <a:pt x="156" y="99"/>
                  </a:lnTo>
                  <a:lnTo>
                    <a:pt x="156" y="107"/>
                  </a:lnTo>
                  <a:lnTo>
                    <a:pt x="156" y="118"/>
                  </a:lnTo>
                  <a:lnTo>
                    <a:pt x="156" y="130"/>
                  </a:lnTo>
                  <a:lnTo>
                    <a:pt x="156" y="1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099" name="Freeform 1787"/>
            <p:cNvSpPr>
              <a:spLocks noEditPoints="1"/>
            </p:cNvSpPr>
            <p:nvPr/>
          </p:nvSpPr>
          <p:spPr bwMode="auto">
            <a:xfrm>
              <a:off x="3149" y="1521"/>
              <a:ext cx="761" cy="108"/>
            </a:xfrm>
            <a:custGeom>
              <a:avLst/>
              <a:gdLst>
                <a:gd name="T0" fmla="*/ 16 w 1523"/>
                <a:gd name="T1" fmla="*/ 157 h 216"/>
                <a:gd name="T2" fmla="*/ 66 w 1523"/>
                <a:gd name="T3" fmla="*/ 47 h 216"/>
                <a:gd name="T4" fmla="*/ 42 w 1523"/>
                <a:gd name="T5" fmla="*/ 145 h 216"/>
                <a:gd name="T6" fmla="*/ 52 w 1523"/>
                <a:gd name="T7" fmla="*/ 68 h 216"/>
                <a:gd name="T8" fmla="*/ 139 w 1523"/>
                <a:gd name="T9" fmla="*/ 144 h 216"/>
                <a:gd name="T10" fmla="*/ 168 w 1523"/>
                <a:gd name="T11" fmla="*/ 128 h 216"/>
                <a:gd name="T12" fmla="*/ 111 w 1523"/>
                <a:gd name="T13" fmla="*/ 66 h 216"/>
                <a:gd name="T14" fmla="*/ 195 w 1523"/>
                <a:gd name="T15" fmla="*/ 76 h 216"/>
                <a:gd name="T16" fmla="*/ 132 w 1523"/>
                <a:gd name="T17" fmla="*/ 80 h 216"/>
                <a:gd name="T18" fmla="*/ 199 w 1523"/>
                <a:gd name="T19" fmla="*/ 123 h 216"/>
                <a:gd name="T20" fmla="*/ 116 w 1523"/>
                <a:gd name="T21" fmla="*/ 157 h 216"/>
                <a:gd name="T22" fmla="*/ 251 w 1523"/>
                <a:gd name="T23" fmla="*/ 168 h 216"/>
                <a:gd name="T24" fmla="*/ 251 w 1523"/>
                <a:gd name="T25" fmla="*/ 45 h 216"/>
                <a:gd name="T26" fmla="*/ 244 w 1523"/>
                <a:gd name="T27" fmla="*/ 135 h 216"/>
                <a:gd name="T28" fmla="*/ 275 w 1523"/>
                <a:gd name="T29" fmla="*/ 75 h 216"/>
                <a:gd name="T30" fmla="*/ 418 w 1523"/>
                <a:gd name="T31" fmla="*/ 168 h 216"/>
                <a:gd name="T32" fmla="*/ 375 w 1523"/>
                <a:gd name="T33" fmla="*/ 68 h 216"/>
                <a:gd name="T34" fmla="*/ 328 w 1523"/>
                <a:gd name="T35" fmla="*/ 168 h 216"/>
                <a:gd name="T36" fmla="*/ 401 w 1523"/>
                <a:gd name="T37" fmla="*/ 49 h 216"/>
                <a:gd name="T38" fmla="*/ 472 w 1523"/>
                <a:gd name="T39" fmla="*/ 121 h 216"/>
                <a:gd name="T40" fmla="*/ 489 w 1523"/>
                <a:gd name="T41" fmla="*/ 168 h 216"/>
                <a:gd name="T42" fmla="*/ 446 w 1523"/>
                <a:gd name="T43" fmla="*/ 135 h 216"/>
                <a:gd name="T44" fmla="*/ 515 w 1523"/>
                <a:gd name="T45" fmla="*/ 57 h 216"/>
                <a:gd name="T46" fmla="*/ 587 w 1523"/>
                <a:gd name="T47" fmla="*/ 66 h 216"/>
                <a:gd name="T48" fmla="*/ 565 w 1523"/>
                <a:gd name="T49" fmla="*/ 156 h 216"/>
                <a:gd name="T50" fmla="*/ 504 w 1523"/>
                <a:gd name="T51" fmla="*/ 150 h 216"/>
                <a:gd name="T52" fmla="*/ 539 w 1523"/>
                <a:gd name="T53" fmla="*/ 97 h 216"/>
                <a:gd name="T54" fmla="*/ 553 w 1523"/>
                <a:gd name="T55" fmla="*/ 69 h 216"/>
                <a:gd name="T56" fmla="*/ 553 w 1523"/>
                <a:gd name="T57" fmla="*/ 114 h 216"/>
                <a:gd name="T58" fmla="*/ 536 w 1523"/>
                <a:gd name="T59" fmla="*/ 145 h 216"/>
                <a:gd name="T60" fmla="*/ 561 w 1523"/>
                <a:gd name="T61" fmla="*/ 123 h 216"/>
                <a:gd name="T62" fmla="*/ 651 w 1523"/>
                <a:gd name="T63" fmla="*/ 145 h 216"/>
                <a:gd name="T64" fmla="*/ 624 w 1523"/>
                <a:gd name="T65" fmla="*/ 164 h 216"/>
                <a:gd name="T66" fmla="*/ 643 w 1523"/>
                <a:gd name="T67" fmla="*/ 47 h 216"/>
                <a:gd name="T68" fmla="*/ 729 w 1523"/>
                <a:gd name="T69" fmla="*/ 88 h 216"/>
                <a:gd name="T70" fmla="*/ 815 w 1523"/>
                <a:gd name="T71" fmla="*/ 62 h 216"/>
                <a:gd name="T72" fmla="*/ 791 w 1523"/>
                <a:gd name="T73" fmla="*/ 168 h 216"/>
                <a:gd name="T74" fmla="*/ 758 w 1523"/>
                <a:gd name="T75" fmla="*/ 130 h 216"/>
                <a:gd name="T76" fmla="*/ 801 w 1523"/>
                <a:gd name="T77" fmla="*/ 99 h 216"/>
                <a:gd name="T78" fmla="*/ 753 w 1523"/>
                <a:gd name="T79" fmla="*/ 99 h 216"/>
                <a:gd name="T80" fmla="*/ 903 w 1523"/>
                <a:gd name="T81" fmla="*/ 69 h 216"/>
                <a:gd name="T82" fmla="*/ 877 w 1523"/>
                <a:gd name="T83" fmla="*/ 113 h 216"/>
                <a:gd name="T84" fmla="*/ 914 w 1523"/>
                <a:gd name="T85" fmla="*/ 44 h 216"/>
                <a:gd name="T86" fmla="*/ 1022 w 1523"/>
                <a:gd name="T87" fmla="*/ 0 h 216"/>
                <a:gd name="T88" fmla="*/ 1167 w 1523"/>
                <a:gd name="T89" fmla="*/ 44 h 216"/>
                <a:gd name="T90" fmla="*/ 1219 w 1523"/>
                <a:gd name="T91" fmla="*/ 128 h 216"/>
                <a:gd name="T92" fmla="*/ 1181 w 1523"/>
                <a:gd name="T93" fmla="*/ 168 h 216"/>
                <a:gd name="T94" fmla="*/ 1133 w 1523"/>
                <a:gd name="T95" fmla="*/ 126 h 216"/>
                <a:gd name="T96" fmla="*/ 1193 w 1523"/>
                <a:gd name="T97" fmla="*/ 88 h 216"/>
                <a:gd name="T98" fmla="*/ 1171 w 1523"/>
                <a:gd name="T99" fmla="*/ 69 h 216"/>
                <a:gd name="T100" fmla="*/ 1164 w 1523"/>
                <a:gd name="T101" fmla="*/ 121 h 216"/>
                <a:gd name="T102" fmla="*/ 1176 w 1523"/>
                <a:gd name="T103" fmla="*/ 149 h 216"/>
                <a:gd name="T104" fmla="*/ 1259 w 1523"/>
                <a:gd name="T105" fmla="*/ 47 h 216"/>
                <a:gd name="T106" fmla="*/ 1269 w 1523"/>
                <a:gd name="T107" fmla="*/ 213 h 216"/>
                <a:gd name="T108" fmla="*/ 1257 w 1523"/>
                <a:gd name="T109" fmla="*/ 187 h 216"/>
                <a:gd name="T110" fmla="*/ 1414 w 1523"/>
                <a:gd name="T111" fmla="*/ 166 h 216"/>
                <a:gd name="T112" fmla="*/ 1352 w 1523"/>
                <a:gd name="T113" fmla="*/ 69 h 216"/>
                <a:gd name="T114" fmla="*/ 1438 w 1523"/>
                <a:gd name="T115" fmla="*/ 116 h 216"/>
                <a:gd name="T116" fmla="*/ 1411 w 1523"/>
                <a:gd name="T117" fmla="*/ 95 h 216"/>
                <a:gd name="T118" fmla="*/ 1373 w 1523"/>
                <a:gd name="T119" fmla="*/ 85 h 216"/>
                <a:gd name="T120" fmla="*/ 1499 w 1523"/>
                <a:gd name="T121" fmla="*/ 45 h 216"/>
                <a:gd name="T122" fmla="*/ 1494 w 1523"/>
                <a:gd name="T123" fmla="*/ 76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23" h="216">
                  <a:moveTo>
                    <a:pt x="68" y="130"/>
                  </a:moveTo>
                  <a:lnTo>
                    <a:pt x="92" y="135"/>
                  </a:lnTo>
                  <a:lnTo>
                    <a:pt x="90" y="144"/>
                  </a:lnTo>
                  <a:lnTo>
                    <a:pt x="87" y="150"/>
                  </a:lnTo>
                  <a:lnTo>
                    <a:pt x="82" y="157"/>
                  </a:lnTo>
                  <a:lnTo>
                    <a:pt x="76" y="163"/>
                  </a:lnTo>
                  <a:lnTo>
                    <a:pt x="71" y="166"/>
                  </a:lnTo>
                  <a:lnTo>
                    <a:pt x="64" y="168"/>
                  </a:lnTo>
                  <a:lnTo>
                    <a:pt x="57" y="168"/>
                  </a:lnTo>
                  <a:lnTo>
                    <a:pt x="50" y="168"/>
                  </a:lnTo>
                  <a:lnTo>
                    <a:pt x="40" y="168"/>
                  </a:lnTo>
                  <a:lnTo>
                    <a:pt x="30" y="166"/>
                  </a:lnTo>
                  <a:lnTo>
                    <a:pt x="23" y="163"/>
                  </a:lnTo>
                  <a:lnTo>
                    <a:pt x="16" y="157"/>
                  </a:lnTo>
                  <a:lnTo>
                    <a:pt x="9" y="147"/>
                  </a:lnTo>
                  <a:lnTo>
                    <a:pt x="4" y="135"/>
                  </a:lnTo>
                  <a:lnTo>
                    <a:pt x="2" y="123"/>
                  </a:lnTo>
                  <a:lnTo>
                    <a:pt x="0" y="107"/>
                  </a:lnTo>
                  <a:lnTo>
                    <a:pt x="2" y="94"/>
                  </a:lnTo>
                  <a:lnTo>
                    <a:pt x="4" y="80"/>
                  </a:lnTo>
                  <a:lnTo>
                    <a:pt x="9" y="69"/>
                  </a:lnTo>
                  <a:lnTo>
                    <a:pt x="16" y="59"/>
                  </a:lnTo>
                  <a:lnTo>
                    <a:pt x="21" y="52"/>
                  </a:lnTo>
                  <a:lnTo>
                    <a:pt x="30" y="47"/>
                  </a:lnTo>
                  <a:lnTo>
                    <a:pt x="37" y="45"/>
                  </a:lnTo>
                  <a:lnTo>
                    <a:pt x="47" y="44"/>
                  </a:lnTo>
                  <a:lnTo>
                    <a:pt x="57" y="45"/>
                  </a:lnTo>
                  <a:lnTo>
                    <a:pt x="66" y="47"/>
                  </a:lnTo>
                  <a:lnTo>
                    <a:pt x="73" y="52"/>
                  </a:lnTo>
                  <a:lnTo>
                    <a:pt x="80" y="59"/>
                  </a:lnTo>
                  <a:lnTo>
                    <a:pt x="87" y="69"/>
                  </a:lnTo>
                  <a:lnTo>
                    <a:pt x="90" y="81"/>
                  </a:lnTo>
                  <a:lnTo>
                    <a:pt x="94" y="95"/>
                  </a:lnTo>
                  <a:lnTo>
                    <a:pt x="94" y="113"/>
                  </a:lnTo>
                  <a:lnTo>
                    <a:pt x="94" y="116"/>
                  </a:lnTo>
                  <a:lnTo>
                    <a:pt x="28" y="116"/>
                  </a:lnTo>
                  <a:lnTo>
                    <a:pt x="28" y="123"/>
                  </a:lnTo>
                  <a:lnTo>
                    <a:pt x="30" y="130"/>
                  </a:lnTo>
                  <a:lnTo>
                    <a:pt x="33" y="135"/>
                  </a:lnTo>
                  <a:lnTo>
                    <a:pt x="35" y="138"/>
                  </a:lnTo>
                  <a:lnTo>
                    <a:pt x="38" y="142"/>
                  </a:lnTo>
                  <a:lnTo>
                    <a:pt x="42" y="145"/>
                  </a:lnTo>
                  <a:lnTo>
                    <a:pt x="45" y="147"/>
                  </a:lnTo>
                  <a:lnTo>
                    <a:pt x="50" y="147"/>
                  </a:lnTo>
                  <a:lnTo>
                    <a:pt x="56" y="145"/>
                  </a:lnTo>
                  <a:lnTo>
                    <a:pt x="61" y="142"/>
                  </a:lnTo>
                  <a:lnTo>
                    <a:pt x="64" y="137"/>
                  </a:lnTo>
                  <a:lnTo>
                    <a:pt x="68" y="130"/>
                  </a:lnTo>
                  <a:close/>
                  <a:moveTo>
                    <a:pt x="68" y="95"/>
                  </a:moveTo>
                  <a:lnTo>
                    <a:pt x="68" y="90"/>
                  </a:lnTo>
                  <a:lnTo>
                    <a:pt x="66" y="85"/>
                  </a:lnTo>
                  <a:lnTo>
                    <a:pt x="64" y="80"/>
                  </a:lnTo>
                  <a:lnTo>
                    <a:pt x="61" y="75"/>
                  </a:lnTo>
                  <a:lnTo>
                    <a:pt x="57" y="73"/>
                  </a:lnTo>
                  <a:lnTo>
                    <a:pt x="56" y="69"/>
                  </a:lnTo>
                  <a:lnTo>
                    <a:pt x="52" y="68"/>
                  </a:lnTo>
                  <a:lnTo>
                    <a:pt x="49" y="68"/>
                  </a:lnTo>
                  <a:lnTo>
                    <a:pt x="44" y="68"/>
                  </a:lnTo>
                  <a:lnTo>
                    <a:pt x="40" y="69"/>
                  </a:lnTo>
                  <a:lnTo>
                    <a:pt x="37" y="73"/>
                  </a:lnTo>
                  <a:lnTo>
                    <a:pt x="35" y="76"/>
                  </a:lnTo>
                  <a:lnTo>
                    <a:pt x="33" y="80"/>
                  </a:lnTo>
                  <a:lnTo>
                    <a:pt x="31" y="85"/>
                  </a:lnTo>
                  <a:lnTo>
                    <a:pt x="30" y="90"/>
                  </a:lnTo>
                  <a:lnTo>
                    <a:pt x="30" y="95"/>
                  </a:lnTo>
                  <a:lnTo>
                    <a:pt x="68" y="95"/>
                  </a:lnTo>
                  <a:close/>
                  <a:moveTo>
                    <a:pt x="106" y="133"/>
                  </a:moveTo>
                  <a:lnTo>
                    <a:pt x="132" y="130"/>
                  </a:lnTo>
                  <a:lnTo>
                    <a:pt x="135" y="138"/>
                  </a:lnTo>
                  <a:lnTo>
                    <a:pt x="139" y="144"/>
                  </a:lnTo>
                  <a:lnTo>
                    <a:pt x="144" y="147"/>
                  </a:lnTo>
                  <a:lnTo>
                    <a:pt x="152" y="149"/>
                  </a:lnTo>
                  <a:lnTo>
                    <a:pt x="157" y="149"/>
                  </a:lnTo>
                  <a:lnTo>
                    <a:pt x="161" y="147"/>
                  </a:lnTo>
                  <a:lnTo>
                    <a:pt x="163" y="147"/>
                  </a:lnTo>
                  <a:lnTo>
                    <a:pt x="166" y="145"/>
                  </a:lnTo>
                  <a:lnTo>
                    <a:pt x="168" y="142"/>
                  </a:lnTo>
                  <a:lnTo>
                    <a:pt x="170" y="140"/>
                  </a:lnTo>
                  <a:lnTo>
                    <a:pt x="171" y="137"/>
                  </a:lnTo>
                  <a:lnTo>
                    <a:pt x="171" y="135"/>
                  </a:lnTo>
                  <a:lnTo>
                    <a:pt x="171" y="133"/>
                  </a:lnTo>
                  <a:lnTo>
                    <a:pt x="170" y="132"/>
                  </a:lnTo>
                  <a:lnTo>
                    <a:pt x="170" y="130"/>
                  </a:lnTo>
                  <a:lnTo>
                    <a:pt x="168" y="128"/>
                  </a:lnTo>
                  <a:lnTo>
                    <a:pt x="166" y="128"/>
                  </a:lnTo>
                  <a:lnTo>
                    <a:pt x="166" y="126"/>
                  </a:lnTo>
                  <a:lnTo>
                    <a:pt x="164" y="126"/>
                  </a:lnTo>
                  <a:lnTo>
                    <a:pt x="161" y="126"/>
                  </a:lnTo>
                  <a:lnTo>
                    <a:pt x="147" y="121"/>
                  </a:lnTo>
                  <a:lnTo>
                    <a:pt x="135" y="116"/>
                  </a:lnTo>
                  <a:lnTo>
                    <a:pt x="125" y="111"/>
                  </a:lnTo>
                  <a:lnTo>
                    <a:pt x="120" y="107"/>
                  </a:lnTo>
                  <a:lnTo>
                    <a:pt x="114" y="102"/>
                  </a:lnTo>
                  <a:lnTo>
                    <a:pt x="111" y="97"/>
                  </a:lnTo>
                  <a:lnTo>
                    <a:pt x="109" y="90"/>
                  </a:lnTo>
                  <a:lnTo>
                    <a:pt x="109" y="81"/>
                  </a:lnTo>
                  <a:lnTo>
                    <a:pt x="109" y="73"/>
                  </a:lnTo>
                  <a:lnTo>
                    <a:pt x="111" y="66"/>
                  </a:lnTo>
                  <a:lnTo>
                    <a:pt x="114" y="61"/>
                  </a:lnTo>
                  <a:lnTo>
                    <a:pt x="120" y="56"/>
                  </a:lnTo>
                  <a:lnTo>
                    <a:pt x="125" y="50"/>
                  </a:lnTo>
                  <a:lnTo>
                    <a:pt x="133" y="47"/>
                  </a:lnTo>
                  <a:lnTo>
                    <a:pt x="140" y="44"/>
                  </a:lnTo>
                  <a:lnTo>
                    <a:pt x="151" y="44"/>
                  </a:lnTo>
                  <a:lnTo>
                    <a:pt x="159" y="44"/>
                  </a:lnTo>
                  <a:lnTo>
                    <a:pt x="168" y="45"/>
                  </a:lnTo>
                  <a:lnTo>
                    <a:pt x="175" y="49"/>
                  </a:lnTo>
                  <a:lnTo>
                    <a:pt x="182" y="52"/>
                  </a:lnTo>
                  <a:lnTo>
                    <a:pt x="185" y="56"/>
                  </a:lnTo>
                  <a:lnTo>
                    <a:pt x="189" y="61"/>
                  </a:lnTo>
                  <a:lnTo>
                    <a:pt x="192" y="68"/>
                  </a:lnTo>
                  <a:lnTo>
                    <a:pt x="195" y="76"/>
                  </a:lnTo>
                  <a:lnTo>
                    <a:pt x="171" y="81"/>
                  </a:lnTo>
                  <a:lnTo>
                    <a:pt x="168" y="76"/>
                  </a:lnTo>
                  <a:lnTo>
                    <a:pt x="164" y="71"/>
                  </a:lnTo>
                  <a:lnTo>
                    <a:pt x="157" y="69"/>
                  </a:lnTo>
                  <a:lnTo>
                    <a:pt x="151" y="68"/>
                  </a:lnTo>
                  <a:lnTo>
                    <a:pt x="147" y="68"/>
                  </a:lnTo>
                  <a:lnTo>
                    <a:pt x="144" y="68"/>
                  </a:lnTo>
                  <a:lnTo>
                    <a:pt x="140" y="68"/>
                  </a:lnTo>
                  <a:lnTo>
                    <a:pt x="137" y="69"/>
                  </a:lnTo>
                  <a:lnTo>
                    <a:pt x="135" y="71"/>
                  </a:lnTo>
                  <a:lnTo>
                    <a:pt x="133" y="73"/>
                  </a:lnTo>
                  <a:lnTo>
                    <a:pt x="132" y="76"/>
                  </a:lnTo>
                  <a:lnTo>
                    <a:pt x="132" y="78"/>
                  </a:lnTo>
                  <a:lnTo>
                    <a:pt x="132" y="80"/>
                  </a:lnTo>
                  <a:lnTo>
                    <a:pt x="133" y="81"/>
                  </a:lnTo>
                  <a:lnTo>
                    <a:pt x="135" y="83"/>
                  </a:lnTo>
                  <a:lnTo>
                    <a:pt x="137" y="85"/>
                  </a:lnTo>
                  <a:lnTo>
                    <a:pt x="139" y="87"/>
                  </a:lnTo>
                  <a:lnTo>
                    <a:pt x="144" y="88"/>
                  </a:lnTo>
                  <a:lnTo>
                    <a:pt x="152" y="90"/>
                  </a:lnTo>
                  <a:lnTo>
                    <a:pt x="161" y="94"/>
                  </a:lnTo>
                  <a:lnTo>
                    <a:pt x="170" y="97"/>
                  </a:lnTo>
                  <a:lnTo>
                    <a:pt x="178" y="99"/>
                  </a:lnTo>
                  <a:lnTo>
                    <a:pt x="185" y="102"/>
                  </a:lnTo>
                  <a:lnTo>
                    <a:pt x="190" y="107"/>
                  </a:lnTo>
                  <a:lnTo>
                    <a:pt x="194" y="113"/>
                  </a:lnTo>
                  <a:lnTo>
                    <a:pt x="197" y="118"/>
                  </a:lnTo>
                  <a:lnTo>
                    <a:pt x="199" y="123"/>
                  </a:lnTo>
                  <a:lnTo>
                    <a:pt x="199" y="130"/>
                  </a:lnTo>
                  <a:lnTo>
                    <a:pt x="197" y="138"/>
                  </a:lnTo>
                  <a:lnTo>
                    <a:pt x="195" y="147"/>
                  </a:lnTo>
                  <a:lnTo>
                    <a:pt x="190" y="154"/>
                  </a:lnTo>
                  <a:lnTo>
                    <a:pt x="185" y="159"/>
                  </a:lnTo>
                  <a:lnTo>
                    <a:pt x="178" y="164"/>
                  </a:lnTo>
                  <a:lnTo>
                    <a:pt x="171" y="166"/>
                  </a:lnTo>
                  <a:lnTo>
                    <a:pt x="163" y="168"/>
                  </a:lnTo>
                  <a:lnTo>
                    <a:pt x="152" y="168"/>
                  </a:lnTo>
                  <a:lnTo>
                    <a:pt x="144" y="168"/>
                  </a:lnTo>
                  <a:lnTo>
                    <a:pt x="135" y="168"/>
                  </a:lnTo>
                  <a:lnTo>
                    <a:pt x="128" y="166"/>
                  </a:lnTo>
                  <a:lnTo>
                    <a:pt x="121" y="163"/>
                  </a:lnTo>
                  <a:lnTo>
                    <a:pt x="116" y="157"/>
                  </a:lnTo>
                  <a:lnTo>
                    <a:pt x="111" y="150"/>
                  </a:lnTo>
                  <a:lnTo>
                    <a:pt x="109" y="142"/>
                  </a:lnTo>
                  <a:lnTo>
                    <a:pt x="106" y="133"/>
                  </a:lnTo>
                  <a:close/>
                  <a:moveTo>
                    <a:pt x="280" y="130"/>
                  </a:moveTo>
                  <a:lnTo>
                    <a:pt x="306" y="135"/>
                  </a:lnTo>
                  <a:lnTo>
                    <a:pt x="303" y="144"/>
                  </a:lnTo>
                  <a:lnTo>
                    <a:pt x="299" y="150"/>
                  </a:lnTo>
                  <a:lnTo>
                    <a:pt x="296" y="157"/>
                  </a:lnTo>
                  <a:lnTo>
                    <a:pt x="290" y="163"/>
                  </a:lnTo>
                  <a:lnTo>
                    <a:pt x="284" y="166"/>
                  </a:lnTo>
                  <a:lnTo>
                    <a:pt x="277" y="168"/>
                  </a:lnTo>
                  <a:lnTo>
                    <a:pt x="270" y="168"/>
                  </a:lnTo>
                  <a:lnTo>
                    <a:pt x="261" y="168"/>
                  </a:lnTo>
                  <a:lnTo>
                    <a:pt x="251" y="168"/>
                  </a:lnTo>
                  <a:lnTo>
                    <a:pt x="242" y="166"/>
                  </a:lnTo>
                  <a:lnTo>
                    <a:pt x="235" y="163"/>
                  </a:lnTo>
                  <a:lnTo>
                    <a:pt x="228" y="157"/>
                  </a:lnTo>
                  <a:lnTo>
                    <a:pt x="221" y="147"/>
                  </a:lnTo>
                  <a:lnTo>
                    <a:pt x="218" y="135"/>
                  </a:lnTo>
                  <a:lnTo>
                    <a:pt x="214" y="123"/>
                  </a:lnTo>
                  <a:lnTo>
                    <a:pt x="213" y="107"/>
                  </a:lnTo>
                  <a:lnTo>
                    <a:pt x="214" y="94"/>
                  </a:lnTo>
                  <a:lnTo>
                    <a:pt x="218" y="80"/>
                  </a:lnTo>
                  <a:lnTo>
                    <a:pt x="221" y="69"/>
                  </a:lnTo>
                  <a:lnTo>
                    <a:pt x="228" y="59"/>
                  </a:lnTo>
                  <a:lnTo>
                    <a:pt x="235" y="52"/>
                  </a:lnTo>
                  <a:lnTo>
                    <a:pt x="242" y="47"/>
                  </a:lnTo>
                  <a:lnTo>
                    <a:pt x="251" y="45"/>
                  </a:lnTo>
                  <a:lnTo>
                    <a:pt x="259" y="44"/>
                  </a:lnTo>
                  <a:lnTo>
                    <a:pt x="270" y="45"/>
                  </a:lnTo>
                  <a:lnTo>
                    <a:pt x="278" y="47"/>
                  </a:lnTo>
                  <a:lnTo>
                    <a:pt x="285" y="52"/>
                  </a:lnTo>
                  <a:lnTo>
                    <a:pt x="292" y="59"/>
                  </a:lnTo>
                  <a:lnTo>
                    <a:pt x="299" y="69"/>
                  </a:lnTo>
                  <a:lnTo>
                    <a:pt x="303" y="81"/>
                  </a:lnTo>
                  <a:lnTo>
                    <a:pt x="306" y="95"/>
                  </a:lnTo>
                  <a:lnTo>
                    <a:pt x="308" y="113"/>
                  </a:lnTo>
                  <a:lnTo>
                    <a:pt x="308" y="116"/>
                  </a:lnTo>
                  <a:lnTo>
                    <a:pt x="240" y="116"/>
                  </a:lnTo>
                  <a:lnTo>
                    <a:pt x="240" y="123"/>
                  </a:lnTo>
                  <a:lnTo>
                    <a:pt x="242" y="130"/>
                  </a:lnTo>
                  <a:lnTo>
                    <a:pt x="244" y="135"/>
                  </a:lnTo>
                  <a:lnTo>
                    <a:pt x="247" y="138"/>
                  </a:lnTo>
                  <a:lnTo>
                    <a:pt x="251" y="142"/>
                  </a:lnTo>
                  <a:lnTo>
                    <a:pt x="254" y="145"/>
                  </a:lnTo>
                  <a:lnTo>
                    <a:pt x="258" y="147"/>
                  </a:lnTo>
                  <a:lnTo>
                    <a:pt x="261" y="147"/>
                  </a:lnTo>
                  <a:lnTo>
                    <a:pt x="268" y="145"/>
                  </a:lnTo>
                  <a:lnTo>
                    <a:pt x="273" y="142"/>
                  </a:lnTo>
                  <a:lnTo>
                    <a:pt x="278" y="137"/>
                  </a:lnTo>
                  <a:lnTo>
                    <a:pt x="280" y="130"/>
                  </a:lnTo>
                  <a:close/>
                  <a:moveTo>
                    <a:pt x="280" y="95"/>
                  </a:moveTo>
                  <a:lnTo>
                    <a:pt x="280" y="90"/>
                  </a:lnTo>
                  <a:lnTo>
                    <a:pt x="278" y="85"/>
                  </a:lnTo>
                  <a:lnTo>
                    <a:pt x="277" y="80"/>
                  </a:lnTo>
                  <a:lnTo>
                    <a:pt x="275" y="75"/>
                  </a:lnTo>
                  <a:lnTo>
                    <a:pt x="271" y="73"/>
                  </a:lnTo>
                  <a:lnTo>
                    <a:pt x="268" y="69"/>
                  </a:lnTo>
                  <a:lnTo>
                    <a:pt x="265" y="68"/>
                  </a:lnTo>
                  <a:lnTo>
                    <a:pt x="261" y="68"/>
                  </a:lnTo>
                  <a:lnTo>
                    <a:pt x="258" y="68"/>
                  </a:lnTo>
                  <a:lnTo>
                    <a:pt x="254" y="69"/>
                  </a:lnTo>
                  <a:lnTo>
                    <a:pt x="251" y="73"/>
                  </a:lnTo>
                  <a:lnTo>
                    <a:pt x="247" y="76"/>
                  </a:lnTo>
                  <a:lnTo>
                    <a:pt x="244" y="80"/>
                  </a:lnTo>
                  <a:lnTo>
                    <a:pt x="242" y="85"/>
                  </a:lnTo>
                  <a:lnTo>
                    <a:pt x="240" y="90"/>
                  </a:lnTo>
                  <a:lnTo>
                    <a:pt x="240" y="95"/>
                  </a:lnTo>
                  <a:lnTo>
                    <a:pt x="280" y="95"/>
                  </a:lnTo>
                  <a:close/>
                  <a:moveTo>
                    <a:pt x="418" y="168"/>
                  </a:moveTo>
                  <a:lnTo>
                    <a:pt x="392" y="168"/>
                  </a:lnTo>
                  <a:lnTo>
                    <a:pt x="392" y="107"/>
                  </a:lnTo>
                  <a:lnTo>
                    <a:pt x="392" y="99"/>
                  </a:lnTo>
                  <a:lnTo>
                    <a:pt x="392" y="92"/>
                  </a:lnTo>
                  <a:lnTo>
                    <a:pt x="391" y="85"/>
                  </a:lnTo>
                  <a:lnTo>
                    <a:pt x="391" y="81"/>
                  </a:lnTo>
                  <a:lnTo>
                    <a:pt x="391" y="80"/>
                  </a:lnTo>
                  <a:lnTo>
                    <a:pt x="389" y="76"/>
                  </a:lnTo>
                  <a:lnTo>
                    <a:pt x="385" y="75"/>
                  </a:lnTo>
                  <a:lnTo>
                    <a:pt x="384" y="73"/>
                  </a:lnTo>
                  <a:lnTo>
                    <a:pt x="382" y="71"/>
                  </a:lnTo>
                  <a:lnTo>
                    <a:pt x="380" y="69"/>
                  </a:lnTo>
                  <a:lnTo>
                    <a:pt x="377" y="68"/>
                  </a:lnTo>
                  <a:lnTo>
                    <a:pt x="375" y="68"/>
                  </a:lnTo>
                  <a:lnTo>
                    <a:pt x="372" y="68"/>
                  </a:lnTo>
                  <a:lnTo>
                    <a:pt x="370" y="69"/>
                  </a:lnTo>
                  <a:lnTo>
                    <a:pt x="366" y="71"/>
                  </a:lnTo>
                  <a:lnTo>
                    <a:pt x="363" y="73"/>
                  </a:lnTo>
                  <a:lnTo>
                    <a:pt x="361" y="75"/>
                  </a:lnTo>
                  <a:lnTo>
                    <a:pt x="359" y="78"/>
                  </a:lnTo>
                  <a:lnTo>
                    <a:pt x="358" y="80"/>
                  </a:lnTo>
                  <a:lnTo>
                    <a:pt x="356" y="85"/>
                  </a:lnTo>
                  <a:lnTo>
                    <a:pt x="354" y="90"/>
                  </a:lnTo>
                  <a:lnTo>
                    <a:pt x="354" y="95"/>
                  </a:lnTo>
                  <a:lnTo>
                    <a:pt x="353" y="104"/>
                  </a:lnTo>
                  <a:lnTo>
                    <a:pt x="353" y="113"/>
                  </a:lnTo>
                  <a:lnTo>
                    <a:pt x="353" y="168"/>
                  </a:lnTo>
                  <a:lnTo>
                    <a:pt x="328" y="168"/>
                  </a:lnTo>
                  <a:lnTo>
                    <a:pt x="328" y="47"/>
                  </a:lnTo>
                  <a:lnTo>
                    <a:pt x="353" y="47"/>
                  </a:lnTo>
                  <a:lnTo>
                    <a:pt x="353" y="64"/>
                  </a:lnTo>
                  <a:lnTo>
                    <a:pt x="356" y="59"/>
                  </a:lnTo>
                  <a:lnTo>
                    <a:pt x="359" y="56"/>
                  </a:lnTo>
                  <a:lnTo>
                    <a:pt x="363" y="52"/>
                  </a:lnTo>
                  <a:lnTo>
                    <a:pt x="366" y="49"/>
                  </a:lnTo>
                  <a:lnTo>
                    <a:pt x="370" y="47"/>
                  </a:lnTo>
                  <a:lnTo>
                    <a:pt x="375" y="45"/>
                  </a:lnTo>
                  <a:lnTo>
                    <a:pt x="380" y="44"/>
                  </a:lnTo>
                  <a:lnTo>
                    <a:pt x="385" y="44"/>
                  </a:lnTo>
                  <a:lnTo>
                    <a:pt x="391" y="44"/>
                  </a:lnTo>
                  <a:lnTo>
                    <a:pt x="396" y="45"/>
                  </a:lnTo>
                  <a:lnTo>
                    <a:pt x="401" y="49"/>
                  </a:lnTo>
                  <a:lnTo>
                    <a:pt x="404" y="50"/>
                  </a:lnTo>
                  <a:lnTo>
                    <a:pt x="408" y="54"/>
                  </a:lnTo>
                  <a:lnTo>
                    <a:pt x="410" y="57"/>
                  </a:lnTo>
                  <a:lnTo>
                    <a:pt x="413" y="61"/>
                  </a:lnTo>
                  <a:lnTo>
                    <a:pt x="415" y="66"/>
                  </a:lnTo>
                  <a:lnTo>
                    <a:pt x="416" y="71"/>
                  </a:lnTo>
                  <a:lnTo>
                    <a:pt x="416" y="76"/>
                  </a:lnTo>
                  <a:lnTo>
                    <a:pt x="418" y="85"/>
                  </a:lnTo>
                  <a:lnTo>
                    <a:pt x="418" y="94"/>
                  </a:lnTo>
                  <a:lnTo>
                    <a:pt x="418" y="168"/>
                  </a:lnTo>
                  <a:close/>
                  <a:moveTo>
                    <a:pt x="492" y="47"/>
                  </a:moveTo>
                  <a:lnTo>
                    <a:pt x="492" y="73"/>
                  </a:lnTo>
                  <a:lnTo>
                    <a:pt x="472" y="73"/>
                  </a:lnTo>
                  <a:lnTo>
                    <a:pt x="472" y="121"/>
                  </a:lnTo>
                  <a:lnTo>
                    <a:pt x="472" y="128"/>
                  </a:lnTo>
                  <a:lnTo>
                    <a:pt x="472" y="133"/>
                  </a:lnTo>
                  <a:lnTo>
                    <a:pt x="472" y="138"/>
                  </a:lnTo>
                  <a:lnTo>
                    <a:pt x="472" y="140"/>
                  </a:lnTo>
                  <a:lnTo>
                    <a:pt x="473" y="142"/>
                  </a:lnTo>
                  <a:lnTo>
                    <a:pt x="475" y="144"/>
                  </a:lnTo>
                  <a:lnTo>
                    <a:pt x="479" y="145"/>
                  </a:lnTo>
                  <a:lnTo>
                    <a:pt x="482" y="145"/>
                  </a:lnTo>
                  <a:lnTo>
                    <a:pt x="484" y="145"/>
                  </a:lnTo>
                  <a:lnTo>
                    <a:pt x="485" y="144"/>
                  </a:lnTo>
                  <a:lnTo>
                    <a:pt x="489" y="144"/>
                  </a:lnTo>
                  <a:lnTo>
                    <a:pt x="492" y="142"/>
                  </a:lnTo>
                  <a:lnTo>
                    <a:pt x="494" y="168"/>
                  </a:lnTo>
                  <a:lnTo>
                    <a:pt x="489" y="168"/>
                  </a:lnTo>
                  <a:lnTo>
                    <a:pt x="484" y="168"/>
                  </a:lnTo>
                  <a:lnTo>
                    <a:pt x="479" y="168"/>
                  </a:lnTo>
                  <a:lnTo>
                    <a:pt x="472" y="168"/>
                  </a:lnTo>
                  <a:lnTo>
                    <a:pt x="467" y="168"/>
                  </a:lnTo>
                  <a:lnTo>
                    <a:pt x="463" y="168"/>
                  </a:lnTo>
                  <a:lnTo>
                    <a:pt x="460" y="168"/>
                  </a:lnTo>
                  <a:lnTo>
                    <a:pt x="456" y="168"/>
                  </a:lnTo>
                  <a:lnTo>
                    <a:pt x="453" y="164"/>
                  </a:lnTo>
                  <a:lnTo>
                    <a:pt x="449" y="161"/>
                  </a:lnTo>
                  <a:lnTo>
                    <a:pt x="448" y="156"/>
                  </a:lnTo>
                  <a:lnTo>
                    <a:pt x="446" y="152"/>
                  </a:lnTo>
                  <a:lnTo>
                    <a:pt x="446" y="149"/>
                  </a:lnTo>
                  <a:lnTo>
                    <a:pt x="446" y="142"/>
                  </a:lnTo>
                  <a:lnTo>
                    <a:pt x="446" y="135"/>
                  </a:lnTo>
                  <a:lnTo>
                    <a:pt x="446" y="126"/>
                  </a:lnTo>
                  <a:lnTo>
                    <a:pt x="446" y="73"/>
                  </a:lnTo>
                  <a:lnTo>
                    <a:pt x="432" y="73"/>
                  </a:lnTo>
                  <a:lnTo>
                    <a:pt x="432" y="47"/>
                  </a:lnTo>
                  <a:lnTo>
                    <a:pt x="446" y="47"/>
                  </a:lnTo>
                  <a:lnTo>
                    <a:pt x="446" y="21"/>
                  </a:lnTo>
                  <a:lnTo>
                    <a:pt x="472" y="4"/>
                  </a:lnTo>
                  <a:lnTo>
                    <a:pt x="472" y="47"/>
                  </a:lnTo>
                  <a:lnTo>
                    <a:pt x="492" y="47"/>
                  </a:lnTo>
                  <a:close/>
                  <a:moveTo>
                    <a:pt x="530" y="85"/>
                  </a:moveTo>
                  <a:lnTo>
                    <a:pt x="504" y="78"/>
                  </a:lnTo>
                  <a:lnTo>
                    <a:pt x="508" y="71"/>
                  </a:lnTo>
                  <a:lnTo>
                    <a:pt x="510" y="62"/>
                  </a:lnTo>
                  <a:lnTo>
                    <a:pt x="515" y="57"/>
                  </a:lnTo>
                  <a:lnTo>
                    <a:pt x="520" y="52"/>
                  </a:lnTo>
                  <a:lnTo>
                    <a:pt x="525" y="49"/>
                  </a:lnTo>
                  <a:lnTo>
                    <a:pt x="532" y="45"/>
                  </a:lnTo>
                  <a:lnTo>
                    <a:pt x="539" y="44"/>
                  </a:lnTo>
                  <a:lnTo>
                    <a:pt x="548" y="44"/>
                  </a:lnTo>
                  <a:lnTo>
                    <a:pt x="556" y="44"/>
                  </a:lnTo>
                  <a:lnTo>
                    <a:pt x="563" y="45"/>
                  </a:lnTo>
                  <a:lnTo>
                    <a:pt x="568" y="47"/>
                  </a:lnTo>
                  <a:lnTo>
                    <a:pt x="574" y="49"/>
                  </a:lnTo>
                  <a:lnTo>
                    <a:pt x="577" y="52"/>
                  </a:lnTo>
                  <a:lnTo>
                    <a:pt x="580" y="54"/>
                  </a:lnTo>
                  <a:lnTo>
                    <a:pt x="582" y="57"/>
                  </a:lnTo>
                  <a:lnTo>
                    <a:pt x="586" y="61"/>
                  </a:lnTo>
                  <a:lnTo>
                    <a:pt x="587" y="66"/>
                  </a:lnTo>
                  <a:lnTo>
                    <a:pt x="589" y="73"/>
                  </a:lnTo>
                  <a:lnTo>
                    <a:pt x="591" y="81"/>
                  </a:lnTo>
                  <a:lnTo>
                    <a:pt x="591" y="92"/>
                  </a:lnTo>
                  <a:lnTo>
                    <a:pt x="591" y="128"/>
                  </a:lnTo>
                  <a:lnTo>
                    <a:pt x="591" y="135"/>
                  </a:lnTo>
                  <a:lnTo>
                    <a:pt x="591" y="142"/>
                  </a:lnTo>
                  <a:lnTo>
                    <a:pt x="591" y="147"/>
                  </a:lnTo>
                  <a:lnTo>
                    <a:pt x="593" y="150"/>
                  </a:lnTo>
                  <a:lnTo>
                    <a:pt x="593" y="156"/>
                  </a:lnTo>
                  <a:lnTo>
                    <a:pt x="594" y="159"/>
                  </a:lnTo>
                  <a:lnTo>
                    <a:pt x="594" y="164"/>
                  </a:lnTo>
                  <a:lnTo>
                    <a:pt x="596" y="168"/>
                  </a:lnTo>
                  <a:lnTo>
                    <a:pt x="570" y="168"/>
                  </a:lnTo>
                  <a:lnTo>
                    <a:pt x="565" y="156"/>
                  </a:lnTo>
                  <a:lnTo>
                    <a:pt x="561" y="159"/>
                  </a:lnTo>
                  <a:lnTo>
                    <a:pt x="560" y="163"/>
                  </a:lnTo>
                  <a:lnTo>
                    <a:pt x="556" y="166"/>
                  </a:lnTo>
                  <a:lnTo>
                    <a:pt x="551" y="168"/>
                  </a:lnTo>
                  <a:lnTo>
                    <a:pt x="548" y="168"/>
                  </a:lnTo>
                  <a:lnTo>
                    <a:pt x="544" y="168"/>
                  </a:lnTo>
                  <a:lnTo>
                    <a:pt x="539" y="168"/>
                  </a:lnTo>
                  <a:lnTo>
                    <a:pt x="536" y="168"/>
                  </a:lnTo>
                  <a:lnTo>
                    <a:pt x="529" y="168"/>
                  </a:lnTo>
                  <a:lnTo>
                    <a:pt x="522" y="166"/>
                  </a:lnTo>
                  <a:lnTo>
                    <a:pt x="517" y="164"/>
                  </a:lnTo>
                  <a:lnTo>
                    <a:pt x="511" y="161"/>
                  </a:lnTo>
                  <a:lnTo>
                    <a:pt x="506" y="156"/>
                  </a:lnTo>
                  <a:lnTo>
                    <a:pt x="504" y="150"/>
                  </a:lnTo>
                  <a:lnTo>
                    <a:pt x="501" y="144"/>
                  </a:lnTo>
                  <a:lnTo>
                    <a:pt x="501" y="135"/>
                  </a:lnTo>
                  <a:lnTo>
                    <a:pt x="501" y="130"/>
                  </a:lnTo>
                  <a:lnTo>
                    <a:pt x="503" y="126"/>
                  </a:lnTo>
                  <a:lnTo>
                    <a:pt x="504" y="121"/>
                  </a:lnTo>
                  <a:lnTo>
                    <a:pt x="506" y="118"/>
                  </a:lnTo>
                  <a:lnTo>
                    <a:pt x="508" y="113"/>
                  </a:lnTo>
                  <a:lnTo>
                    <a:pt x="510" y="109"/>
                  </a:lnTo>
                  <a:lnTo>
                    <a:pt x="513" y="107"/>
                  </a:lnTo>
                  <a:lnTo>
                    <a:pt x="517" y="106"/>
                  </a:lnTo>
                  <a:lnTo>
                    <a:pt x="520" y="104"/>
                  </a:lnTo>
                  <a:lnTo>
                    <a:pt x="525" y="100"/>
                  </a:lnTo>
                  <a:lnTo>
                    <a:pt x="532" y="99"/>
                  </a:lnTo>
                  <a:lnTo>
                    <a:pt x="539" y="97"/>
                  </a:lnTo>
                  <a:lnTo>
                    <a:pt x="548" y="95"/>
                  </a:lnTo>
                  <a:lnTo>
                    <a:pt x="555" y="92"/>
                  </a:lnTo>
                  <a:lnTo>
                    <a:pt x="560" y="90"/>
                  </a:lnTo>
                  <a:lnTo>
                    <a:pt x="561" y="88"/>
                  </a:lnTo>
                  <a:lnTo>
                    <a:pt x="561" y="83"/>
                  </a:lnTo>
                  <a:lnTo>
                    <a:pt x="561" y="80"/>
                  </a:lnTo>
                  <a:lnTo>
                    <a:pt x="561" y="78"/>
                  </a:lnTo>
                  <a:lnTo>
                    <a:pt x="561" y="75"/>
                  </a:lnTo>
                  <a:lnTo>
                    <a:pt x="561" y="75"/>
                  </a:lnTo>
                  <a:lnTo>
                    <a:pt x="560" y="73"/>
                  </a:lnTo>
                  <a:lnTo>
                    <a:pt x="560" y="73"/>
                  </a:lnTo>
                  <a:lnTo>
                    <a:pt x="558" y="71"/>
                  </a:lnTo>
                  <a:lnTo>
                    <a:pt x="555" y="69"/>
                  </a:lnTo>
                  <a:lnTo>
                    <a:pt x="553" y="69"/>
                  </a:lnTo>
                  <a:lnTo>
                    <a:pt x="549" y="68"/>
                  </a:lnTo>
                  <a:lnTo>
                    <a:pt x="546" y="68"/>
                  </a:lnTo>
                  <a:lnTo>
                    <a:pt x="544" y="68"/>
                  </a:lnTo>
                  <a:lnTo>
                    <a:pt x="541" y="69"/>
                  </a:lnTo>
                  <a:lnTo>
                    <a:pt x="539" y="71"/>
                  </a:lnTo>
                  <a:lnTo>
                    <a:pt x="537" y="73"/>
                  </a:lnTo>
                  <a:lnTo>
                    <a:pt x="536" y="75"/>
                  </a:lnTo>
                  <a:lnTo>
                    <a:pt x="534" y="76"/>
                  </a:lnTo>
                  <a:lnTo>
                    <a:pt x="532" y="80"/>
                  </a:lnTo>
                  <a:lnTo>
                    <a:pt x="530" y="85"/>
                  </a:lnTo>
                  <a:close/>
                  <a:moveTo>
                    <a:pt x="561" y="111"/>
                  </a:moveTo>
                  <a:lnTo>
                    <a:pt x="560" y="111"/>
                  </a:lnTo>
                  <a:lnTo>
                    <a:pt x="556" y="113"/>
                  </a:lnTo>
                  <a:lnTo>
                    <a:pt x="553" y="114"/>
                  </a:lnTo>
                  <a:lnTo>
                    <a:pt x="548" y="116"/>
                  </a:lnTo>
                  <a:lnTo>
                    <a:pt x="542" y="118"/>
                  </a:lnTo>
                  <a:lnTo>
                    <a:pt x="539" y="119"/>
                  </a:lnTo>
                  <a:lnTo>
                    <a:pt x="536" y="121"/>
                  </a:lnTo>
                  <a:lnTo>
                    <a:pt x="534" y="123"/>
                  </a:lnTo>
                  <a:lnTo>
                    <a:pt x="532" y="125"/>
                  </a:lnTo>
                  <a:lnTo>
                    <a:pt x="532" y="126"/>
                  </a:lnTo>
                  <a:lnTo>
                    <a:pt x="530" y="130"/>
                  </a:lnTo>
                  <a:lnTo>
                    <a:pt x="530" y="132"/>
                  </a:lnTo>
                  <a:lnTo>
                    <a:pt x="530" y="135"/>
                  </a:lnTo>
                  <a:lnTo>
                    <a:pt x="532" y="138"/>
                  </a:lnTo>
                  <a:lnTo>
                    <a:pt x="532" y="140"/>
                  </a:lnTo>
                  <a:lnTo>
                    <a:pt x="534" y="144"/>
                  </a:lnTo>
                  <a:lnTo>
                    <a:pt x="536" y="145"/>
                  </a:lnTo>
                  <a:lnTo>
                    <a:pt x="539" y="147"/>
                  </a:lnTo>
                  <a:lnTo>
                    <a:pt x="541" y="149"/>
                  </a:lnTo>
                  <a:lnTo>
                    <a:pt x="542" y="149"/>
                  </a:lnTo>
                  <a:lnTo>
                    <a:pt x="546" y="149"/>
                  </a:lnTo>
                  <a:lnTo>
                    <a:pt x="549" y="147"/>
                  </a:lnTo>
                  <a:lnTo>
                    <a:pt x="551" y="147"/>
                  </a:lnTo>
                  <a:lnTo>
                    <a:pt x="555" y="145"/>
                  </a:lnTo>
                  <a:lnTo>
                    <a:pt x="556" y="142"/>
                  </a:lnTo>
                  <a:lnTo>
                    <a:pt x="558" y="140"/>
                  </a:lnTo>
                  <a:lnTo>
                    <a:pt x="560" y="137"/>
                  </a:lnTo>
                  <a:lnTo>
                    <a:pt x="561" y="135"/>
                  </a:lnTo>
                  <a:lnTo>
                    <a:pt x="561" y="132"/>
                  </a:lnTo>
                  <a:lnTo>
                    <a:pt x="561" y="128"/>
                  </a:lnTo>
                  <a:lnTo>
                    <a:pt x="561" y="123"/>
                  </a:lnTo>
                  <a:lnTo>
                    <a:pt x="561" y="118"/>
                  </a:lnTo>
                  <a:lnTo>
                    <a:pt x="561" y="111"/>
                  </a:lnTo>
                  <a:close/>
                  <a:moveTo>
                    <a:pt x="662" y="47"/>
                  </a:moveTo>
                  <a:lnTo>
                    <a:pt x="662" y="73"/>
                  </a:lnTo>
                  <a:lnTo>
                    <a:pt x="643" y="73"/>
                  </a:lnTo>
                  <a:lnTo>
                    <a:pt x="643" y="121"/>
                  </a:lnTo>
                  <a:lnTo>
                    <a:pt x="643" y="128"/>
                  </a:lnTo>
                  <a:lnTo>
                    <a:pt x="643" y="133"/>
                  </a:lnTo>
                  <a:lnTo>
                    <a:pt x="643" y="138"/>
                  </a:lnTo>
                  <a:lnTo>
                    <a:pt x="643" y="140"/>
                  </a:lnTo>
                  <a:lnTo>
                    <a:pt x="644" y="142"/>
                  </a:lnTo>
                  <a:lnTo>
                    <a:pt x="646" y="144"/>
                  </a:lnTo>
                  <a:lnTo>
                    <a:pt x="649" y="145"/>
                  </a:lnTo>
                  <a:lnTo>
                    <a:pt x="651" y="145"/>
                  </a:lnTo>
                  <a:lnTo>
                    <a:pt x="653" y="145"/>
                  </a:lnTo>
                  <a:lnTo>
                    <a:pt x="655" y="144"/>
                  </a:lnTo>
                  <a:lnTo>
                    <a:pt x="658" y="144"/>
                  </a:lnTo>
                  <a:lnTo>
                    <a:pt x="662" y="142"/>
                  </a:lnTo>
                  <a:lnTo>
                    <a:pt x="665" y="168"/>
                  </a:lnTo>
                  <a:lnTo>
                    <a:pt x="660" y="168"/>
                  </a:lnTo>
                  <a:lnTo>
                    <a:pt x="655" y="168"/>
                  </a:lnTo>
                  <a:lnTo>
                    <a:pt x="649" y="168"/>
                  </a:lnTo>
                  <a:lnTo>
                    <a:pt x="643" y="168"/>
                  </a:lnTo>
                  <a:lnTo>
                    <a:pt x="637" y="168"/>
                  </a:lnTo>
                  <a:lnTo>
                    <a:pt x="634" y="168"/>
                  </a:lnTo>
                  <a:lnTo>
                    <a:pt x="630" y="168"/>
                  </a:lnTo>
                  <a:lnTo>
                    <a:pt x="627" y="168"/>
                  </a:lnTo>
                  <a:lnTo>
                    <a:pt x="624" y="164"/>
                  </a:lnTo>
                  <a:lnTo>
                    <a:pt x="620" y="161"/>
                  </a:lnTo>
                  <a:lnTo>
                    <a:pt x="618" y="156"/>
                  </a:lnTo>
                  <a:lnTo>
                    <a:pt x="617" y="152"/>
                  </a:lnTo>
                  <a:lnTo>
                    <a:pt x="617" y="149"/>
                  </a:lnTo>
                  <a:lnTo>
                    <a:pt x="617" y="142"/>
                  </a:lnTo>
                  <a:lnTo>
                    <a:pt x="615" y="135"/>
                  </a:lnTo>
                  <a:lnTo>
                    <a:pt x="615" y="126"/>
                  </a:lnTo>
                  <a:lnTo>
                    <a:pt x="615" y="73"/>
                  </a:lnTo>
                  <a:lnTo>
                    <a:pt x="603" y="73"/>
                  </a:lnTo>
                  <a:lnTo>
                    <a:pt x="603" y="47"/>
                  </a:lnTo>
                  <a:lnTo>
                    <a:pt x="615" y="47"/>
                  </a:lnTo>
                  <a:lnTo>
                    <a:pt x="615" y="21"/>
                  </a:lnTo>
                  <a:lnTo>
                    <a:pt x="643" y="4"/>
                  </a:lnTo>
                  <a:lnTo>
                    <a:pt x="643" y="47"/>
                  </a:lnTo>
                  <a:lnTo>
                    <a:pt x="662" y="47"/>
                  </a:lnTo>
                  <a:close/>
                  <a:moveTo>
                    <a:pt x="681" y="30"/>
                  </a:moveTo>
                  <a:lnTo>
                    <a:pt x="681" y="0"/>
                  </a:lnTo>
                  <a:lnTo>
                    <a:pt x="706" y="0"/>
                  </a:lnTo>
                  <a:lnTo>
                    <a:pt x="706" y="30"/>
                  </a:lnTo>
                  <a:lnTo>
                    <a:pt x="681" y="30"/>
                  </a:lnTo>
                  <a:close/>
                  <a:moveTo>
                    <a:pt x="681" y="168"/>
                  </a:moveTo>
                  <a:lnTo>
                    <a:pt x="681" y="47"/>
                  </a:lnTo>
                  <a:lnTo>
                    <a:pt x="706" y="47"/>
                  </a:lnTo>
                  <a:lnTo>
                    <a:pt x="706" y="168"/>
                  </a:lnTo>
                  <a:lnTo>
                    <a:pt x="681" y="168"/>
                  </a:lnTo>
                  <a:close/>
                  <a:moveTo>
                    <a:pt x="727" y="107"/>
                  </a:moveTo>
                  <a:lnTo>
                    <a:pt x="727" y="97"/>
                  </a:lnTo>
                  <a:lnTo>
                    <a:pt x="729" y="88"/>
                  </a:lnTo>
                  <a:lnTo>
                    <a:pt x="731" y="81"/>
                  </a:lnTo>
                  <a:lnTo>
                    <a:pt x="732" y="75"/>
                  </a:lnTo>
                  <a:lnTo>
                    <a:pt x="736" y="68"/>
                  </a:lnTo>
                  <a:lnTo>
                    <a:pt x="741" y="61"/>
                  </a:lnTo>
                  <a:lnTo>
                    <a:pt x="746" y="56"/>
                  </a:lnTo>
                  <a:lnTo>
                    <a:pt x="751" y="52"/>
                  </a:lnTo>
                  <a:lnTo>
                    <a:pt x="758" y="49"/>
                  </a:lnTo>
                  <a:lnTo>
                    <a:pt x="763" y="45"/>
                  </a:lnTo>
                  <a:lnTo>
                    <a:pt x="770" y="44"/>
                  </a:lnTo>
                  <a:lnTo>
                    <a:pt x="777" y="44"/>
                  </a:lnTo>
                  <a:lnTo>
                    <a:pt x="788" y="45"/>
                  </a:lnTo>
                  <a:lnTo>
                    <a:pt x="798" y="49"/>
                  </a:lnTo>
                  <a:lnTo>
                    <a:pt x="807" y="54"/>
                  </a:lnTo>
                  <a:lnTo>
                    <a:pt x="815" y="62"/>
                  </a:lnTo>
                  <a:lnTo>
                    <a:pt x="820" y="73"/>
                  </a:lnTo>
                  <a:lnTo>
                    <a:pt x="826" y="83"/>
                  </a:lnTo>
                  <a:lnTo>
                    <a:pt x="827" y="95"/>
                  </a:lnTo>
                  <a:lnTo>
                    <a:pt x="829" y="107"/>
                  </a:lnTo>
                  <a:lnTo>
                    <a:pt x="829" y="116"/>
                  </a:lnTo>
                  <a:lnTo>
                    <a:pt x="827" y="125"/>
                  </a:lnTo>
                  <a:lnTo>
                    <a:pt x="824" y="132"/>
                  </a:lnTo>
                  <a:lnTo>
                    <a:pt x="822" y="140"/>
                  </a:lnTo>
                  <a:lnTo>
                    <a:pt x="819" y="147"/>
                  </a:lnTo>
                  <a:lnTo>
                    <a:pt x="813" y="154"/>
                  </a:lnTo>
                  <a:lnTo>
                    <a:pt x="808" y="159"/>
                  </a:lnTo>
                  <a:lnTo>
                    <a:pt x="801" y="164"/>
                  </a:lnTo>
                  <a:lnTo>
                    <a:pt x="796" y="166"/>
                  </a:lnTo>
                  <a:lnTo>
                    <a:pt x="791" y="168"/>
                  </a:lnTo>
                  <a:lnTo>
                    <a:pt x="784" y="168"/>
                  </a:lnTo>
                  <a:lnTo>
                    <a:pt x="779" y="168"/>
                  </a:lnTo>
                  <a:lnTo>
                    <a:pt x="769" y="168"/>
                  </a:lnTo>
                  <a:lnTo>
                    <a:pt x="758" y="166"/>
                  </a:lnTo>
                  <a:lnTo>
                    <a:pt x="750" y="161"/>
                  </a:lnTo>
                  <a:lnTo>
                    <a:pt x="743" y="154"/>
                  </a:lnTo>
                  <a:lnTo>
                    <a:pt x="736" y="145"/>
                  </a:lnTo>
                  <a:lnTo>
                    <a:pt x="731" y="135"/>
                  </a:lnTo>
                  <a:lnTo>
                    <a:pt x="727" y="121"/>
                  </a:lnTo>
                  <a:lnTo>
                    <a:pt x="727" y="107"/>
                  </a:lnTo>
                  <a:close/>
                  <a:moveTo>
                    <a:pt x="753" y="107"/>
                  </a:moveTo>
                  <a:lnTo>
                    <a:pt x="753" y="116"/>
                  </a:lnTo>
                  <a:lnTo>
                    <a:pt x="755" y="123"/>
                  </a:lnTo>
                  <a:lnTo>
                    <a:pt x="758" y="130"/>
                  </a:lnTo>
                  <a:lnTo>
                    <a:pt x="762" y="135"/>
                  </a:lnTo>
                  <a:lnTo>
                    <a:pt x="765" y="140"/>
                  </a:lnTo>
                  <a:lnTo>
                    <a:pt x="769" y="142"/>
                  </a:lnTo>
                  <a:lnTo>
                    <a:pt x="774" y="145"/>
                  </a:lnTo>
                  <a:lnTo>
                    <a:pt x="779" y="145"/>
                  </a:lnTo>
                  <a:lnTo>
                    <a:pt x="782" y="145"/>
                  </a:lnTo>
                  <a:lnTo>
                    <a:pt x="786" y="142"/>
                  </a:lnTo>
                  <a:lnTo>
                    <a:pt x="791" y="140"/>
                  </a:lnTo>
                  <a:lnTo>
                    <a:pt x="794" y="135"/>
                  </a:lnTo>
                  <a:lnTo>
                    <a:pt x="798" y="130"/>
                  </a:lnTo>
                  <a:lnTo>
                    <a:pt x="800" y="123"/>
                  </a:lnTo>
                  <a:lnTo>
                    <a:pt x="801" y="116"/>
                  </a:lnTo>
                  <a:lnTo>
                    <a:pt x="801" y="107"/>
                  </a:lnTo>
                  <a:lnTo>
                    <a:pt x="801" y="99"/>
                  </a:lnTo>
                  <a:lnTo>
                    <a:pt x="800" y="92"/>
                  </a:lnTo>
                  <a:lnTo>
                    <a:pt x="798" y="85"/>
                  </a:lnTo>
                  <a:lnTo>
                    <a:pt x="794" y="80"/>
                  </a:lnTo>
                  <a:lnTo>
                    <a:pt x="791" y="76"/>
                  </a:lnTo>
                  <a:lnTo>
                    <a:pt x="786" y="73"/>
                  </a:lnTo>
                  <a:lnTo>
                    <a:pt x="781" y="71"/>
                  </a:lnTo>
                  <a:lnTo>
                    <a:pt x="777" y="71"/>
                  </a:lnTo>
                  <a:lnTo>
                    <a:pt x="774" y="71"/>
                  </a:lnTo>
                  <a:lnTo>
                    <a:pt x="769" y="73"/>
                  </a:lnTo>
                  <a:lnTo>
                    <a:pt x="765" y="76"/>
                  </a:lnTo>
                  <a:lnTo>
                    <a:pt x="762" y="78"/>
                  </a:lnTo>
                  <a:lnTo>
                    <a:pt x="758" y="85"/>
                  </a:lnTo>
                  <a:lnTo>
                    <a:pt x="755" y="92"/>
                  </a:lnTo>
                  <a:lnTo>
                    <a:pt x="753" y="99"/>
                  </a:lnTo>
                  <a:lnTo>
                    <a:pt x="753" y="107"/>
                  </a:lnTo>
                  <a:close/>
                  <a:moveTo>
                    <a:pt x="941" y="168"/>
                  </a:moveTo>
                  <a:lnTo>
                    <a:pt x="914" y="168"/>
                  </a:lnTo>
                  <a:lnTo>
                    <a:pt x="914" y="107"/>
                  </a:lnTo>
                  <a:lnTo>
                    <a:pt x="914" y="99"/>
                  </a:lnTo>
                  <a:lnTo>
                    <a:pt x="914" y="92"/>
                  </a:lnTo>
                  <a:lnTo>
                    <a:pt x="914" y="85"/>
                  </a:lnTo>
                  <a:lnTo>
                    <a:pt x="914" y="81"/>
                  </a:lnTo>
                  <a:lnTo>
                    <a:pt x="912" y="80"/>
                  </a:lnTo>
                  <a:lnTo>
                    <a:pt x="910" y="76"/>
                  </a:lnTo>
                  <a:lnTo>
                    <a:pt x="908" y="75"/>
                  </a:lnTo>
                  <a:lnTo>
                    <a:pt x="907" y="73"/>
                  </a:lnTo>
                  <a:lnTo>
                    <a:pt x="905" y="71"/>
                  </a:lnTo>
                  <a:lnTo>
                    <a:pt x="903" y="69"/>
                  </a:lnTo>
                  <a:lnTo>
                    <a:pt x="900" y="68"/>
                  </a:lnTo>
                  <a:lnTo>
                    <a:pt x="898" y="68"/>
                  </a:lnTo>
                  <a:lnTo>
                    <a:pt x="895" y="68"/>
                  </a:lnTo>
                  <a:lnTo>
                    <a:pt x="893" y="69"/>
                  </a:lnTo>
                  <a:lnTo>
                    <a:pt x="889" y="71"/>
                  </a:lnTo>
                  <a:lnTo>
                    <a:pt x="886" y="73"/>
                  </a:lnTo>
                  <a:lnTo>
                    <a:pt x="884" y="75"/>
                  </a:lnTo>
                  <a:lnTo>
                    <a:pt x="883" y="78"/>
                  </a:lnTo>
                  <a:lnTo>
                    <a:pt x="881" y="80"/>
                  </a:lnTo>
                  <a:lnTo>
                    <a:pt x="879" y="85"/>
                  </a:lnTo>
                  <a:lnTo>
                    <a:pt x="877" y="90"/>
                  </a:lnTo>
                  <a:lnTo>
                    <a:pt x="877" y="95"/>
                  </a:lnTo>
                  <a:lnTo>
                    <a:pt x="877" y="104"/>
                  </a:lnTo>
                  <a:lnTo>
                    <a:pt x="877" y="113"/>
                  </a:lnTo>
                  <a:lnTo>
                    <a:pt x="877" y="168"/>
                  </a:lnTo>
                  <a:lnTo>
                    <a:pt x="851" y="168"/>
                  </a:lnTo>
                  <a:lnTo>
                    <a:pt x="851" y="47"/>
                  </a:lnTo>
                  <a:lnTo>
                    <a:pt x="876" y="47"/>
                  </a:lnTo>
                  <a:lnTo>
                    <a:pt x="876" y="64"/>
                  </a:lnTo>
                  <a:lnTo>
                    <a:pt x="879" y="59"/>
                  </a:lnTo>
                  <a:lnTo>
                    <a:pt x="881" y="56"/>
                  </a:lnTo>
                  <a:lnTo>
                    <a:pt x="884" y="52"/>
                  </a:lnTo>
                  <a:lnTo>
                    <a:pt x="889" y="49"/>
                  </a:lnTo>
                  <a:lnTo>
                    <a:pt x="893" y="47"/>
                  </a:lnTo>
                  <a:lnTo>
                    <a:pt x="898" y="45"/>
                  </a:lnTo>
                  <a:lnTo>
                    <a:pt x="903" y="44"/>
                  </a:lnTo>
                  <a:lnTo>
                    <a:pt x="908" y="44"/>
                  </a:lnTo>
                  <a:lnTo>
                    <a:pt x="914" y="44"/>
                  </a:lnTo>
                  <a:lnTo>
                    <a:pt x="919" y="45"/>
                  </a:lnTo>
                  <a:lnTo>
                    <a:pt x="922" y="49"/>
                  </a:lnTo>
                  <a:lnTo>
                    <a:pt x="927" y="50"/>
                  </a:lnTo>
                  <a:lnTo>
                    <a:pt x="931" y="54"/>
                  </a:lnTo>
                  <a:lnTo>
                    <a:pt x="933" y="57"/>
                  </a:lnTo>
                  <a:lnTo>
                    <a:pt x="936" y="61"/>
                  </a:lnTo>
                  <a:lnTo>
                    <a:pt x="938" y="66"/>
                  </a:lnTo>
                  <a:lnTo>
                    <a:pt x="939" y="71"/>
                  </a:lnTo>
                  <a:lnTo>
                    <a:pt x="939" y="76"/>
                  </a:lnTo>
                  <a:lnTo>
                    <a:pt x="941" y="85"/>
                  </a:lnTo>
                  <a:lnTo>
                    <a:pt x="941" y="94"/>
                  </a:lnTo>
                  <a:lnTo>
                    <a:pt x="941" y="168"/>
                  </a:lnTo>
                  <a:close/>
                  <a:moveTo>
                    <a:pt x="1022" y="168"/>
                  </a:moveTo>
                  <a:lnTo>
                    <a:pt x="1022" y="0"/>
                  </a:lnTo>
                  <a:lnTo>
                    <a:pt x="1048" y="0"/>
                  </a:lnTo>
                  <a:lnTo>
                    <a:pt x="1048" y="140"/>
                  </a:lnTo>
                  <a:lnTo>
                    <a:pt x="1119" y="140"/>
                  </a:lnTo>
                  <a:lnTo>
                    <a:pt x="1119" y="168"/>
                  </a:lnTo>
                  <a:lnTo>
                    <a:pt x="1022" y="168"/>
                  </a:lnTo>
                  <a:close/>
                  <a:moveTo>
                    <a:pt x="1159" y="85"/>
                  </a:moveTo>
                  <a:lnTo>
                    <a:pt x="1135" y="78"/>
                  </a:lnTo>
                  <a:lnTo>
                    <a:pt x="1138" y="71"/>
                  </a:lnTo>
                  <a:lnTo>
                    <a:pt x="1140" y="62"/>
                  </a:lnTo>
                  <a:lnTo>
                    <a:pt x="1143" y="57"/>
                  </a:lnTo>
                  <a:lnTo>
                    <a:pt x="1148" y="52"/>
                  </a:lnTo>
                  <a:lnTo>
                    <a:pt x="1154" y="49"/>
                  </a:lnTo>
                  <a:lnTo>
                    <a:pt x="1160" y="45"/>
                  </a:lnTo>
                  <a:lnTo>
                    <a:pt x="1167" y="44"/>
                  </a:lnTo>
                  <a:lnTo>
                    <a:pt x="1176" y="44"/>
                  </a:lnTo>
                  <a:lnTo>
                    <a:pt x="1185" y="44"/>
                  </a:lnTo>
                  <a:lnTo>
                    <a:pt x="1192" y="45"/>
                  </a:lnTo>
                  <a:lnTo>
                    <a:pt x="1198" y="47"/>
                  </a:lnTo>
                  <a:lnTo>
                    <a:pt x="1204" y="49"/>
                  </a:lnTo>
                  <a:lnTo>
                    <a:pt x="1207" y="52"/>
                  </a:lnTo>
                  <a:lnTo>
                    <a:pt x="1211" y="54"/>
                  </a:lnTo>
                  <a:lnTo>
                    <a:pt x="1212" y="57"/>
                  </a:lnTo>
                  <a:lnTo>
                    <a:pt x="1214" y="61"/>
                  </a:lnTo>
                  <a:lnTo>
                    <a:pt x="1216" y="66"/>
                  </a:lnTo>
                  <a:lnTo>
                    <a:pt x="1217" y="73"/>
                  </a:lnTo>
                  <a:lnTo>
                    <a:pt x="1219" y="81"/>
                  </a:lnTo>
                  <a:lnTo>
                    <a:pt x="1219" y="92"/>
                  </a:lnTo>
                  <a:lnTo>
                    <a:pt x="1219" y="128"/>
                  </a:lnTo>
                  <a:lnTo>
                    <a:pt x="1219" y="135"/>
                  </a:lnTo>
                  <a:lnTo>
                    <a:pt x="1219" y="142"/>
                  </a:lnTo>
                  <a:lnTo>
                    <a:pt x="1219" y="147"/>
                  </a:lnTo>
                  <a:lnTo>
                    <a:pt x="1221" y="150"/>
                  </a:lnTo>
                  <a:lnTo>
                    <a:pt x="1221" y="156"/>
                  </a:lnTo>
                  <a:lnTo>
                    <a:pt x="1223" y="159"/>
                  </a:lnTo>
                  <a:lnTo>
                    <a:pt x="1223" y="164"/>
                  </a:lnTo>
                  <a:lnTo>
                    <a:pt x="1224" y="168"/>
                  </a:lnTo>
                  <a:lnTo>
                    <a:pt x="1198" y="168"/>
                  </a:lnTo>
                  <a:lnTo>
                    <a:pt x="1195" y="156"/>
                  </a:lnTo>
                  <a:lnTo>
                    <a:pt x="1192" y="159"/>
                  </a:lnTo>
                  <a:lnTo>
                    <a:pt x="1188" y="163"/>
                  </a:lnTo>
                  <a:lnTo>
                    <a:pt x="1185" y="166"/>
                  </a:lnTo>
                  <a:lnTo>
                    <a:pt x="1181" y="168"/>
                  </a:lnTo>
                  <a:lnTo>
                    <a:pt x="1178" y="168"/>
                  </a:lnTo>
                  <a:lnTo>
                    <a:pt x="1173" y="168"/>
                  </a:lnTo>
                  <a:lnTo>
                    <a:pt x="1169" y="168"/>
                  </a:lnTo>
                  <a:lnTo>
                    <a:pt x="1164" y="168"/>
                  </a:lnTo>
                  <a:lnTo>
                    <a:pt x="1157" y="168"/>
                  </a:lnTo>
                  <a:lnTo>
                    <a:pt x="1152" y="166"/>
                  </a:lnTo>
                  <a:lnTo>
                    <a:pt x="1147" y="164"/>
                  </a:lnTo>
                  <a:lnTo>
                    <a:pt x="1141" y="161"/>
                  </a:lnTo>
                  <a:lnTo>
                    <a:pt x="1138" y="156"/>
                  </a:lnTo>
                  <a:lnTo>
                    <a:pt x="1135" y="150"/>
                  </a:lnTo>
                  <a:lnTo>
                    <a:pt x="1133" y="144"/>
                  </a:lnTo>
                  <a:lnTo>
                    <a:pt x="1133" y="135"/>
                  </a:lnTo>
                  <a:lnTo>
                    <a:pt x="1133" y="130"/>
                  </a:lnTo>
                  <a:lnTo>
                    <a:pt x="1133" y="126"/>
                  </a:lnTo>
                  <a:lnTo>
                    <a:pt x="1135" y="121"/>
                  </a:lnTo>
                  <a:lnTo>
                    <a:pt x="1136" y="118"/>
                  </a:lnTo>
                  <a:lnTo>
                    <a:pt x="1138" y="113"/>
                  </a:lnTo>
                  <a:lnTo>
                    <a:pt x="1140" y="109"/>
                  </a:lnTo>
                  <a:lnTo>
                    <a:pt x="1143" y="107"/>
                  </a:lnTo>
                  <a:lnTo>
                    <a:pt x="1145" y="106"/>
                  </a:lnTo>
                  <a:lnTo>
                    <a:pt x="1148" y="104"/>
                  </a:lnTo>
                  <a:lnTo>
                    <a:pt x="1154" y="100"/>
                  </a:lnTo>
                  <a:lnTo>
                    <a:pt x="1160" y="99"/>
                  </a:lnTo>
                  <a:lnTo>
                    <a:pt x="1167" y="97"/>
                  </a:lnTo>
                  <a:lnTo>
                    <a:pt x="1176" y="95"/>
                  </a:lnTo>
                  <a:lnTo>
                    <a:pt x="1183" y="92"/>
                  </a:lnTo>
                  <a:lnTo>
                    <a:pt x="1188" y="90"/>
                  </a:lnTo>
                  <a:lnTo>
                    <a:pt x="1193" y="88"/>
                  </a:lnTo>
                  <a:lnTo>
                    <a:pt x="1193" y="83"/>
                  </a:lnTo>
                  <a:lnTo>
                    <a:pt x="1193" y="80"/>
                  </a:lnTo>
                  <a:lnTo>
                    <a:pt x="1193" y="78"/>
                  </a:lnTo>
                  <a:lnTo>
                    <a:pt x="1192" y="75"/>
                  </a:lnTo>
                  <a:lnTo>
                    <a:pt x="1192" y="75"/>
                  </a:lnTo>
                  <a:lnTo>
                    <a:pt x="1190" y="73"/>
                  </a:lnTo>
                  <a:lnTo>
                    <a:pt x="1188" y="73"/>
                  </a:lnTo>
                  <a:lnTo>
                    <a:pt x="1186" y="71"/>
                  </a:lnTo>
                  <a:lnTo>
                    <a:pt x="1185" y="69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6" y="68"/>
                  </a:lnTo>
                  <a:lnTo>
                    <a:pt x="1173" y="68"/>
                  </a:lnTo>
                  <a:lnTo>
                    <a:pt x="1171" y="69"/>
                  </a:lnTo>
                  <a:lnTo>
                    <a:pt x="1167" y="71"/>
                  </a:lnTo>
                  <a:lnTo>
                    <a:pt x="1166" y="73"/>
                  </a:lnTo>
                  <a:lnTo>
                    <a:pt x="1164" y="75"/>
                  </a:lnTo>
                  <a:lnTo>
                    <a:pt x="1162" y="76"/>
                  </a:lnTo>
                  <a:lnTo>
                    <a:pt x="1160" y="80"/>
                  </a:lnTo>
                  <a:lnTo>
                    <a:pt x="1159" y="85"/>
                  </a:lnTo>
                  <a:close/>
                  <a:moveTo>
                    <a:pt x="1193" y="111"/>
                  </a:moveTo>
                  <a:lnTo>
                    <a:pt x="1190" y="111"/>
                  </a:lnTo>
                  <a:lnTo>
                    <a:pt x="1186" y="113"/>
                  </a:lnTo>
                  <a:lnTo>
                    <a:pt x="1181" y="114"/>
                  </a:lnTo>
                  <a:lnTo>
                    <a:pt x="1176" y="116"/>
                  </a:lnTo>
                  <a:lnTo>
                    <a:pt x="1173" y="118"/>
                  </a:lnTo>
                  <a:lnTo>
                    <a:pt x="1167" y="119"/>
                  </a:lnTo>
                  <a:lnTo>
                    <a:pt x="1164" y="121"/>
                  </a:lnTo>
                  <a:lnTo>
                    <a:pt x="1162" y="123"/>
                  </a:lnTo>
                  <a:lnTo>
                    <a:pt x="1160" y="125"/>
                  </a:lnTo>
                  <a:lnTo>
                    <a:pt x="1160" y="126"/>
                  </a:lnTo>
                  <a:lnTo>
                    <a:pt x="1159" y="130"/>
                  </a:lnTo>
                  <a:lnTo>
                    <a:pt x="1159" y="132"/>
                  </a:lnTo>
                  <a:lnTo>
                    <a:pt x="1159" y="135"/>
                  </a:lnTo>
                  <a:lnTo>
                    <a:pt x="1160" y="138"/>
                  </a:lnTo>
                  <a:lnTo>
                    <a:pt x="1160" y="140"/>
                  </a:lnTo>
                  <a:lnTo>
                    <a:pt x="1162" y="144"/>
                  </a:lnTo>
                  <a:lnTo>
                    <a:pt x="1166" y="145"/>
                  </a:lnTo>
                  <a:lnTo>
                    <a:pt x="1167" y="147"/>
                  </a:lnTo>
                  <a:lnTo>
                    <a:pt x="1171" y="149"/>
                  </a:lnTo>
                  <a:lnTo>
                    <a:pt x="1173" y="149"/>
                  </a:lnTo>
                  <a:lnTo>
                    <a:pt x="1176" y="149"/>
                  </a:lnTo>
                  <a:lnTo>
                    <a:pt x="1178" y="147"/>
                  </a:lnTo>
                  <a:lnTo>
                    <a:pt x="1181" y="147"/>
                  </a:lnTo>
                  <a:lnTo>
                    <a:pt x="1183" y="145"/>
                  </a:lnTo>
                  <a:lnTo>
                    <a:pt x="1185" y="142"/>
                  </a:lnTo>
                  <a:lnTo>
                    <a:pt x="1188" y="140"/>
                  </a:lnTo>
                  <a:lnTo>
                    <a:pt x="1190" y="137"/>
                  </a:lnTo>
                  <a:lnTo>
                    <a:pt x="1192" y="135"/>
                  </a:lnTo>
                  <a:lnTo>
                    <a:pt x="1193" y="132"/>
                  </a:lnTo>
                  <a:lnTo>
                    <a:pt x="1193" y="128"/>
                  </a:lnTo>
                  <a:lnTo>
                    <a:pt x="1193" y="123"/>
                  </a:lnTo>
                  <a:lnTo>
                    <a:pt x="1193" y="118"/>
                  </a:lnTo>
                  <a:lnTo>
                    <a:pt x="1193" y="111"/>
                  </a:lnTo>
                  <a:close/>
                  <a:moveTo>
                    <a:pt x="1233" y="47"/>
                  </a:moveTo>
                  <a:lnTo>
                    <a:pt x="1259" y="47"/>
                  </a:lnTo>
                  <a:lnTo>
                    <a:pt x="1283" y="133"/>
                  </a:lnTo>
                  <a:lnTo>
                    <a:pt x="1307" y="47"/>
                  </a:lnTo>
                  <a:lnTo>
                    <a:pt x="1333" y="47"/>
                  </a:lnTo>
                  <a:lnTo>
                    <a:pt x="1300" y="164"/>
                  </a:lnTo>
                  <a:lnTo>
                    <a:pt x="1293" y="185"/>
                  </a:lnTo>
                  <a:lnTo>
                    <a:pt x="1292" y="190"/>
                  </a:lnTo>
                  <a:lnTo>
                    <a:pt x="1288" y="195"/>
                  </a:lnTo>
                  <a:lnTo>
                    <a:pt x="1286" y="201"/>
                  </a:lnTo>
                  <a:lnTo>
                    <a:pt x="1283" y="204"/>
                  </a:lnTo>
                  <a:lnTo>
                    <a:pt x="1281" y="206"/>
                  </a:lnTo>
                  <a:lnTo>
                    <a:pt x="1280" y="207"/>
                  </a:lnTo>
                  <a:lnTo>
                    <a:pt x="1276" y="209"/>
                  </a:lnTo>
                  <a:lnTo>
                    <a:pt x="1273" y="211"/>
                  </a:lnTo>
                  <a:lnTo>
                    <a:pt x="1269" y="213"/>
                  </a:lnTo>
                  <a:lnTo>
                    <a:pt x="1266" y="214"/>
                  </a:lnTo>
                  <a:lnTo>
                    <a:pt x="1261" y="216"/>
                  </a:lnTo>
                  <a:lnTo>
                    <a:pt x="1255" y="216"/>
                  </a:lnTo>
                  <a:lnTo>
                    <a:pt x="1252" y="216"/>
                  </a:lnTo>
                  <a:lnTo>
                    <a:pt x="1249" y="214"/>
                  </a:lnTo>
                  <a:lnTo>
                    <a:pt x="1245" y="214"/>
                  </a:lnTo>
                  <a:lnTo>
                    <a:pt x="1242" y="213"/>
                  </a:lnTo>
                  <a:lnTo>
                    <a:pt x="1238" y="187"/>
                  </a:lnTo>
                  <a:lnTo>
                    <a:pt x="1242" y="188"/>
                  </a:lnTo>
                  <a:lnTo>
                    <a:pt x="1245" y="188"/>
                  </a:lnTo>
                  <a:lnTo>
                    <a:pt x="1247" y="188"/>
                  </a:lnTo>
                  <a:lnTo>
                    <a:pt x="1250" y="188"/>
                  </a:lnTo>
                  <a:lnTo>
                    <a:pt x="1254" y="188"/>
                  </a:lnTo>
                  <a:lnTo>
                    <a:pt x="1257" y="187"/>
                  </a:lnTo>
                  <a:lnTo>
                    <a:pt x="1259" y="187"/>
                  </a:lnTo>
                  <a:lnTo>
                    <a:pt x="1262" y="185"/>
                  </a:lnTo>
                  <a:lnTo>
                    <a:pt x="1264" y="182"/>
                  </a:lnTo>
                  <a:lnTo>
                    <a:pt x="1267" y="178"/>
                  </a:lnTo>
                  <a:lnTo>
                    <a:pt x="1269" y="173"/>
                  </a:lnTo>
                  <a:lnTo>
                    <a:pt x="1269" y="168"/>
                  </a:lnTo>
                  <a:lnTo>
                    <a:pt x="1233" y="47"/>
                  </a:lnTo>
                  <a:close/>
                  <a:moveTo>
                    <a:pt x="1411" y="130"/>
                  </a:moveTo>
                  <a:lnTo>
                    <a:pt x="1437" y="135"/>
                  </a:lnTo>
                  <a:lnTo>
                    <a:pt x="1433" y="144"/>
                  </a:lnTo>
                  <a:lnTo>
                    <a:pt x="1430" y="150"/>
                  </a:lnTo>
                  <a:lnTo>
                    <a:pt x="1425" y="157"/>
                  </a:lnTo>
                  <a:lnTo>
                    <a:pt x="1419" y="163"/>
                  </a:lnTo>
                  <a:lnTo>
                    <a:pt x="1414" y="166"/>
                  </a:lnTo>
                  <a:lnTo>
                    <a:pt x="1407" y="168"/>
                  </a:lnTo>
                  <a:lnTo>
                    <a:pt x="1400" y="168"/>
                  </a:lnTo>
                  <a:lnTo>
                    <a:pt x="1394" y="168"/>
                  </a:lnTo>
                  <a:lnTo>
                    <a:pt x="1383" y="168"/>
                  </a:lnTo>
                  <a:lnTo>
                    <a:pt x="1373" y="166"/>
                  </a:lnTo>
                  <a:lnTo>
                    <a:pt x="1366" y="163"/>
                  </a:lnTo>
                  <a:lnTo>
                    <a:pt x="1359" y="157"/>
                  </a:lnTo>
                  <a:lnTo>
                    <a:pt x="1352" y="147"/>
                  </a:lnTo>
                  <a:lnTo>
                    <a:pt x="1347" y="135"/>
                  </a:lnTo>
                  <a:lnTo>
                    <a:pt x="1345" y="123"/>
                  </a:lnTo>
                  <a:lnTo>
                    <a:pt x="1343" y="107"/>
                  </a:lnTo>
                  <a:lnTo>
                    <a:pt x="1345" y="94"/>
                  </a:lnTo>
                  <a:lnTo>
                    <a:pt x="1347" y="80"/>
                  </a:lnTo>
                  <a:lnTo>
                    <a:pt x="1352" y="69"/>
                  </a:lnTo>
                  <a:lnTo>
                    <a:pt x="1359" y="59"/>
                  </a:lnTo>
                  <a:lnTo>
                    <a:pt x="1364" y="52"/>
                  </a:lnTo>
                  <a:lnTo>
                    <a:pt x="1373" y="47"/>
                  </a:lnTo>
                  <a:lnTo>
                    <a:pt x="1380" y="45"/>
                  </a:lnTo>
                  <a:lnTo>
                    <a:pt x="1390" y="44"/>
                  </a:lnTo>
                  <a:lnTo>
                    <a:pt x="1400" y="45"/>
                  </a:lnTo>
                  <a:lnTo>
                    <a:pt x="1409" y="47"/>
                  </a:lnTo>
                  <a:lnTo>
                    <a:pt x="1416" y="52"/>
                  </a:lnTo>
                  <a:lnTo>
                    <a:pt x="1423" y="59"/>
                  </a:lnTo>
                  <a:lnTo>
                    <a:pt x="1430" y="69"/>
                  </a:lnTo>
                  <a:lnTo>
                    <a:pt x="1435" y="81"/>
                  </a:lnTo>
                  <a:lnTo>
                    <a:pt x="1437" y="95"/>
                  </a:lnTo>
                  <a:lnTo>
                    <a:pt x="1438" y="113"/>
                  </a:lnTo>
                  <a:lnTo>
                    <a:pt x="1438" y="116"/>
                  </a:lnTo>
                  <a:lnTo>
                    <a:pt x="1371" y="116"/>
                  </a:lnTo>
                  <a:lnTo>
                    <a:pt x="1371" y="123"/>
                  </a:lnTo>
                  <a:lnTo>
                    <a:pt x="1373" y="130"/>
                  </a:lnTo>
                  <a:lnTo>
                    <a:pt x="1375" y="135"/>
                  </a:lnTo>
                  <a:lnTo>
                    <a:pt x="1378" y="138"/>
                  </a:lnTo>
                  <a:lnTo>
                    <a:pt x="1381" y="142"/>
                  </a:lnTo>
                  <a:lnTo>
                    <a:pt x="1385" y="145"/>
                  </a:lnTo>
                  <a:lnTo>
                    <a:pt x="1388" y="147"/>
                  </a:lnTo>
                  <a:lnTo>
                    <a:pt x="1394" y="147"/>
                  </a:lnTo>
                  <a:lnTo>
                    <a:pt x="1399" y="145"/>
                  </a:lnTo>
                  <a:lnTo>
                    <a:pt x="1404" y="142"/>
                  </a:lnTo>
                  <a:lnTo>
                    <a:pt x="1407" y="137"/>
                  </a:lnTo>
                  <a:lnTo>
                    <a:pt x="1411" y="130"/>
                  </a:lnTo>
                  <a:close/>
                  <a:moveTo>
                    <a:pt x="1411" y="95"/>
                  </a:moveTo>
                  <a:lnTo>
                    <a:pt x="1411" y="90"/>
                  </a:lnTo>
                  <a:lnTo>
                    <a:pt x="1409" y="85"/>
                  </a:lnTo>
                  <a:lnTo>
                    <a:pt x="1407" y="80"/>
                  </a:lnTo>
                  <a:lnTo>
                    <a:pt x="1404" y="75"/>
                  </a:lnTo>
                  <a:lnTo>
                    <a:pt x="1400" y="73"/>
                  </a:lnTo>
                  <a:lnTo>
                    <a:pt x="1399" y="69"/>
                  </a:lnTo>
                  <a:lnTo>
                    <a:pt x="1395" y="68"/>
                  </a:lnTo>
                  <a:lnTo>
                    <a:pt x="1392" y="68"/>
                  </a:lnTo>
                  <a:lnTo>
                    <a:pt x="1387" y="68"/>
                  </a:lnTo>
                  <a:lnTo>
                    <a:pt x="1383" y="69"/>
                  </a:lnTo>
                  <a:lnTo>
                    <a:pt x="1381" y="73"/>
                  </a:lnTo>
                  <a:lnTo>
                    <a:pt x="1378" y="76"/>
                  </a:lnTo>
                  <a:lnTo>
                    <a:pt x="1375" y="80"/>
                  </a:lnTo>
                  <a:lnTo>
                    <a:pt x="1373" y="85"/>
                  </a:lnTo>
                  <a:lnTo>
                    <a:pt x="1373" y="90"/>
                  </a:lnTo>
                  <a:lnTo>
                    <a:pt x="1373" y="95"/>
                  </a:lnTo>
                  <a:lnTo>
                    <a:pt x="1411" y="95"/>
                  </a:lnTo>
                  <a:close/>
                  <a:moveTo>
                    <a:pt x="1483" y="168"/>
                  </a:moveTo>
                  <a:lnTo>
                    <a:pt x="1457" y="168"/>
                  </a:lnTo>
                  <a:lnTo>
                    <a:pt x="1457" y="47"/>
                  </a:lnTo>
                  <a:lnTo>
                    <a:pt x="1483" y="47"/>
                  </a:lnTo>
                  <a:lnTo>
                    <a:pt x="1483" y="64"/>
                  </a:lnTo>
                  <a:lnTo>
                    <a:pt x="1487" y="59"/>
                  </a:lnTo>
                  <a:lnTo>
                    <a:pt x="1488" y="54"/>
                  </a:lnTo>
                  <a:lnTo>
                    <a:pt x="1492" y="50"/>
                  </a:lnTo>
                  <a:lnTo>
                    <a:pt x="1494" y="47"/>
                  </a:lnTo>
                  <a:lnTo>
                    <a:pt x="1495" y="45"/>
                  </a:lnTo>
                  <a:lnTo>
                    <a:pt x="1499" y="45"/>
                  </a:lnTo>
                  <a:lnTo>
                    <a:pt x="1501" y="44"/>
                  </a:lnTo>
                  <a:lnTo>
                    <a:pt x="1504" y="44"/>
                  </a:lnTo>
                  <a:lnTo>
                    <a:pt x="1509" y="44"/>
                  </a:lnTo>
                  <a:lnTo>
                    <a:pt x="1514" y="45"/>
                  </a:lnTo>
                  <a:lnTo>
                    <a:pt x="1518" y="49"/>
                  </a:lnTo>
                  <a:lnTo>
                    <a:pt x="1523" y="50"/>
                  </a:lnTo>
                  <a:lnTo>
                    <a:pt x="1513" y="78"/>
                  </a:lnTo>
                  <a:lnTo>
                    <a:pt x="1509" y="76"/>
                  </a:lnTo>
                  <a:lnTo>
                    <a:pt x="1507" y="76"/>
                  </a:lnTo>
                  <a:lnTo>
                    <a:pt x="1504" y="75"/>
                  </a:lnTo>
                  <a:lnTo>
                    <a:pt x="1502" y="75"/>
                  </a:lnTo>
                  <a:lnTo>
                    <a:pt x="1499" y="75"/>
                  </a:lnTo>
                  <a:lnTo>
                    <a:pt x="1495" y="75"/>
                  </a:lnTo>
                  <a:lnTo>
                    <a:pt x="1494" y="76"/>
                  </a:lnTo>
                  <a:lnTo>
                    <a:pt x="1494" y="78"/>
                  </a:lnTo>
                  <a:lnTo>
                    <a:pt x="1492" y="80"/>
                  </a:lnTo>
                  <a:lnTo>
                    <a:pt x="1488" y="83"/>
                  </a:lnTo>
                  <a:lnTo>
                    <a:pt x="1487" y="88"/>
                  </a:lnTo>
                  <a:lnTo>
                    <a:pt x="1485" y="94"/>
                  </a:lnTo>
                  <a:lnTo>
                    <a:pt x="1485" y="99"/>
                  </a:lnTo>
                  <a:lnTo>
                    <a:pt x="1485" y="107"/>
                  </a:lnTo>
                  <a:lnTo>
                    <a:pt x="1483" y="118"/>
                  </a:lnTo>
                  <a:lnTo>
                    <a:pt x="1483" y="130"/>
                  </a:lnTo>
                  <a:lnTo>
                    <a:pt x="1483" y="1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0" name="Freeform 1788"/>
            <p:cNvSpPr>
              <a:spLocks noEditPoints="1"/>
            </p:cNvSpPr>
            <p:nvPr/>
          </p:nvSpPr>
          <p:spPr bwMode="auto">
            <a:xfrm>
              <a:off x="3049" y="1977"/>
              <a:ext cx="647" cy="108"/>
            </a:xfrm>
            <a:custGeom>
              <a:avLst/>
              <a:gdLst>
                <a:gd name="T0" fmla="*/ 81 w 1295"/>
                <a:gd name="T1" fmla="*/ 130 h 218"/>
                <a:gd name="T2" fmla="*/ 64 w 1295"/>
                <a:gd name="T3" fmla="*/ 102 h 218"/>
                <a:gd name="T4" fmla="*/ 5 w 1295"/>
                <a:gd name="T5" fmla="*/ 57 h 218"/>
                <a:gd name="T6" fmla="*/ 38 w 1295"/>
                <a:gd name="T7" fmla="*/ 0 h 218"/>
                <a:gd name="T8" fmla="*/ 80 w 1295"/>
                <a:gd name="T9" fmla="*/ 47 h 218"/>
                <a:gd name="T10" fmla="*/ 35 w 1295"/>
                <a:gd name="T11" fmla="*/ 35 h 218"/>
                <a:gd name="T12" fmla="*/ 71 w 1295"/>
                <a:gd name="T13" fmla="*/ 69 h 218"/>
                <a:gd name="T14" fmla="*/ 109 w 1295"/>
                <a:gd name="T15" fmla="*/ 132 h 218"/>
                <a:gd name="T16" fmla="*/ 9 w 1295"/>
                <a:gd name="T17" fmla="*/ 149 h 218"/>
                <a:gd name="T18" fmla="*/ 181 w 1295"/>
                <a:gd name="T19" fmla="*/ 170 h 218"/>
                <a:gd name="T20" fmla="*/ 133 w 1295"/>
                <a:gd name="T21" fmla="*/ 71 h 218"/>
                <a:gd name="T22" fmla="*/ 218 w 1295"/>
                <a:gd name="T23" fmla="*/ 97 h 218"/>
                <a:gd name="T24" fmla="*/ 180 w 1295"/>
                <a:gd name="T25" fmla="*/ 145 h 218"/>
                <a:gd name="T26" fmla="*/ 173 w 1295"/>
                <a:gd name="T27" fmla="*/ 69 h 218"/>
                <a:gd name="T28" fmla="*/ 261 w 1295"/>
                <a:gd name="T29" fmla="*/ 140 h 218"/>
                <a:gd name="T30" fmla="*/ 295 w 1295"/>
                <a:gd name="T31" fmla="*/ 135 h 218"/>
                <a:gd name="T32" fmla="*/ 238 w 1295"/>
                <a:gd name="T33" fmla="*/ 104 h 218"/>
                <a:gd name="T34" fmla="*/ 285 w 1295"/>
                <a:gd name="T35" fmla="*/ 45 h 218"/>
                <a:gd name="T36" fmla="*/ 275 w 1295"/>
                <a:gd name="T37" fmla="*/ 68 h 218"/>
                <a:gd name="T38" fmla="*/ 261 w 1295"/>
                <a:gd name="T39" fmla="*/ 87 h 218"/>
                <a:gd name="T40" fmla="*/ 323 w 1295"/>
                <a:gd name="T41" fmla="*/ 132 h 218"/>
                <a:gd name="T42" fmla="*/ 247 w 1295"/>
                <a:gd name="T43" fmla="*/ 164 h 218"/>
                <a:gd name="T44" fmla="*/ 392 w 1295"/>
                <a:gd name="T45" fmla="*/ 149 h 218"/>
                <a:gd name="T46" fmla="*/ 397 w 1295"/>
                <a:gd name="T47" fmla="*/ 128 h 218"/>
                <a:gd name="T48" fmla="*/ 344 w 1295"/>
                <a:gd name="T49" fmla="*/ 68 h 218"/>
                <a:gd name="T50" fmla="*/ 421 w 1295"/>
                <a:gd name="T51" fmla="*/ 63 h 218"/>
                <a:gd name="T52" fmla="*/ 366 w 1295"/>
                <a:gd name="T53" fmla="*/ 73 h 218"/>
                <a:gd name="T54" fmla="*/ 401 w 1295"/>
                <a:gd name="T55" fmla="*/ 97 h 218"/>
                <a:gd name="T56" fmla="*/ 411 w 1295"/>
                <a:gd name="T57" fmla="*/ 164 h 218"/>
                <a:gd name="T58" fmla="*/ 452 w 1295"/>
                <a:gd name="T59" fmla="*/ 31 h 218"/>
                <a:gd name="T60" fmla="*/ 501 w 1295"/>
                <a:gd name="T61" fmla="*/ 90 h 218"/>
                <a:gd name="T62" fmla="*/ 572 w 1295"/>
                <a:gd name="T63" fmla="*/ 50 h 218"/>
                <a:gd name="T64" fmla="*/ 587 w 1295"/>
                <a:gd name="T65" fmla="*/ 156 h 218"/>
                <a:gd name="T66" fmla="*/ 503 w 1295"/>
                <a:gd name="T67" fmla="*/ 135 h 218"/>
                <a:gd name="T68" fmla="*/ 554 w 1295"/>
                <a:gd name="T69" fmla="*/ 147 h 218"/>
                <a:gd name="T70" fmla="*/ 563 w 1295"/>
                <a:gd name="T71" fmla="*/ 78 h 218"/>
                <a:gd name="T72" fmla="*/ 713 w 1295"/>
                <a:gd name="T73" fmla="*/ 168 h 218"/>
                <a:gd name="T74" fmla="*/ 677 w 1295"/>
                <a:gd name="T75" fmla="*/ 71 h 218"/>
                <a:gd name="T76" fmla="*/ 651 w 1295"/>
                <a:gd name="T77" fmla="*/ 97 h 218"/>
                <a:gd name="T78" fmla="*/ 665 w 1295"/>
                <a:gd name="T79" fmla="*/ 49 h 218"/>
                <a:gd name="T80" fmla="*/ 711 w 1295"/>
                <a:gd name="T81" fmla="*/ 73 h 218"/>
                <a:gd name="T82" fmla="*/ 932 w 1295"/>
                <a:gd name="T83" fmla="*/ 87 h 218"/>
                <a:gd name="T84" fmla="*/ 970 w 1295"/>
                <a:gd name="T85" fmla="*/ 49 h 218"/>
                <a:gd name="T86" fmla="*/ 993 w 1295"/>
                <a:gd name="T87" fmla="*/ 144 h 218"/>
                <a:gd name="T88" fmla="*/ 953 w 1295"/>
                <a:gd name="T89" fmla="*/ 168 h 218"/>
                <a:gd name="T90" fmla="*/ 905 w 1295"/>
                <a:gd name="T91" fmla="*/ 137 h 218"/>
                <a:gd name="T92" fmla="*/ 941 w 1295"/>
                <a:gd name="T93" fmla="*/ 97 h 218"/>
                <a:gd name="T94" fmla="*/ 960 w 1295"/>
                <a:gd name="T95" fmla="*/ 73 h 218"/>
                <a:gd name="T96" fmla="*/ 932 w 1295"/>
                <a:gd name="T97" fmla="*/ 87 h 218"/>
                <a:gd name="T98" fmla="*/ 932 w 1295"/>
                <a:gd name="T99" fmla="*/ 132 h 218"/>
                <a:gd name="T100" fmla="*/ 953 w 1295"/>
                <a:gd name="T101" fmla="*/ 149 h 218"/>
                <a:gd name="T102" fmla="*/ 1032 w 1295"/>
                <a:gd name="T103" fmla="*/ 47 h 218"/>
                <a:gd name="T104" fmla="*/ 1050 w 1295"/>
                <a:gd name="T105" fmla="*/ 211 h 218"/>
                <a:gd name="T106" fmla="*/ 1017 w 1295"/>
                <a:gd name="T107" fmla="*/ 189 h 218"/>
                <a:gd name="T108" fmla="*/ 1183 w 1295"/>
                <a:gd name="T109" fmla="*/ 132 h 218"/>
                <a:gd name="T110" fmla="*/ 1139 w 1295"/>
                <a:gd name="T111" fmla="*/ 164 h 218"/>
                <a:gd name="T112" fmla="*/ 1153 w 1295"/>
                <a:gd name="T113" fmla="*/ 47 h 218"/>
                <a:gd name="T114" fmla="*/ 1143 w 1295"/>
                <a:gd name="T115" fmla="*/ 125 h 218"/>
                <a:gd name="T116" fmla="*/ 1183 w 1295"/>
                <a:gd name="T117" fmla="*/ 97 h 218"/>
                <a:gd name="T118" fmla="*/ 1152 w 1295"/>
                <a:gd name="T119" fmla="*/ 78 h 218"/>
                <a:gd name="T120" fmla="*/ 1260 w 1295"/>
                <a:gd name="T121" fmla="*/ 56 h 218"/>
                <a:gd name="T122" fmla="*/ 1283 w 1295"/>
                <a:gd name="T123" fmla="*/ 78 h 218"/>
                <a:gd name="T124" fmla="*/ 1259 w 1295"/>
                <a:gd name="T125" fmla="*/ 101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95" h="218">
                  <a:moveTo>
                    <a:pt x="0" y="116"/>
                  </a:moveTo>
                  <a:lnTo>
                    <a:pt x="28" y="113"/>
                  </a:lnTo>
                  <a:lnTo>
                    <a:pt x="31" y="125"/>
                  </a:lnTo>
                  <a:lnTo>
                    <a:pt x="36" y="135"/>
                  </a:lnTo>
                  <a:lnTo>
                    <a:pt x="45" y="142"/>
                  </a:lnTo>
                  <a:lnTo>
                    <a:pt x="57" y="144"/>
                  </a:lnTo>
                  <a:lnTo>
                    <a:pt x="62" y="144"/>
                  </a:lnTo>
                  <a:lnTo>
                    <a:pt x="67" y="142"/>
                  </a:lnTo>
                  <a:lnTo>
                    <a:pt x="73" y="138"/>
                  </a:lnTo>
                  <a:lnTo>
                    <a:pt x="76" y="137"/>
                  </a:lnTo>
                  <a:lnTo>
                    <a:pt x="80" y="133"/>
                  </a:lnTo>
                  <a:lnTo>
                    <a:pt x="81" y="130"/>
                  </a:lnTo>
                  <a:lnTo>
                    <a:pt x="83" y="126"/>
                  </a:lnTo>
                  <a:lnTo>
                    <a:pt x="83" y="121"/>
                  </a:lnTo>
                  <a:lnTo>
                    <a:pt x="83" y="119"/>
                  </a:lnTo>
                  <a:lnTo>
                    <a:pt x="83" y="116"/>
                  </a:lnTo>
                  <a:lnTo>
                    <a:pt x="83" y="114"/>
                  </a:lnTo>
                  <a:lnTo>
                    <a:pt x="81" y="113"/>
                  </a:lnTo>
                  <a:lnTo>
                    <a:pt x="80" y="111"/>
                  </a:lnTo>
                  <a:lnTo>
                    <a:pt x="78" y="109"/>
                  </a:lnTo>
                  <a:lnTo>
                    <a:pt x="74" y="107"/>
                  </a:lnTo>
                  <a:lnTo>
                    <a:pt x="73" y="106"/>
                  </a:lnTo>
                  <a:lnTo>
                    <a:pt x="69" y="104"/>
                  </a:lnTo>
                  <a:lnTo>
                    <a:pt x="64" y="102"/>
                  </a:lnTo>
                  <a:lnTo>
                    <a:pt x="57" y="99"/>
                  </a:lnTo>
                  <a:lnTo>
                    <a:pt x="48" y="97"/>
                  </a:lnTo>
                  <a:lnTo>
                    <a:pt x="40" y="94"/>
                  </a:lnTo>
                  <a:lnTo>
                    <a:pt x="33" y="90"/>
                  </a:lnTo>
                  <a:lnTo>
                    <a:pt x="26" y="88"/>
                  </a:lnTo>
                  <a:lnTo>
                    <a:pt x="21" y="85"/>
                  </a:lnTo>
                  <a:lnTo>
                    <a:pt x="17" y="82"/>
                  </a:lnTo>
                  <a:lnTo>
                    <a:pt x="14" y="78"/>
                  </a:lnTo>
                  <a:lnTo>
                    <a:pt x="12" y="73"/>
                  </a:lnTo>
                  <a:lnTo>
                    <a:pt x="11" y="68"/>
                  </a:lnTo>
                  <a:lnTo>
                    <a:pt x="7" y="63"/>
                  </a:lnTo>
                  <a:lnTo>
                    <a:pt x="5" y="57"/>
                  </a:lnTo>
                  <a:lnTo>
                    <a:pt x="4" y="52"/>
                  </a:lnTo>
                  <a:lnTo>
                    <a:pt x="4" y="47"/>
                  </a:lnTo>
                  <a:lnTo>
                    <a:pt x="4" y="40"/>
                  </a:lnTo>
                  <a:lnTo>
                    <a:pt x="5" y="33"/>
                  </a:lnTo>
                  <a:lnTo>
                    <a:pt x="7" y="26"/>
                  </a:lnTo>
                  <a:lnTo>
                    <a:pt x="11" y="21"/>
                  </a:lnTo>
                  <a:lnTo>
                    <a:pt x="12" y="16"/>
                  </a:lnTo>
                  <a:lnTo>
                    <a:pt x="17" y="11"/>
                  </a:lnTo>
                  <a:lnTo>
                    <a:pt x="23" y="7"/>
                  </a:lnTo>
                  <a:lnTo>
                    <a:pt x="28" y="6"/>
                  </a:lnTo>
                  <a:lnTo>
                    <a:pt x="33" y="2"/>
                  </a:lnTo>
                  <a:lnTo>
                    <a:pt x="38" y="0"/>
                  </a:lnTo>
                  <a:lnTo>
                    <a:pt x="47" y="0"/>
                  </a:lnTo>
                  <a:lnTo>
                    <a:pt x="54" y="0"/>
                  </a:lnTo>
                  <a:lnTo>
                    <a:pt x="66" y="0"/>
                  </a:lnTo>
                  <a:lnTo>
                    <a:pt x="76" y="4"/>
                  </a:lnTo>
                  <a:lnTo>
                    <a:pt x="85" y="7"/>
                  </a:lnTo>
                  <a:lnTo>
                    <a:pt x="92" y="13"/>
                  </a:lnTo>
                  <a:lnTo>
                    <a:pt x="99" y="19"/>
                  </a:lnTo>
                  <a:lnTo>
                    <a:pt x="102" y="28"/>
                  </a:lnTo>
                  <a:lnTo>
                    <a:pt x="105" y="38"/>
                  </a:lnTo>
                  <a:lnTo>
                    <a:pt x="107" y="49"/>
                  </a:lnTo>
                  <a:lnTo>
                    <a:pt x="81" y="52"/>
                  </a:lnTo>
                  <a:lnTo>
                    <a:pt x="80" y="47"/>
                  </a:lnTo>
                  <a:lnTo>
                    <a:pt x="78" y="42"/>
                  </a:lnTo>
                  <a:lnTo>
                    <a:pt x="74" y="38"/>
                  </a:lnTo>
                  <a:lnTo>
                    <a:pt x="71" y="35"/>
                  </a:lnTo>
                  <a:lnTo>
                    <a:pt x="67" y="31"/>
                  </a:lnTo>
                  <a:lnTo>
                    <a:pt x="64" y="30"/>
                  </a:lnTo>
                  <a:lnTo>
                    <a:pt x="59" y="28"/>
                  </a:lnTo>
                  <a:lnTo>
                    <a:pt x="54" y="28"/>
                  </a:lnTo>
                  <a:lnTo>
                    <a:pt x="48" y="28"/>
                  </a:lnTo>
                  <a:lnTo>
                    <a:pt x="45" y="30"/>
                  </a:lnTo>
                  <a:lnTo>
                    <a:pt x="40" y="31"/>
                  </a:lnTo>
                  <a:lnTo>
                    <a:pt x="38" y="33"/>
                  </a:lnTo>
                  <a:lnTo>
                    <a:pt x="35" y="35"/>
                  </a:lnTo>
                  <a:lnTo>
                    <a:pt x="33" y="38"/>
                  </a:lnTo>
                  <a:lnTo>
                    <a:pt x="31" y="40"/>
                  </a:lnTo>
                  <a:lnTo>
                    <a:pt x="31" y="44"/>
                  </a:lnTo>
                  <a:lnTo>
                    <a:pt x="31" y="47"/>
                  </a:lnTo>
                  <a:lnTo>
                    <a:pt x="31" y="49"/>
                  </a:lnTo>
                  <a:lnTo>
                    <a:pt x="33" y="52"/>
                  </a:lnTo>
                  <a:lnTo>
                    <a:pt x="36" y="56"/>
                  </a:lnTo>
                  <a:lnTo>
                    <a:pt x="40" y="57"/>
                  </a:lnTo>
                  <a:lnTo>
                    <a:pt x="45" y="59"/>
                  </a:lnTo>
                  <a:lnTo>
                    <a:pt x="52" y="63"/>
                  </a:lnTo>
                  <a:lnTo>
                    <a:pt x="61" y="66"/>
                  </a:lnTo>
                  <a:lnTo>
                    <a:pt x="71" y="69"/>
                  </a:lnTo>
                  <a:lnTo>
                    <a:pt x="78" y="71"/>
                  </a:lnTo>
                  <a:lnTo>
                    <a:pt x="85" y="75"/>
                  </a:lnTo>
                  <a:lnTo>
                    <a:pt x="90" y="78"/>
                  </a:lnTo>
                  <a:lnTo>
                    <a:pt x="95" y="82"/>
                  </a:lnTo>
                  <a:lnTo>
                    <a:pt x="100" y="87"/>
                  </a:lnTo>
                  <a:lnTo>
                    <a:pt x="102" y="90"/>
                  </a:lnTo>
                  <a:lnTo>
                    <a:pt x="105" y="95"/>
                  </a:lnTo>
                  <a:lnTo>
                    <a:pt x="107" y="101"/>
                  </a:lnTo>
                  <a:lnTo>
                    <a:pt x="109" y="107"/>
                  </a:lnTo>
                  <a:lnTo>
                    <a:pt x="111" y="114"/>
                  </a:lnTo>
                  <a:lnTo>
                    <a:pt x="111" y="121"/>
                  </a:lnTo>
                  <a:lnTo>
                    <a:pt x="109" y="132"/>
                  </a:lnTo>
                  <a:lnTo>
                    <a:pt x="107" y="140"/>
                  </a:lnTo>
                  <a:lnTo>
                    <a:pt x="104" y="149"/>
                  </a:lnTo>
                  <a:lnTo>
                    <a:pt x="99" y="157"/>
                  </a:lnTo>
                  <a:lnTo>
                    <a:pt x="90" y="164"/>
                  </a:lnTo>
                  <a:lnTo>
                    <a:pt x="80" y="168"/>
                  </a:lnTo>
                  <a:lnTo>
                    <a:pt x="69" y="170"/>
                  </a:lnTo>
                  <a:lnTo>
                    <a:pt x="55" y="170"/>
                  </a:lnTo>
                  <a:lnTo>
                    <a:pt x="43" y="170"/>
                  </a:lnTo>
                  <a:lnTo>
                    <a:pt x="33" y="166"/>
                  </a:lnTo>
                  <a:lnTo>
                    <a:pt x="23" y="163"/>
                  </a:lnTo>
                  <a:lnTo>
                    <a:pt x="16" y="157"/>
                  </a:lnTo>
                  <a:lnTo>
                    <a:pt x="9" y="149"/>
                  </a:lnTo>
                  <a:lnTo>
                    <a:pt x="5" y="140"/>
                  </a:lnTo>
                  <a:lnTo>
                    <a:pt x="2" y="130"/>
                  </a:lnTo>
                  <a:lnTo>
                    <a:pt x="0" y="116"/>
                  </a:lnTo>
                  <a:close/>
                  <a:moveTo>
                    <a:pt x="192" y="132"/>
                  </a:moveTo>
                  <a:lnTo>
                    <a:pt x="218" y="137"/>
                  </a:lnTo>
                  <a:lnTo>
                    <a:pt x="214" y="145"/>
                  </a:lnTo>
                  <a:lnTo>
                    <a:pt x="211" y="152"/>
                  </a:lnTo>
                  <a:lnTo>
                    <a:pt x="206" y="159"/>
                  </a:lnTo>
                  <a:lnTo>
                    <a:pt x="200" y="164"/>
                  </a:lnTo>
                  <a:lnTo>
                    <a:pt x="195" y="166"/>
                  </a:lnTo>
                  <a:lnTo>
                    <a:pt x="188" y="168"/>
                  </a:lnTo>
                  <a:lnTo>
                    <a:pt x="181" y="170"/>
                  </a:lnTo>
                  <a:lnTo>
                    <a:pt x="175" y="170"/>
                  </a:lnTo>
                  <a:lnTo>
                    <a:pt x="164" y="170"/>
                  </a:lnTo>
                  <a:lnTo>
                    <a:pt x="156" y="168"/>
                  </a:lnTo>
                  <a:lnTo>
                    <a:pt x="147" y="164"/>
                  </a:lnTo>
                  <a:lnTo>
                    <a:pt x="140" y="157"/>
                  </a:lnTo>
                  <a:lnTo>
                    <a:pt x="133" y="149"/>
                  </a:lnTo>
                  <a:lnTo>
                    <a:pt x="130" y="137"/>
                  </a:lnTo>
                  <a:lnTo>
                    <a:pt x="126" y="125"/>
                  </a:lnTo>
                  <a:lnTo>
                    <a:pt x="124" y="109"/>
                  </a:lnTo>
                  <a:lnTo>
                    <a:pt x="126" y="95"/>
                  </a:lnTo>
                  <a:lnTo>
                    <a:pt x="130" y="82"/>
                  </a:lnTo>
                  <a:lnTo>
                    <a:pt x="133" y="71"/>
                  </a:lnTo>
                  <a:lnTo>
                    <a:pt x="140" y="61"/>
                  </a:lnTo>
                  <a:lnTo>
                    <a:pt x="147" y="54"/>
                  </a:lnTo>
                  <a:lnTo>
                    <a:pt x="154" y="49"/>
                  </a:lnTo>
                  <a:lnTo>
                    <a:pt x="162" y="47"/>
                  </a:lnTo>
                  <a:lnTo>
                    <a:pt x="171" y="45"/>
                  </a:lnTo>
                  <a:lnTo>
                    <a:pt x="181" y="47"/>
                  </a:lnTo>
                  <a:lnTo>
                    <a:pt x="190" y="49"/>
                  </a:lnTo>
                  <a:lnTo>
                    <a:pt x="197" y="54"/>
                  </a:lnTo>
                  <a:lnTo>
                    <a:pt x="204" y="61"/>
                  </a:lnTo>
                  <a:lnTo>
                    <a:pt x="211" y="71"/>
                  </a:lnTo>
                  <a:lnTo>
                    <a:pt x="216" y="83"/>
                  </a:lnTo>
                  <a:lnTo>
                    <a:pt x="218" y="97"/>
                  </a:lnTo>
                  <a:lnTo>
                    <a:pt x="219" y="114"/>
                  </a:lnTo>
                  <a:lnTo>
                    <a:pt x="219" y="118"/>
                  </a:lnTo>
                  <a:lnTo>
                    <a:pt x="152" y="118"/>
                  </a:lnTo>
                  <a:lnTo>
                    <a:pt x="152" y="125"/>
                  </a:lnTo>
                  <a:lnTo>
                    <a:pt x="154" y="132"/>
                  </a:lnTo>
                  <a:lnTo>
                    <a:pt x="157" y="137"/>
                  </a:lnTo>
                  <a:lnTo>
                    <a:pt x="161" y="140"/>
                  </a:lnTo>
                  <a:lnTo>
                    <a:pt x="162" y="144"/>
                  </a:lnTo>
                  <a:lnTo>
                    <a:pt x="166" y="145"/>
                  </a:lnTo>
                  <a:lnTo>
                    <a:pt x="171" y="147"/>
                  </a:lnTo>
                  <a:lnTo>
                    <a:pt x="175" y="147"/>
                  </a:lnTo>
                  <a:lnTo>
                    <a:pt x="180" y="145"/>
                  </a:lnTo>
                  <a:lnTo>
                    <a:pt x="185" y="144"/>
                  </a:lnTo>
                  <a:lnTo>
                    <a:pt x="190" y="138"/>
                  </a:lnTo>
                  <a:lnTo>
                    <a:pt x="192" y="132"/>
                  </a:lnTo>
                  <a:close/>
                  <a:moveTo>
                    <a:pt x="192" y="97"/>
                  </a:moveTo>
                  <a:lnTo>
                    <a:pt x="192" y="90"/>
                  </a:lnTo>
                  <a:lnTo>
                    <a:pt x="190" y="85"/>
                  </a:lnTo>
                  <a:lnTo>
                    <a:pt x="188" y="80"/>
                  </a:lnTo>
                  <a:lnTo>
                    <a:pt x="187" y="76"/>
                  </a:lnTo>
                  <a:lnTo>
                    <a:pt x="183" y="75"/>
                  </a:lnTo>
                  <a:lnTo>
                    <a:pt x="180" y="71"/>
                  </a:lnTo>
                  <a:lnTo>
                    <a:pt x="178" y="69"/>
                  </a:lnTo>
                  <a:lnTo>
                    <a:pt x="173" y="69"/>
                  </a:lnTo>
                  <a:lnTo>
                    <a:pt x="169" y="69"/>
                  </a:lnTo>
                  <a:lnTo>
                    <a:pt x="164" y="71"/>
                  </a:lnTo>
                  <a:lnTo>
                    <a:pt x="162" y="75"/>
                  </a:lnTo>
                  <a:lnTo>
                    <a:pt x="161" y="78"/>
                  </a:lnTo>
                  <a:lnTo>
                    <a:pt x="157" y="82"/>
                  </a:lnTo>
                  <a:lnTo>
                    <a:pt x="156" y="85"/>
                  </a:lnTo>
                  <a:lnTo>
                    <a:pt x="154" y="90"/>
                  </a:lnTo>
                  <a:lnTo>
                    <a:pt x="154" y="97"/>
                  </a:lnTo>
                  <a:lnTo>
                    <a:pt x="192" y="97"/>
                  </a:lnTo>
                  <a:close/>
                  <a:moveTo>
                    <a:pt x="231" y="135"/>
                  </a:moveTo>
                  <a:lnTo>
                    <a:pt x="257" y="132"/>
                  </a:lnTo>
                  <a:lnTo>
                    <a:pt x="261" y="140"/>
                  </a:lnTo>
                  <a:lnTo>
                    <a:pt x="264" y="145"/>
                  </a:lnTo>
                  <a:lnTo>
                    <a:pt x="269" y="149"/>
                  </a:lnTo>
                  <a:lnTo>
                    <a:pt x="278" y="151"/>
                  </a:lnTo>
                  <a:lnTo>
                    <a:pt x="282" y="151"/>
                  </a:lnTo>
                  <a:lnTo>
                    <a:pt x="285" y="149"/>
                  </a:lnTo>
                  <a:lnTo>
                    <a:pt x="288" y="149"/>
                  </a:lnTo>
                  <a:lnTo>
                    <a:pt x="290" y="147"/>
                  </a:lnTo>
                  <a:lnTo>
                    <a:pt x="292" y="144"/>
                  </a:lnTo>
                  <a:lnTo>
                    <a:pt x="294" y="142"/>
                  </a:lnTo>
                  <a:lnTo>
                    <a:pt x="295" y="138"/>
                  </a:lnTo>
                  <a:lnTo>
                    <a:pt x="295" y="137"/>
                  </a:lnTo>
                  <a:lnTo>
                    <a:pt x="295" y="135"/>
                  </a:lnTo>
                  <a:lnTo>
                    <a:pt x="294" y="133"/>
                  </a:lnTo>
                  <a:lnTo>
                    <a:pt x="294" y="132"/>
                  </a:lnTo>
                  <a:lnTo>
                    <a:pt x="292" y="130"/>
                  </a:lnTo>
                  <a:lnTo>
                    <a:pt x="290" y="128"/>
                  </a:lnTo>
                  <a:lnTo>
                    <a:pt x="290" y="128"/>
                  </a:lnTo>
                  <a:lnTo>
                    <a:pt x="288" y="128"/>
                  </a:lnTo>
                  <a:lnTo>
                    <a:pt x="287" y="128"/>
                  </a:lnTo>
                  <a:lnTo>
                    <a:pt x="271" y="123"/>
                  </a:lnTo>
                  <a:lnTo>
                    <a:pt x="259" y="118"/>
                  </a:lnTo>
                  <a:lnTo>
                    <a:pt x="250" y="113"/>
                  </a:lnTo>
                  <a:lnTo>
                    <a:pt x="244" y="109"/>
                  </a:lnTo>
                  <a:lnTo>
                    <a:pt x="238" y="104"/>
                  </a:lnTo>
                  <a:lnTo>
                    <a:pt x="237" y="99"/>
                  </a:lnTo>
                  <a:lnTo>
                    <a:pt x="233" y="92"/>
                  </a:lnTo>
                  <a:lnTo>
                    <a:pt x="233" y="83"/>
                  </a:lnTo>
                  <a:lnTo>
                    <a:pt x="233" y="75"/>
                  </a:lnTo>
                  <a:lnTo>
                    <a:pt x="237" y="68"/>
                  </a:lnTo>
                  <a:lnTo>
                    <a:pt x="238" y="63"/>
                  </a:lnTo>
                  <a:lnTo>
                    <a:pt x="244" y="57"/>
                  </a:lnTo>
                  <a:lnTo>
                    <a:pt x="249" y="52"/>
                  </a:lnTo>
                  <a:lnTo>
                    <a:pt x="257" y="49"/>
                  </a:lnTo>
                  <a:lnTo>
                    <a:pt x="264" y="45"/>
                  </a:lnTo>
                  <a:lnTo>
                    <a:pt x="275" y="45"/>
                  </a:lnTo>
                  <a:lnTo>
                    <a:pt x="285" y="45"/>
                  </a:lnTo>
                  <a:lnTo>
                    <a:pt x="294" y="47"/>
                  </a:lnTo>
                  <a:lnTo>
                    <a:pt x="301" y="50"/>
                  </a:lnTo>
                  <a:lnTo>
                    <a:pt x="306" y="54"/>
                  </a:lnTo>
                  <a:lnTo>
                    <a:pt x="309" y="57"/>
                  </a:lnTo>
                  <a:lnTo>
                    <a:pt x="314" y="63"/>
                  </a:lnTo>
                  <a:lnTo>
                    <a:pt x="318" y="69"/>
                  </a:lnTo>
                  <a:lnTo>
                    <a:pt x="321" y="78"/>
                  </a:lnTo>
                  <a:lnTo>
                    <a:pt x="295" y="83"/>
                  </a:lnTo>
                  <a:lnTo>
                    <a:pt x="292" y="76"/>
                  </a:lnTo>
                  <a:lnTo>
                    <a:pt x="288" y="73"/>
                  </a:lnTo>
                  <a:lnTo>
                    <a:pt x="283" y="69"/>
                  </a:lnTo>
                  <a:lnTo>
                    <a:pt x="275" y="68"/>
                  </a:lnTo>
                  <a:lnTo>
                    <a:pt x="271" y="68"/>
                  </a:lnTo>
                  <a:lnTo>
                    <a:pt x="268" y="69"/>
                  </a:lnTo>
                  <a:lnTo>
                    <a:pt x="264" y="69"/>
                  </a:lnTo>
                  <a:lnTo>
                    <a:pt x="261" y="71"/>
                  </a:lnTo>
                  <a:lnTo>
                    <a:pt x="259" y="73"/>
                  </a:lnTo>
                  <a:lnTo>
                    <a:pt x="259" y="75"/>
                  </a:lnTo>
                  <a:lnTo>
                    <a:pt x="257" y="76"/>
                  </a:lnTo>
                  <a:lnTo>
                    <a:pt x="257" y="78"/>
                  </a:lnTo>
                  <a:lnTo>
                    <a:pt x="257" y="80"/>
                  </a:lnTo>
                  <a:lnTo>
                    <a:pt x="259" y="82"/>
                  </a:lnTo>
                  <a:lnTo>
                    <a:pt x="259" y="85"/>
                  </a:lnTo>
                  <a:lnTo>
                    <a:pt x="261" y="87"/>
                  </a:lnTo>
                  <a:lnTo>
                    <a:pt x="263" y="88"/>
                  </a:lnTo>
                  <a:lnTo>
                    <a:pt x="268" y="90"/>
                  </a:lnTo>
                  <a:lnTo>
                    <a:pt x="276" y="92"/>
                  </a:lnTo>
                  <a:lnTo>
                    <a:pt x="285" y="95"/>
                  </a:lnTo>
                  <a:lnTo>
                    <a:pt x="295" y="97"/>
                  </a:lnTo>
                  <a:lnTo>
                    <a:pt x="304" y="101"/>
                  </a:lnTo>
                  <a:lnTo>
                    <a:pt x="311" y="104"/>
                  </a:lnTo>
                  <a:lnTo>
                    <a:pt x="314" y="107"/>
                  </a:lnTo>
                  <a:lnTo>
                    <a:pt x="318" y="113"/>
                  </a:lnTo>
                  <a:lnTo>
                    <a:pt x="321" y="119"/>
                  </a:lnTo>
                  <a:lnTo>
                    <a:pt x="323" y="125"/>
                  </a:lnTo>
                  <a:lnTo>
                    <a:pt x="323" y="132"/>
                  </a:lnTo>
                  <a:lnTo>
                    <a:pt x="323" y="140"/>
                  </a:lnTo>
                  <a:lnTo>
                    <a:pt x="320" y="149"/>
                  </a:lnTo>
                  <a:lnTo>
                    <a:pt x="316" y="156"/>
                  </a:lnTo>
                  <a:lnTo>
                    <a:pt x="311" y="161"/>
                  </a:lnTo>
                  <a:lnTo>
                    <a:pt x="304" y="164"/>
                  </a:lnTo>
                  <a:lnTo>
                    <a:pt x="295" y="168"/>
                  </a:lnTo>
                  <a:lnTo>
                    <a:pt x="287" y="170"/>
                  </a:lnTo>
                  <a:lnTo>
                    <a:pt x="278" y="170"/>
                  </a:lnTo>
                  <a:lnTo>
                    <a:pt x="268" y="170"/>
                  </a:lnTo>
                  <a:lnTo>
                    <a:pt x="259" y="168"/>
                  </a:lnTo>
                  <a:lnTo>
                    <a:pt x="252" y="166"/>
                  </a:lnTo>
                  <a:lnTo>
                    <a:pt x="247" y="164"/>
                  </a:lnTo>
                  <a:lnTo>
                    <a:pt x="242" y="159"/>
                  </a:lnTo>
                  <a:lnTo>
                    <a:pt x="237" y="152"/>
                  </a:lnTo>
                  <a:lnTo>
                    <a:pt x="233" y="144"/>
                  </a:lnTo>
                  <a:lnTo>
                    <a:pt x="231" y="135"/>
                  </a:lnTo>
                  <a:close/>
                  <a:moveTo>
                    <a:pt x="337" y="135"/>
                  </a:moveTo>
                  <a:lnTo>
                    <a:pt x="364" y="132"/>
                  </a:lnTo>
                  <a:lnTo>
                    <a:pt x="366" y="140"/>
                  </a:lnTo>
                  <a:lnTo>
                    <a:pt x="370" y="145"/>
                  </a:lnTo>
                  <a:lnTo>
                    <a:pt x="375" y="149"/>
                  </a:lnTo>
                  <a:lnTo>
                    <a:pt x="383" y="151"/>
                  </a:lnTo>
                  <a:lnTo>
                    <a:pt x="389" y="151"/>
                  </a:lnTo>
                  <a:lnTo>
                    <a:pt x="392" y="149"/>
                  </a:lnTo>
                  <a:lnTo>
                    <a:pt x="394" y="149"/>
                  </a:lnTo>
                  <a:lnTo>
                    <a:pt x="397" y="147"/>
                  </a:lnTo>
                  <a:lnTo>
                    <a:pt x="399" y="144"/>
                  </a:lnTo>
                  <a:lnTo>
                    <a:pt x="401" y="142"/>
                  </a:lnTo>
                  <a:lnTo>
                    <a:pt x="402" y="138"/>
                  </a:lnTo>
                  <a:lnTo>
                    <a:pt x="402" y="137"/>
                  </a:lnTo>
                  <a:lnTo>
                    <a:pt x="402" y="135"/>
                  </a:lnTo>
                  <a:lnTo>
                    <a:pt x="402" y="133"/>
                  </a:lnTo>
                  <a:lnTo>
                    <a:pt x="401" y="132"/>
                  </a:lnTo>
                  <a:lnTo>
                    <a:pt x="401" y="130"/>
                  </a:lnTo>
                  <a:lnTo>
                    <a:pt x="399" y="128"/>
                  </a:lnTo>
                  <a:lnTo>
                    <a:pt x="397" y="128"/>
                  </a:lnTo>
                  <a:lnTo>
                    <a:pt x="395" y="128"/>
                  </a:lnTo>
                  <a:lnTo>
                    <a:pt x="392" y="128"/>
                  </a:lnTo>
                  <a:lnTo>
                    <a:pt x="378" y="123"/>
                  </a:lnTo>
                  <a:lnTo>
                    <a:pt x="366" y="118"/>
                  </a:lnTo>
                  <a:lnTo>
                    <a:pt x="356" y="113"/>
                  </a:lnTo>
                  <a:lnTo>
                    <a:pt x="351" y="109"/>
                  </a:lnTo>
                  <a:lnTo>
                    <a:pt x="345" y="104"/>
                  </a:lnTo>
                  <a:lnTo>
                    <a:pt x="344" y="99"/>
                  </a:lnTo>
                  <a:lnTo>
                    <a:pt x="340" y="92"/>
                  </a:lnTo>
                  <a:lnTo>
                    <a:pt x="340" y="83"/>
                  </a:lnTo>
                  <a:lnTo>
                    <a:pt x="340" y="75"/>
                  </a:lnTo>
                  <a:lnTo>
                    <a:pt x="344" y="68"/>
                  </a:lnTo>
                  <a:lnTo>
                    <a:pt x="345" y="63"/>
                  </a:lnTo>
                  <a:lnTo>
                    <a:pt x="351" y="57"/>
                  </a:lnTo>
                  <a:lnTo>
                    <a:pt x="356" y="52"/>
                  </a:lnTo>
                  <a:lnTo>
                    <a:pt x="364" y="49"/>
                  </a:lnTo>
                  <a:lnTo>
                    <a:pt x="371" y="45"/>
                  </a:lnTo>
                  <a:lnTo>
                    <a:pt x="382" y="45"/>
                  </a:lnTo>
                  <a:lnTo>
                    <a:pt x="390" y="45"/>
                  </a:lnTo>
                  <a:lnTo>
                    <a:pt x="399" y="47"/>
                  </a:lnTo>
                  <a:lnTo>
                    <a:pt x="406" y="50"/>
                  </a:lnTo>
                  <a:lnTo>
                    <a:pt x="411" y="54"/>
                  </a:lnTo>
                  <a:lnTo>
                    <a:pt x="416" y="57"/>
                  </a:lnTo>
                  <a:lnTo>
                    <a:pt x="421" y="63"/>
                  </a:lnTo>
                  <a:lnTo>
                    <a:pt x="423" y="69"/>
                  </a:lnTo>
                  <a:lnTo>
                    <a:pt x="427" y="78"/>
                  </a:lnTo>
                  <a:lnTo>
                    <a:pt x="402" y="83"/>
                  </a:lnTo>
                  <a:lnTo>
                    <a:pt x="401" y="76"/>
                  </a:lnTo>
                  <a:lnTo>
                    <a:pt x="395" y="73"/>
                  </a:lnTo>
                  <a:lnTo>
                    <a:pt x="389" y="69"/>
                  </a:lnTo>
                  <a:lnTo>
                    <a:pt x="382" y="68"/>
                  </a:lnTo>
                  <a:lnTo>
                    <a:pt x="378" y="68"/>
                  </a:lnTo>
                  <a:lnTo>
                    <a:pt x="375" y="69"/>
                  </a:lnTo>
                  <a:lnTo>
                    <a:pt x="371" y="69"/>
                  </a:lnTo>
                  <a:lnTo>
                    <a:pt x="368" y="71"/>
                  </a:lnTo>
                  <a:lnTo>
                    <a:pt x="366" y="73"/>
                  </a:lnTo>
                  <a:lnTo>
                    <a:pt x="366" y="75"/>
                  </a:lnTo>
                  <a:lnTo>
                    <a:pt x="364" y="76"/>
                  </a:lnTo>
                  <a:lnTo>
                    <a:pt x="364" y="78"/>
                  </a:lnTo>
                  <a:lnTo>
                    <a:pt x="364" y="80"/>
                  </a:lnTo>
                  <a:lnTo>
                    <a:pt x="366" y="82"/>
                  </a:lnTo>
                  <a:lnTo>
                    <a:pt x="366" y="85"/>
                  </a:lnTo>
                  <a:lnTo>
                    <a:pt x="368" y="87"/>
                  </a:lnTo>
                  <a:lnTo>
                    <a:pt x="370" y="88"/>
                  </a:lnTo>
                  <a:lnTo>
                    <a:pt x="375" y="90"/>
                  </a:lnTo>
                  <a:lnTo>
                    <a:pt x="382" y="92"/>
                  </a:lnTo>
                  <a:lnTo>
                    <a:pt x="390" y="95"/>
                  </a:lnTo>
                  <a:lnTo>
                    <a:pt x="401" y="97"/>
                  </a:lnTo>
                  <a:lnTo>
                    <a:pt x="409" y="101"/>
                  </a:lnTo>
                  <a:lnTo>
                    <a:pt x="416" y="104"/>
                  </a:lnTo>
                  <a:lnTo>
                    <a:pt x="421" y="107"/>
                  </a:lnTo>
                  <a:lnTo>
                    <a:pt x="425" y="113"/>
                  </a:lnTo>
                  <a:lnTo>
                    <a:pt x="428" y="119"/>
                  </a:lnTo>
                  <a:lnTo>
                    <a:pt x="430" y="125"/>
                  </a:lnTo>
                  <a:lnTo>
                    <a:pt x="430" y="132"/>
                  </a:lnTo>
                  <a:lnTo>
                    <a:pt x="428" y="140"/>
                  </a:lnTo>
                  <a:lnTo>
                    <a:pt x="427" y="149"/>
                  </a:lnTo>
                  <a:lnTo>
                    <a:pt x="423" y="156"/>
                  </a:lnTo>
                  <a:lnTo>
                    <a:pt x="418" y="161"/>
                  </a:lnTo>
                  <a:lnTo>
                    <a:pt x="411" y="164"/>
                  </a:lnTo>
                  <a:lnTo>
                    <a:pt x="404" y="168"/>
                  </a:lnTo>
                  <a:lnTo>
                    <a:pt x="394" y="170"/>
                  </a:lnTo>
                  <a:lnTo>
                    <a:pt x="383" y="170"/>
                  </a:lnTo>
                  <a:lnTo>
                    <a:pt x="375" y="170"/>
                  </a:lnTo>
                  <a:lnTo>
                    <a:pt x="366" y="168"/>
                  </a:lnTo>
                  <a:lnTo>
                    <a:pt x="359" y="166"/>
                  </a:lnTo>
                  <a:lnTo>
                    <a:pt x="352" y="164"/>
                  </a:lnTo>
                  <a:lnTo>
                    <a:pt x="347" y="159"/>
                  </a:lnTo>
                  <a:lnTo>
                    <a:pt x="344" y="152"/>
                  </a:lnTo>
                  <a:lnTo>
                    <a:pt x="340" y="144"/>
                  </a:lnTo>
                  <a:lnTo>
                    <a:pt x="337" y="135"/>
                  </a:lnTo>
                  <a:close/>
                  <a:moveTo>
                    <a:pt x="452" y="31"/>
                  </a:moveTo>
                  <a:lnTo>
                    <a:pt x="452" y="2"/>
                  </a:lnTo>
                  <a:lnTo>
                    <a:pt x="478" y="2"/>
                  </a:lnTo>
                  <a:lnTo>
                    <a:pt x="478" y="31"/>
                  </a:lnTo>
                  <a:lnTo>
                    <a:pt x="452" y="31"/>
                  </a:lnTo>
                  <a:close/>
                  <a:moveTo>
                    <a:pt x="452" y="168"/>
                  </a:moveTo>
                  <a:lnTo>
                    <a:pt x="452" y="47"/>
                  </a:lnTo>
                  <a:lnTo>
                    <a:pt x="478" y="47"/>
                  </a:lnTo>
                  <a:lnTo>
                    <a:pt x="478" y="168"/>
                  </a:lnTo>
                  <a:lnTo>
                    <a:pt x="452" y="168"/>
                  </a:lnTo>
                  <a:close/>
                  <a:moveTo>
                    <a:pt x="499" y="107"/>
                  </a:moveTo>
                  <a:lnTo>
                    <a:pt x="499" y="99"/>
                  </a:lnTo>
                  <a:lnTo>
                    <a:pt x="501" y="90"/>
                  </a:lnTo>
                  <a:lnTo>
                    <a:pt x="503" y="83"/>
                  </a:lnTo>
                  <a:lnTo>
                    <a:pt x="506" y="76"/>
                  </a:lnTo>
                  <a:lnTo>
                    <a:pt x="509" y="69"/>
                  </a:lnTo>
                  <a:lnTo>
                    <a:pt x="515" y="63"/>
                  </a:lnTo>
                  <a:lnTo>
                    <a:pt x="520" y="57"/>
                  </a:lnTo>
                  <a:lnTo>
                    <a:pt x="525" y="54"/>
                  </a:lnTo>
                  <a:lnTo>
                    <a:pt x="530" y="50"/>
                  </a:lnTo>
                  <a:lnTo>
                    <a:pt x="537" y="47"/>
                  </a:lnTo>
                  <a:lnTo>
                    <a:pt x="544" y="45"/>
                  </a:lnTo>
                  <a:lnTo>
                    <a:pt x="551" y="45"/>
                  </a:lnTo>
                  <a:lnTo>
                    <a:pt x="561" y="47"/>
                  </a:lnTo>
                  <a:lnTo>
                    <a:pt x="572" y="50"/>
                  </a:lnTo>
                  <a:lnTo>
                    <a:pt x="580" y="56"/>
                  </a:lnTo>
                  <a:lnTo>
                    <a:pt x="589" y="64"/>
                  </a:lnTo>
                  <a:lnTo>
                    <a:pt x="594" y="75"/>
                  </a:lnTo>
                  <a:lnTo>
                    <a:pt x="597" y="85"/>
                  </a:lnTo>
                  <a:lnTo>
                    <a:pt x="601" y="95"/>
                  </a:lnTo>
                  <a:lnTo>
                    <a:pt x="601" y="107"/>
                  </a:lnTo>
                  <a:lnTo>
                    <a:pt x="601" y="118"/>
                  </a:lnTo>
                  <a:lnTo>
                    <a:pt x="599" y="126"/>
                  </a:lnTo>
                  <a:lnTo>
                    <a:pt x="597" y="133"/>
                  </a:lnTo>
                  <a:lnTo>
                    <a:pt x="594" y="142"/>
                  </a:lnTo>
                  <a:lnTo>
                    <a:pt x="591" y="149"/>
                  </a:lnTo>
                  <a:lnTo>
                    <a:pt x="587" y="156"/>
                  </a:lnTo>
                  <a:lnTo>
                    <a:pt x="582" y="161"/>
                  </a:lnTo>
                  <a:lnTo>
                    <a:pt x="575" y="166"/>
                  </a:lnTo>
                  <a:lnTo>
                    <a:pt x="570" y="168"/>
                  </a:lnTo>
                  <a:lnTo>
                    <a:pt x="565" y="168"/>
                  </a:lnTo>
                  <a:lnTo>
                    <a:pt x="558" y="170"/>
                  </a:lnTo>
                  <a:lnTo>
                    <a:pt x="551" y="170"/>
                  </a:lnTo>
                  <a:lnTo>
                    <a:pt x="540" y="170"/>
                  </a:lnTo>
                  <a:lnTo>
                    <a:pt x="530" y="168"/>
                  </a:lnTo>
                  <a:lnTo>
                    <a:pt x="521" y="163"/>
                  </a:lnTo>
                  <a:lnTo>
                    <a:pt x="515" y="156"/>
                  </a:lnTo>
                  <a:lnTo>
                    <a:pt x="508" y="147"/>
                  </a:lnTo>
                  <a:lnTo>
                    <a:pt x="503" y="135"/>
                  </a:lnTo>
                  <a:lnTo>
                    <a:pt x="499" y="123"/>
                  </a:lnTo>
                  <a:lnTo>
                    <a:pt x="499" y="107"/>
                  </a:lnTo>
                  <a:close/>
                  <a:moveTo>
                    <a:pt x="527" y="109"/>
                  </a:moveTo>
                  <a:lnTo>
                    <a:pt x="527" y="118"/>
                  </a:lnTo>
                  <a:lnTo>
                    <a:pt x="528" y="125"/>
                  </a:lnTo>
                  <a:lnTo>
                    <a:pt x="532" y="132"/>
                  </a:lnTo>
                  <a:lnTo>
                    <a:pt x="534" y="137"/>
                  </a:lnTo>
                  <a:lnTo>
                    <a:pt x="537" y="142"/>
                  </a:lnTo>
                  <a:lnTo>
                    <a:pt x="542" y="144"/>
                  </a:lnTo>
                  <a:lnTo>
                    <a:pt x="546" y="147"/>
                  </a:lnTo>
                  <a:lnTo>
                    <a:pt x="551" y="147"/>
                  </a:lnTo>
                  <a:lnTo>
                    <a:pt x="554" y="147"/>
                  </a:lnTo>
                  <a:lnTo>
                    <a:pt x="559" y="144"/>
                  </a:lnTo>
                  <a:lnTo>
                    <a:pt x="563" y="142"/>
                  </a:lnTo>
                  <a:lnTo>
                    <a:pt x="568" y="137"/>
                  </a:lnTo>
                  <a:lnTo>
                    <a:pt x="570" y="132"/>
                  </a:lnTo>
                  <a:lnTo>
                    <a:pt x="572" y="125"/>
                  </a:lnTo>
                  <a:lnTo>
                    <a:pt x="573" y="118"/>
                  </a:lnTo>
                  <a:lnTo>
                    <a:pt x="573" y="109"/>
                  </a:lnTo>
                  <a:lnTo>
                    <a:pt x="573" y="101"/>
                  </a:lnTo>
                  <a:lnTo>
                    <a:pt x="572" y="94"/>
                  </a:lnTo>
                  <a:lnTo>
                    <a:pt x="570" y="87"/>
                  </a:lnTo>
                  <a:lnTo>
                    <a:pt x="568" y="82"/>
                  </a:lnTo>
                  <a:lnTo>
                    <a:pt x="563" y="78"/>
                  </a:lnTo>
                  <a:lnTo>
                    <a:pt x="559" y="75"/>
                  </a:lnTo>
                  <a:lnTo>
                    <a:pt x="554" y="73"/>
                  </a:lnTo>
                  <a:lnTo>
                    <a:pt x="551" y="73"/>
                  </a:lnTo>
                  <a:lnTo>
                    <a:pt x="546" y="73"/>
                  </a:lnTo>
                  <a:lnTo>
                    <a:pt x="542" y="75"/>
                  </a:lnTo>
                  <a:lnTo>
                    <a:pt x="537" y="78"/>
                  </a:lnTo>
                  <a:lnTo>
                    <a:pt x="534" y="80"/>
                  </a:lnTo>
                  <a:lnTo>
                    <a:pt x="532" y="87"/>
                  </a:lnTo>
                  <a:lnTo>
                    <a:pt x="528" y="94"/>
                  </a:lnTo>
                  <a:lnTo>
                    <a:pt x="527" y="101"/>
                  </a:lnTo>
                  <a:lnTo>
                    <a:pt x="527" y="109"/>
                  </a:lnTo>
                  <a:close/>
                  <a:moveTo>
                    <a:pt x="713" y="168"/>
                  </a:moveTo>
                  <a:lnTo>
                    <a:pt x="687" y="168"/>
                  </a:lnTo>
                  <a:lnTo>
                    <a:pt x="687" y="107"/>
                  </a:lnTo>
                  <a:lnTo>
                    <a:pt x="687" y="99"/>
                  </a:lnTo>
                  <a:lnTo>
                    <a:pt x="687" y="92"/>
                  </a:lnTo>
                  <a:lnTo>
                    <a:pt x="685" y="87"/>
                  </a:lnTo>
                  <a:lnTo>
                    <a:pt x="685" y="83"/>
                  </a:lnTo>
                  <a:lnTo>
                    <a:pt x="684" y="80"/>
                  </a:lnTo>
                  <a:lnTo>
                    <a:pt x="684" y="78"/>
                  </a:lnTo>
                  <a:lnTo>
                    <a:pt x="682" y="76"/>
                  </a:lnTo>
                  <a:lnTo>
                    <a:pt x="680" y="75"/>
                  </a:lnTo>
                  <a:lnTo>
                    <a:pt x="679" y="73"/>
                  </a:lnTo>
                  <a:lnTo>
                    <a:pt x="677" y="71"/>
                  </a:lnTo>
                  <a:lnTo>
                    <a:pt x="673" y="69"/>
                  </a:lnTo>
                  <a:lnTo>
                    <a:pt x="672" y="69"/>
                  </a:lnTo>
                  <a:lnTo>
                    <a:pt x="668" y="69"/>
                  </a:lnTo>
                  <a:lnTo>
                    <a:pt x="665" y="71"/>
                  </a:lnTo>
                  <a:lnTo>
                    <a:pt x="663" y="73"/>
                  </a:lnTo>
                  <a:lnTo>
                    <a:pt x="660" y="75"/>
                  </a:lnTo>
                  <a:lnTo>
                    <a:pt x="658" y="76"/>
                  </a:lnTo>
                  <a:lnTo>
                    <a:pt x="654" y="80"/>
                  </a:lnTo>
                  <a:lnTo>
                    <a:pt x="653" y="82"/>
                  </a:lnTo>
                  <a:lnTo>
                    <a:pt x="651" y="87"/>
                  </a:lnTo>
                  <a:lnTo>
                    <a:pt x="651" y="92"/>
                  </a:lnTo>
                  <a:lnTo>
                    <a:pt x="651" y="97"/>
                  </a:lnTo>
                  <a:lnTo>
                    <a:pt x="649" y="106"/>
                  </a:lnTo>
                  <a:lnTo>
                    <a:pt x="649" y="114"/>
                  </a:lnTo>
                  <a:lnTo>
                    <a:pt x="649" y="168"/>
                  </a:lnTo>
                  <a:lnTo>
                    <a:pt x="623" y="168"/>
                  </a:lnTo>
                  <a:lnTo>
                    <a:pt x="623" y="47"/>
                  </a:lnTo>
                  <a:lnTo>
                    <a:pt x="648" y="47"/>
                  </a:lnTo>
                  <a:lnTo>
                    <a:pt x="648" y="66"/>
                  </a:lnTo>
                  <a:lnTo>
                    <a:pt x="651" y="61"/>
                  </a:lnTo>
                  <a:lnTo>
                    <a:pt x="654" y="57"/>
                  </a:lnTo>
                  <a:lnTo>
                    <a:pt x="658" y="54"/>
                  </a:lnTo>
                  <a:lnTo>
                    <a:pt x="661" y="50"/>
                  </a:lnTo>
                  <a:lnTo>
                    <a:pt x="665" y="49"/>
                  </a:lnTo>
                  <a:lnTo>
                    <a:pt x="670" y="47"/>
                  </a:lnTo>
                  <a:lnTo>
                    <a:pt x="675" y="45"/>
                  </a:lnTo>
                  <a:lnTo>
                    <a:pt x="682" y="45"/>
                  </a:lnTo>
                  <a:lnTo>
                    <a:pt x="685" y="45"/>
                  </a:lnTo>
                  <a:lnTo>
                    <a:pt x="691" y="47"/>
                  </a:lnTo>
                  <a:lnTo>
                    <a:pt x="696" y="49"/>
                  </a:lnTo>
                  <a:lnTo>
                    <a:pt x="701" y="52"/>
                  </a:lnTo>
                  <a:lnTo>
                    <a:pt x="704" y="56"/>
                  </a:lnTo>
                  <a:lnTo>
                    <a:pt x="706" y="59"/>
                  </a:lnTo>
                  <a:lnTo>
                    <a:pt x="710" y="63"/>
                  </a:lnTo>
                  <a:lnTo>
                    <a:pt x="711" y="68"/>
                  </a:lnTo>
                  <a:lnTo>
                    <a:pt x="711" y="73"/>
                  </a:lnTo>
                  <a:lnTo>
                    <a:pt x="713" y="78"/>
                  </a:lnTo>
                  <a:lnTo>
                    <a:pt x="713" y="87"/>
                  </a:lnTo>
                  <a:lnTo>
                    <a:pt x="713" y="95"/>
                  </a:lnTo>
                  <a:lnTo>
                    <a:pt x="713" y="168"/>
                  </a:lnTo>
                  <a:close/>
                  <a:moveTo>
                    <a:pt x="794" y="168"/>
                  </a:moveTo>
                  <a:lnTo>
                    <a:pt x="794" y="2"/>
                  </a:lnTo>
                  <a:lnTo>
                    <a:pt x="822" y="2"/>
                  </a:lnTo>
                  <a:lnTo>
                    <a:pt x="822" y="142"/>
                  </a:lnTo>
                  <a:lnTo>
                    <a:pt x="891" y="142"/>
                  </a:lnTo>
                  <a:lnTo>
                    <a:pt x="891" y="168"/>
                  </a:lnTo>
                  <a:lnTo>
                    <a:pt x="794" y="168"/>
                  </a:lnTo>
                  <a:close/>
                  <a:moveTo>
                    <a:pt x="932" y="87"/>
                  </a:moveTo>
                  <a:lnTo>
                    <a:pt x="908" y="80"/>
                  </a:lnTo>
                  <a:lnTo>
                    <a:pt x="910" y="71"/>
                  </a:lnTo>
                  <a:lnTo>
                    <a:pt x="913" y="64"/>
                  </a:lnTo>
                  <a:lnTo>
                    <a:pt x="917" y="57"/>
                  </a:lnTo>
                  <a:lnTo>
                    <a:pt x="922" y="54"/>
                  </a:lnTo>
                  <a:lnTo>
                    <a:pt x="927" y="50"/>
                  </a:lnTo>
                  <a:lnTo>
                    <a:pt x="934" y="47"/>
                  </a:lnTo>
                  <a:lnTo>
                    <a:pt x="941" y="45"/>
                  </a:lnTo>
                  <a:lnTo>
                    <a:pt x="950" y="45"/>
                  </a:lnTo>
                  <a:lnTo>
                    <a:pt x="958" y="45"/>
                  </a:lnTo>
                  <a:lnTo>
                    <a:pt x="965" y="47"/>
                  </a:lnTo>
                  <a:lnTo>
                    <a:pt x="970" y="49"/>
                  </a:lnTo>
                  <a:lnTo>
                    <a:pt x="976" y="50"/>
                  </a:lnTo>
                  <a:lnTo>
                    <a:pt x="981" y="54"/>
                  </a:lnTo>
                  <a:lnTo>
                    <a:pt x="982" y="56"/>
                  </a:lnTo>
                  <a:lnTo>
                    <a:pt x="986" y="59"/>
                  </a:lnTo>
                  <a:lnTo>
                    <a:pt x="988" y="63"/>
                  </a:lnTo>
                  <a:lnTo>
                    <a:pt x="989" y="68"/>
                  </a:lnTo>
                  <a:lnTo>
                    <a:pt x="991" y="75"/>
                  </a:lnTo>
                  <a:lnTo>
                    <a:pt x="993" y="83"/>
                  </a:lnTo>
                  <a:lnTo>
                    <a:pt x="993" y="94"/>
                  </a:lnTo>
                  <a:lnTo>
                    <a:pt x="993" y="130"/>
                  </a:lnTo>
                  <a:lnTo>
                    <a:pt x="993" y="137"/>
                  </a:lnTo>
                  <a:lnTo>
                    <a:pt x="993" y="144"/>
                  </a:lnTo>
                  <a:lnTo>
                    <a:pt x="993" y="149"/>
                  </a:lnTo>
                  <a:lnTo>
                    <a:pt x="993" y="152"/>
                  </a:lnTo>
                  <a:lnTo>
                    <a:pt x="993" y="156"/>
                  </a:lnTo>
                  <a:lnTo>
                    <a:pt x="994" y="161"/>
                  </a:lnTo>
                  <a:lnTo>
                    <a:pt x="996" y="164"/>
                  </a:lnTo>
                  <a:lnTo>
                    <a:pt x="998" y="168"/>
                  </a:lnTo>
                  <a:lnTo>
                    <a:pt x="972" y="168"/>
                  </a:lnTo>
                  <a:lnTo>
                    <a:pt x="967" y="157"/>
                  </a:lnTo>
                  <a:lnTo>
                    <a:pt x="963" y="161"/>
                  </a:lnTo>
                  <a:lnTo>
                    <a:pt x="962" y="164"/>
                  </a:lnTo>
                  <a:lnTo>
                    <a:pt x="958" y="166"/>
                  </a:lnTo>
                  <a:lnTo>
                    <a:pt x="953" y="168"/>
                  </a:lnTo>
                  <a:lnTo>
                    <a:pt x="950" y="168"/>
                  </a:lnTo>
                  <a:lnTo>
                    <a:pt x="946" y="168"/>
                  </a:lnTo>
                  <a:lnTo>
                    <a:pt x="941" y="170"/>
                  </a:lnTo>
                  <a:lnTo>
                    <a:pt x="938" y="170"/>
                  </a:lnTo>
                  <a:lnTo>
                    <a:pt x="931" y="170"/>
                  </a:lnTo>
                  <a:lnTo>
                    <a:pt x="924" y="168"/>
                  </a:lnTo>
                  <a:lnTo>
                    <a:pt x="919" y="166"/>
                  </a:lnTo>
                  <a:lnTo>
                    <a:pt x="913" y="163"/>
                  </a:lnTo>
                  <a:lnTo>
                    <a:pt x="910" y="157"/>
                  </a:lnTo>
                  <a:lnTo>
                    <a:pt x="906" y="152"/>
                  </a:lnTo>
                  <a:lnTo>
                    <a:pt x="905" y="144"/>
                  </a:lnTo>
                  <a:lnTo>
                    <a:pt x="905" y="137"/>
                  </a:lnTo>
                  <a:lnTo>
                    <a:pt x="905" y="132"/>
                  </a:lnTo>
                  <a:lnTo>
                    <a:pt x="906" y="126"/>
                  </a:lnTo>
                  <a:lnTo>
                    <a:pt x="906" y="123"/>
                  </a:lnTo>
                  <a:lnTo>
                    <a:pt x="908" y="118"/>
                  </a:lnTo>
                  <a:lnTo>
                    <a:pt x="910" y="114"/>
                  </a:lnTo>
                  <a:lnTo>
                    <a:pt x="912" y="111"/>
                  </a:lnTo>
                  <a:lnTo>
                    <a:pt x="915" y="109"/>
                  </a:lnTo>
                  <a:lnTo>
                    <a:pt x="919" y="107"/>
                  </a:lnTo>
                  <a:lnTo>
                    <a:pt x="922" y="104"/>
                  </a:lnTo>
                  <a:lnTo>
                    <a:pt x="927" y="102"/>
                  </a:lnTo>
                  <a:lnTo>
                    <a:pt x="934" y="99"/>
                  </a:lnTo>
                  <a:lnTo>
                    <a:pt x="941" y="97"/>
                  </a:lnTo>
                  <a:lnTo>
                    <a:pt x="948" y="95"/>
                  </a:lnTo>
                  <a:lnTo>
                    <a:pt x="955" y="94"/>
                  </a:lnTo>
                  <a:lnTo>
                    <a:pt x="960" y="92"/>
                  </a:lnTo>
                  <a:lnTo>
                    <a:pt x="963" y="90"/>
                  </a:lnTo>
                  <a:lnTo>
                    <a:pt x="963" y="85"/>
                  </a:lnTo>
                  <a:lnTo>
                    <a:pt x="963" y="82"/>
                  </a:lnTo>
                  <a:lnTo>
                    <a:pt x="963" y="78"/>
                  </a:lnTo>
                  <a:lnTo>
                    <a:pt x="963" y="76"/>
                  </a:lnTo>
                  <a:lnTo>
                    <a:pt x="963" y="76"/>
                  </a:lnTo>
                  <a:lnTo>
                    <a:pt x="962" y="75"/>
                  </a:lnTo>
                  <a:lnTo>
                    <a:pt x="962" y="75"/>
                  </a:lnTo>
                  <a:lnTo>
                    <a:pt x="960" y="73"/>
                  </a:lnTo>
                  <a:lnTo>
                    <a:pt x="957" y="71"/>
                  </a:lnTo>
                  <a:lnTo>
                    <a:pt x="955" y="71"/>
                  </a:lnTo>
                  <a:lnTo>
                    <a:pt x="951" y="69"/>
                  </a:lnTo>
                  <a:lnTo>
                    <a:pt x="948" y="69"/>
                  </a:lnTo>
                  <a:lnTo>
                    <a:pt x="946" y="69"/>
                  </a:lnTo>
                  <a:lnTo>
                    <a:pt x="943" y="71"/>
                  </a:lnTo>
                  <a:lnTo>
                    <a:pt x="941" y="73"/>
                  </a:lnTo>
                  <a:lnTo>
                    <a:pt x="939" y="75"/>
                  </a:lnTo>
                  <a:lnTo>
                    <a:pt x="938" y="76"/>
                  </a:lnTo>
                  <a:lnTo>
                    <a:pt x="934" y="78"/>
                  </a:lnTo>
                  <a:lnTo>
                    <a:pt x="932" y="82"/>
                  </a:lnTo>
                  <a:lnTo>
                    <a:pt x="932" y="87"/>
                  </a:lnTo>
                  <a:close/>
                  <a:moveTo>
                    <a:pt x="963" y="113"/>
                  </a:moveTo>
                  <a:lnTo>
                    <a:pt x="962" y="113"/>
                  </a:lnTo>
                  <a:lnTo>
                    <a:pt x="958" y="114"/>
                  </a:lnTo>
                  <a:lnTo>
                    <a:pt x="955" y="116"/>
                  </a:lnTo>
                  <a:lnTo>
                    <a:pt x="950" y="118"/>
                  </a:lnTo>
                  <a:lnTo>
                    <a:pt x="944" y="118"/>
                  </a:lnTo>
                  <a:lnTo>
                    <a:pt x="941" y="119"/>
                  </a:lnTo>
                  <a:lnTo>
                    <a:pt x="938" y="123"/>
                  </a:lnTo>
                  <a:lnTo>
                    <a:pt x="936" y="125"/>
                  </a:lnTo>
                  <a:lnTo>
                    <a:pt x="934" y="126"/>
                  </a:lnTo>
                  <a:lnTo>
                    <a:pt x="932" y="128"/>
                  </a:lnTo>
                  <a:lnTo>
                    <a:pt x="932" y="132"/>
                  </a:lnTo>
                  <a:lnTo>
                    <a:pt x="932" y="133"/>
                  </a:lnTo>
                  <a:lnTo>
                    <a:pt x="932" y="137"/>
                  </a:lnTo>
                  <a:lnTo>
                    <a:pt x="932" y="140"/>
                  </a:lnTo>
                  <a:lnTo>
                    <a:pt x="934" y="142"/>
                  </a:lnTo>
                  <a:lnTo>
                    <a:pt x="936" y="145"/>
                  </a:lnTo>
                  <a:lnTo>
                    <a:pt x="939" y="147"/>
                  </a:lnTo>
                  <a:lnTo>
                    <a:pt x="941" y="149"/>
                  </a:lnTo>
                  <a:lnTo>
                    <a:pt x="944" y="151"/>
                  </a:lnTo>
                  <a:lnTo>
                    <a:pt x="946" y="151"/>
                  </a:lnTo>
                  <a:lnTo>
                    <a:pt x="948" y="151"/>
                  </a:lnTo>
                  <a:lnTo>
                    <a:pt x="950" y="149"/>
                  </a:lnTo>
                  <a:lnTo>
                    <a:pt x="953" y="149"/>
                  </a:lnTo>
                  <a:lnTo>
                    <a:pt x="957" y="147"/>
                  </a:lnTo>
                  <a:lnTo>
                    <a:pt x="958" y="144"/>
                  </a:lnTo>
                  <a:lnTo>
                    <a:pt x="960" y="142"/>
                  </a:lnTo>
                  <a:lnTo>
                    <a:pt x="962" y="138"/>
                  </a:lnTo>
                  <a:lnTo>
                    <a:pt x="963" y="137"/>
                  </a:lnTo>
                  <a:lnTo>
                    <a:pt x="963" y="133"/>
                  </a:lnTo>
                  <a:lnTo>
                    <a:pt x="963" y="130"/>
                  </a:lnTo>
                  <a:lnTo>
                    <a:pt x="963" y="125"/>
                  </a:lnTo>
                  <a:lnTo>
                    <a:pt x="963" y="118"/>
                  </a:lnTo>
                  <a:lnTo>
                    <a:pt x="963" y="113"/>
                  </a:lnTo>
                  <a:close/>
                  <a:moveTo>
                    <a:pt x="1003" y="47"/>
                  </a:moveTo>
                  <a:lnTo>
                    <a:pt x="1032" y="47"/>
                  </a:lnTo>
                  <a:lnTo>
                    <a:pt x="1057" y="135"/>
                  </a:lnTo>
                  <a:lnTo>
                    <a:pt x="1079" y="47"/>
                  </a:lnTo>
                  <a:lnTo>
                    <a:pt x="1107" y="47"/>
                  </a:lnTo>
                  <a:lnTo>
                    <a:pt x="1072" y="166"/>
                  </a:lnTo>
                  <a:lnTo>
                    <a:pt x="1065" y="187"/>
                  </a:lnTo>
                  <a:lnTo>
                    <a:pt x="1064" y="192"/>
                  </a:lnTo>
                  <a:lnTo>
                    <a:pt x="1062" y="197"/>
                  </a:lnTo>
                  <a:lnTo>
                    <a:pt x="1058" y="202"/>
                  </a:lnTo>
                  <a:lnTo>
                    <a:pt x="1057" y="206"/>
                  </a:lnTo>
                  <a:lnTo>
                    <a:pt x="1055" y="207"/>
                  </a:lnTo>
                  <a:lnTo>
                    <a:pt x="1051" y="209"/>
                  </a:lnTo>
                  <a:lnTo>
                    <a:pt x="1050" y="211"/>
                  </a:lnTo>
                  <a:lnTo>
                    <a:pt x="1045" y="213"/>
                  </a:lnTo>
                  <a:lnTo>
                    <a:pt x="1041" y="214"/>
                  </a:lnTo>
                  <a:lnTo>
                    <a:pt x="1038" y="216"/>
                  </a:lnTo>
                  <a:lnTo>
                    <a:pt x="1034" y="218"/>
                  </a:lnTo>
                  <a:lnTo>
                    <a:pt x="1029" y="218"/>
                  </a:lnTo>
                  <a:lnTo>
                    <a:pt x="1024" y="218"/>
                  </a:lnTo>
                  <a:lnTo>
                    <a:pt x="1020" y="216"/>
                  </a:lnTo>
                  <a:lnTo>
                    <a:pt x="1017" y="216"/>
                  </a:lnTo>
                  <a:lnTo>
                    <a:pt x="1013" y="214"/>
                  </a:lnTo>
                  <a:lnTo>
                    <a:pt x="1012" y="189"/>
                  </a:lnTo>
                  <a:lnTo>
                    <a:pt x="1015" y="189"/>
                  </a:lnTo>
                  <a:lnTo>
                    <a:pt x="1017" y="189"/>
                  </a:lnTo>
                  <a:lnTo>
                    <a:pt x="1020" y="189"/>
                  </a:lnTo>
                  <a:lnTo>
                    <a:pt x="1022" y="189"/>
                  </a:lnTo>
                  <a:lnTo>
                    <a:pt x="1026" y="189"/>
                  </a:lnTo>
                  <a:lnTo>
                    <a:pt x="1029" y="189"/>
                  </a:lnTo>
                  <a:lnTo>
                    <a:pt x="1032" y="189"/>
                  </a:lnTo>
                  <a:lnTo>
                    <a:pt x="1034" y="187"/>
                  </a:lnTo>
                  <a:lnTo>
                    <a:pt x="1038" y="183"/>
                  </a:lnTo>
                  <a:lnTo>
                    <a:pt x="1039" y="180"/>
                  </a:lnTo>
                  <a:lnTo>
                    <a:pt x="1041" y="175"/>
                  </a:lnTo>
                  <a:lnTo>
                    <a:pt x="1043" y="168"/>
                  </a:lnTo>
                  <a:lnTo>
                    <a:pt x="1003" y="47"/>
                  </a:lnTo>
                  <a:close/>
                  <a:moveTo>
                    <a:pt x="1183" y="132"/>
                  </a:moveTo>
                  <a:lnTo>
                    <a:pt x="1209" y="137"/>
                  </a:lnTo>
                  <a:lnTo>
                    <a:pt x="1205" y="145"/>
                  </a:lnTo>
                  <a:lnTo>
                    <a:pt x="1202" y="152"/>
                  </a:lnTo>
                  <a:lnTo>
                    <a:pt x="1198" y="159"/>
                  </a:lnTo>
                  <a:lnTo>
                    <a:pt x="1193" y="164"/>
                  </a:lnTo>
                  <a:lnTo>
                    <a:pt x="1186" y="166"/>
                  </a:lnTo>
                  <a:lnTo>
                    <a:pt x="1179" y="168"/>
                  </a:lnTo>
                  <a:lnTo>
                    <a:pt x="1172" y="170"/>
                  </a:lnTo>
                  <a:lnTo>
                    <a:pt x="1165" y="170"/>
                  </a:lnTo>
                  <a:lnTo>
                    <a:pt x="1155" y="170"/>
                  </a:lnTo>
                  <a:lnTo>
                    <a:pt x="1146" y="168"/>
                  </a:lnTo>
                  <a:lnTo>
                    <a:pt x="1139" y="164"/>
                  </a:lnTo>
                  <a:lnTo>
                    <a:pt x="1133" y="157"/>
                  </a:lnTo>
                  <a:lnTo>
                    <a:pt x="1126" y="149"/>
                  </a:lnTo>
                  <a:lnTo>
                    <a:pt x="1121" y="137"/>
                  </a:lnTo>
                  <a:lnTo>
                    <a:pt x="1117" y="125"/>
                  </a:lnTo>
                  <a:lnTo>
                    <a:pt x="1115" y="109"/>
                  </a:lnTo>
                  <a:lnTo>
                    <a:pt x="1117" y="95"/>
                  </a:lnTo>
                  <a:lnTo>
                    <a:pt x="1121" y="82"/>
                  </a:lnTo>
                  <a:lnTo>
                    <a:pt x="1126" y="71"/>
                  </a:lnTo>
                  <a:lnTo>
                    <a:pt x="1133" y="61"/>
                  </a:lnTo>
                  <a:lnTo>
                    <a:pt x="1138" y="54"/>
                  </a:lnTo>
                  <a:lnTo>
                    <a:pt x="1145" y="49"/>
                  </a:lnTo>
                  <a:lnTo>
                    <a:pt x="1153" y="47"/>
                  </a:lnTo>
                  <a:lnTo>
                    <a:pt x="1162" y="45"/>
                  </a:lnTo>
                  <a:lnTo>
                    <a:pt x="1172" y="47"/>
                  </a:lnTo>
                  <a:lnTo>
                    <a:pt x="1181" y="49"/>
                  </a:lnTo>
                  <a:lnTo>
                    <a:pt x="1190" y="54"/>
                  </a:lnTo>
                  <a:lnTo>
                    <a:pt x="1195" y="61"/>
                  </a:lnTo>
                  <a:lnTo>
                    <a:pt x="1202" y="71"/>
                  </a:lnTo>
                  <a:lnTo>
                    <a:pt x="1207" y="83"/>
                  </a:lnTo>
                  <a:lnTo>
                    <a:pt x="1209" y="97"/>
                  </a:lnTo>
                  <a:lnTo>
                    <a:pt x="1210" y="114"/>
                  </a:lnTo>
                  <a:lnTo>
                    <a:pt x="1210" y="118"/>
                  </a:lnTo>
                  <a:lnTo>
                    <a:pt x="1143" y="118"/>
                  </a:lnTo>
                  <a:lnTo>
                    <a:pt x="1143" y="125"/>
                  </a:lnTo>
                  <a:lnTo>
                    <a:pt x="1145" y="132"/>
                  </a:lnTo>
                  <a:lnTo>
                    <a:pt x="1148" y="137"/>
                  </a:lnTo>
                  <a:lnTo>
                    <a:pt x="1152" y="140"/>
                  </a:lnTo>
                  <a:lnTo>
                    <a:pt x="1153" y="144"/>
                  </a:lnTo>
                  <a:lnTo>
                    <a:pt x="1157" y="145"/>
                  </a:lnTo>
                  <a:lnTo>
                    <a:pt x="1162" y="147"/>
                  </a:lnTo>
                  <a:lnTo>
                    <a:pt x="1165" y="147"/>
                  </a:lnTo>
                  <a:lnTo>
                    <a:pt x="1171" y="145"/>
                  </a:lnTo>
                  <a:lnTo>
                    <a:pt x="1176" y="144"/>
                  </a:lnTo>
                  <a:lnTo>
                    <a:pt x="1181" y="138"/>
                  </a:lnTo>
                  <a:lnTo>
                    <a:pt x="1183" y="132"/>
                  </a:lnTo>
                  <a:close/>
                  <a:moveTo>
                    <a:pt x="1183" y="97"/>
                  </a:moveTo>
                  <a:lnTo>
                    <a:pt x="1183" y="90"/>
                  </a:lnTo>
                  <a:lnTo>
                    <a:pt x="1183" y="85"/>
                  </a:lnTo>
                  <a:lnTo>
                    <a:pt x="1181" y="80"/>
                  </a:lnTo>
                  <a:lnTo>
                    <a:pt x="1177" y="76"/>
                  </a:lnTo>
                  <a:lnTo>
                    <a:pt x="1174" y="75"/>
                  </a:lnTo>
                  <a:lnTo>
                    <a:pt x="1171" y="71"/>
                  </a:lnTo>
                  <a:lnTo>
                    <a:pt x="1169" y="69"/>
                  </a:lnTo>
                  <a:lnTo>
                    <a:pt x="1164" y="69"/>
                  </a:lnTo>
                  <a:lnTo>
                    <a:pt x="1160" y="69"/>
                  </a:lnTo>
                  <a:lnTo>
                    <a:pt x="1155" y="71"/>
                  </a:lnTo>
                  <a:lnTo>
                    <a:pt x="1153" y="75"/>
                  </a:lnTo>
                  <a:lnTo>
                    <a:pt x="1152" y="78"/>
                  </a:lnTo>
                  <a:lnTo>
                    <a:pt x="1148" y="82"/>
                  </a:lnTo>
                  <a:lnTo>
                    <a:pt x="1146" y="85"/>
                  </a:lnTo>
                  <a:lnTo>
                    <a:pt x="1145" y="90"/>
                  </a:lnTo>
                  <a:lnTo>
                    <a:pt x="1145" y="97"/>
                  </a:lnTo>
                  <a:lnTo>
                    <a:pt x="1183" y="97"/>
                  </a:lnTo>
                  <a:close/>
                  <a:moveTo>
                    <a:pt x="1257" y="168"/>
                  </a:moveTo>
                  <a:lnTo>
                    <a:pt x="1231" y="168"/>
                  </a:lnTo>
                  <a:lnTo>
                    <a:pt x="1231" y="47"/>
                  </a:lnTo>
                  <a:lnTo>
                    <a:pt x="1255" y="47"/>
                  </a:lnTo>
                  <a:lnTo>
                    <a:pt x="1255" y="66"/>
                  </a:lnTo>
                  <a:lnTo>
                    <a:pt x="1259" y="61"/>
                  </a:lnTo>
                  <a:lnTo>
                    <a:pt x="1260" y="56"/>
                  </a:lnTo>
                  <a:lnTo>
                    <a:pt x="1264" y="52"/>
                  </a:lnTo>
                  <a:lnTo>
                    <a:pt x="1266" y="49"/>
                  </a:lnTo>
                  <a:lnTo>
                    <a:pt x="1269" y="47"/>
                  </a:lnTo>
                  <a:lnTo>
                    <a:pt x="1271" y="47"/>
                  </a:lnTo>
                  <a:lnTo>
                    <a:pt x="1274" y="45"/>
                  </a:lnTo>
                  <a:lnTo>
                    <a:pt x="1278" y="45"/>
                  </a:lnTo>
                  <a:lnTo>
                    <a:pt x="1281" y="45"/>
                  </a:lnTo>
                  <a:lnTo>
                    <a:pt x="1286" y="47"/>
                  </a:lnTo>
                  <a:lnTo>
                    <a:pt x="1291" y="49"/>
                  </a:lnTo>
                  <a:lnTo>
                    <a:pt x="1295" y="52"/>
                  </a:lnTo>
                  <a:lnTo>
                    <a:pt x="1286" y="80"/>
                  </a:lnTo>
                  <a:lnTo>
                    <a:pt x="1283" y="78"/>
                  </a:lnTo>
                  <a:lnTo>
                    <a:pt x="1281" y="78"/>
                  </a:lnTo>
                  <a:lnTo>
                    <a:pt x="1278" y="76"/>
                  </a:lnTo>
                  <a:lnTo>
                    <a:pt x="1274" y="76"/>
                  </a:lnTo>
                  <a:lnTo>
                    <a:pt x="1272" y="76"/>
                  </a:lnTo>
                  <a:lnTo>
                    <a:pt x="1269" y="76"/>
                  </a:lnTo>
                  <a:lnTo>
                    <a:pt x="1267" y="76"/>
                  </a:lnTo>
                  <a:lnTo>
                    <a:pt x="1264" y="78"/>
                  </a:lnTo>
                  <a:lnTo>
                    <a:pt x="1262" y="82"/>
                  </a:lnTo>
                  <a:lnTo>
                    <a:pt x="1262" y="85"/>
                  </a:lnTo>
                  <a:lnTo>
                    <a:pt x="1260" y="90"/>
                  </a:lnTo>
                  <a:lnTo>
                    <a:pt x="1259" y="95"/>
                  </a:lnTo>
                  <a:lnTo>
                    <a:pt x="1259" y="101"/>
                  </a:lnTo>
                  <a:lnTo>
                    <a:pt x="1259" y="109"/>
                  </a:lnTo>
                  <a:lnTo>
                    <a:pt x="1257" y="119"/>
                  </a:lnTo>
                  <a:lnTo>
                    <a:pt x="1257" y="132"/>
                  </a:lnTo>
                  <a:lnTo>
                    <a:pt x="1257" y="16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1" name="Freeform 1789"/>
            <p:cNvSpPr>
              <a:spLocks noEditPoints="1"/>
            </p:cNvSpPr>
            <p:nvPr/>
          </p:nvSpPr>
          <p:spPr bwMode="auto">
            <a:xfrm>
              <a:off x="3045" y="1099"/>
              <a:ext cx="806" cy="108"/>
            </a:xfrm>
            <a:custGeom>
              <a:avLst/>
              <a:gdLst>
                <a:gd name="T0" fmla="*/ 88 w 1612"/>
                <a:gd name="T1" fmla="*/ 101 h 215"/>
                <a:gd name="T2" fmla="*/ 224 w 1612"/>
                <a:gd name="T3" fmla="*/ 48 h 215"/>
                <a:gd name="T4" fmla="*/ 215 w 1612"/>
                <a:gd name="T5" fmla="*/ 169 h 215"/>
                <a:gd name="T6" fmla="*/ 179 w 1612"/>
                <a:gd name="T7" fmla="*/ 105 h 215"/>
                <a:gd name="T8" fmla="*/ 217 w 1612"/>
                <a:gd name="T9" fmla="*/ 129 h 215"/>
                <a:gd name="T10" fmla="*/ 191 w 1612"/>
                <a:gd name="T11" fmla="*/ 70 h 215"/>
                <a:gd name="T12" fmla="*/ 307 w 1612"/>
                <a:gd name="T13" fmla="*/ 50 h 215"/>
                <a:gd name="T14" fmla="*/ 365 w 1612"/>
                <a:gd name="T15" fmla="*/ 120 h 215"/>
                <a:gd name="T16" fmla="*/ 303 w 1612"/>
                <a:gd name="T17" fmla="*/ 162 h 215"/>
                <a:gd name="T18" fmla="*/ 314 w 1612"/>
                <a:gd name="T19" fmla="*/ 145 h 215"/>
                <a:gd name="T20" fmla="*/ 333 w 1612"/>
                <a:gd name="T21" fmla="*/ 77 h 215"/>
                <a:gd name="T22" fmla="*/ 388 w 1612"/>
                <a:gd name="T23" fmla="*/ 167 h 215"/>
                <a:gd name="T24" fmla="*/ 467 w 1612"/>
                <a:gd name="T25" fmla="*/ 167 h 215"/>
                <a:gd name="T26" fmla="*/ 516 w 1612"/>
                <a:gd name="T27" fmla="*/ 88 h 215"/>
                <a:gd name="T28" fmla="*/ 545 w 1612"/>
                <a:gd name="T29" fmla="*/ 141 h 215"/>
                <a:gd name="T30" fmla="*/ 505 w 1612"/>
                <a:gd name="T31" fmla="*/ 160 h 215"/>
                <a:gd name="T32" fmla="*/ 535 w 1612"/>
                <a:gd name="T33" fmla="*/ 43 h 215"/>
                <a:gd name="T34" fmla="*/ 604 w 1612"/>
                <a:gd name="T35" fmla="*/ 57 h 215"/>
                <a:gd name="T36" fmla="*/ 676 w 1612"/>
                <a:gd name="T37" fmla="*/ 60 h 215"/>
                <a:gd name="T38" fmla="*/ 687 w 1612"/>
                <a:gd name="T39" fmla="*/ 167 h 215"/>
                <a:gd name="T40" fmla="*/ 607 w 1612"/>
                <a:gd name="T41" fmla="*/ 164 h 215"/>
                <a:gd name="T42" fmla="*/ 607 w 1612"/>
                <a:gd name="T43" fmla="*/ 105 h 215"/>
                <a:gd name="T44" fmla="*/ 652 w 1612"/>
                <a:gd name="T45" fmla="*/ 74 h 215"/>
                <a:gd name="T46" fmla="*/ 623 w 1612"/>
                <a:gd name="T47" fmla="*/ 76 h 215"/>
                <a:gd name="T48" fmla="*/ 621 w 1612"/>
                <a:gd name="T49" fmla="*/ 127 h 215"/>
                <a:gd name="T50" fmla="*/ 642 w 1612"/>
                <a:gd name="T51" fmla="*/ 146 h 215"/>
                <a:gd name="T52" fmla="*/ 733 w 1612"/>
                <a:gd name="T53" fmla="*/ 72 h 215"/>
                <a:gd name="T54" fmla="*/ 752 w 1612"/>
                <a:gd name="T55" fmla="*/ 141 h 215"/>
                <a:gd name="T56" fmla="*/ 709 w 1612"/>
                <a:gd name="T57" fmla="*/ 151 h 215"/>
                <a:gd name="T58" fmla="*/ 769 w 1612"/>
                <a:gd name="T59" fmla="*/ 29 h 215"/>
                <a:gd name="T60" fmla="*/ 821 w 1612"/>
                <a:gd name="T61" fmla="*/ 81 h 215"/>
                <a:gd name="T62" fmla="*/ 906 w 1612"/>
                <a:gd name="T63" fmla="*/ 62 h 215"/>
                <a:gd name="T64" fmla="*/ 889 w 1612"/>
                <a:gd name="T65" fmla="*/ 165 h 215"/>
                <a:gd name="T66" fmla="*/ 844 w 1612"/>
                <a:gd name="T67" fmla="*/ 117 h 215"/>
                <a:gd name="T68" fmla="*/ 890 w 1612"/>
                <a:gd name="T69" fmla="*/ 124 h 215"/>
                <a:gd name="T70" fmla="*/ 856 w 1612"/>
                <a:gd name="T71" fmla="*/ 76 h 215"/>
                <a:gd name="T72" fmla="*/ 1002 w 1612"/>
                <a:gd name="T73" fmla="*/ 79 h 215"/>
                <a:gd name="T74" fmla="*/ 973 w 1612"/>
                <a:gd name="T75" fmla="*/ 77 h 215"/>
                <a:gd name="T76" fmla="*/ 971 w 1612"/>
                <a:gd name="T77" fmla="*/ 55 h 215"/>
                <a:gd name="T78" fmla="*/ 1027 w 1612"/>
                <a:gd name="T79" fmla="*/ 60 h 215"/>
                <a:gd name="T80" fmla="*/ 1111 w 1612"/>
                <a:gd name="T81" fmla="*/ 167 h 215"/>
                <a:gd name="T82" fmla="*/ 1289 w 1612"/>
                <a:gd name="T83" fmla="*/ 46 h 215"/>
                <a:gd name="T84" fmla="*/ 1310 w 1612"/>
                <a:gd name="T85" fmla="*/ 148 h 215"/>
                <a:gd name="T86" fmla="*/ 1263 w 1612"/>
                <a:gd name="T87" fmla="*/ 167 h 215"/>
                <a:gd name="T88" fmla="*/ 1225 w 1612"/>
                <a:gd name="T89" fmla="*/ 120 h 215"/>
                <a:gd name="T90" fmla="*/ 1282 w 1612"/>
                <a:gd name="T91" fmla="*/ 89 h 215"/>
                <a:gd name="T92" fmla="*/ 1263 w 1612"/>
                <a:gd name="T93" fmla="*/ 69 h 215"/>
                <a:gd name="T94" fmla="*/ 1263 w 1612"/>
                <a:gd name="T95" fmla="*/ 117 h 215"/>
                <a:gd name="T96" fmla="*/ 1258 w 1612"/>
                <a:gd name="T97" fmla="*/ 148 h 215"/>
                <a:gd name="T98" fmla="*/ 1282 w 1612"/>
                <a:gd name="T99" fmla="*/ 122 h 215"/>
                <a:gd name="T100" fmla="*/ 1374 w 1612"/>
                <a:gd name="T101" fmla="*/ 203 h 215"/>
                <a:gd name="T102" fmla="*/ 1329 w 1612"/>
                <a:gd name="T103" fmla="*/ 186 h 215"/>
                <a:gd name="T104" fmla="*/ 1322 w 1612"/>
                <a:gd name="T105" fmla="*/ 46 h 215"/>
                <a:gd name="T106" fmla="*/ 1457 w 1612"/>
                <a:gd name="T107" fmla="*/ 164 h 215"/>
                <a:gd name="T108" fmla="*/ 1481 w 1612"/>
                <a:gd name="T109" fmla="*/ 43 h 215"/>
                <a:gd name="T110" fmla="*/ 1465 w 1612"/>
                <a:gd name="T111" fmla="*/ 134 h 215"/>
                <a:gd name="T112" fmla="*/ 1498 w 1612"/>
                <a:gd name="T113" fmla="*/ 79 h 215"/>
                <a:gd name="T114" fmla="*/ 1462 w 1612"/>
                <a:gd name="T115" fmla="*/ 95 h 215"/>
                <a:gd name="T116" fmla="*/ 1593 w 1612"/>
                <a:gd name="T117" fmla="*/ 43 h 215"/>
                <a:gd name="T118" fmla="*/ 1584 w 1612"/>
                <a:gd name="T119" fmla="*/ 76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612" h="215">
                  <a:moveTo>
                    <a:pt x="138" y="167"/>
                  </a:moveTo>
                  <a:lnTo>
                    <a:pt x="108" y="167"/>
                  </a:lnTo>
                  <a:lnTo>
                    <a:pt x="96" y="129"/>
                  </a:lnTo>
                  <a:lnTo>
                    <a:pt x="39" y="129"/>
                  </a:lnTo>
                  <a:lnTo>
                    <a:pt x="29" y="167"/>
                  </a:lnTo>
                  <a:lnTo>
                    <a:pt x="0" y="167"/>
                  </a:lnTo>
                  <a:lnTo>
                    <a:pt x="53" y="0"/>
                  </a:lnTo>
                  <a:lnTo>
                    <a:pt x="82" y="0"/>
                  </a:lnTo>
                  <a:lnTo>
                    <a:pt x="138" y="167"/>
                  </a:lnTo>
                  <a:close/>
                  <a:moveTo>
                    <a:pt x="88" y="101"/>
                  </a:moveTo>
                  <a:lnTo>
                    <a:pt x="69" y="39"/>
                  </a:lnTo>
                  <a:lnTo>
                    <a:pt x="48" y="101"/>
                  </a:lnTo>
                  <a:lnTo>
                    <a:pt x="88" y="101"/>
                  </a:lnTo>
                  <a:close/>
                  <a:moveTo>
                    <a:pt x="151" y="46"/>
                  </a:moveTo>
                  <a:lnTo>
                    <a:pt x="177" y="46"/>
                  </a:lnTo>
                  <a:lnTo>
                    <a:pt x="177" y="63"/>
                  </a:lnTo>
                  <a:lnTo>
                    <a:pt x="179" y="60"/>
                  </a:lnTo>
                  <a:lnTo>
                    <a:pt x="183" y="57"/>
                  </a:lnTo>
                  <a:lnTo>
                    <a:pt x="186" y="53"/>
                  </a:lnTo>
                  <a:lnTo>
                    <a:pt x="189" y="50"/>
                  </a:lnTo>
                  <a:lnTo>
                    <a:pt x="193" y="46"/>
                  </a:lnTo>
                  <a:lnTo>
                    <a:pt x="198" y="44"/>
                  </a:lnTo>
                  <a:lnTo>
                    <a:pt x="203" y="43"/>
                  </a:lnTo>
                  <a:lnTo>
                    <a:pt x="207" y="43"/>
                  </a:lnTo>
                  <a:lnTo>
                    <a:pt x="215" y="44"/>
                  </a:lnTo>
                  <a:lnTo>
                    <a:pt x="224" y="48"/>
                  </a:lnTo>
                  <a:lnTo>
                    <a:pt x="231" y="53"/>
                  </a:lnTo>
                  <a:lnTo>
                    <a:pt x="238" y="60"/>
                  </a:lnTo>
                  <a:lnTo>
                    <a:pt x="243" y="69"/>
                  </a:lnTo>
                  <a:lnTo>
                    <a:pt x="246" y="79"/>
                  </a:lnTo>
                  <a:lnTo>
                    <a:pt x="248" y="93"/>
                  </a:lnTo>
                  <a:lnTo>
                    <a:pt x="248" y="107"/>
                  </a:lnTo>
                  <a:lnTo>
                    <a:pt x="248" y="120"/>
                  </a:lnTo>
                  <a:lnTo>
                    <a:pt x="246" y="134"/>
                  </a:lnTo>
                  <a:lnTo>
                    <a:pt x="243" y="145"/>
                  </a:lnTo>
                  <a:lnTo>
                    <a:pt x="238" y="153"/>
                  </a:lnTo>
                  <a:lnTo>
                    <a:pt x="231" y="160"/>
                  </a:lnTo>
                  <a:lnTo>
                    <a:pt x="224" y="165"/>
                  </a:lnTo>
                  <a:lnTo>
                    <a:pt x="215" y="169"/>
                  </a:lnTo>
                  <a:lnTo>
                    <a:pt x="207" y="169"/>
                  </a:lnTo>
                  <a:lnTo>
                    <a:pt x="203" y="169"/>
                  </a:lnTo>
                  <a:lnTo>
                    <a:pt x="200" y="167"/>
                  </a:lnTo>
                  <a:lnTo>
                    <a:pt x="196" y="167"/>
                  </a:lnTo>
                  <a:lnTo>
                    <a:pt x="193" y="167"/>
                  </a:lnTo>
                  <a:lnTo>
                    <a:pt x="189" y="165"/>
                  </a:lnTo>
                  <a:lnTo>
                    <a:pt x="186" y="162"/>
                  </a:lnTo>
                  <a:lnTo>
                    <a:pt x="183" y="157"/>
                  </a:lnTo>
                  <a:lnTo>
                    <a:pt x="179" y="151"/>
                  </a:lnTo>
                  <a:lnTo>
                    <a:pt x="179" y="212"/>
                  </a:lnTo>
                  <a:lnTo>
                    <a:pt x="151" y="212"/>
                  </a:lnTo>
                  <a:lnTo>
                    <a:pt x="151" y="46"/>
                  </a:lnTo>
                  <a:close/>
                  <a:moveTo>
                    <a:pt x="179" y="105"/>
                  </a:moveTo>
                  <a:lnTo>
                    <a:pt x="179" y="115"/>
                  </a:lnTo>
                  <a:lnTo>
                    <a:pt x="181" y="122"/>
                  </a:lnTo>
                  <a:lnTo>
                    <a:pt x="183" y="129"/>
                  </a:lnTo>
                  <a:lnTo>
                    <a:pt x="186" y="134"/>
                  </a:lnTo>
                  <a:lnTo>
                    <a:pt x="189" y="139"/>
                  </a:lnTo>
                  <a:lnTo>
                    <a:pt x="193" y="141"/>
                  </a:lnTo>
                  <a:lnTo>
                    <a:pt x="196" y="145"/>
                  </a:lnTo>
                  <a:lnTo>
                    <a:pt x="200" y="145"/>
                  </a:lnTo>
                  <a:lnTo>
                    <a:pt x="205" y="145"/>
                  </a:lnTo>
                  <a:lnTo>
                    <a:pt x="208" y="141"/>
                  </a:lnTo>
                  <a:lnTo>
                    <a:pt x="212" y="139"/>
                  </a:lnTo>
                  <a:lnTo>
                    <a:pt x="215" y="134"/>
                  </a:lnTo>
                  <a:lnTo>
                    <a:pt x="217" y="129"/>
                  </a:lnTo>
                  <a:lnTo>
                    <a:pt x="220" y="124"/>
                  </a:lnTo>
                  <a:lnTo>
                    <a:pt x="222" y="115"/>
                  </a:lnTo>
                  <a:lnTo>
                    <a:pt x="222" y="107"/>
                  </a:lnTo>
                  <a:lnTo>
                    <a:pt x="222" y="98"/>
                  </a:lnTo>
                  <a:lnTo>
                    <a:pt x="220" y="89"/>
                  </a:lnTo>
                  <a:lnTo>
                    <a:pt x="217" y="82"/>
                  </a:lnTo>
                  <a:lnTo>
                    <a:pt x="215" y="77"/>
                  </a:lnTo>
                  <a:lnTo>
                    <a:pt x="212" y="74"/>
                  </a:lnTo>
                  <a:lnTo>
                    <a:pt x="208" y="70"/>
                  </a:lnTo>
                  <a:lnTo>
                    <a:pt x="203" y="69"/>
                  </a:lnTo>
                  <a:lnTo>
                    <a:pt x="200" y="69"/>
                  </a:lnTo>
                  <a:lnTo>
                    <a:pt x="195" y="69"/>
                  </a:lnTo>
                  <a:lnTo>
                    <a:pt x="191" y="70"/>
                  </a:lnTo>
                  <a:lnTo>
                    <a:pt x="188" y="74"/>
                  </a:lnTo>
                  <a:lnTo>
                    <a:pt x="184" y="77"/>
                  </a:lnTo>
                  <a:lnTo>
                    <a:pt x="181" y="82"/>
                  </a:lnTo>
                  <a:lnTo>
                    <a:pt x="179" y="88"/>
                  </a:lnTo>
                  <a:lnTo>
                    <a:pt x="179" y="96"/>
                  </a:lnTo>
                  <a:lnTo>
                    <a:pt x="179" y="105"/>
                  </a:lnTo>
                  <a:close/>
                  <a:moveTo>
                    <a:pt x="269" y="46"/>
                  </a:moveTo>
                  <a:lnTo>
                    <a:pt x="295" y="46"/>
                  </a:lnTo>
                  <a:lnTo>
                    <a:pt x="295" y="63"/>
                  </a:lnTo>
                  <a:lnTo>
                    <a:pt x="296" y="60"/>
                  </a:lnTo>
                  <a:lnTo>
                    <a:pt x="300" y="57"/>
                  </a:lnTo>
                  <a:lnTo>
                    <a:pt x="303" y="53"/>
                  </a:lnTo>
                  <a:lnTo>
                    <a:pt x="307" y="50"/>
                  </a:lnTo>
                  <a:lnTo>
                    <a:pt x="310" y="46"/>
                  </a:lnTo>
                  <a:lnTo>
                    <a:pt x="315" y="44"/>
                  </a:lnTo>
                  <a:lnTo>
                    <a:pt x="321" y="43"/>
                  </a:lnTo>
                  <a:lnTo>
                    <a:pt x="324" y="43"/>
                  </a:lnTo>
                  <a:lnTo>
                    <a:pt x="333" y="44"/>
                  </a:lnTo>
                  <a:lnTo>
                    <a:pt x="341" y="48"/>
                  </a:lnTo>
                  <a:lnTo>
                    <a:pt x="348" y="53"/>
                  </a:lnTo>
                  <a:lnTo>
                    <a:pt x="355" y="60"/>
                  </a:lnTo>
                  <a:lnTo>
                    <a:pt x="360" y="69"/>
                  </a:lnTo>
                  <a:lnTo>
                    <a:pt x="364" y="79"/>
                  </a:lnTo>
                  <a:lnTo>
                    <a:pt x="365" y="93"/>
                  </a:lnTo>
                  <a:lnTo>
                    <a:pt x="367" y="107"/>
                  </a:lnTo>
                  <a:lnTo>
                    <a:pt x="365" y="120"/>
                  </a:lnTo>
                  <a:lnTo>
                    <a:pt x="364" y="134"/>
                  </a:lnTo>
                  <a:lnTo>
                    <a:pt x="360" y="145"/>
                  </a:lnTo>
                  <a:lnTo>
                    <a:pt x="355" y="153"/>
                  </a:lnTo>
                  <a:lnTo>
                    <a:pt x="348" y="160"/>
                  </a:lnTo>
                  <a:lnTo>
                    <a:pt x="341" y="165"/>
                  </a:lnTo>
                  <a:lnTo>
                    <a:pt x="333" y="169"/>
                  </a:lnTo>
                  <a:lnTo>
                    <a:pt x="324" y="169"/>
                  </a:lnTo>
                  <a:lnTo>
                    <a:pt x="321" y="169"/>
                  </a:lnTo>
                  <a:lnTo>
                    <a:pt x="317" y="167"/>
                  </a:lnTo>
                  <a:lnTo>
                    <a:pt x="314" y="167"/>
                  </a:lnTo>
                  <a:lnTo>
                    <a:pt x="310" y="167"/>
                  </a:lnTo>
                  <a:lnTo>
                    <a:pt x="307" y="165"/>
                  </a:lnTo>
                  <a:lnTo>
                    <a:pt x="303" y="162"/>
                  </a:lnTo>
                  <a:lnTo>
                    <a:pt x="300" y="157"/>
                  </a:lnTo>
                  <a:lnTo>
                    <a:pt x="296" y="151"/>
                  </a:lnTo>
                  <a:lnTo>
                    <a:pt x="296" y="212"/>
                  </a:lnTo>
                  <a:lnTo>
                    <a:pt x="269" y="212"/>
                  </a:lnTo>
                  <a:lnTo>
                    <a:pt x="269" y="46"/>
                  </a:lnTo>
                  <a:close/>
                  <a:moveTo>
                    <a:pt x="296" y="105"/>
                  </a:moveTo>
                  <a:lnTo>
                    <a:pt x="296" y="115"/>
                  </a:lnTo>
                  <a:lnTo>
                    <a:pt x="298" y="122"/>
                  </a:lnTo>
                  <a:lnTo>
                    <a:pt x="300" y="129"/>
                  </a:lnTo>
                  <a:lnTo>
                    <a:pt x="302" y="134"/>
                  </a:lnTo>
                  <a:lnTo>
                    <a:pt x="305" y="139"/>
                  </a:lnTo>
                  <a:lnTo>
                    <a:pt x="310" y="141"/>
                  </a:lnTo>
                  <a:lnTo>
                    <a:pt x="314" y="145"/>
                  </a:lnTo>
                  <a:lnTo>
                    <a:pt x="319" y="145"/>
                  </a:lnTo>
                  <a:lnTo>
                    <a:pt x="322" y="145"/>
                  </a:lnTo>
                  <a:lnTo>
                    <a:pt x="326" y="141"/>
                  </a:lnTo>
                  <a:lnTo>
                    <a:pt x="329" y="139"/>
                  </a:lnTo>
                  <a:lnTo>
                    <a:pt x="333" y="134"/>
                  </a:lnTo>
                  <a:lnTo>
                    <a:pt x="334" y="129"/>
                  </a:lnTo>
                  <a:lnTo>
                    <a:pt x="338" y="124"/>
                  </a:lnTo>
                  <a:lnTo>
                    <a:pt x="340" y="115"/>
                  </a:lnTo>
                  <a:lnTo>
                    <a:pt x="340" y="107"/>
                  </a:lnTo>
                  <a:lnTo>
                    <a:pt x="340" y="98"/>
                  </a:lnTo>
                  <a:lnTo>
                    <a:pt x="338" y="89"/>
                  </a:lnTo>
                  <a:lnTo>
                    <a:pt x="334" y="82"/>
                  </a:lnTo>
                  <a:lnTo>
                    <a:pt x="333" y="77"/>
                  </a:lnTo>
                  <a:lnTo>
                    <a:pt x="329" y="74"/>
                  </a:lnTo>
                  <a:lnTo>
                    <a:pt x="326" y="70"/>
                  </a:lnTo>
                  <a:lnTo>
                    <a:pt x="322" y="69"/>
                  </a:lnTo>
                  <a:lnTo>
                    <a:pt x="319" y="69"/>
                  </a:lnTo>
                  <a:lnTo>
                    <a:pt x="314" y="69"/>
                  </a:lnTo>
                  <a:lnTo>
                    <a:pt x="309" y="70"/>
                  </a:lnTo>
                  <a:lnTo>
                    <a:pt x="303" y="74"/>
                  </a:lnTo>
                  <a:lnTo>
                    <a:pt x="300" y="77"/>
                  </a:lnTo>
                  <a:lnTo>
                    <a:pt x="298" y="82"/>
                  </a:lnTo>
                  <a:lnTo>
                    <a:pt x="298" y="88"/>
                  </a:lnTo>
                  <a:lnTo>
                    <a:pt x="296" y="96"/>
                  </a:lnTo>
                  <a:lnTo>
                    <a:pt x="296" y="105"/>
                  </a:lnTo>
                  <a:close/>
                  <a:moveTo>
                    <a:pt x="388" y="167"/>
                  </a:moveTo>
                  <a:lnTo>
                    <a:pt x="388" y="0"/>
                  </a:lnTo>
                  <a:lnTo>
                    <a:pt x="412" y="0"/>
                  </a:lnTo>
                  <a:lnTo>
                    <a:pt x="412" y="167"/>
                  </a:lnTo>
                  <a:lnTo>
                    <a:pt x="388" y="167"/>
                  </a:lnTo>
                  <a:close/>
                  <a:moveTo>
                    <a:pt x="440" y="29"/>
                  </a:moveTo>
                  <a:lnTo>
                    <a:pt x="440" y="0"/>
                  </a:lnTo>
                  <a:lnTo>
                    <a:pt x="467" y="0"/>
                  </a:lnTo>
                  <a:lnTo>
                    <a:pt x="467" y="29"/>
                  </a:lnTo>
                  <a:lnTo>
                    <a:pt x="440" y="29"/>
                  </a:lnTo>
                  <a:close/>
                  <a:moveTo>
                    <a:pt x="440" y="167"/>
                  </a:moveTo>
                  <a:lnTo>
                    <a:pt x="440" y="46"/>
                  </a:lnTo>
                  <a:lnTo>
                    <a:pt x="467" y="46"/>
                  </a:lnTo>
                  <a:lnTo>
                    <a:pt x="467" y="167"/>
                  </a:lnTo>
                  <a:lnTo>
                    <a:pt x="440" y="167"/>
                  </a:lnTo>
                  <a:close/>
                  <a:moveTo>
                    <a:pt x="580" y="81"/>
                  </a:moveTo>
                  <a:lnTo>
                    <a:pt x="554" y="88"/>
                  </a:lnTo>
                  <a:lnTo>
                    <a:pt x="552" y="79"/>
                  </a:lnTo>
                  <a:lnTo>
                    <a:pt x="548" y="72"/>
                  </a:lnTo>
                  <a:lnTo>
                    <a:pt x="543" y="70"/>
                  </a:lnTo>
                  <a:lnTo>
                    <a:pt x="536" y="69"/>
                  </a:lnTo>
                  <a:lnTo>
                    <a:pt x="531" y="69"/>
                  </a:lnTo>
                  <a:lnTo>
                    <a:pt x="526" y="70"/>
                  </a:lnTo>
                  <a:lnTo>
                    <a:pt x="523" y="72"/>
                  </a:lnTo>
                  <a:lnTo>
                    <a:pt x="519" y="76"/>
                  </a:lnTo>
                  <a:lnTo>
                    <a:pt x="517" y="81"/>
                  </a:lnTo>
                  <a:lnTo>
                    <a:pt x="516" y="88"/>
                  </a:lnTo>
                  <a:lnTo>
                    <a:pt x="514" y="95"/>
                  </a:lnTo>
                  <a:lnTo>
                    <a:pt x="514" y="105"/>
                  </a:lnTo>
                  <a:lnTo>
                    <a:pt x="514" y="115"/>
                  </a:lnTo>
                  <a:lnTo>
                    <a:pt x="516" y="122"/>
                  </a:lnTo>
                  <a:lnTo>
                    <a:pt x="517" y="129"/>
                  </a:lnTo>
                  <a:lnTo>
                    <a:pt x="519" y="134"/>
                  </a:lnTo>
                  <a:lnTo>
                    <a:pt x="523" y="139"/>
                  </a:lnTo>
                  <a:lnTo>
                    <a:pt x="526" y="141"/>
                  </a:lnTo>
                  <a:lnTo>
                    <a:pt x="531" y="145"/>
                  </a:lnTo>
                  <a:lnTo>
                    <a:pt x="536" y="145"/>
                  </a:lnTo>
                  <a:lnTo>
                    <a:pt x="540" y="145"/>
                  </a:lnTo>
                  <a:lnTo>
                    <a:pt x="542" y="143"/>
                  </a:lnTo>
                  <a:lnTo>
                    <a:pt x="545" y="141"/>
                  </a:lnTo>
                  <a:lnTo>
                    <a:pt x="548" y="139"/>
                  </a:lnTo>
                  <a:lnTo>
                    <a:pt x="550" y="136"/>
                  </a:lnTo>
                  <a:lnTo>
                    <a:pt x="552" y="132"/>
                  </a:lnTo>
                  <a:lnTo>
                    <a:pt x="554" y="127"/>
                  </a:lnTo>
                  <a:lnTo>
                    <a:pt x="555" y="120"/>
                  </a:lnTo>
                  <a:lnTo>
                    <a:pt x="580" y="127"/>
                  </a:lnTo>
                  <a:lnTo>
                    <a:pt x="574" y="146"/>
                  </a:lnTo>
                  <a:lnTo>
                    <a:pt x="566" y="158"/>
                  </a:lnTo>
                  <a:lnTo>
                    <a:pt x="552" y="167"/>
                  </a:lnTo>
                  <a:lnTo>
                    <a:pt x="535" y="169"/>
                  </a:lnTo>
                  <a:lnTo>
                    <a:pt x="523" y="169"/>
                  </a:lnTo>
                  <a:lnTo>
                    <a:pt x="514" y="165"/>
                  </a:lnTo>
                  <a:lnTo>
                    <a:pt x="505" y="160"/>
                  </a:lnTo>
                  <a:lnTo>
                    <a:pt x="498" y="151"/>
                  </a:lnTo>
                  <a:lnTo>
                    <a:pt x="493" y="143"/>
                  </a:lnTo>
                  <a:lnTo>
                    <a:pt x="490" y="132"/>
                  </a:lnTo>
                  <a:lnTo>
                    <a:pt x="486" y="120"/>
                  </a:lnTo>
                  <a:lnTo>
                    <a:pt x="486" y="108"/>
                  </a:lnTo>
                  <a:lnTo>
                    <a:pt x="486" y="93"/>
                  </a:lnTo>
                  <a:lnTo>
                    <a:pt x="490" y="81"/>
                  </a:lnTo>
                  <a:lnTo>
                    <a:pt x="493" y="69"/>
                  </a:lnTo>
                  <a:lnTo>
                    <a:pt x="500" y="60"/>
                  </a:lnTo>
                  <a:lnTo>
                    <a:pt x="507" y="53"/>
                  </a:lnTo>
                  <a:lnTo>
                    <a:pt x="516" y="48"/>
                  </a:lnTo>
                  <a:lnTo>
                    <a:pt x="524" y="44"/>
                  </a:lnTo>
                  <a:lnTo>
                    <a:pt x="535" y="43"/>
                  </a:lnTo>
                  <a:lnTo>
                    <a:pt x="543" y="43"/>
                  </a:lnTo>
                  <a:lnTo>
                    <a:pt x="552" y="44"/>
                  </a:lnTo>
                  <a:lnTo>
                    <a:pt x="557" y="48"/>
                  </a:lnTo>
                  <a:lnTo>
                    <a:pt x="562" y="53"/>
                  </a:lnTo>
                  <a:lnTo>
                    <a:pt x="567" y="58"/>
                  </a:lnTo>
                  <a:lnTo>
                    <a:pt x="573" y="65"/>
                  </a:lnTo>
                  <a:lnTo>
                    <a:pt x="576" y="72"/>
                  </a:lnTo>
                  <a:lnTo>
                    <a:pt x="580" y="81"/>
                  </a:lnTo>
                  <a:close/>
                  <a:moveTo>
                    <a:pt x="619" y="84"/>
                  </a:moveTo>
                  <a:lnTo>
                    <a:pt x="597" y="79"/>
                  </a:lnTo>
                  <a:lnTo>
                    <a:pt x="599" y="70"/>
                  </a:lnTo>
                  <a:lnTo>
                    <a:pt x="600" y="62"/>
                  </a:lnTo>
                  <a:lnTo>
                    <a:pt x="604" y="57"/>
                  </a:lnTo>
                  <a:lnTo>
                    <a:pt x="609" y="51"/>
                  </a:lnTo>
                  <a:lnTo>
                    <a:pt x="616" y="48"/>
                  </a:lnTo>
                  <a:lnTo>
                    <a:pt x="623" y="44"/>
                  </a:lnTo>
                  <a:lnTo>
                    <a:pt x="630" y="43"/>
                  </a:lnTo>
                  <a:lnTo>
                    <a:pt x="638" y="43"/>
                  </a:lnTo>
                  <a:lnTo>
                    <a:pt x="647" y="43"/>
                  </a:lnTo>
                  <a:lnTo>
                    <a:pt x="654" y="44"/>
                  </a:lnTo>
                  <a:lnTo>
                    <a:pt x="659" y="46"/>
                  </a:lnTo>
                  <a:lnTo>
                    <a:pt x="664" y="50"/>
                  </a:lnTo>
                  <a:lnTo>
                    <a:pt x="668" y="51"/>
                  </a:lnTo>
                  <a:lnTo>
                    <a:pt x="671" y="53"/>
                  </a:lnTo>
                  <a:lnTo>
                    <a:pt x="673" y="57"/>
                  </a:lnTo>
                  <a:lnTo>
                    <a:pt x="676" y="60"/>
                  </a:lnTo>
                  <a:lnTo>
                    <a:pt x="678" y="65"/>
                  </a:lnTo>
                  <a:lnTo>
                    <a:pt x="680" y="72"/>
                  </a:lnTo>
                  <a:lnTo>
                    <a:pt x="680" y="81"/>
                  </a:lnTo>
                  <a:lnTo>
                    <a:pt x="680" y="91"/>
                  </a:lnTo>
                  <a:lnTo>
                    <a:pt x="680" y="129"/>
                  </a:lnTo>
                  <a:lnTo>
                    <a:pt x="680" y="136"/>
                  </a:lnTo>
                  <a:lnTo>
                    <a:pt x="680" y="143"/>
                  </a:lnTo>
                  <a:lnTo>
                    <a:pt x="680" y="148"/>
                  </a:lnTo>
                  <a:lnTo>
                    <a:pt x="681" y="150"/>
                  </a:lnTo>
                  <a:lnTo>
                    <a:pt x="681" y="155"/>
                  </a:lnTo>
                  <a:lnTo>
                    <a:pt x="683" y="158"/>
                  </a:lnTo>
                  <a:lnTo>
                    <a:pt x="685" y="164"/>
                  </a:lnTo>
                  <a:lnTo>
                    <a:pt x="687" y="167"/>
                  </a:lnTo>
                  <a:lnTo>
                    <a:pt x="659" y="167"/>
                  </a:lnTo>
                  <a:lnTo>
                    <a:pt x="656" y="155"/>
                  </a:lnTo>
                  <a:lnTo>
                    <a:pt x="652" y="158"/>
                  </a:lnTo>
                  <a:lnTo>
                    <a:pt x="650" y="162"/>
                  </a:lnTo>
                  <a:lnTo>
                    <a:pt x="647" y="165"/>
                  </a:lnTo>
                  <a:lnTo>
                    <a:pt x="642" y="167"/>
                  </a:lnTo>
                  <a:lnTo>
                    <a:pt x="638" y="167"/>
                  </a:lnTo>
                  <a:lnTo>
                    <a:pt x="635" y="167"/>
                  </a:lnTo>
                  <a:lnTo>
                    <a:pt x="630" y="169"/>
                  </a:lnTo>
                  <a:lnTo>
                    <a:pt x="626" y="169"/>
                  </a:lnTo>
                  <a:lnTo>
                    <a:pt x="619" y="169"/>
                  </a:lnTo>
                  <a:lnTo>
                    <a:pt x="614" y="167"/>
                  </a:lnTo>
                  <a:lnTo>
                    <a:pt x="607" y="164"/>
                  </a:lnTo>
                  <a:lnTo>
                    <a:pt x="602" y="160"/>
                  </a:lnTo>
                  <a:lnTo>
                    <a:pt x="599" y="155"/>
                  </a:lnTo>
                  <a:lnTo>
                    <a:pt x="595" y="150"/>
                  </a:lnTo>
                  <a:lnTo>
                    <a:pt x="593" y="143"/>
                  </a:lnTo>
                  <a:lnTo>
                    <a:pt x="593" y="134"/>
                  </a:lnTo>
                  <a:lnTo>
                    <a:pt x="593" y="131"/>
                  </a:lnTo>
                  <a:lnTo>
                    <a:pt x="595" y="126"/>
                  </a:lnTo>
                  <a:lnTo>
                    <a:pt x="597" y="120"/>
                  </a:lnTo>
                  <a:lnTo>
                    <a:pt x="599" y="117"/>
                  </a:lnTo>
                  <a:lnTo>
                    <a:pt x="599" y="112"/>
                  </a:lnTo>
                  <a:lnTo>
                    <a:pt x="600" y="110"/>
                  </a:lnTo>
                  <a:lnTo>
                    <a:pt x="604" y="107"/>
                  </a:lnTo>
                  <a:lnTo>
                    <a:pt x="607" y="105"/>
                  </a:lnTo>
                  <a:lnTo>
                    <a:pt x="611" y="103"/>
                  </a:lnTo>
                  <a:lnTo>
                    <a:pt x="616" y="100"/>
                  </a:lnTo>
                  <a:lnTo>
                    <a:pt x="623" y="98"/>
                  </a:lnTo>
                  <a:lnTo>
                    <a:pt x="630" y="96"/>
                  </a:lnTo>
                  <a:lnTo>
                    <a:pt x="637" y="95"/>
                  </a:lnTo>
                  <a:lnTo>
                    <a:pt x="645" y="93"/>
                  </a:lnTo>
                  <a:lnTo>
                    <a:pt x="650" y="91"/>
                  </a:lnTo>
                  <a:lnTo>
                    <a:pt x="654" y="89"/>
                  </a:lnTo>
                  <a:lnTo>
                    <a:pt x="654" y="84"/>
                  </a:lnTo>
                  <a:lnTo>
                    <a:pt x="654" y="79"/>
                  </a:lnTo>
                  <a:lnTo>
                    <a:pt x="654" y="77"/>
                  </a:lnTo>
                  <a:lnTo>
                    <a:pt x="652" y="74"/>
                  </a:lnTo>
                  <a:lnTo>
                    <a:pt x="652" y="74"/>
                  </a:lnTo>
                  <a:lnTo>
                    <a:pt x="650" y="72"/>
                  </a:lnTo>
                  <a:lnTo>
                    <a:pt x="650" y="72"/>
                  </a:lnTo>
                  <a:lnTo>
                    <a:pt x="649" y="70"/>
                  </a:lnTo>
                  <a:lnTo>
                    <a:pt x="645" y="70"/>
                  </a:lnTo>
                  <a:lnTo>
                    <a:pt x="643" y="69"/>
                  </a:lnTo>
                  <a:lnTo>
                    <a:pt x="640" y="69"/>
                  </a:lnTo>
                  <a:lnTo>
                    <a:pt x="637" y="69"/>
                  </a:lnTo>
                  <a:lnTo>
                    <a:pt x="635" y="69"/>
                  </a:lnTo>
                  <a:lnTo>
                    <a:pt x="631" y="70"/>
                  </a:lnTo>
                  <a:lnTo>
                    <a:pt x="630" y="70"/>
                  </a:lnTo>
                  <a:lnTo>
                    <a:pt x="628" y="72"/>
                  </a:lnTo>
                  <a:lnTo>
                    <a:pt x="626" y="74"/>
                  </a:lnTo>
                  <a:lnTo>
                    <a:pt x="623" y="76"/>
                  </a:lnTo>
                  <a:lnTo>
                    <a:pt x="621" y="79"/>
                  </a:lnTo>
                  <a:lnTo>
                    <a:pt x="619" y="84"/>
                  </a:lnTo>
                  <a:close/>
                  <a:moveTo>
                    <a:pt x="654" y="110"/>
                  </a:moveTo>
                  <a:lnTo>
                    <a:pt x="650" y="110"/>
                  </a:lnTo>
                  <a:lnTo>
                    <a:pt x="647" y="112"/>
                  </a:lnTo>
                  <a:lnTo>
                    <a:pt x="643" y="114"/>
                  </a:lnTo>
                  <a:lnTo>
                    <a:pt x="638" y="115"/>
                  </a:lnTo>
                  <a:lnTo>
                    <a:pt x="633" y="117"/>
                  </a:lnTo>
                  <a:lnTo>
                    <a:pt x="630" y="119"/>
                  </a:lnTo>
                  <a:lnTo>
                    <a:pt x="626" y="120"/>
                  </a:lnTo>
                  <a:lnTo>
                    <a:pt x="624" y="122"/>
                  </a:lnTo>
                  <a:lnTo>
                    <a:pt x="623" y="124"/>
                  </a:lnTo>
                  <a:lnTo>
                    <a:pt x="621" y="127"/>
                  </a:lnTo>
                  <a:lnTo>
                    <a:pt x="619" y="129"/>
                  </a:lnTo>
                  <a:lnTo>
                    <a:pt x="619" y="131"/>
                  </a:lnTo>
                  <a:lnTo>
                    <a:pt x="619" y="134"/>
                  </a:lnTo>
                  <a:lnTo>
                    <a:pt x="621" y="138"/>
                  </a:lnTo>
                  <a:lnTo>
                    <a:pt x="623" y="139"/>
                  </a:lnTo>
                  <a:lnTo>
                    <a:pt x="624" y="143"/>
                  </a:lnTo>
                  <a:lnTo>
                    <a:pt x="626" y="146"/>
                  </a:lnTo>
                  <a:lnTo>
                    <a:pt x="630" y="148"/>
                  </a:lnTo>
                  <a:lnTo>
                    <a:pt x="631" y="150"/>
                  </a:lnTo>
                  <a:lnTo>
                    <a:pt x="635" y="150"/>
                  </a:lnTo>
                  <a:lnTo>
                    <a:pt x="637" y="150"/>
                  </a:lnTo>
                  <a:lnTo>
                    <a:pt x="638" y="148"/>
                  </a:lnTo>
                  <a:lnTo>
                    <a:pt x="642" y="146"/>
                  </a:lnTo>
                  <a:lnTo>
                    <a:pt x="645" y="145"/>
                  </a:lnTo>
                  <a:lnTo>
                    <a:pt x="647" y="143"/>
                  </a:lnTo>
                  <a:lnTo>
                    <a:pt x="649" y="139"/>
                  </a:lnTo>
                  <a:lnTo>
                    <a:pt x="650" y="138"/>
                  </a:lnTo>
                  <a:lnTo>
                    <a:pt x="652" y="134"/>
                  </a:lnTo>
                  <a:lnTo>
                    <a:pt x="654" y="131"/>
                  </a:lnTo>
                  <a:lnTo>
                    <a:pt x="654" y="127"/>
                  </a:lnTo>
                  <a:lnTo>
                    <a:pt x="654" y="122"/>
                  </a:lnTo>
                  <a:lnTo>
                    <a:pt x="654" y="117"/>
                  </a:lnTo>
                  <a:lnTo>
                    <a:pt x="654" y="110"/>
                  </a:lnTo>
                  <a:close/>
                  <a:moveTo>
                    <a:pt x="752" y="46"/>
                  </a:moveTo>
                  <a:lnTo>
                    <a:pt x="752" y="72"/>
                  </a:lnTo>
                  <a:lnTo>
                    <a:pt x="733" y="72"/>
                  </a:lnTo>
                  <a:lnTo>
                    <a:pt x="733" y="120"/>
                  </a:lnTo>
                  <a:lnTo>
                    <a:pt x="733" y="127"/>
                  </a:lnTo>
                  <a:lnTo>
                    <a:pt x="733" y="132"/>
                  </a:lnTo>
                  <a:lnTo>
                    <a:pt x="733" y="138"/>
                  </a:lnTo>
                  <a:lnTo>
                    <a:pt x="733" y="139"/>
                  </a:lnTo>
                  <a:lnTo>
                    <a:pt x="735" y="141"/>
                  </a:lnTo>
                  <a:lnTo>
                    <a:pt x="737" y="143"/>
                  </a:lnTo>
                  <a:lnTo>
                    <a:pt x="740" y="145"/>
                  </a:lnTo>
                  <a:lnTo>
                    <a:pt x="742" y="145"/>
                  </a:lnTo>
                  <a:lnTo>
                    <a:pt x="745" y="145"/>
                  </a:lnTo>
                  <a:lnTo>
                    <a:pt x="747" y="143"/>
                  </a:lnTo>
                  <a:lnTo>
                    <a:pt x="750" y="143"/>
                  </a:lnTo>
                  <a:lnTo>
                    <a:pt x="752" y="141"/>
                  </a:lnTo>
                  <a:lnTo>
                    <a:pt x="756" y="167"/>
                  </a:lnTo>
                  <a:lnTo>
                    <a:pt x="750" y="167"/>
                  </a:lnTo>
                  <a:lnTo>
                    <a:pt x="745" y="167"/>
                  </a:lnTo>
                  <a:lnTo>
                    <a:pt x="740" y="169"/>
                  </a:lnTo>
                  <a:lnTo>
                    <a:pt x="733" y="169"/>
                  </a:lnTo>
                  <a:lnTo>
                    <a:pt x="730" y="169"/>
                  </a:lnTo>
                  <a:lnTo>
                    <a:pt x="725" y="167"/>
                  </a:lnTo>
                  <a:lnTo>
                    <a:pt x="721" y="167"/>
                  </a:lnTo>
                  <a:lnTo>
                    <a:pt x="718" y="167"/>
                  </a:lnTo>
                  <a:lnTo>
                    <a:pt x="714" y="164"/>
                  </a:lnTo>
                  <a:lnTo>
                    <a:pt x="711" y="160"/>
                  </a:lnTo>
                  <a:lnTo>
                    <a:pt x="709" y="157"/>
                  </a:lnTo>
                  <a:lnTo>
                    <a:pt x="709" y="151"/>
                  </a:lnTo>
                  <a:lnTo>
                    <a:pt x="709" y="148"/>
                  </a:lnTo>
                  <a:lnTo>
                    <a:pt x="709" y="143"/>
                  </a:lnTo>
                  <a:lnTo>
                    <a:pt x="707" y="136"/>
                  </a:lnTo>
                  <a:lnTo>
                    <a:pt x="707" y="126"/>
                  </a:lnTo>
                  <a:lnTo>
                    <a:pt x="707" y="72"/>
                  </a:lnTo>
                  <a:lnTo>
                    <a:pt x="693" y="72"/>
                  </a:lnTo>
                  <a:lnTo>
                    <a:pt x="693" y="46"/>
                  </a:lnTo>
                  <a:lnTo>
                    <a:pt x="707" y="46"/>
                  </a:lnTo>
                  <a:lnTo>
                    <a:pt x="707" y="20"/>
                  </a:lnTo>
                  <a:lnTo>
                    <a:pt x="733" y="3"/>
                  </a:lnTo>
                  <a:lnTo>
                    <a:pt x="733" y="46"/>
                  </a:lnTo>
                  <a:lnTo>
                    <a:pt x="752" y="46"/>
                  </a:lnTo>
                  <a:close/>
                  <a:moveTo>
                    <a:pt x="769" y="29"/>
                  </a:moveTo>
                  <a:lnTo>
                    <a:pt x="769" y="0"/>
                  </a:lnTo>
                  <a:lnTo>
                    <a:pt x="797" y="0"/>
                  </a:lnTo>
                  <a:lnTo>
                    <a:pt x="797" y="29"/>
                  </a:lnTo>
                  <a:lnTo>
                    <a:pt x="769" y="29"/>
                  </a:lnTo>
                  <a:close/>
                  <a:moveTo>
                    <a:pt x="769" y="167"/>
                  </a:moveTo>
                  <a:lnTo>
                    <a:pt x="769" y="46"/>
                  </a:lnTo>
                  <a:lnTo>
                    <a:pt x="797" y="46"/>
                  </a:lnTo>
                  <a:lnTo>
                    <a:pt x="797" y="167"/>
                  </a:lnTo>
                  <a:lnTo>
                    <a:pt x="769" y="167"/>
                  </a:lnTo>
                  <a:close/>
                  <a:moveTo>
                    <a:pt x="818" y="107"/>
                  </a:moveTo>
                  <a:lnTo>
                    <a:pt x="818" y="96"/>
                  </a:lnTo>
                  <a:lnTo>
                    <a:pt x="820" y="88"/>
                  </a:lnTo>
                  <a:lnTo>
                    <a:pt x="821" y="81"/>
                  </a:lnTo>
                  <a:lnTo>
                    <a:pt x="823" y="74"/>
                  </a:lnTo>
                  <a:lnTo>
                    <a:pt x="826" y="67"/>
                  </a:lnTo>
                  <a:lnTo>
                    <a:pt x="832" y="60"/>
                  </a:lnTo>
                  <a:lnTo>
                    <a:pt x="837" y="55"/>
                  </a:lnTo>
                  <a:lnTo>
                    <a:pt x="842" y="51"/>
                  </a:lnTo>
                  <a:lnTo>
                    <a:pt x="849" y="48"/>
                  </a:lnTo>
                  <a:lnTo>
                    <a:pt x="856" y="44"/>
                  </a:lnTo>
                  <a:lnTo>
                    <a:pt x="861" y="43"/>
                  </a:lnTo>
                  <a:lnTo>
                    <a:pt x="868" y="43"/>
                  </a:lnTo>
                  <a:lnTo>
                    <a:pt x="880" y="44"/>
                  </a:lnTo>
                  <a:lnTo>
                    <a:pt x="890" y="48"/>
                  </a:lnTo>
                  <a:lnTo>
                    <a:pt x="899" y="53"/>
                  </a:lnTo>
                  <a:lnTo>
                    <a:pt x="906" y="62"/>
                  </a:lnTo>
                  <a:lnTo>
                    <a:pt x="913" y="72"/>
                  </a:lnTo>
                  <a:lnTo>
                    <a:pt x="916" y="82"/>
                  </a:lnTo>
                  <a:lnTo>
                    <a:pt x="920" y="95"/>
                  </a:lnTo>
                  <a:lnTo>
                    <a:pt x="920" y="107"/>
                  </a:lnTo>
                  <a:lnTo>
                    <a:pt x="920" y="115"/>
                  </a:lnTo>
                  <a:lnTo>
                    <a:pt x="918" y="124"/>
                  </a:lnTo>
                  <a:lnTo>
                    <a:pt x="914" y="132"/>
                  </a:lnTo>
                  <a:lnTo>
                    <a:pt x="913" y="139"/>
                  </a:lnTo>
                  <a:lnTo>
                    <a:pt x="909" y="146"/>
                  </a:lnTo>
                  <a:lnTo>
                    <a:pt x="904" y="153"/>
                  </a:lnTo>
                  <a:lnTo>
                    <a:pt x="899" y="158"/>
                  </a:lnTo>
                  <a:lnTo>
                    <a:pt x="894" y="164"/>
                  </a:lnTo>
                  <a:lnTo>
                    <a:pt x="889" y="165"/>
                  </a:lnTo>
                  <a:lnTo>
                    <a:pt x="882" y="167"/>
                  </a:lnTo>
                  <a:lnTo>
                    <a:pt x="876" y="169"/>
                  </a:lnTo>
                  <a:lnTo>
                    <a:pt x="870" y="169"/>
                  </a:lnTo>
                  <a:lnTo>
                    <a:pt x="857" y="169"/>
                  </a:lnTo>
                  <a:lnTo>
                    <a:pt x="849" y="165"/>
                  </a:lnTo>
                  <a:lnTo>
                    <a:pt x="838" y="160"/>
                  </a:lnTo>
                  <a:lnTo>
                    <a:pt x="832" y="153"/>
                  </a:lnTo>
                  <a:lnTo>
                    <a:pt x="825" y="145"/>
                  </a:lnTo>
                  <a:lnTo>
                    <a:pt x="821" y="134"/>
                  </a:lnTo>
                  <a:lnTo>
                    <a:pt x="818" y="120"/>
                  </a:lnTo>
                  <a:lnTo>
                    <a:pt x="818" y="107"/>
                  </a:lnTo>
                  <a:close/>
                  <a:moveTo>
                    <a:pt x="844" y="108"/>
                  </a:moveTo>
                  <a:lnTo>
                    <a:pt x="844" y="117"/>
                  </a:lnTo>
                  <a:lnTo>
                    <a:pt x="845" y="124"/>
                  </a:lnTo>
                  <a:lnTo>
                    <a:pt x="849" y="129"/>
                  </a:lnTo>
                  <a:lnTo>
                    <a:pt x="851" y="134"/>
                  </a:lnTo>
                  <a:lnTo>
                    <a:pt x="856" y="139"/>
                  </a:lnTo>
                  <a:lnTo>
                    <a:pt x="859" y="141"/>
                  </a:lnTo>
                  <a:lnTo>
                    <a:pt x="864" y="145"/>
                  </a:lnTo>
                  <a:lnTo>
                    <a:pt x="870" y="145"/>
                  </a:lnTo>
                  <a:lnTo>
                    <a:pt x="873" y="145"/>
                  </a:lnTo>
                  <a:lnTo>
                    <a:pt x="878" y="141"/>
                  </a:lnTo>
                  <a:lnTo>
                    <a:pt x="882" y="139"/>
                  </a:lnTo>
                  <a:lnTo>
                    <a:pt x="885" y="134"/>
                  </a:lnTo>
                  <a:lnTo>
                    <a:pt x="889" y="129"/>
                  </a:lnTo>
                  <a:lnTo>
                    <a:pt x="890" y="124"/>
                  </a:lnTo>
                  <a:lnTo>
                    <a:pt x="892" y="117"/>
                  </a:lnTo>
                  <a:lnTo>
                    <a:pt x="892" y="108"/>
                  </a:lnTo>
                  <a:lnTo>
                    <a:pt x="892" y="100"/>
                  </a:lnTo>
                  <a:lnTo>
                    <a:pt x="890" y="91"/>
                  </a:lnTo>
                  <a:lnTo>
                    <a:pt x="889" y="84"/>
                  </a:lnTo>
                  <a:lnTo>
                    <a:pt x="885" y="79"/>
                  </a:lnTo>
                  <a:lnTo>
                    <a:pt x="882" y="76"/>
                  </a:lnTo>
                  <a:lnTo>
                    <a:pt x="876" y="72"/>
                  </a:lnTo>
                  <a:lnTo>
                    <a:pt x="873" y="70"/>
                  </a:lnTo>
                  <a:lnTo>
                    <a:pt x="868" y="70"/>
                  </a:lnTo>
                  <a:lnTo>
                    <a:pt x="863" y="70"/>
                  </a:lnTo>
                  <a:lnTo>
                    <a:pt x="859" y="72"/>
                  </a:lnTo>
                  <a:lnTo>
                    <a:pt x="856" y="76"/>
                  </a:lnTo>
                  <a:lnTo>
                    <a:pt x="851" y="79"/>
                  </a:lnTo>
                  <a:lnTo>
                    <a:pt x="849" y="84"/>
                  </a:lnTo>
                  <a:lnTo>
                    <a:pt x="845" y="91"/>
                  </a:lnTo>
                  <a:lnTo>
                    <a:pt x="844" y="100"/>
                  </a:lnTo>
                  <a:lnTo>
                    <a:pt x="844" y="108"/>
                  </a:lnTo>
                  <a:close/>
                  <a:moveTo>
                    <a:pt x="1030" y="167"/>
                  </a:moveTo>
                  <a:lnTo>
                    <a:pt x="1006" y="167"/>
                  </a:lnTo>
                  <a:lnTo>
                    <a:pt x="1006" y="107"/>
                  </a:lnTo>
                  <a:lnTo>
                    <a:pt x="1006" y="98"/>
                  </a:lnTo>
                  <a:lnTo>
                    <a:pt x="1006" y="91"/>
                  </a:lnTo>
                  <a:lnTo>
                    <a:pt x="1004" y="84"/>
                  </a:lnTo>
                  <a:lnTo>
                    <a:pt x="1004" y="81"/>
                  </a:lnTo>
                  <a:lnTo>
                    <a:pt x="1002" y="79"/>
                  </a:lnTo>
                  <a:lnTo>
                    <a:pt x="1001" y="76"/>
                  </a:lnTo>
                  <a:lnTo>
                    <a:pt x="999" y="74"/>
                  </a:lnTo>
                  <a:lnTo>
                    <a:pt x="997" y="72"/>
                  </a:lnTo>
                  <a:lnTo>
                    <a:pt x="996" y="70"/>
                  </a:lnTo>
                  <a:lnTo>
                    <a:pt x="994" y="70"/>
                  </a:lnTo>
                  <a:lnTo>
                    <a:pt x="990" y="69"/>
                  </a:lnTo>
                  <a:lnTo>
                    <a:pt x="990" y="69"/>
                  </a:lnTo>
                  <a:lnTo>
                    <a:pt x="987" y="69"/>
                  </a:lnTo>
                  <a:lnTo>
                    <a:pt x="984" y="70"/>
                  </a:lnTo>
                  <a:lnTo>
                    <a:pt x="980" y="70"/>
                  </a:lnTo>
                  <a:lnTo>
                    <a:pt x="977" y="72"/>
                  </a:lnTo>
                  <a:lnTo>
                    <a:pt x="975" y="76"/>
                  </a:lnTo>
                  <a:lnTo>
                    <a:pt x="973" y="77"/>
                  </a:lnTo>
                  <a:lnTo>
                    <a:pt x="971" y="81"/>
                  </a:lnTo>
                  <a:lnTo>
                    <a:pt x="970" y="84"/>
                  </a:lnTo>
                  <a:lnTo>
                    <a:pt x="970" y="89"/>
                  </a:lnTo>
                  <a:lnTo>
                    <a:pt x="970" y="95"/>
                  </a:lnTo>
                  <a:lnTo>
                    <a:pt x="968" y="103"/>
                  </a:lnTo>
                  <a:lnTo>
                    <a:pt x="968" y="112"/>
                  </a:lnTo>
                  <a:lnTo>
                    <a:pt x="968" y="167"/>
                  </a:lnTo>
                  <a:lnTo>
                    <a:pt x="940" y="167"/>
                  </a:lnTo>
                  <a:lnTo>
                    <a:pt x="940" y="46"/>
                  </a:lnTo>
                  <a:lnTo>
                    <a:pt x="966" y="46"/>
                  </a:lnTo>
                  <a:lnTo>
                    <a:pt x="966" y="63"/>
                  </a:lnTo>
                  <a:lnTo>
                    <a:pt x="970" y="58"/>
                  </a:lnTo>
                  <a:lnTo>
                    <a:pt x="971" y="55"/>
                  </a:lnTo>
                  <a:lnTo>
                    <a:pt x="975" y="53"/>
                  </a:lnTo>
                  <a:lnTo>
                    <a:pt x="980" y="50"/>
                  </a:lnTo>
                  <a:lnTo>
                    <a:pt x="984" y="46"/>
                  </a:lnTo>
                  <a:lnTo>
                    <a:pt x="989" y="44"/>
                  </a:lnTo>
                  <a:lnTo>
                    <a:pt x="994" y="43"/>
                  </a:lnTo>
                  <a:lnTo>
                    <a:pt x="999" y="43"/>
                  </a:lnTo>
                  <a:lnTo>
                    <a:pt x="1004" y="43"/>
                  </a:lnTo>
                  <a:lnTo>
                    <a:pt x="1009" y="44"/>
                  </a:lnTo>
                  <a:lnTo>
                    <a:pt x="1013" y="48"/>
                  </a:lnTo>
                  <a:lnTo>
                    <a:pt x="1018" y="50"/>
                  </a:lnTo>
                  <a:lnTo>
                    <a:pt x="1021" y="53"/>
                  </a:lnTo>
                  <a:lnTo>
                    <a:pt x="1025" y="57"/>
                  </a:lnTo>
                  <a:lnTo>
                    <a:pt x="1027" y="60"/>
                  </a:lnTo>
                  <a:lnTo>
                    <a:pt x="1028" y="65"/>
                  </a:lnTo>
                  <a:lnTo>
                    <a:pt x="1030" y="70"/>
                  </a:lnTo>
                  <a:lnTo>
                    <a:pt x="1030" y="76"/>
                  </a:lnTo>
                  <a:lnTo>
                    <a:pt x="1030" y="84"/>
                  </a:lnTo>
                  <a:lnTo>
                    <a:pt x="1030" y="93"/>
                  </a:lnTo>
                  <a:lnTo>
                    <a:pt x="1030" y="167"/>
                  </a:lnTo>
                  <a:close/>
                  <a:moveTo>
                    <a:pt x="1111" y="167"/>
                  </a:moveTo>
                  <a:lnTo>
                    <a:pt x="1111" y="0"/>
                  </a:lnTo>
                  <a:lnTo>
                    <a:pt x="1141" y="0"/>
                  </a:lnTo>
                  <a:lnTo>
                    <a:pt x="1141" y="139"/>
                  </a:lnTo>
                  <a:lnTo>
                    <a:pt x="1210" y="139"/>
                  </a:lnTo>
                  <a:lnTo>
                    <a:pt x="1210" y="167"/>
                  </a:lnTo>
                  <a:lnTo>
                    <a:pt x="1111" y="167"/>
                  </a:lnTo>
                  <a:close/>
                  <a:moveTo>
                    <a:pt x="1251" y="84"/>
                  </a:moveTo>
                  <a:lnTo>
                    <a:pt x="1225" y="79"/>
                  </a:lnTo>
                  <a:lnTo>
                    <a:pt x="1229" y="70"/>
                  </a:lnTo>
                  <a:lnTo>
                    <a:pt x="1230" y="62"/>
                  </a:lnTo>
                  <a:lnTo>
                    <a:pt x="1234" y="57"/>
                  </a:lnTo>
                  <a:lnTo>
                    <a:pt x="1239" y="51"/>
                  </a:lnTo>
                  <a:lnTo>
                    <a:pt x="1244" y="48"/>
                  </a:lnTo>
                  <a:lnTo>
                    <a:pt x="1251" y="44"/>
                  </a:lnTo>
                  <a:lnTo>
                    <a:pt x="1260" y="43"/>
                  </a:lnTo>
                  <a:lnTo>
                    <a:pt x="1268" y="43"/>
                  </a:lnTo>
                  <a:lnTo>
                    <a:pt x="1275" y="43"/>
                  </a:lnTo>
                  <a:lnTo>
                    <a:pt x="1284" y="44"/>
                  </a:lnTo>
                  <a:lnTo>
                    <a:pt x="1289" y="46"/>
                  </a:lnTo>
                  <a:lnTo>
                    <a:pt x="1293" y="50"/>
                  </a:lnTo>
                  <a:lnTo>
                    <a:pt x="1298" y="51"/>
                  </a:lnTo>
                  <a:lnTo>
                    <a:pt x="1301" y="53"/>
                  </a:lnTo>
                  <a:lnTo>
                    <a:pt x="1303" y="57"/>
                  </a:lnTo>
                  <a:lnTo>
                    <a:pt x="1306" y="60"/>
                  </a:lnTo>
                  <a:lnTo>
                    <a:pt x="1308" y="65"/>
                  </a:lnTo>
                  <a:lnTo>
                    <a:pt x="1310" y="72"/>
                  </a:lnTo>
                  <a:lnTo>
                    <a:pt x="1310" y="81"/>
                  </a:lnTo>
                  <a:lnTo>
                    <a:pt x="1310" y="91"/>
                  </a:lnTo>
                  <a:lnTo>
                    <a:pt x="1310" y="129"/>
                  </a:lnTo>
                  <a:lnTo>
                    <a:pt x="1310" y="136"/>
                  </a:lnTo>
                  <a:lnTo>
                    <a:pt x="1310" y="143"/>
                  </a:lnTo>
                  <a:lnTo>
                    <a:pt x="1310" y="148"/>
                  </a:lnTo>
                  <a:lnTo>
                    <a:pt x="1310" y="150"/>
                  </a:lnTo>
                  <a:lnTo>
                    <a:pt x="1310" y="155"/>
                  </a:lnTo>
                  <a:lnTo>
                    <a:pt x="1311" y="158"/>
                  </a:lnTo>
                  <a:lnTo>
                    <a:pt x="1313" y="164"/>
                  </a:lnTo>
                  <a:lnTo>
                    <a:pt x="1315" y="167"/>
                  </a:lnTo>
                  <a:lnTo>
                    <a:pt x="1291" y="167"/>
                  </a:lnTo>
                  <a:lnTo>
                    <a:pt x="1286" y="155"/>
                  </a:lnTo>
                  <a:lnTo>
                    <a:pt x="1282" y="158"/>
                  </a:lnTo>
                  <a:lnTo>
                    <a:pt x="1279" y="162"/>
                  </a:lnTo>
                  <a:lnTo>
                    <a:pt x="1275" y="165"/>
                  </a:lnTo>
                  <a:lnTo>
                    <a:pt x="1272" y="167"/>
                  </a:lnTo>
                  <a:lnTo>
                    <a:pt x="1268" y="167"/>
                  </a:lnTo>
                  <a:lnTo>
                    <a:pt x="1263" y="167"/>
                  </a:lnTo>
                  <a:lnTo>
                    <a:pt x="1258" y="169"/>
                  </a:lnTo>
                  <a:lnTo>
                    <a:pt x="1255" y="169"/>
                  </a:lnTo>
                  <a:lnTo>
                    <a:pt x="1248" y="169"/>
                  </a:lnTo>
                  <a:lnTo>
                    <a:pt x="1242" y="167"/>
                  </a:lnTo>
                  <a:lnTo>
                    <a:pt x="1237" y="164"/>
                  </a:lnTo>
                  <a:lnTo>
                    <a:pt x="1232" y="160"/>
                  </a:lnTo>
                  <a:lnTo>
                    <a:pt x="1227" y="155"/>
                  </a:lnTo>
                  <a:lnTo>
                    <a:pt x="1225" y="150"/>
                  </a:lnTo>
                  <a:lnTo>
                    <a:pt x="1222" y="143"/>
                  </a:lnTo>
                  <a:lnTo>
                    <a:pt x="1222" y="134"/>
                  </a:lnTo>
                  <a:lnTo>
                    <a:pt x="1222" y="131"/>
                  </a:lnTo>
                  <a:lnTo>
                    <a:pt x="1223" y="126"/>
                  </a:lnTo>
                  <a:lnTo>
                    <a:pt x="1225" y="120"/>
                  </a:lnTo>
                  <a:lnTo>
                    <a:pt x="1227" y="117"/>
                  </a:lnTo>
                  <a:lnTo>
                    <a:pt x="1229" y="112"/>
                  </a:lnTo>
                  <a:lnTo>
                    <a:pt x="1230" y="110"/>
                  </a:lnTo>
                  <a:lnTo>
                    <a:pt x="1234" y="107"/>
                  </a:lnTo>
                  <a:lnTo>
                    <a:pt x="1236" y="105"/>
                  </a:lnTo>
                  <a:lnTo>
                    <a:pt x="1241" y="103"/>
                  </a:lnTo>
                  <a:lnTo>
                    <a:pt x="1246" y="100"/>
                  </a:lnTo>
                  <a:lnTo>
                    <a:pt x="1251" y="98"/>
                  </a:lnTo>
                  <a:lnTo>
                    <a:pt x="1258" y="96"/>
                  </a:lnTo>
                  <a:lnTo>
                    <a:pt x="1267" y="95"/>
                  </a:lnTo>
                  <a:lnTo>
                    <a:pt x="1274" y="93"/>
                  </a:lnTo>
                  <a:lnTo>
                    <a:pt x="1279" y="91"/>
                  </a:lnTo>
                  <a:lnTo>
                    <a:pt x="1282" y="89"/>
                  </a:lnTo>
                  <a:lnTo>
                    <a:pt x="1282" y="84"/>
                  </a:lnTo>
                  <a:lnTo>
                    <a:pt x="1282" y="79"/>
                  </a:lnTo>
                  <a:lnTo>
                    <a:pt x="1282" y="77"/>
                  </a:lnTo>
                  <a:lnTo>
                    <a:pt x="1280" y="74"/>
                  </a:lnTo>
                  <a:lnTo>
                    <a:pt x="1280" y="74"/>
                  </a:lnTo>
                  <a:lnTo>
                    <a:pt x="1279" y="72"/>
                  </a:lnTo>
                  <a:lnTo>
                    <a:pt x="1279" y="72"/>
                  </a:lnTo>
                  <a:lnTo>
                    <a:pt x="1277" y="70"/>
                  </a:lnTo>
                  <a:lnTo>
                    <a:pt x="1275" y="70"/>
                  </a:lnTo>
                  <a:lnTo>
                    <a:pt x="1272" y="69"/>
                  </a:lnTo>
                  <a:lnTo>
                    <a:pt x="1270" y="69"/>
                  </a:lnTo>
                  <a:lnTo>
                    <a:pt x="1267" y="69"/>
                  </a:lnTo>
                  <a:lnTo>
                    <a:pt x="1263" y="69"/>
                  </a:lnTo>
                  <a:lnTo>
                    <a:pt x="1260" y="70"/>
                  </a:lnTo>
                  <a:lnTo>
                    <a:pt x="1258" y="70"/>
                  </a:lnTo>
                  <a:lnTo>
                    <a:pt x="1256" y="72"/>
                  </a:lnTo>
                  <a:lnTo>
                    <a:pt x="1255" y="74"/>
                  </a:lnTo>
                  <a:lnTo>
                    <a:pt x="1253" y="76"/>
                  </a:lnTo>
                  <a:lnTo>
                    <a:pt x="1251" y="79"/>
                  </a:lnTo>
                  <a:lnTo>
                    <a:pt x="1251" y="84"/>
                  </a:lnTo>
                  <a:close/>
                  <a:moveTo>
                    <a:pt x="1282" y="110"/>
                  </a:moveTo>
                  <a:lnTo>
                    <a:pt x="1280" y="110"/>
                  </a:lnTo>
                  <a:lnTo>
                    <a:pt x="1277" y="112"/>
                  </a:lnTo>
                  <a:lnTo>
                    <a:pt x="1272" y="114"/>
                  </a:lnTo>
                  <a:lnTo>
                    <a:pt x="1268" y="115"/>
                  </a:lnTo>
                  <a:lnTo>
                    <a:pt x="1263" y="117"/>
                  </a:lnTo>
                  <a:lnTo>
                    <a:pt x="1258" y="119"/>
                  </a:lnTo>
                  <a:lnTo>
                    <a:pt x="1255" y="120"/>
                  </a:lnTo>
                  <a:lnTo>
                    <a:pt x="1253" y="122"/>
                  </a:lnTo>
                  <a:lnTo>
                    <a:pt x="1251" y="124"/>
                  </a:lnTo>
                  <a:lnTo>
                    <a:pt x="1251" y="127"/>
                  </a:lnTo>
                  <a:lnTo>
                    <a:pt x="1251" y="129"/>
                  </a:lnTo>
                  <a:lnTo>
                    <a:pt x="1251" y="131"/>
                  </a:lnTo>
                  <a:lnTo>
                    <a:pt x="1251" y="134"/>
                  </a:lnTo>
                  <a:lnTo>
                    <a:pt x="1251" y="138"/>
                  </a:lnTo>
                  <a:lnTo>
                    <a:pt x="1251" y="139"/>
                  </a:lnTo>
                  <a:lnTo>
                    <a:pt x="1253" y="143"/>
                  </a:lnTo>
                  <a:lnTo>
                    <a:pt x="1256" y="146"/>
                  </a:lnTo>
                  <a:lnTo>
                    <a:pt x="1258" y="148"/>
                  </a:lnTo>
                  <a:lnTo>
                    <a:pt x="1261" y="150"/>
                  </a:lnTo>
                  <a:lnTo>
                    <a:pt x="1263" y="150"/>
                  </a:lnTo>
                  <a:lnTo>
                    <a:pt x="1267" y="150"/>
                  </a:lnTo>
                  <a:lnTo>
                    <a:pt x="1268" y="148"/>
                  </a:lnTo>
                  <a:lnTo>
                    <a:pt x="1272" y="146"/>
                  </a:lnTo>
                  <a:lnTo>
                    <a:pt x="1274" y="145"/>
                  </a:lnTo>
                  <a:lnTo>
                    <a:pt x="1275" y="143"/>
                  </a:lnTo>
                  <a:lnTo>
                    <a:pt x="1279" y="139"/>
                  </a:lnTo>
                  <a:lnTo>
                    <a:pt x="1280" y="138"/>
                  </a:lnTo>
                  <a:lnTo>
                    <a:pt x="1280" y="134"/>
                  </a:lnTo>
                  <a:lnTo>
                    <a:pt x="1282" y="131"/>
                  </a:lnTo>
                  <a:lnTo>
                    <a:pt x="1282" y="127"/>
                  </a:lnTo>
                  <a:lnTo>
                    <a:pt x="1282" y="122"/>
                  </a:lnTo>
                  <a:lnTo>
                    <a:pt x="1282" y="117"/>
                  </a:lnTo>
                  <a:lnTo>
                    <a:pt x="1282" y="110"/>
                  </a:lnTo>
                  <a:close/>
                  <a:moveTo>
                    <a:pt x="1322" y="46"/>
                  </a:moveTo>
                  <a:lnTo>
                    <a:pt x="1349" y="46"/>
                  </a:lnTo>
                  <a:lnTo>
                    <a:pt x="1374" y="132"/>
                  </a:lnTo>
                  <a:lnTo>
                    <a:pt x="1398" y="46"/>
                  </a:lnTo>
                  <a:lnTo>
                    <a:pt x="1424" y="46"/>
                  </a:lnTo>
                  <a:lnTo>
                    <a:pt x="1391" y="164"/>
                  </a:lnTo>
                  <a:lnTo>
                    <a:pt x="1384" y="184"/>
                  </a:lnTo>
                  <a:lnTo>
                    <a:pt x="1382" y="189"/>
                  </a:lnTo>
                  <a:lnTo>
                    <a:pt x="1379" y="195"/>
                  </a:lnTo>
                  <a:lnTo>
                    <a:pt x="1377" y="200"/>
                  </a:lnTo>
                  <a:lnTo>
                    <a:pt x="1374" y="203"/>
                  </a:lnTo>
                  <a:lnTo>
                    <a:pt x="1372" y="205"/>
                  </a:lnTo>
                  <a:lnTo>
                    <a:pt x="1368" y="208"/>
                  </a:lnTo>
                  <a:lnTo>
                    <a:pt x="1367" y="210"/>
                  </a:lnTo>
                  <a:lnTo>
                    <a:pt x="1363" y="210"/>
                  </a:lnTo>
                  <a:lnTo>
                    <a:pt x="1360" y="212"/>
                  </a:lnTo>
                  <a:lnTo>
                    <a:pt x="1356" y="214"/>
                  </a:lnTo>
                  <a:lnTo>
                    <a:pt x="1351" y="215"/>
                  </a:lnTo>
                  <a:lnTo>
                    <a:pt x="1346" y="215"/>
                  </a:lnTo>
                  <a:lnTo>
                    <a:pt x="1343" y="215"/>
                  </a:lnTo>
                  <a:lnTo>
                    <a:pt x="1339" y="214"/>
                  </a:lnTo>
                  <a:lnTo>
                    <a:pt x="1334" y="214"/>
                  </a:lnTo>
                  <a:lnTo>
                    <a:pt x="1330" y="212"/>
                  </a:lnTo>
                  <a:lnTo>
                    <a:pt x="1329" y="186"/>
                  </a:lnTo>
                  <a:lnTo>
                    <a:pt x="1332" y="188"/>
                  </a:lnTo>
                  <a:lnTo>
                    <a:pt x="1336" y="188"/>
                  </a:lnTo>
                  <a:lnTo>
                    <a:pt x="1337" y="188"/>
                  </a:lnTo>
                  <a:lnTo>
                    <a:pt x="1341" y="188"/>
                  </a:lnTo>
                  <a:lnTo>
                    <a:pt x="1344" y="188"/>
                  </a:lnTo>
                  <a:lnTo>
                    <a:pt x="1348" y="186"/>
                  </a:lnTo>
                  <a:lnTo>
                    <a:pt x="1349" y="186"/>
                  </a:lnTo>
                  <a:lnTo>
                    <a:pt x="1351" y="184"/>
                  </a:lnTo>
                  <a:lnTo>
                    <a:pt x="1355" y="181"/>
                  </a:lnTo>
                  <a:lnTo>
                    <a:pt x="1358" y="177"/>
                  </a:lnTo>
                  <a:lnTo>
                    <a:pt x="1360" y="172"/>
                  </a:lnTo>
                  <a:lnTo>
                    <a:pt x="1362" y="167"/>
                  </a:lnTo>
                  <a:lnTo>
                    <a:pt x="1322" y="46"/>
                  </a:lnTo>
                  <a:close/>
                  <a:moveTo>
                    <a:pt x="1501" y="129"/>
                  </a:moveTo>
                  <a:lnTo>
                    <a:pt x="1527" y="134"/>
                  </a:lnTo>
                  <a:lnTo>
                    <a:pt x="1524" y="143"/>
                  </a:lnTo>
                  <a:lnTo>
                    <a:pt x="1520" y="151"/>
                  </a:lnTo>
                  <a:lnTo>
                    <a:pt x="1515" y="157"/>
                  </a:lnTo>
                  <a:lnTo>
                    <a:pt x="1512" y="162"/>
                  </a:lnTo>
                  <a:lnTo>
                    <a:pt x="1505" y="165"/>
                  </a:lnTo>
                  <a:lnTo>
                    <a:pt x="1498" y="167"/>
                  </a:lnTo>
                  <a:lnTo>
                    <a:pt x="1491" y="169"/>
                  </a:lnTo>
                  <a:lnTo>
                    <a:pt x="1482" y="169"/>
                  </a:lnTo>
                  <a:lnTo>
                    <a:pt x="1472" y="169"/>
                  </a:lnTo>
                  <a:lnTo>
                    <a:pt x="1463" y="167"/>
                  </a:lnTo>
                  <a:lnTo>
                    <a:pt x="1457" y="164"/>
                  </a:lnTo>
                  <a:lnTo>
                    <a:pt x="1450" y="157"/>
                  </a:lnTo>
                  <a:lnTo>
                    <a:pt x="1443" y="146"/>
                  </a:lnTo>
                  <a:lnTo>
                    <a:pt x="1439" y="136"/>
                  </a:lnTo>
                  <a:lnTo>
                    <a:pt x="1436" y="122"/>
                  </a:lnTo>
                  <a:lnTo>
                    <a:pt x="1434" y="108"/>
                  </a:lnTo>
                  <a:lnTo>
                    <a:pt x="1436" y="93"/>
                  </a:lnTo>
                  <a:lnTo>
                    <a:pt x="1439" y="81"/>
                  </a:lnTo>
                  <a:lnTo>
                    <a:pt x="1443" y="69"/>
                  </a:lnTo>
                  <a:lnTo>
                    <a:pt x="1450" y="60"/>
                  </a:lnTo>
                  <a:lnTo>
                    <a:pt x="1457" y="53"/>
                  </a:lnTo>
                  <a:lnTo>
                    <a:pt x="1463" y="48"/>
                  </a:lnTo>
                  <a:lnTo>
                    <a:pt x="1472" y="44"/>
                  </a:lnTo>
                  <a:lnTo>
                    <a:pt x="1481" y="43"/>
                  </a:lnTo>
                  <a:lnTo>
                    <a:pt x="1491" y="44"/>
                  </a:lnTo>
                  <a:lnTo>
                    <a:pt x="1500" y="48"/>
                  </a:lnTo>
                  <a:lnTo>
                    <a:pt x="1507" y="53"/>
                  </a:lnTo>
                  <a:lnTo>
                    <a:pt x="1513" y="60"/>
                  </a:lnTo>
                  <a:lnTo>
                    <a:pt x="1520" y="69"/>
                  </a:lnTo>
                  <a:lnTo>
                    <a:pt x="1524" y="81"/>
                  </a:lnTo>
                  <a:lnTo>
                    <a:pt x="1527" y="96"/>
                  </a:lnTo>
                  <a:lnTo>
                    <a:pt x="1529" y="112"/>
                  </a:lnTo>
                  <a:lnTo>
                    <a:pt x="1529" y="115"/>
                  </a:lnTo>
                  <a:lnTo>
                    <a:pt x="1462" y="115"/>
                  </a:lnTo>
                  <a:lnTo>
                    <a:pt x="1462" y="122"/>
                  </a:lnTo>
                  <a:lnTo>
                    <a:pt x="1463" y="129"/>
                  </a:lnTo>
                  <a:lnTo>
                    <a:pt x="1465" y="134"/>
                  </a:lnTo>
                  <a:lnTo>
                    <a:pt x="1469" y="139"/>
                  </a:lnTo>
                  <a:lnTo>
                    <a:pt x="1472" y="141"/>
                  </a:lnTo>
                  <a:lnTo>
                    <a:pt x="1475" y="145"/>
                  </a:lnTo>
                  <a:lnTo>
                    <a:pt x="1479" y="146"/>
                  </a:lnTo>
                  <a:lnTo>
                    <a:pt x="1482" y="146"/>
                  </a:lnTo>
                  <a:lnTo>
                    <a:pt x="1489" y="145"/>
                  </a:lnTo>
                  <a:lnTo>
                    <a:pt x="1494" y="141"/>
                  </a:lnTo>
                  <a:lnTo>
                    <a:pt x="1498" y="136"/>
                  </a:lnTo>
                  <a:lnTo>
                    <a:pt x="1501" y="129"/>
                  </a:lnTo>
                  <a:close/>
                  <a:moveTo>
                    <a:pt x="1501" y="95"/>
                  </a:moveTo>
                  <a:lnTo>
                    <a:pt x="1501" y="89"/>
                  </a:lnTo>
                  <a:lnTo>
                    <a:pt x="1500" y="84"/>
                  </a:lnTo>
                  <a:lnTo>
                    <a:pt x="1498" y="79"/>
                  </a:lnTo>
                  <a:lnTo>
                    <a:pt x="1496" y="74"/>
                  </a:lnTo>
                  <a:lnTo>
                    <a:pt x="1493" y="72"/>
                  </a:lnTo>
                  <a:lnTo>
                    <a:pt x="1489" y="70"/>
                  </a:lnTo>
                  <a:lnTo>
                    <a:pt x="1486" y="69"/>
                  </a:lnTo>
                  <a:lnTo>
                    <a:pt x="1481" y="69"/>
                  </a:lnTo>
                  <a:lnTo>
                    <a:pt x="1477" y="69"/>
                  </a:lnTo>
                  <a:lnTo>
                    <a:pt x="1474" y="70"/>
                  </a:lnTo>
                  <a:lnTo>
                    <a:pt x="1470" y="72"/>
                  </a:lnTo>
                  <a:lnTo>
                    <a:pt x="1469" y="76"/>
                  </a:lnTo>
                  <a:lnTo>
                    <a:pt x="1465" y="79"/>
                  </a:lnTo>
                  <a:lnTo>
                    <a:pt x="1463" y="84"/>
                  </a:lnTo>
                  <a:lnTo>
                    <a:pt x="1462" y="89"/>
                  </a:lnTo>
                  <a:lnTo>
                    <a:pt x="1462" y="95"/>
                  </a:lnTo>
                  <a:lnTo>
                    <a:pt x="1501" y="95"/>
                  </a:lnTo>
                  <a:close/>
                  <a:moveTo>
                    <a:pt x="1574" y="167"/>
                  </a:moveTo>
                  <a:lnTo>
                    <a:pt x="1550" y="167"/>
                  </a:lnTo>
                  <a:lnTo>
                    <a:pt x="1550" y="46"/>
                  </a:lnTo>
                  <a:lnTo>
                    <a:pt x="1572" y="46"/>
                  </a:lnTo>
                  <a:lnTo>
                    <a:pt x="1572" y="63"/>
                  </a:lnTo>
                  <a:lnTo>
                    <a:pt x="1576" y="58"/>
                  </a:lnTo>
                  <a:lnTo>
                    <a:pt x="1579" y="53"/>
                  </a:lnTo>
                  <a:lnTo>
                    <a:pt x="1581" y="50"/>
                  </a:lnTo>
                  <a:lnTo>
                    <a:pt x="1584" y="48"/>
                  </a:lnTo>
                  <a:lnTo>
                    <a:pt x="1588" y="46"/>
                  </a:lnTo>
                  <a:lnTo>
                    <a:pt x="1589" y="44"/>
                  </a:lnTo>
                  <a:lnTo>
                    <a:pt x="1593" y="43"/>
                  </a:lnTo>
                  <a:lnTo>
                    <a:pt x="1595" y="43"/>
                  </a:lnTo>
                  <a:lnTo>
                    <a:pt x="1600" y="43"/>
                  </a:lnTo>
                  <a:lnTo>
                    <a:pt x="1605" y="44"/>
                  </a:lnTo>
                  <a:lnTo>
                    <a:pt x="1608" y="48"/>
                  </a:lnTo>
                  <a:lnTo>
                    <a:pt x="1612" y="50"/>
                  </a:lnTo>
                  <a:lnTo>
                    <a:pt x="1605" y="79"/>
                  </a:lnTo>
                  <a:lnTo>
                    <a:pt x="1602" y="77"/>
                  </a:lnTo>
                  <a:lnTo>
                    <a:pt x="1598" y="76"/>
                  </a:lnTo>
                  <a:lnTo>
                    <a:pt x="1595" y="74"/>
                  </a:lnTo>
                  <a:lnTo>
                    <a:pt x="1591" y="74"/>
                  </a:lnTo>
                  <a:lnTo>
                    <a:pt x="1589" y="74"/>
                  </a:lnTo>
                  <a:lnTo>
                    <a:pt x="1588" y="74"/>
                  </a:lnTo>
                  <a:lnTo>
                    <a:pt x="1584" y="76"/>
                  </a:lnTo>
                  <a:lnTo>
                    <a:pt x="1583" y="77"/>
                  </a:lnTo>
                  <a:lnTo>
                    <a:pt x="1581" y="79"/>
                  </a:lnTo>
                  <a:lnTo>
                    <a:pt x="1579" y="82"/>
                  </a:lnTo>
                  <a:lnTo>
                    <a:pt x="1577" y="88"/>
                  </a:lnTo>
                  <a:lnTo>
                    <a:pt x="1576" y="93"/>
                  </a:lnTo>
                  <a:lnTo>
                    <a:pt x="1576" y="100"/>
                  </a:lnTo>
                  <a:lnTo>
                    <a:pt x="1576" y="107"/>
                  </a:lnTo>
                  <a:lnTo>
                    <a:pt x="1574" y="117"/>
                  </a:lnTo>
                  <a:lnTo>
                    <a:pt x="1574" y="129"/>
                  </a:lnTo>
                  <a:lnTo>
                    <a:pt x="1574" y="1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2" name="Freeform 1790"/>
            <p:cNvSpPr>
              <a:spLocks noEditPoints="1"/>
            </p:cNvSpPr>
            <p:nvPr/>
          </p:nvSpPr>
          <p:spPr bwMode="auto">
            <a:xfrm>
              <a:off x="3052" y="3763"/>
              <a:ext cx="653" cy="105"/>
            </a:xfrm>
            <a:custGeom>
              <a:avLst/>
              <a:gdLst>
                <a:gd name="T0" fmla="*/ 95 w 1307"/>
                <a:gd name="T1" fmla="*/ 19 h 211"/>
                <a:gd name="T2" fmla="*/ 83 w 1307"/>
                <a:gd name="T3" fmla="*/ 95 h 211"/>
                <a:gd name="T4" fmla="*/ 43 w 1307"/>
                <a:gd name="T5" fmla="*/ 76 h 211"/>
                <a:gd name="T6" fmla="*/ 76 w 1307"/>
                <a:gd name="T7" fmla="*/ 57 h 211"/>
                <a:gd name="T8" fmla="*/ 54 w 1307"/>
                <a:gd name="T9" fmla="*/ 30 h 211"/>
                <a:gd name="T10" fmla="*/ 173 w 1307"/>
                <a:gd name="T11" fmla="*/ 45 h 211"/>
                <a:gd name="T12" fmla="*/ 213 w 1307"/>
                <a:gd name="T13" fmla="*/ 73 h 211"/>
                <a:gd name="T14" fmla="*/ 182 w 1307"/>
                <a:gd name="T15" fmla="*/ 73 h 211"/>
                <a:gd name="T16" fmla="*/ 151 w 1307"/>
                <a:gd name="T17" fmla="*/ 107 h 211"/>
                <a:gd name="T18" fmla="*/ 285 w 1307"/>
                <a:gd name="T19" fmla="*/ 181 h 211"/>
                <a:gd name="T20" fmla="*/ 254 w 1307"/>
                <a:gd name="T21" fmla="*/ 211 h 211"/>
                <a:gd name="T22" fmla="*/ 247 w 1307"/>
                <a:gd name="T23" fmla="*/ 185 h 211"/>
                <a:gd name="T24" fmla="*/ 365 w 1307"/>
                <a:gd name="T25" fmla="*/ 135 h 211"/>
                <a:gd name="T26" fmla="*/ 397 w 1307"/>
                <a:gd name="T27" fmla="*/ 133 h 211"/>
                <a:gd name="T28" fmla="*/ 356 w 1307"/>
                <a:gd name="T29" fmla="*/ 111 h 211"/>
                <a:gd name="T30" fmla="*/ 361 w 1307"/>
                <a:gd name="T31" fmla="*/ 47 h 211"/>
                <a:gd name="T32" fmla="*/ 397 w 1307"/>
                <a:gd name="T33" fmla="*/ 80 h 211"/>
                <a:gd name="T34" fmla="*/ 361 w 1307"/>
                <a:gd name="T35" fmla="*/ 74 h 211"/>
                <a:gd name="T36" fmla="*/ 408 w 1307"/>
                <a:gd name="T37" fmla="*/ 97 h 211"/>
                <a:gd name="T38" fmla="*/ 408 w 1307"/>
                <a:gd name="T39" fmla="*/ 161 h 211"/>
                <a:gd name="T40" fmla="*/ 335 w 1307"/>
                <a:gd name="T41" fmla="*/ 131 h 211"/>
                <a:gd name="T42" fmla="*/ 586 w 1307"/>
                <a:gd name="T43" fmla="*/ 81 h 211"/>
                <a:gd name="T44" fmla="*/ 523 w 1307"/>
                <a:gd name="T45" fmla="*/ 86 h 211"/>
                <a:gd name="T46" fmla="*/ 548 w 1307"/>
                <a:gd name="T47" fmla="*/ 142 h 211"/>
                <a:gd name="T48" fmla="*/ 560 w 1307"/>
                <a:gd name="T49" fmla="*/ 162 h 211"/>
                <a:gd name="T50" fmla="*/ 499 w 1307"/>
                <a:gd name="T51" fmla="*/ 80 h 211"/>
                <a:gd name="T52" fmla="*/ 575 w 1307"/>
                <a:gd name="T53" fmla="*/ 57 h 211"/>
                <a:gd name="T54" fmla="*/ 629 w 1307"/>
                <a:gd name="T55" fmla="*/ 45 h 211"/>
                <a:gd name="T56" fmla="*/ 682 w 1307"/>
                <a:gd name="T57" fmla="*/ 66 h 211"/>
                <a:gd name="T58" fmla="*/ 691 w 1307"/>
                <a:gd name="T59" fmla="*/ 161 h 211"/>
                <a:gd name="T60" fmla="*/ 632 w 1307"/>
                <a:gd name="T61" fmla="*/ 164 h 211"/>
                <a:gd name="T62" fmla="*/ 603 w 1307"/>
                <a:gd name="T63" fmla="*/ 119 h 211"/>
                <a:gd name="T64" fmla="*/ 651 w 1307"/>
                <a:gd name="T65" fmla="*/ 92 h 211"/>
                <a:gd name="T66" fmla="*/ 651 w 1307"/>
                <a:gd name="T67" fmla="*/ 67 h 211"/>
                <a:gd name="T68" fmla="*/ 627 w 1307"/>
                <a:gd name="T69" fmla="*/ 83 h 211"/>
                <a:gd name="T70" fmla="*/ 627 w 1307"/>
                <a:gd name="T71" fmla="*/ 124 h 211"/>
                <a:gd name="T72" fmla="*/ 643 w 1307"/>
                <a:gd name="T73" fmla="*/ 147 h 211"/>
                <a:gd name="T74" fmla="*/ 660 w 1307"/>
                <a:gd name="T75" fmla="*/ 116 h 211"/>
                <a:gd name="T76" fmla="*/ 912 w 1307"/>
                <a:gd name="T77" fmla="*/ 138 h 211"/>
                <a:gd name="T78" fmla="*/ 960 w 1307"/>
                <a:gd name="T79" fmla="*/ 43 h 211"/>
                <a:gd name="T80" fmla="*/ 1007 w 1307"/>
                <a:gd name="T81" fmla="*/ 73 h 211"/>
                <a:gd name="T82" fmla="*/ 1015 w 1307"/>
                <a:gd name="T83" fmla="*/ 164 h 211"/>
                <a:gd name="T84" fmla="*/ 950 w 1307"/>
                <a:gd name="T85" fmla="*/ 164 h 211"/>
                <a:gd name="T86" fmla="*/ 927 w 1307"/>
                <a:gd name="T87" fmla="*/ 116 h 211"/>
                <a:gd name="T88" fmla="*/ 979 w 1307"/>
                <a:gd name="T89" fmla="*/ 90 h 211"/>
                <a:gd name="T90" fmla="*/ 972 w 1307"/>
                <a:gd name="T91" fmla="*/ 67 h 211"/>
                <a:gd name="T92" fmla="*/ 983 w 1307"/>
                <a:gd name="T93" fmla="*/ 109 h 211"/>
                <a:gd name="T94" fmla="*/ 950 w 1307"/>
                <a:gd name="T95" fmla="*/ 128 h 211"/>
                <a:gd name="T96" fmla="*/ 969 w 1307"/>
                <a:gd name="T97" fmla="*/ 145 h 211"/>
                <a:gd name="T98" fmla="*/ 983 w 1307"/>
                <a:gd name="T99" fmla="*/ 109 h 211"/>
                <a:gd name="T100" fmla="*/ 1074 w 1307"/>
                <a:gd name="T101" fmla="*/ 199 h 211"/>
                <a:gd name="T102" fmla="*/ 1036 w 1307"/>
                <a:gd name="T103" fmla="*/ 209 h 211"/>
                <a:gd name="T104" fmla="*/ 1055 w 1307"/>
                <a:gd name="T105" fmla="*/ 178 h 211"/>
                <a:gd name="T106" fmla="*/ 1202 w 1307"/>
                <a:gd name="T107" fmla="*/ 162 h 211"/>
                <a:gd name="T108" fmla="*/ 1133 w 1307"/>
                <a:gd name="T109" fmla="*/ 107 h 211"/>
                <a:gd name="T110" fmla="*/ 1204 w 1307"/>
                <a:gd name="T111" fmla="*/ 52 h 211"/>
                <a:gd name="T112" fmla="*/ 1166 w 1307"/>
                <a:gd name="T113" fmla="*/ 136 h 211"/>
                <a:gd name="T114" fmla="*/ 1197 w 1307"/>
                <a:gd name="T115" fmla="*/ 83 h 211"/>
                <a:gd name="T116" fmla="*/ 1164 w 1307"/>
                <a:gd name="T117" fmla="*/ 80 h 211"/>
                <a:gd name="T118" fmla="*/ 1276 w 1307"/>
                <a:gd name="T119" fmla="*/ 54 h 211"/>
                <a:gd name="T120" fmla="*/ 1298 w 1307"/>
                <a:gd name="T121" fmla="*/ 78 h 211"/>
                <a:gd name="T122" fmla="*/ 1276 w 1307"/>
                <a:gd name="T123" fmla="*/ 8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07" h="211">
                  <a:moveTo>
                    <a:pt x="0" y="164"/>
                  </a:moveTo>
                  <a:lnTo>
                    <a:pt x="0" y="0"/>
                  </a:lnTo>
                  <a:lnTo>
                    <a:pt x="43" y="0"/>
                  </a:lnTo>
                  <a:lnTo>
                    <a:pt x="56" y="0"/>
                  </a:lnTo>
                  <a:lnTo>
                    <a:pt x="64" y="2"/>
                  </a:lnTo>
                  <a:lnTo>
                    <a:pt x="71" y="2"/>
                  </a:lnTo>
                  <a:lnTo>
                    <a:pt x="76" y="4"/>
                  </a:lnTo>
                  <a:lnTo>
                    <a:pt x="81" y="7"/>
                  </a:lnTo>
                  <a:lnTo>
                    <a:pt x="87" y="11"/>
                  </a:lnTo>
                  <a:lnTo>
                    <a:pt x="92" y="14"/>
                  </a:lnTo>
                  <a:lnTo>
                    <a:pt x="95" y="19"/>
                  </a:lnTo>
                  <a:lnTo>
                    <a:pt x="99" y="26"/>
                  </a:lnTo>
                  <a:lnTo>
                    <a:pt x="100" y="33"/>
                  </a:lnTo>
                  <a:lnTo>
                    <a:pt x="102" y="42"/>
                  </a:lnTo>
                  <a:lnTo>
                    <a:pt x="102" y="52"/>
                  </a:lnTo>
                  <a:lnTo>
                    <a:pt x="102" y="61"/>
                  </a:lnTo>
                  <a:lnTo>
                    <a:pt x="100" y="67"/>
                  </a:lnTo>
                  <a:lnTo>
                    <a:pt x="99" y="74"/>
                  </a:lnTo>
                  <a:lnTo>
                    <a:pt x="97" y="81"/>
                  </a:lnTo>
                  <a:lnTo>
                    <a:pt x="94" y="86"/>
                  </a:lnTo>
                  <a:lnTo>
                    <a:pt x="88" y="92"/>
                  </a:lnTo>
                  <a:lnTo>
                    <a:pt x="83" y="95"/>
                  </a:lnTo>
                  <a:lnTo>
                    <a:pt x="80" y="99"/>
                  </a:lnTo>
                  <a:lnTo>
                    <a:pt x="73" y="100"/>
                  </a:lnTo>
                  <a:lnTo>
                    <a:pt x="66" y="102"/>
                  </a:lnTo>
                  <a:lnTo>
                    <a:pt x="56" y="104"/>
                  </a:lnTo>
                  <a:lnTo>
                    <a:pt x="45" y="104"/>
                  </a:lnTo>
                  <a:lnTo>
                    <a:pt x="26" y="104"/>
                  </a:lnTo>
                  <a:lnTo>
                    <a:pt x="26" y="164"/>
                  </a:lnTo>
                  <a:lnTo>
                    <a:pt x="0" y="164"/>
                  </a:lnTo>
                  <a:close/>
                  <a:moveTo>
                    <a:pt x="26" y="30"/>
                  </a:moveTo>
                  <a:lnTo>
                    <a:pt x="26" y="76"/>
                  </a:lnTo>
                  <a:lnTo>
                    <a:pt x="43" y="76"/>
                  </a:lnTo>
                  <a:lnTo>
                    <a:pt x="50" y="76"/>
                  </a:lnTo>
                  <a:lnTo>
                    <a:pt x="56" y="74"/>
                  </a:lnTo>
                  <a:lnTo>
                    <a:pt x="59" y="74"/>
                  </a:lnTo>
                  <a:lnTo>
                    <a:pt x="62" y="73"/>
                  </a:lnTo>
                  <a:lnTo>
                    <a:pt x="66" y="71"/>
                  </a:lnTo>
                  <a:lnTo>
                    <a:pt x="68" y="69"/>
                  </a:lnTo>
                  <a:lnTo>
                    <a:pt x="71" y="69"/>
                  </a:lnTo>
                  <a:lnTo>
                    <a:pt x="73" y="67"/>
                  </a:lnTo>
                  <a:lnTo>
                    <a:pt x="75" y="64"/>
                  </a:lnTo>
                  <a:lnTo>
                    <a:pt x="75" y="61"/>
                  </a:lnTo>
                  <a:lnTo>
                    <a:pt x="76" y="57"/>
                  </a:lnTo>
                  <a:lnTo>
                    <a:pt x="76" y="52"/>
                  </a:lnTo>
                  <a:lnTo>
                    <a:pt x="76" y="48"/>
                  </a:lnTo>
                  <a:lnTo>
                    <a:pt x="75" y="45"/>
                  </a:lnTo>
                  <a:lnTo>
                    <a:pt x="75" y="42"/>
                  </a:lnTo>
                  <a:lnTo>
                    <a:pt x="73" y="38"/>
                  </a:lnTo>
                  <a:lnTo>
                    <a:pt x="71" y="36"/>
                  </a:lnTo>
                  <a:lnTo>
                    <a:pt x="68" y="35"/>
                  </a:lnTo>
                  <a:lnTo>
                    <a:pt x="66" y="33"/>
                  </a:lnTo>
                  <a:lnTo>
                    <a:pt x="62" y="31"/>
                  </a:lnTo>
                  <a:lnTo>
                    <a:pt x="59" y="30"/>
                  </a:lnTo>
                  <a:lnTo>
                    <a:pt x="54" y="30"/>
                  </a:lnTo>
                  <a:lnTo>
                    <a:pt x="49" y="30"/>
                  </a:lnTo>
                  <a:lnTo>
                    <a:pt x="40" y="30"/>
                  </a:lnTo>
                  <a:lnTo>
                    <a:pt x="26" y="30"/>
                  </a:lnTo>
                  <a:close/>
                  <a:moveTo>
                    <a:pt x="151" y="0"/>
                  </a:moveTo>
                  <a:lnTo>
                    <a:pt x="151" y="61"/>
                  </a:lnTo>
                  <a:lnTo>
                    <a:pt x="154" y="57"/>
                  </a:lnTo>
                  <a:lnTo>
                    <a:pt x="157" y="54"/>
                  </a:lnTo>
                  <a:lnTo>
                    <a:pt x="161" y="52"/>
                  </a:lnTo>
                  <a:lnTo>
                    <a:pt x="164" y="48"/>
                  </a:lnTo>
                  <a:lnTo>
                    <a:pt x="168" y="47"/>
                  </a:lnTo>
                  <a:lnTo>
                    <a:pt x="173" y="45"/>
                  </a:lnTo>
                  <a:lnTo>
                    <a:pt x="176" y="43"/>
                  </a:lnTo>
                  <a:lnTo>
                    <a:pt x="180" y="43"/>
                  </a:lnTo>
                  <a:lnTo>
                    <a:pt x="187" y="43"/>
                  </a:lnTo>
                  <a:lnTo>
                    <a:pt x="192" y="45"/>
                  </a:lnTo>
                  <a:lnTo>
                    <a:pt x="195" y="48"/>
                  </a:lnTo>
                  <a:lnTo>
                    <a:pt x="199" y="50"/>
                  </a:lnTo>
                  <a:lnTo>
                    <a:pt x="204" y="54"/>
                  </a:lnTo>
                  <a:lnTo>
                    <a:pt x="207" y="57"/>
                  </a:lnTo>
                  <a:lnTo>
                    <a:pt x="209" y="62"/>
                  </a:lnTo>
                  <a:lnTo>
                    <a:pt x="211" y="67"/>
                  </a:lnTo>
                  <a:lnTo>
                    <a:pt x="213" y="73"/>
                  </a:lnTo>
                  <a:lnTo>
                    <a:pt x="213" y="78"/>
                  </a:lnTo>
                  <a:lnTo>
                    <a:pt x="213" y="86"/>
                  </a:lnTo>
                  <a:lnTo>
                    <a:pt x="213" y="95"/>
                  </a:lnTo>
                  <a:lnTo>
                    <a:pt x="213" y="164"/>
                  </a:lnTo>
                  <a:lnTo>
                    <a:pt x="187" y="164"/>
                  </a:lnTo>
                  <a:lnTo>
                    <a:pt x="187" y="102"/>
                  </a:lnTo>
                  <a:lnTo>
                    <a:pt x="187" y="92"/>
                  </a:lnTo>
                  <a:lnTo>
                    <a:pt x="187" y="85"/>
                  </a:lnTo>
                  <a:lnTo>
                    <a:pt x="187" y="78"/>
                  </a:lnTo>
                  <a:lnTo>
                    <a:pt x="185" y="74"/>
                  </a:lnTo>
                  <a:lnTo>
                    <a:pt x="182" y="73"/>
                  </a:lnTo>
                  <a:lnTo>
                    <a:pt x="180" y="69"/>
                  </a:lnTo>
                  <a:lnTo>
                    <a:pt x="176" y="67"/>
                  </a:lnTo>
                  <a:lnTo>
                    <a:pt x="173" y="67"/>
                  </a:lnTo>
                  <a:lnTo>
                    <a:pt x="168" y="67"/>
                  </a:lnTo>
                  <a:lnTo>
                    <a:pt x="163" y="69"/>
                  </a:lnTo>
                  <a:lnTo>
                    <a:pt x="159" y="73"/>
                  </a:lnTo>
                  <a:lnTo>
                    <a:pt x="156" y="76"/>
                  </a:lnTo>
                  <a:lnTo>
                    <a:pt x="154" y="81"/>
                  </a:lnTo>
                  <a:lnTo>
                    <a:pt x="152" y="86"/>
                  </a:lnTo>
                  <a:lnTo>
                    <a:pt x="151" y="95"/>
                  </a:lnTo>
                  <a:lnTo>
                    <a:pt x="151" y="107"/>
                  </a:lnTo>
                  <a:lnTo>
                    <a:pt x="151" y="164"/>
                  </a:lnTo>
                  <a:lnTo>
                    <a:pt x="125" y="164"/>
                  </a:lnTo>
                  <a:lnTo>
                    <a:pt x="125" y="0"/>
                  </a:lnTo>
                  <a:lnTo>
                    <a:pt x="151" y="0"/>
                  </a:lnTo>
                  <a:close/>
                  <a:moveTo>
                    <a:pt x="226" y="47"/>
                  </a:moveTo>
                  <a:lnTo>
                    <a:pt x="254" y="47"/>
                  </a:lnTo>
                  <a:lnTo>
                    <a:pt x="277" y="131"/>
                  </a:lnTo>
                  <a:lnTo>
                    <a:pt x="301" y="47"/>
                  </a:lnTo>
                  <a:lnTo>
                    <a:pt x="327" y="47"/>
                  </a:lnTo>
                  <a:lnTo>
                    <a:pt x="294" y="161"/>
                  </a:lnTo>
                  <a:lnTo>
                    <a:pt x="285" y="181"/>
                  </a:lnTo>
                  <a:lnTo>
                    <a:pt x="285" y="187"/>
                  </a:lnTo>
                  <a:lnTo>
                    <a:pt x="283" y="192"/>
                  </a:lnTo>
                  <a:lnTo>
                    <a:pt x="280" y="195"/>
                  </a:lnTo>
                  <a:lnTo>
                    <a:pt x="278" y="199"/>
                  </a:lnTo>
                  <a:lnTo>
                    <a:pt x="275" y="200"/>
                  </a:lnTo>
                  <a:lnTo>
                    <a:pt x="273" y="204"/>
                  </a:lnTo>
                  <a:lnTo>
                    <a:pt x="270" y="206"/>
                  </a:lnTo>
                  <a:lnTo>
                    <a:pt x="266" y="209"/>
                  </a:lnTo>
                  <a:lnTo>
                    <a:pt x="263" y="209"/>
                  </a:lnTo>
                  <a:lnTo>
                    <a:pt x="259" y="209"/>
                  </a:lnTo>
                  <a:lnTo>
                    <a:pt x="254" y="211"/>
                  </a:lnTo>
                  <a:lnTo>
                    <a:pt x="249" y="211"/>
                  </a:lnTo>
                  <a:lnTo>
                    <a:pt x="245" y="211"/>
                  </a:lnTo>
                  <a:lnTo>
                    <a:pt x="242" y="209"/>
                  </a:lnTo>
                  <a:lnTo>
                    <a:pt x="239" y="209"/>
                  </a:lnTo>
                  <a:lnTo>
                    <a:pt x="235" y="209"/>
                  </a:lnTo>
                  <a:lnTo>
                    <a:pt x="233" y="183"/>
                  </a:lnTo>
                  <a:lnTo>
                    <a:pt x="237" y="183"/>
                  </a:lnTo>
                  <a:lnTo>
                    <a:pt x="239" y="183"/>
                  </a:lnTo>
                  <a:lnTo>
                    <a:pt x="242" y="185"/>
                  </a:lnTo>
                  <a:lnTo>
                    <a:pt x="245" y="185"/>
                  </a:lnTo>
                  <a:lnTo>
                    <a:pt x="247" y="185"/>
                  </a:lnTo>
                  <a:lnTo>
                    <a:pt x="251" y="183"/>
                  </a:lnTo>
                  <a:lnTo>
                    <a:pt x="252" y="183"/>
                  </a:lnTo>
                  <a:lnTo>
                    <a:pt x="256" y="181"/>
                  </a:lnTo>
                  <a:lnTo>
                    <a:pt x="259" y="178"/>
                  </a:lnTo>
                  <a:lnTo>
                    <a:pt x="261" y="174"/>
                  </a:lnTo>
                  <a:lnTo>
                    <a:pt x="264" y="169"/>
                  </a:lnTo>
                  <a:lnTo>
                    <a:pt x="266" y="164"/>
                  </a:lnTo>
                  <a:lnTo>
                    <a:pt x="226" y="47"/>
                  </a:lnTo>
                  <a:close/>
                  <a:moveTo>
                    <a:pt x="335" y="131"/>
                  </a:moveTo>
                  <a:lnTo>
                    <a:pt x="361" y="128"/>
                  </a:lnTo>
                  <a:lnTo>
                    <a:pt x="365" y="135"/>
                  </a:lnTo>
                  <a:lnTo>
                    <a:pt x="370" y="142"/>
                  </a:lnTo>
                  <a:lnTo>
                    <a:pt x="375" y="145"/>
                  </a:lnTo>
                  <a:lnTo>
                    <a:pt x="382" y="147"/>
                  </a:lnTo>
                  <a:lnTo>
                    <a:pt x="385" y="147"/>
                  </a:lnTo>
                  <a:lnTo>
                    <a:pt x="389" y="145"/>
                  </a:lnTo>
                  <a:lnTo>
                    <a:pt x="392" y="143"/>
                  </a:lnTo>
                  <a:lnTo>
                    <a:pt x="396" y="142"/>
                  </a:lnTo>
                  <a:lnTo>
                    <a:pt x="397" y="140"/>
                  </a:lnTo>
                  <a:lnTo>
                    <a:pt x="397" y="138"/>
                  </a:lnTo>
                  <a:lnTo>
                    <a:pt x="397" y="135"/>
                  </a:lnTo>
                  <a:lnTo>
                    <a:pt x="397" y="133"/>
                  </a:lnTo>
                  <a:lnTo>
                    <a:pt x="397" y="131"/>
                  </a:lnTo>
                  <a:lnTo>
                    <a:pt x="397" y="130"/>
                  </a:lnTo>
                  <a:lnTo>
                    <a:pt x="397" y="128"/>
                  </a:lnTo>
                  <a:lnTo>
                    <a:pt x="397" y="128"/>
                  </a:lnTo>
                  <a:lnTo>
                    <a:pt x="396" y="126"/>
                  </a:lnTo>
                  <a:lnTo>
                    <a:pt x="396" y="124"/>
                  </a:lnTo>
                  <a:lnTo>
                    <a:pt x="394" y="124"/>
                  </a:lnTo>
                  <a:lnTo>
                    <a:pt x="390" y="123"/>
                  </a:lnTo>
                  <a:lnTo>
                    <a:pt x="375" y="119"/>
                  </a:lnTo>
                  <a:lnTo>
                    <a:pt x="365" y="114"/>
                  </a:lnTo>
                  <a:lnTo>
                    <a:pt x="356" y="111"/>
                  </a:lnTo>
                  <a:lnTo>
                    <a:pt x="349" y="107"/>
                  </a:lnTo>
                  <a:lnTo>
                    <a:pt x="344" y="102"/>
                  </a:lnTo>
                  <a:lnTo>
                    <a:pt x="342" y="95"/>
                  </a:lnTo>
                  <a:lnTo>
                    <a:pt x="339" y="86"/>
                  </a:lnTo>
                  <a:lnTo>
                    <a:pt x="339" y="80"/>
                  </a:lnTo>
                  <a:lnTo>
                    <a:pt x="339" y="73"/>
                  </a:lnTo>
                  <a:lnTo>
                    <a:pt x="342" y="64"/>
                  </a:lnTo>
                  <a:lnTo>
                    <a:pt x="344" y="59"/>
                  </a:lnTo>
                  <a:lnTo>
                    <a:pt x="349" y="54"/>
                  </a:lnTo>
                  <a:lnTo>
                    <a:pt x="354" y="50"/>
                  </a:lnTo>
                  <a:lnTo>
                    <a:pt x="361" y="47"/>
                  </a:lnTo>
                  <a:lnTo>
                    <a:pt x="370" y="45"/>
                  </a:lnTo>
                  <a:lnTo>
                    <a:pt x="378" y="43"/>
                  </a:lnTo>
                  <a:lnTo>
                    <a:pt x="389" y="43"/>
                  </a:lnTo>
                  <a:lnTo>
                    <a:pt x="397" y="45"/>
                  </a:lnTo>
                  <a:lnTo>
                    <a:pt x="404" y="48"/>
                  </a:lnTo>
                  <a:lnTo>
                    <a:pt x="409" y="52"/>
                  </a:lnTo>
                  <a:lnTo>
                    <a:pt x="415" y="55"/>
                  </a:lnTo>
                  <a:lnTo>
                    <a:pt x="418" y="61"/>
                  </a:lnTo>
                  <a:lnTo>
                    <a:pt x="420" y="67"/>
                  </a:lnTo>
                  <a:lnTo>
                    <a:pt x="423" y="74"/>
                  </a:lnTo>
                  <a:lnTo>
                    <a:pt x="397" y="80"/>
                  </a:lnTo>
                  <a:lnTo>
                    <a:pt x="396" y="74"/>
                  </a:lnTo>
                  <a:lnTo>
                    <a:pt x="392" y="71"/>
                  </a:lnTo>
                  <a:lnTo>
                    <a:pt x="387" y="67"/>
                  </a:lnTo>
                  <a:lnTo>
                    <a:pt x="380" y="67"/>
                  </a:lnTo>
                  <a:lnTo>
                    <a:pt x="377" y="67"/>
                  </a:lnTo>
                  <a:lnTo>
                    <a:pt x="371" y="67"/>
                  </a:lnTo>
                  <a:lnTo>
                    <a:pt x="368" y="67"/>
                  </a:lnTo>
                  <a:lnTo>
                    <a:pt x="366" y="69"/>
                  </a:lnTo>
                  <a:lnTo>
                    <a:pt x="365" y="71"/>
                  </a:lnTo>
                  <a:lnTo>
                    <a:pt x="363" y="73"/>
                  </a:lnTo>
                  <a:lnTo>
                    <a:pt x="361" y="74"/>
                  </a:lnTo>
                  <a:lnTo>
                    <a:pt x="361" y="76"/>
                  </a:lnTo>
                  <a:lnTo>
                    <a:pt x="361" y="78"/>
                  </a:lnTo>
                  <a:lnTo>
                    <a:pt x="363" y="80"/>
                  </a:lnTo>
                  <a:lnTo>
                    <a:pt x="365" y="81"/>
                  </a:lnTo>
                  <a:lnTo>
                    <a:pt x="366" y="83"/>
                  </a:lnTo>
                  <a:lnTo>
                    <a:pt x="368" y="85"/>
                  </a:lnTo>
                  <a:lnTo>
                    <a:pt x="373" y="86"/>
                  </a:lnTo>
                  <a:lnTo>
                    <a:pt x="380" y="88"/>
                  </a:lnTo>
                  <a:lnTo>
                    <a:pt x="389" y="90"/>
                  </a:lnTo>
                  <a:lnTo>
                    <a:pt x="399" y="93"/>
                  </a:lnTo>
                  <a:lnTo>
                    <a:pt x="408" y="97"/>
                  </a:lnTo>
                  <a:lnTo>
                    <a:pt x="413" y="102"/>
                  </a:lnTo>
                  <a:lnTo>
                    <a:pt x="416" y="107"/>
                  </a:lnTo>
                  <a:lnTo>
                    <a:pt x="422" y="111"/>
                  </a:lnTo>
                  <a:lnTo>
                    <a:pt x="425" y="116"/>
                  </a:lnTo>
                  <a:lnTo>
                    <a:pt x="427" y="121"/>
                  </a:lnTo>
                  <a:lnTo>
                    <a:pt x="427" y="128"/>
                  </a:lnTo>
                  <a:lnTo>
                    <a:pt x="425" y="136"/>
                  </a:lnTo>
                  <a:lnTo>
                    <a:pt x="423" y="143"/>
                  </a:lnTo>
                  <a:lnTo>
                    <a:pt x="420" y="150"/>
                  </a:lnTo>
                  <a:lnTo>
                    <a:pt x="415" y="157"/>
                  </a:lnTo>
                  <a:lnTo>
                    <a:pt x="408" y="161"/>
                  </a:lnTo>
                  <a:lnTo>
                    <a:pt x="401" y="162"/>
                  </a:lnTo>
                  <a:lnTo>
                    <a:pt x="392" y="164"/>
                  </a:lnTo>
                  <a:lnTo>
                    <a:pt x="382" y="164"/>
                  </a:lnTo>
                  <a:lnTo>
                    <a:pt x="373" y="164"/>
                  </a:lnTo>
                  <a:lnTo>
                    <a:pt x="365" y="164"/>
                  </a:lnTo>
                  <a:lnTo>
                    <a:pt x="358" y="162"/>
                  </a:lnTo>
                  <a:lnTo>
                    <a:pt x="351" y="159"/>
                  </a:lnTo>
                  <a:lnTo>
                    <a:pt x="346" y="154"/>
                  </a:lnTo>
                  <a:lnTo>
                    <a:pt x="340" y="147"/>
                  </a:lnTo>
                  <a:lnTo>
                    <a:pt x="339" y="140"/>
                  </a:lnTo>
                  <a:lnTo>
                    <a:pt x="335" y="131"/>
                  </a:lnTo>
                  <a:close/>
                  <a:moveTo>
                    <a:pt x="449" y="30"/>
                  </a:moveTo>
                  <a:lnTo>
                    <a:pt x="449" y="0"/>
                  </a:lnTo>
                  <a:lnTo>
                    <a:pt x="475" y="0"/>
                  </a:lnTo>
                  <a:lnTo>
                    <a:pt x="475" y="30"/>
                  </a:lnTo>
                  <a:lnTo>
                    <a:pt x="449" y="30"/>
                  </a:lnTo>
                  <a:close/>
                  <a:moveTo>
                    <a:pt x="449" y="164"/>
                  </a:moveTo>
                  <a:lnTo>
                    <a:pt x="449" y="47"/>
                  </a:lnTo>
                  <a:lnTo>
                    <a:pt x="475" y="47"/>
                  </a:lnTo>
                  <a:lnTo>
                    <a:pt x="475" y="164"/>
                  </a:lnTo>
                  <a:lnTo>
                    <a:pt x="449" y="164"/>
                  </a:lnTo>
                  <a:close/>
                  <a:moveTo>
                    <a:pt x="586" y="81"/>
                  </a:moveTo>
                  <a:lnTo>
                    <a:pt x="561" y="88"/>
                  </a:lnTo>
                  <a:lnTo>
                    <a:pt x="558" y="80"/>
                  </a:lnTo>
                  <a:lnTo>
                    <a:pt x="554" y="73"/>
                  </a:lnTo>
                  <a:lnTo>
                    <a:pt x="549" y="69"/>
                  </a:lnTo>
                  <a:lnTo>
                    <a:pt x="544" y="67"/>
                  </a:lnTo>
                  <a:lnTo>
                    <a:pt x="539" y="67"/>
                  </a:lnTo>
                  <a:lnTo>
                    <a:pt x="534" y="69"/>
                  </a:lnTo>
                  <a:lnTo>
                    <a:pt x="530" y="73"/>
                  </a:lnTo>
                  <a:lnTo>
                    <a:pt x="529" y="76"/>
                  </a:lnTo>
                  <a:lnTo>
                    <a:pt x="527" y="81"/>
                  </a:lnTo>
                  <a:lnTo>
                    <a:pt x="523" y="86"/>
                  </a:lnTo>
                  <a:lnTo>
                    <a:pt x="522" y="95"/>
                  </a:lnTo>
                  <a:lnTo>
                    <a:pt x="522" y="104"/>
                  </a:lnTo>
                  <a:lnTo>
                    <a:pt x="522" y="114"/>
                  </a:lnTo>
                  <a:lnTo>
                    <a:pt x="523" y="121"/>
                  </a:lnTo>
                  <a:lnTo>
                    <a:pt x="527" y="128"/>
                  </a:lnTo>
                  <a:lnTo>
                    <a:pt x="529" y="133"/>
                  </a:lnTo>
                  <a:lnTo>
                    <a:pt x="530" y="136"/>
                  </a:lnTo>
                  <a:lnTo>
                    <a:pt x="534" y="140"/>
                  </a:lnTo>
                  <a:lnTo>
                    <a:pt x="539" y="142"/>
                  </a:lnTo>
                  <a:lnTo>
                    <a:pt x="544" y="142"/>
                  </a:lnTo>
                  <a:lnTo>
                    <a:pt x="548" y="142"/>
                  </a:lnTo>
                  <a:lnTo>
                    <a:pt x="549" y="140"/>
                  </a:lnTo>
                  <a:lnTo>
                    <a:pt x="553" y="140"/>
                  </a:lnTo>
                  <a:lnTo>
                    <a:pt x="554" y="138"/>
                  </a:lnTo>
                  <a:lnTo>
                    <a:pt x="556" y="135"/>
                  </a:lnTo>
                  <a:lnTo>
                    <a:pt x="558" y="130"/>
                  </a:lnTo>
                  <a:lnTo>
                    <a:pt x="560" y="124"/>
                  </a:lnTo>
                  <a:lnTo>
                    <a:pt x="561" y="119"/>
                  </a:lnTo>
                  <a:lnTo>
                    <a:pt x="587" y="126"/>
                  </a:lnTo>
                  <a:lnTo>
                    <a:pt x="582" y="143"/>
                  </a:lnTo>
                  <a:lnTo>
                    <a:pt x="572" y="155"/>
                  </a:lnTo>
                  <a:lnTo>
                    <a:pt x="560" y="162"/>
                  </a:lnTo>
                  <a:lnTo>
                    <a:pt x="542" y="164"/>
                  </a:lnTo>
                  <a:lnTo>
                    <a:pt x="532" y="164"/>
                  </a:lnTo>
                  <a:lnTo>
                    <a:pt x="522" y="161"/>
                  </a:lnTo>
                  <a:lnTo>
                    <a:pt x="513" y="157"/>
                  </a:lnTo>
                  <a:lnTo>
                    <a:pt x="506" y="149"/>
                  </a:lnTo>
                  <a:lnTo>
                    <a:pt x="501" y="140"/>
                  </a:lnTo>
                  <a:lnTo>
                    <a:pt x="499" y="130"/>
                  </a:lnTo>
                  <a:lnTo>
                    <a:pt x="496" y="119"/>
                  </a:lnTo>
                  <a:lnTo>
                    <a:pt x="496" y="107"/>
                  </a:lnTo>
                  <a:lnTo>
                    <a:pt x="496" y="93"/>
                  </a:lnTo>
                  <a:lnTo>
                    <a:pt x="499" y="80"/>
                  </a:lnTo>
                  <a:lnTo>
                    <a:pt x="503" y="69"/>
                  </a:lnTo>
                  <a:lnTo>
                    <a:pt x="508" y="59"/>
                  </a:lnTo>
                  <a:lnTo>
                    <a:pt x="515" y="52"/>
                  </a:lnTo>
                  <a:lnTo>
                    <a:pt x="523" y="47"/>
                  </a:lnTo>
                  <a:lnTo>
                    <a:pt x="532" y="45"/>
                  </a:lnTo>
                  <a:lnTo>
                    <a:pt x="542" y="43"/>
                  </a:lnTo>
                  <a:lnTo>
                    <a:pt x="551" y="43"/>
                  </a:lnTo>
                  <a:lnTo>
                    <a:pt x="558" y="45"/>
                  </a:lnTo>
                  <a:lnTo>
                    <a:pt x="565" y="48"/>
                  </a:lnTo>
                  <a:lnTo>
                    <a:pt x="570" y="52"/>
                  </a:lnTo>
                  <a:lnTo>
                    <a:pt x="575" y="57"/>
                  </a:lnTo>
                  <a:lnTo>
                    <a:pt x="580" y="64"/>
                  </a:lnTo>
                  <a:lnTo>
                    <a:pt x="584" y="73"/>
                  </a:lnTo>
                  <a:lnTo>
                    <a:pt x="586" y="81"/>
                  </a:lnTo>
                  <a:close/>
                  <a:moveTo>
                    <a:pt x="627" y="83"/>
                  </a:moveTo>
                  <a:lnTo>
                    <a:pt x="605" y="78"/>
                  </a:lnTo>
                  <a:lnTo>
                    <a:pt x="606" y="69"/>
                  </a:lnTo>
                  <a:lnTo>
                    <a:pt x="608" y="62"/>
                  </a:lnTo>
                  <a:lnTo>
                    <a:pt x="611" y="57"/>
                  </a:lnTo>
                  <a:lnTo>
                    <a:pt x="617" y="52"/>
                  </a:lnTo>
                  <a:lnTo>
                    <a:pt x="622" y="48"/>
                  </a:lnTo>
                  <a:lnTo>
                    <a:pt x="629" y="45"/>
                  </a:lnTo>
                  <a:lnTo>
                    <a:pt x="636" y="43"/>
                  </a:lnTo>
                  <a:lnTo>
                    <a:pt x="644" y="43"/>
                  </a:lnTo>
                  <a:lnTo>
                    <a:pt x="653" y="43"/>
                  </a:lnTo>
                  <a:lnTo>
                    <a:pt x="660" y="45"/>
                  </a:lnTo>
                  <a:lnTo>
                    <a:pt x="665" y="47"/>
                  </a:lnTo>
                  <a:lnTo>
                    <a:pt x="668" y="48"/>
                  </a:lnTo>
                  <a:lnTo>
                    <a:pt x="674" y="52"/>
                  </a:lnTo>
                  <a:lnTo>
                    <a:pt x="677" y="54"/>
                  </a:lnTo>
                  <a:lnTo>
                    <a:pt x="679" y="57"/>
                  </a:lnTo>
                  <a:lnTo>
                    <a:pt x="680" y="61"/>
                  </a:lnTo>
                  <a:lnTo>
                    <a:pt x="682" y="66"/>
                  </a:lnTo>
                  <a:lnTo>
                    <a:pt x="684" y="73"/>
                  </a:lnTo>
                  <a:lnTo>
                    <a:pt x="686" y="81"/>
                  </a:lnTo>
                  <a:lnTo>
                    <a:pt x="686" y="90"/>
                  </a:lnTo>
                  <a:lnTo>
                    <a:pt x="686" y="128"/>
                  </a:lnTo>
                  <a:lnTo>
                    <a:pt x="686" y="135"/>
                  </a:lnTo>
                  <a:lnTo>
                    <a:pt x="686" y="140"/>
                  </a:lnTo>
                  <a:lnTo>
                    <a:pt x="686" y="145"/>
                  </a:lnTo>
                  <a:lnTo>
                    <a:pt x="687" y="149"/>
                  </a:lnTo>
                  <a:lnTo>
                    <a:pt x="687" y="152"/>
                  </a:lnTo>
                  <a:lnTo>
                    <a:pt x="689" y="155"/>
                  </a:lnTo>
                  <a:lnTo>
                    <a:pt x="691" y="161"/>
                  </a:lnTo>
                  <a:lnTo>
                    <a:pt x="693" y="164"/>
                  </a:lnTo>
                  <a:lnTo>
                    <a:pt x="667" y="164"/>
                  </a:lnTo>
                  <a:lnTo>
                    <a:pt x="662" y="152"/>
                  </a:lnTo>
                  <a:lnTo>
                    <a:pt x="658" y="157"/>
                  </a:lnTo>
                  <a:lnTo>
                    <a:pt x="655" y="161"/>
                  </a:lnTo>
                  <a:lnTo>
                    <a:pt x="651" y="162"/>
                  </a:lnTo>
                  <a:lnTo>
                    <a:pt x="648" y="164"/>
                  </a:lnTo>
                  <a:lnTo>
                    <a:pt x="644" y="164"/>
                  </a:lnTo>
                  <a:lnTo>
                    <a:pt x="641" y="164"/>
                  </a:lnTo>
                  <a:lnTo>
                    <a:pt x="636" y="164"/>
                  </a:lnTo>
                  <a:lnTo>
                    <a:pt x="632" y="164"/>
                  </a:lnTo>
                  <a:lnTo>
                    <a:pt x="625" y="164"/>
                  </a:lnTo>
                  <a:lnTo>
                    <a:pt x="620" y="164"/>
                  </a:lnTo>
                  <a:lnTo>
                    <a:pt x="615" y="162"/>
                  </a:lnTo>
                  <a:lnTo>
                    <a:pt x="608" y="159"/>
                  </a:lnTo>
                  <a:lnTo>
                    <a:pt x="606" y="154"/>
                  </a:lnTo>
                  <a:lnTo>
                    <a:pt x="603" y="149"/>
                  </a:lnTo>
                  <a:lnTo>
                    <a:pt x="601" y="142"/>
                  </a:lnTo>
                  <a:lnTo>
                    <a:pt x="601" y="133"/>
                  </a:lnTo>
                  <a:lnTo>
                    <a:pt x="601" y="128"/>
                  </a:lnTo>
                  <a:lnTo>
                    <a:pt x="603" y="124"/>
                  </a:lnTo>
                  <a:lnTo>
                    <a:pt x="603" y="119"/>
                  </a:lnTo>
                  <a:lnTo>
                    <a:pt x="605" y="116"/>
                  </a:lnTo>
                  <a:lnTo>
                    <a:pt x="606" y="111"/>
                  </a:lnTo>
                  <a:lnTo>
                    <a:pt x="608" y="109"/>
                  </a:lnTo>
                  <a:lnTo>
                    <a:pt x="611" y="105"/>
                  </a:lnTo>
                  <a:lnTo>
                    <a:pt x="615" y="104"/>
                  </a:lnTo>
                  <a:lnTo>
                    <a:pt x="618" y="102"/>
                  </a:lnTo>
                  <a:lnTo>
                    <a:pt x="624" y="99"/>
                  </a:lnTo>
                  <a:lnTo>
                    <a:pt x="629" y="97"/>
                  </a:lnTo>
                  <a:lnTo>
                    <a:pt x="636" y="95"/>
                  </a:lnTo>
                  <a:lnTo>
                    <a:pt x="643" y="93"/>
                  </a:lnTo>
                  <a:lnTo>
                    <a:pt x="651" y="92"/>
                  </a:lnTo>
                  <a:lnTo>
                    <a:pt x="656" y="90"/>
                  </a:lnTo>
                  <a:lnTo>
                    <a:pt x="660" y="88"/>
                  </a:lnTo>
                  <a:lnTo>
                    <a:pt x="660" y="83"/>
                  </a:lnTo>
                  <a:lnTo>
                    <a:pt x="660" y="80"/>
                  </a:lnTo>
                  <a:lnTo>
                    <a:pt x="660" y="78"/>
                  </a:lnTo>
                  <a:lnTo>
                    <a:pt x="658" y="74"/>
                  </a:lnTo>
                  <a:lnTo>
                    <a:pt x="656" y="73"/>
                  </a:lnTo>
                  <a:lnTo>
                    <a:pt x="656" y="71"/>
                  </a:lnTo>
                  <a:lnTo>
                    <a:pt x="656" y="71"/>
                  </a:lnTo>
                  <a:lnTo>
                    <a:pt x="655" y="69"/>
                  </a:lnTo>
                  <a:lnTo>
                    <a:pt x="651" y="67"/>
                  </a:lnTo>
                  <a:lnTo>
                    <a:pt x="649" y="67"/>
                  </a:lnTo>
                  <a:lnTo>
                    <a:pt x="646" y="67"/>
                  </a:lnTo>
                  <a:lnTo>
                    <a:pt x="643" y="67"/>
                  </a:lnTo>
                  <a:lnTo>
                    <a:pt x="641" y="67"/>
                  </a:lnTo>
                  <a:lnTo>
                    <a:pt x="639" y="69"/>
                  </a:lnTo>
                  <a:lnTo>
                    <a:pt x="636" y="69"/>
                  </a:lnTo>
                  <a:lnTo>
                    <a:pt x="634" y="71"/>
                  </a:lnTo>
                  <a:lnTo>
                    <a:pt x="632" y="73"/>
                  </a:lnTo>
                  <a:lnTo>
                    <a:pt x="630" y="76"/>
                  </a:lnTo>
                  <a:lnTo>
                    <a:pt x="629" y="80"/>
                  </a:lnTo>
                  <a:lnTo>
                    <a:pt x="627" y="83"/>
                  </a:lnTo>
                  <a:close/>
                  <a:moveTo>
                    <a:pt x="660" y="109"/>
                  </a:moveTo>
                  <a:lnTo>
                    <a:pt x="656" y="109"/>
                  </a:lnTo>
                  <a:lnTo>
                    <a:pt x="653" y="111"/>
                  </a:lnTo>
                  <a:lnTo>
                    <a:pt x="649" y="112"/>
                  </a:lnTo>
                  <a:lnTo>
                    <a:pt x="646" y="114"/>
                  </a:lnTo>
                  <a:lnTo>
                    <a:pt x="641" y="116"/>
                  </a:lnTo>
                  <a:lnTo>
                    <a:pt x="636" y="118"/>
                  </a:lnTo>
                  <a:lnTo>
                    <a:pt x="634" y="119"/>
                  </a:lnTo>
                  <a:lnTo>
                    <a:pt x="630" y="121"/>
                  </a:lnTo>
                  <a:lnTo>
                    <a:pt x="629" y="123"/>
                  </a:lnTo>
                  <a:lnTo>
                    <a:pt x="627" y="124"/>
                  </a:lnTo>
                  <a:lnTo>
                    <a:pt x="627" y="128"/>
                  </a:lnTo>
                  <a:lnTo>
                    <a:pt x="627" y="130"/>
                  </a:lnTo>
                  <a:lnTo>
                    <a:pt x="627" y="133"/>
                  </a:lnTo>
                  <a:lnTo>
                    <a:pt x="627" y="136"/>
                  </a:lnTo>
                  <a:lnTo>
                    <a:pt x="629" y="138"/>
                  </a:lnTo>
                  <a:lnTo>
                    <a:pt x="630" y="142"/>
                  </a:lnTo>
                  <a:lnTo>
                    <a:pt x="634" y="143"/>
                  </a:lnTo>
                  <a:lnTo>
                    <a:pt x="636" y="145"/>
                  </a:lnTo>
                  <a:lnTo>
                    <a:pt x="639" y="147"/>
                  </a:lnTo>
                  <a:lnTo>
                    <a:pt x="641" y="147"/>
                  </a:lnTo>
                  <a:lnTo>
                    <a:pt x="643" y="147"/>
                  </a:lnTo>
                  <a:lnTo>
                    <a:pt x="646" y="145"/>
                  </a:lnTo>
                  <a:lnTo>
                    <a:pt x="648" y="143"/>
                  </a:lnTo>
                  <a:lnTo>
                    <a:pt x="651" y="142"/>
                  </a:lnTo>
                  <a:lnTo>
                    <a:pt x="653" y="140"/>
                  </a:lnTo>
                  <a:lnTo>
                    <a:pt x="655" y="138"/>
                  </a:lnTo>
                  <a:lnTo>
                    <a:pt x="656" y="135"/>
                  </a:lnTo>
                  <a:lnTo>
                    <a:pt x="658" y="133"/>
                  </a:lnTo>
                  <a:lnTo>
                    <a:pt x="660" y="130"/>
                  </a:lnTo>
                  <a:lnTo>
                    <a:pt x="660" y="126"/>
                  </a:lnTo>
                  <a:lnTo>
                    <a:pt x="660" y="121"/>
                  </a:lnTo>
                  <a:lnTo>
                    <a:pt x="660" y="116"/>
                  </a:lnTo>
                  <a:lnTo>
                    <a:pt x="660" y="109"/>
                  </a:lnTo>
                  <a:close/>
                  <a:moveTo>
                    <a:pt x="712" y="164"/>
                  </a:moveTo>
                  <a:lnTo>
                    <a:pt x="712" y="0"/>
                  </a:lnTo>
                  <a:lnTo>
                    <a:pt x="737" y="0"/>
                  </a:lnTo>
                  <a:lnTo>
                    <a:pt x="737" y="164"/>
                  </a:lnTo>
                  <a:lnTo>
                    <a:pt x="712" y="164"/>
                  </a:lnTo>
                  <a:close/>
                  <a:moveTo>
                    <a:pt x="817" y="164"/>
                  </a:moveTo>
                  <a:lnTo>
                    <a:pt x="817" y="0"/>
                  </a:lnTo>
                  <a:lnTo>
                    <a:pt x="844" y="0"/>
                  </a:lnTo>
                  <a:lnTo>
                    <a:pt x="844" y="138"/>
                  </a:lnTo>
                  <a:lnTo>
                    <a:pt x="912" y="138"/>
                  </a:lnTo>
                  <a:lnTo>
                    <a:pt x="912" y="164"/>
                  </a:lnTo>
                  <a:lnTo>
                    <a:pt x="817" y="164"/>
                  </a:lnTo>
                  <a:close/>
                  <a:moveTo>
                    <a:pt x="950" y="83"/>
                  </a:moveTo>
                  <a:lnTo>
                    <a:pt x="927" y="78"/>
                  </a:lnTo>
                  <a:lnTo>
                    <a:pt x="929" y="69"/>
                  </a:lnTo>
                  <a:lnTo>
                    <a:pt x="933" y="62"/>
                  </a:lnTo>
                  <a:lnTo>
                    <a:pt x="936" y="57"/>
                  </a:lnTo>
                  <a:lnTo>
                    <a:pt x="941" y="52"/>
                  </a:lnTo>
                  <a:lnTo>
                    <a:pt x="946" y="48"/>
                  </a:lnTo>
                  <a:lnTo>
                    <a:pt x="952" y="45"/>
                  </a:lnTo>
                  <a:lnTo>
                    <a:pt x="960" y="43"/>
                  </a:lnTo>
                  <a:lnTo>
                    <a:pt x="967" y="43"/>
                  </a:lnTo>
                  <a:lnTo>
                    <a:pt x="974" y="43"/>
                  </a:lnTo>
                  <a:lnTo>
                    <a:pt x="983" y="45"/>
                  </a:lnTo>
                  <a:lnTo>
                    <a:pt x="988" y="47"/>
                  </a:lnTo>
                  <a:lnTo>
                    <a:pt x="993" y="48"/>
                  </a:lnTo>
                  <a:lnTo>
                    <a:pt x="996" y="52"/>
                  </a:lnTo>
                  <a:lnTo>
                    <a:pt x="1000" y="54"/>
                  </a:lnTo>
                  <a:lnTo>
                    <a:pt x="1003" y="57"/>
                  </a:lnTo>
                  <a:lnTo>
                    <a:pt x="1005" y="61"/>
                  </a:lnTo>
                  <a:lnTo>
                    <a:pt x="1007" y="66"/>
                  </a:lnTo>
                  <a:lnTo>
                    <a:pt x="1007" y="73"/>
                  </a:lnTo>
                  <a:lnTo>
                    <a:pt x="1008" y="81"/>
                  </a:lnTo>
                  <a:lnTo>
                    <a:pt x="1008" y="90"/>
                  </a:lnTo>
                  <a:lnTo>
                    <a:pt x="1008" y="128"/>
                  </a:lnTo>
                  <a:lnTo>
                    <a:pt x="1008" y="135"/>
                  </a:lnTo>
                  <a:lnTo>
                    <a:pt x="1008" y="140"/>
                  </a:lnTo>
                  <a:lnTo>
                    <a:pt x="1008" y="145"/>
                  </a:lnTo>
                  <a:lnTo>
                    <a:pt x="1010" y="149"/>
                  </a:lnTo>
                  <a:lnTo>
                    <a:pt x="1012" y="152"/>
                  </a:lnTo>
                  <a:lnTo>
                    <a:pt x="1014" y="155"/>
                  </a:lnTo>
                  <a:lnTo>
                    <a:pt x="1014" y="161"/>
                  </a:lnTo>
                  <a:lnTo>
                    <a:pt x="1015" y="164"/>
                  </a:lnTo>
                  <a:lnTo>
                    <a:pt x="989" y="164"/>
                  </a:lnTo>
                  <a:lnTo>
                    <a:pt x="986" y="152"/>
                  </a:lnTo>
                  <a:lnTo>
                    <a:pt x="983" y="157"/>
                  </a:lnTo>
                  <a:lnTo>
                    <a:pt x="979" y="161"/>
                  </a:lnTo>
                  <a:lnTo>
                    <a:pt x="976" y="162"/>
                  </a:lnTo>
                  <a:lnTo>
                    <a:pt x="972" y="164"/>
                  </a:lnTo>
                  <a:lnTo>
                    <a:pt x="969" y="164"/>
                  </a:lnTo>
                  <a:lnTo>
                    <a:pt x="964" y="164"/>
                  </a:lnTo>
                  <a:lnTo>
                    <a:pt x="960" y="164"/>
                  </a:lnTo>
                  <a:lnTo>
                    <a:pt x="957" y="164"/>
                  </a:lnTo>
                  <a:lnTo>
                    <a:pt x="950" y="164"/>
                  </a:lnTo>
                  <a:lnTo>
                    <a:pt x="943" y="164"/>
                  </a:lnTo>
                  <a:lnTo>
                    <a:pt x="938" y="162"/>
                  </a:lnTo>
                  <a:lnTo>
                    <a:pt x="933" y="159"/>
                  </a:lnTo>
                  <a:lnTo>
                    <a:pt x="929" y="154"/>
                  </a:lnTo>
                  <a:lnTo>
                    <a:pt x="926" y="149"/>
                  </a:lnTo>
                  <a:lnTo>
                    <a:pt x="924" y="142"/>
                  </a:lnTo>
                  <a:lnTo>
                    <a:pt x="924" y="133"/>
                  </a:lnTo>
                  <a:lnTo>
                    <a:pt x="924" y="128"/>
                  </a:lnTo>
                  <a:lnTo>
                    <a:pt x="926" y="124"/>
                  </a:lnTo>
                  <a:lnTo>
                    <a:pt x="926" y="119"/>
                  </a:lnTo>
                  <a:lnTo>
                    <a:pt x="927" y="116"/>
                  </a:lnTo>
                  <a:lnTo>
                    <a:pt x="929" y="111"/>
                  </a:lnTo>
                  <a:lnTo>
                    <a:pt x="933" y="109"/>
                  </a:lnTo>
                  <a:lnTo>
                    <a:pt x="934" y="105"/>
                  </a:lnTo>
                  <a:lnTo>
                    <a:pt x="938" y="104"/>
                  </a:lnTo>
                  <a:lnTo>
                    <a:pt x="941" y="102"/>
                  </a:lnTo>
                  <a:lnTo>
                    <a:pt x="946" y="99"/>
                  </a:lnTo>
                  <a:lnTo>
                    <a:pt x="952" y="97"/>
                  </a:lnTo>
                  <a:lnTo>
                    <a:pt x="958" y="95"/>
                  </a:lnTo>
                  <a:lnTo>
                    <a:pt x="967" y="93"/>
                  </a:lnTo>
                  <a:lnTo>
                    <a:pt x="974" y="92"/>
                  </a:lnTo>
                  <a:lnTo>
                    <a:pt x="979" y="90"/>
                  </a:lnTo>
                  <a:lnTo>
                    <a:pt x="983" y="88"/>
                  </a:lnTo>
                  <a:lnTo>
                    <a:pt x="983" y="83"/>
                  </a:lnTo>
                  <a:lnTo>
                    <a:pt x="983" y="80"/>
                  </a:lnTo>
                  <a:lnTo>
                    <a:pt x="983" y="78"/>
                  </a:lnTo>
                  <a:lnTo>
                    <a:pt x="981" y="74"/>
                  </a:lnTo>
                  <a:lnTo>
                    <a:pt x="979" y="73"/>
                  </a:lnTo>
                  <a:lnTo>
                    <a:pt x="979" y="71"/>
                  </a:lnTo>
                  <a:lnTo>
                    <a:pt x="977" y="71"/>
                  </a:lnTo>
                  <a:lnTo>
                    <a:pt x="977" y="69"/>
                  </a:lnTo>
                  <a:lnTo>
                    <a:pt x="976" y="67"/>
                  </a:lnTo>
                  <a:lnTo>
                    <a:pt x="972" y="67"/>
                  </a:lnTo>
                  <a:lnTo>
                    <a:pt x="971" y="67"/>
                  </a:lnTo>
                  <a:lnTo>
                    <a:pt x="967" y="67"/>
                  </a:lnTo>
                  <a:lnTo>
                    <a:pt x="964" y="67"/>
                  </a:lnTo>
                  <a:lnTo>
                    <a:pt x="960" y="69"/>
                  </a:lnTo>
                  <a:lnTo>
                    <a:pt x="958" y="69"/>
                  </a:lnTo>
                  <a:lnTo>
                    <a:pt x="957" y="71"/>
                  </a:lnTo>
                  <a:lnTo>
                    <a:pt x="955" y="73"/>
                  </a:lnTo>
                  <a:lnTo>
                    <a:pt x="953" y="76"/>
                  </a:lnTo>
                  <a:lnTo>
                    <a:pt x="952" y="80"/>
                  </a:lnTo>
                  <a:lnTo>
                    <a:pt x="950" y="83"/>
                  </a:lnTo>
                  <a:close/>
                  <a:moveTo>
                    <a:pt x="983" y="109"/>
                  </a:moveTo>
                  <a:lnTo>
                    <a:pt x="979" y="109"/>
                  </a:lnTo>
                  <a:lnTo>
                    <a:pt x="977" y="111"/>
                  </a:lnTo>
                  <a:lnTo>
                    <a:pt x="974" y="112"/>
                  </a:lnTo>
                  <a:lnTo>
                    <a:pt x="969" y="114"/>
                  </a:lnTo>
                  <a:lnTo>
                    <a:pt x="964" y="116"/>
                  </a:lnTo>
                  <a:lnTo>
                    <a:pt x="960" y="118"/>
                  </a:lnTo>
                  <a:lnTo>
                    <a:pt x="957" y="119"/>
                  </a:lnTo>
                  <a:lnTo>
                    <a:pt x="955" y="121"/>
                  </a:lnTo>
                  <a:lnTo>
                    <a:pt x="953" y="123"/>
                  </a:lnTo>
                  <a:lnTo>
                    <a:pt x="952" y="124"/>
                  </a:lnTo>
                  <a:lnTo>
                    <a:pt x="950" y="128"/>
                  </a:lnTo>
                  <a:lnTo>
                    <a:pt x="950" y="130"/>
                  </a:lnTo>
                  <a:lnTo>
                    <a:pt x="950" y="133"/>
                  </a:lnTo>
                  <a:lnTo>
                    <a:pt x="952" y="136"/>
                  </a:lnTo>
                  <a:lnTo>
                    <a:pt x="953" y="138"/>
                  </a:lnTo>
                  <a:lnTo>
                    <a:pt x="955" y="142"/>
                  </a:lnTo>
                  <a:lnTo>
                    <a:pt x="957" y="143"/>
                  </a:lnTo>
                  <a:lnTo>
                    <a:pt x="958" y="145"/>
                  </a:lnTo>
                  <a:lnTo>
                    <a:pt x="960" y="147"/>
                  </a:lnTo>
                  <a:lnTo>
                    <a:pt x="964" y="147"/>
                  </a:lnTo>
                  <a:lnTo>
                    <a:pt x="967" y="147"/>
                  </a:lnTo>
                  <a:lnTo>
                    <a:pt x="969" y="145"/>
                  </a:lnTo>
                  <a:lnTo>
                    <a:pt x="972" y="143"/>
                  </a:lnTo>
                  <a:lnTo>
                    <a:pt x="976" y="142"/>
                  </a:lnTo>
                  <a:lnTo>
                    <a:pt x="977" y="140"/>
                  </a:lnTo>
                  <a:lnTo>
                    <a:pt x="979" y="138"/>
                  </a:lnTo>
                  <a:lnTo>
                    <a:pt x="979" y="135"/>
                  </a:lnTo>
                  <a:lnTo>
                    <a:pt x="981" y="133"/>
                  </a:lnTo>
                  <a:lnTo>
                    <a:pt x="983" y="130"/>
                  </a:lnTo>
                  <a:lnTo>
                    <a:pt x="983" y="126"/>
                  </a:lnTo>
                  <a:lnTo>
                    <a:pt x="983" y="121"/>
                  </a:lnTo>
                  <a:lnTo>
                    <a:pt x="983" y="116"/>
                  </a:lnTo>
                  <a:lnTo>
                    <a:pt x="983" y="109"/>
                  </a:lnTo>
                  <a:close/>
                  <a:moveTo>
                    <a:pt x="1022" y="47"/>
                  </a:moveTo>
                  <a:lnTo>
                    <a:pt x="1050" y="47"/>
                  </a:lnTo>
                  <a:lnTo>
                    <a:pt x="1072" y="131"/>
                  </a:lnTo>
                  <a:lnTo>
                    <a:pt x="1097" y="47"/>
                  </a:lnTo>
                  <a:lnTo>
                    <a:pt x="1124" y="47"/>
                  </a:lnTo>
                  <a:lnTo>
                    <a:pt x="1090" y="161"/>
                  </a:lnTo>
                  <a:lnTo>
                    <a:pt x="1083" y="181"/>
                  </a:lnTo>
                  <a:lnTo>
                    <a:pt x="1081" y="187"/>
                  </a:lnTo>
                  <a:lnTo>
                    <a:pt x="1079" y="192"/>
                  </a:lnTo>
                  <a:lnTo>
                    <a:pt x="1076" y="195"/>
                  </a:lnTo>
                  <a:lnTo>
                    <a:pt x="1074" y="199"/>
                  </a:lnTo>
                  <a:lnTo>
                    <a:pt x="1072" y="200"/>
                  </a:lnTo>
                  <a:lnTo>
                    <a:pt x="1069" y="204"/>
                  </a:lnTo>
                  <a:lnTo>
                    <a:pt x="1067" y="206"/>
                  </a:lnTo>
                  <a:lnTo>
                    <a:pt x="1064" y="209"/>
                  </a:lnTo>
                  <a:lnTo>
                    <a:pt x="1059" y="209"/>
                  </a:lnTo>
                  <a:lnTo>
                    <a:pt x="1055" y="209"/>
                  </a:lnTo>
                  <a:lnTo>
                    <a:pt x="1052" y="211"/>
                  </a:lnTo>
                  <a:lnTo>
                    <a:pt x="1046" y="211"/>
                  </a:lnTo>
                  <a:lnTo>
                    <a:pt x="1043" y="211"/>
                  </a:lnTo>
                  <a:lnTo>
                    <a:pt x="1040" y="209"/>
                  </a:lnTo>
                  <a:lnTo>
                    <a:pt x="1036" y="209"/>
                  </a:lnTo>
                  <a:lnTo>
                    <a:pt x="1033" y="209"/>
                  </a:lnTo>
                  <a:lnTo>
                    <a:pt x="1029" y="183"/>
                  </a:lnTo>
                  <a:lnTo>
                    <a:pt x="1033" y="183"/>
                  </a:lnTo>
                  <a:lnTo>
                    <a:pt x="1034" y="183"/>
                  </a:lnTo>
                  <a:lnTo>
                    <a:pt x="1038" y="185"/>
                  </a:lnTo>
                  <a:lnTo>
                    <a:pt x="1040" y="185"/>
                  </a:lnTo>
                  <a:lnTo>
                    <a:pt x="1043" y="185"/>
                  </a:lnTo>
                  <a:lnTo>
                    <a:pt x="1046" y="183"/>
                  </a:lnTo>
                  <a:lnTo>
                    <a:pt x="1050" y="183"/>
                  </a:lnTo>
                  <a:lnTo>
                    <a:pt x="1053" y="181"/>
                  </a:lnTo>
                  <a:lnTo>
                    <a:pt x="1055" y="178"/>
                  </a:lnTo>
                  <a:lnTo>
                    <a:pt x="1057" y="174"/>
                  </a:lnTo>
                  <a:lnTo>
                    <a:pt x="1059" y="169"/>
                  </a:lnTo>
                  <a:lnTo>
                    <a:pt x="1060" y="164"/>
                  </a:lnTo>
                  <a:lnTo>
                    <a:pt x="1022" y="47"/>
                  </a:lnTo>
                  <a:close/>
                  <a:moveTo>
                    <a:pt x="1197" y="128"/>
                  </a:moveTo>
                  <a:lnTo>
                    <a:pt x="1223" y="133"/>
                  </a:lnTo>
                  <a:lnTo>
                    <a:pt x="1221" y="142"/>
                  </a:lnTo>
                  <a:lnTo>
                    <a:pt x="1217" y="149"/>
                  </a:lnTo>
                  <a:lnTo>
                    <a:pt x="1212" y="155"/>
                  </a:lnTo>
                  <a:lnTo>
                    <a:pt x="1207" y="159"/>
                  </a:lnTo>
                  <a:lnTo>
                    <a:pt x="1202" y="162"/>
                  </a:lnTo>
                  <a:lnTo>
                    <a:pt x="1195" y="164"/>
                  </a:lnTo>
                  <a:lnTo>
                    <a:pt x="1188" y="164"/>
                  </a:lnTo>
                  <a:lnTo>
                    <a:pt x="1181" y="164"/>
                  </a:lnTo>
                  <a:lnTo>
                    <a:pt x="1171" y="164"/>
                  </a:lnTo>
                  <a:lnTo>
                    <a:pt x="1162" y="162"/>
                  </a:lnTo>
                  <a:lnTo>
                    <a:pt x="1153" y="159"/>
                  </a:lnTo>
                  <a:lnTo>
                    <a:pt x="1147" y="154"/>
                  </a:lnTo>
                  <a:lnTo>
                    <a:pt x="1141" y="145"/>
                  </a:lnTo>
                  <a:lnTo>
                    <a:pt x="1136" y="135"/>
                  </a:lnTo>
                  <a:lnTo>
                    <a:pt x="1134" y="121"/>
                  </a:lnTo>
                  <a:lnTo>
                    <a:pt x="1133" y="107"/>
                  </a:lnTo>
                  <a:lnTo>
                    <a:pt x="1134" y="93"/>
                  </a:lnTo>
                  <a:lnTo>
                    <a:pt x="1136" y="80"/>
                  </a:lnTo>
                  <a:lnTo>
                    <a:pt x="1141" y="69"/>
                  </a:lnTo>
                  <a:lnTo>
                    <a:pt x="1147" y="59"/>
                  </a:lnTo>
                  <a:lnTo>
                    <a:pt x="1153" y="52"/>
                  </a:lnTo>
                  <a:lnTo>
                    <a:pt x="1160" y="47"/>
                  </a:lnTo>
                  <a:lnTo>
                    <a:pt x="1169" y="45"/>
                  </a:lnTo>
                  <a:lnTo>
                    <a:pt x="1178" y="43"/>
                  </a:lnTo>
                  <a:lnTo>
                    <a:pt x="1188" y="45"/>
                  </a:lnTo>
                  <a:lnTo>
                    <a:pt x="1197" y="47"/>
                  </a:lnTo>
                  <a:lnTo>
                    <a:pt x="1204" y="52"/>
                  </a:lnTo>
                  <a:lnTo>
                    <a:pt x="1210" y="59"/>
                  </a:lnTo>
                  <a:lnTo>
                    <a:pt x="1217" y="69"/>
                  </a:lnTo>
                  <a:lnTo>
                    <a:pt x="1221" y="81"/>
                  </a:lnTo>
                  <a:lnTo>
                    <a:pt x="1224" y="95"/>
                  </a:lnTo>
                  <a:lnTo>
                    <a:pt x="1224" y="111"/>
                  </a:lnTo>
                  <a:lnTo>
                    <a:pt x="1224" y="114"/>
                  </a:lnTo>
                  <a:lnTo>
                    <a:pt x="1160" y="114"/>
                  </a:lnTo>
                  <a:lnTo>
                    <a:pt x="1160" y="121"/>
                  </a:lnTo>
                  <a:lnTo>
                    <a:pt x="1162" y="126"/>
                  </a:lnTo>
                  <a:lnTo>
                    <a:pt x="1164" y="131"/>
                  </a:lnTo>
                  <a:lnTo>
                    <a:pt x="1166" y="136"/>
                  </a:lnTo>
                  <a:lnTo>
                    <a:pt x="1169" y="140"/>
                  </a:lnTo>
                  <a:lnTo>
                    <a:pt x="1172" y="143"/>
                  </a:lnTo>
                  <a:lnTo>
                    <a:pt x="1178" y="145"/>
                  </a:lnTo>
                  <a:lnTo>
                    <a:pt x="1181" y="145"/>
                  </a:lnTo>
                  <a:lnTo>
                    <a:pt x="1186" y="143"/>
                  </a:lnTo>
                  <a:lnTo>
                    <a:pt x="1191" y="140"/>
                  </a:lnTo>
                  <a:lnTo>
                    <a:pt x="1195" y="135"/>
                  </a:lnTo>
                  <a:lnTo>
                    <a:pt x="1197" y="128"/>
                  </a:lnTo>
                  <a:close/>
                  <a:moveTo>
                    <a:pt x="1198" y="95"/>
                  </a:moveTo>
                  <a:lnTo>
                    <a:pt x="1198" y="88"/>
                  </a:lnTo>
                  <a:lnTo>
                    <a:pt x="1197" y="83"/>
                  </a:lnTo>
                  <a:lnTo>
                    <a:pt x="1195" y="78"/>
                  </a:lnTo>
                  <a:lnTo>
                    <a:pt x="1193" y="74"/>
                  </a:lnTo>
                  <a:lnTo>
                    <a:pt x="1190" y="73"/>
                  </a:lnTo>
                  <a:lnTo>
                    <a:pt x="1186" y="69"/>
                  </a:lnTo>
                  <a:lnTo>
                    <a:pt x="1183" y="67"/>
                  </a:lnTo>
                  <a:lnTo>
                    <a:pt x="1179" y="67"/>
                  </a:lnTo>
                  <a:lnTo>
                    <a:pt x="1176" y="67"/>
                  </a:lnTo>
                  <a:lnTo>
                    <a:pt x="1172" y="69"/>
                  </a:lnTo>
                  <a:lnTo>
                    <a:pt x="1169" y="73"/>
                  </a:lnTo>
                  <a:lnTo>
                    <a:pt x="1166" y="74"/>
                  </a:lnTo>
                  <a:lnTo>
                    <a:pt x="1164" y="80"/>
                  </a:lnTo>
                  <a:lnTo>
                    <a:pt x="1162" y="85"/>
                  </a:lnTo>
                  <a:lnTo>
                    <a:pt x="1160" y="90"/>
                  </a:lnTo>
                  <a:lnTo>
                    <a:pt x="1160" y="95"/>
                  </a:lnTo>
                  <a:lnTo>
                    <a:pt x="1198" y="95"/>
                  </a:lnTo>
                  <a:close/>
                  <a:moveTo>
                    <a:pt x="1271" y="164"/>
                  </a:moveTo>
                  <a:lnTo>
                    <a:pt x="1245" y="164"/>
                  </a:lnTo>
                  <a:lnTo>
                    <a:pt x="1245" y="47"/>
                  </a:lnTo>
                  <a:lnTo>
                    <a:pt x="1269" y="47"/>
                  </a:lnTo>
                  <a:lnTo>
                    <a:pt x="1269" y="64"/>
                  </a:lnTo>
                  <a:lnTo>
                    <a:pt x="1273" y="59"/>
                  </a:lnTo>
                  <a:lnTo>
                    <a:pt x="1276" y="54"/>
                  </a:lnTo>
                  <a:lnTo>
                    <a:pt x="1278" y="50"/>
                  </a:lnTo>
                  <a:lnTo>
                    <a:pt x="1280" y="48"/>
                  </a:lnTo>
                  <a:lnTo>
                    <a:pt x="1283" y="47"/>
                  </a:lnTo>
                  <a:lnTo>
                    <a:pt x="1286" y="45"/>
                  </a:lnTo>
                  <a:lnTo>
                    <a:pt x="1288" y="43"/>
                  </a:lnTo>
                  <a:lnTo>
                    <a:pt x="1292" y="43"/>
                  </a:lnTo>
                  <a:lnTo>
                    <a:pt x="1295" y="43"/>
                  </a:lnTo>
                  <a:lnTo>
                    <a:pt x="1300" y="45"/>
                  </a:lnTo>
                  <a:lnTo>
                    <a:pt x="1304" y="48"/>
                  </a:lnTo>
                  <a:lnTo>
                    <a:pt x="1307" y="50"/>
                  </a:lnTo>
                  <a:lnTo>
                    <a:pt x="1298" y="78"/>
                  </a:lnTo>
                  <a:lnTo>
                    <a:pt x="1297" y="76"/>
                  </a:lnTo>
                  <a:lnTo>
                    <a:pt x="1293" y="74"/>
                  </a:lnTo>
                  <a:lnTo>
                    <a:pt x="1292" y="73"/>
                  </a:lnTo>
                  <a:lnTo>
                    <a:pt x="1288" y="73"/>
                  </a:lnTo>
                  <a:lnTo>
                    <a:pt x="1286" y="73"/>
                  </a:lnTo>
                  <a:lnTo>
                    <a:pt x="1283" y="74"/>
                  </a:lnTo>
                  <a:lnTo>
                    <a:pt x="1281" y="76"/>
                  </a:lnTo>
                  <a:lnTo>
                    <a:pt x="1278" y="78"/>
                  </a:lnTo>
                  <a:lnTo>
                    <a:pt x="1278" y="80"/>
                  </a:lnTo>
                  <a:lnTo>
                    <a:pt x="1276" y="83"/>
                  </a:lnTo>
                  <a:lnTo>
                    <a:pt x="1276" y="86"/>
                  </a:lnTo>
                  <a:lnTo>
                    <a:pt x="1274" y="90"/>
                  </a:lnTo>
                  <a:lnTo>
                    <a:pt x="1273" y="97"/>
                  </a:lnTo>
                  <a:lnTo>
                    <a:pt x="1273" y="105"/>
                  </a:lnTo>
                  <a:lnTo>
                    <a:pt x="1271" y="116"/>
                  </a:lnTo>
                  <a:lnTo>
                    <a:pt x="1271" y="128"/>
                  </a:lnTo>
                  <a:lnTo>
                    <a:pt x="1271" y="16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3" name="Freeform 1791"/>
            <p:cNvSpPr>
              <a:spLocks noEditPoints="1"/>
            </p:cNvSpPr>
            <p:nvPr/>
          </p:nvSpPr>
          <p:spPr bwMode="auto">
            <a:xfrm>
              <a:off x="3052" y="2871"/>
              <a:ext cx="320" cy="85"/>
            </a:xfrm>
            <a:custGeom>
              <a:avLst/>
              <a:gdLst>
                <a:gd name="T0" fmla="*/ 83 w 641"/>
                <a:gd name="T1" fmla="*/ 112 h 169"/>
                <a:gd name="T2" fmla="*/ 81 w 641"/>
                <a:gd name="T3" fmla="*/ 167 h 169"/>
                <a:gd name="T4" fmla="*/ 197 w 641"/>
                <a:gd name="T5" fmla="*/ 129 h 169"/>
                <a:gd name="T6" fmla="*/ 213 w 641"/>
                <a:gd name="T7" fmla="*/ 157 h 169"/>
                <a:gd name="T8" fmla="*/ 189 w 641"/>
                <a:gd name="T9" fmla="*/ 169 h 169"/>
                <a:gd name="T10" fmla="*/ 154 w 641"/>
                <a:gd name="T11" fmla="*/ 164 h 169"/>
                <a:gd name="T12" fmla="*/ 132 w 641"/>
                <a:gd name="T13" fmla="*/ 122 h 169"/>
                <a:gd name="T14" fmla="*/ 138 w 641"/>
                <a:gd name="T15" fmla="*/ 69 h 169"/>
                <a:gd name="T16" fmla="*/ 168 w 641"/>
                <a:gd name="T17" fmla="*/ 45 h 169"/>
                <a:gd name="T18" fmla="*/ 204 w 641"/>
                <a:gd name="T19" fmla="*/ 52 h 169"/>
                <a:gd name="T20" fmla="*/ 225 w 641"/>
                <a:gd name="T21" fmla="*/ 95 h 169"/>
                <a:gd name="T22" fmla="*/ 157 w 641"/>
                <a:gd name="T23" fmla="*/ 122 h 169"/>
                <a:gd name="T24" fmla="*/ 170 w 641"/>
                <a:gd name="T25" fmla="*/ 141 h 169"/>
                <a:gd name="T26" fmla="*/ 187 w 641"/>
                <a:gd name="T27" fmla="*/ 145 h 169"/>
                <a:gd name="T28" fmla="*/ 197 w 641"/>
                <a:gd name="T29" fmla="*/ 95 h 169"/>
                <a:gd name="T30" fmla="*/ 192 w 641"/>
                <a:gd name="T31" fmla="*/ 74 h 169"/>
                <a:gd name="T32" fmla="*/ 178 w 641"/>
                <a:gd name="T33" fmla="*/ 69 h 169"/>
                <a:gd name="T34" fmla="*/ 166 w 641"/>
                <a:gd name="T35" fmla="*/ 76 h 169"/>
                <a:gd name="T36" fmla="*/ 159 w 641"/>
                <a:gd name="T37" fmla="*/ 95 h 169"/>
                <a:gd name="T38" fmla="*/ 273 w 641"/>
                <a:gd name="T39" fmla="*/ 72 h 169"/>
                <a:gd name="T40" fmla="*/ 273 w 641"/>
                <a:gd name="T41" fmla="*/ 138 h 169"/>
                <a:gd name="T42" fmla="*/ 278 w 641"/>
                <a:gd name="T43" fmla="*/ 145 h 169"/>
                <a:gd name="T44" fmla="*/ 289 w 641"/>
                <a:gd name="T45" fmla="*/ 143 h 169"/>
                <a:gd name="T46" fmla="*/ 285 w 641"/>
                <a:gd name="T47" fmla="*/ 167 h 169"/>
                <a:gd name="T48" fmla="*/ 264 w 641"/>
                <a:gd name="T49" fmla="*/ 167 h 169"/>
                <a:gd name="T50" fmla="*/ 251 w 641"/>
                <a:gd name="T51" fmla="*/ 160 h 169"/>
                <a:gd name="T52" fmla="*/ 247 w 641"/>
                <a:gd name="T53" fmla="*/ 141 h 169"/>
                <a:gd name="T54" fmla="*/ 233 w 641"/>
                <a:gd name="T55" fmla="*/ 72 h 169"/>
                <a:gd name="T56" fmla="*/ 273 w 641"/>
                <a:gd name="T57" fmla="*/ 3 h 169"/>
                <a:gd name="T58" fmla="*/ 296 w 641"/>
                <a:gd name="T59" fmla="*/ 46 h 169"/>
                <a:gd name="T60" fmla="*/ 384 w 641"/>
                <a:gd name="T61" fmla="*/ 46 h 169"/>
                <a:gd name="T62" fmla="*/ 415 w 641"/>
                <a:gd name="T63" fmla="*/ 167 h 169"/>
                <a:gd name="T64" fmla="*/ 328 w 641"/>
                <a:gd name="T65" fmla="*/ 167 h 169"/>
                <a:gd name="T66" fmla="*/ 458 w 641"/>
                <a:gd name="T67" fmla="*/ 81 h 169"/>
                <a:gd name="T68" fmla="*/ 473 w 641"/>
                <a:gd name="T69" fmla="*/ 55 h 169"/>
                <a:gd name="T70" fmla="*/ 498 w 641"/>
                <a:gd name="T71" fmla="*/ 43 h 169"/>
                <a:gd name="T72" fmla="*/ 534 w 641"/>
                <a:gd name="T73" fmla="*/ 53 h 169"/>
                <a:gd name="T74" fmla="*/ 554 w 641"/>
                <a:gd name="T75" fmla="*/ 95 h 169"/>
                <a:gd name="T76" fmla="*/ 551 w 641"/>
                <a:gd name="T77" fmla="*/ 131 h 169"/>
                <a:gd name="T78" fmla="*/ 535 w 641"/>
                <a:gd name="T79" fmla="*/ 159 h 169"/>
                <a:gd name="T80" fmla="*/ 511 w 641"/>
                <a:gd name="T81" fmla="*/ 169 h 169"/>
                <a:gd name="T82" fmla="*/ 475 w 641"/>
                <a:gd name="T83" fmla="*/ 160 h 169"/>
                <a:gd name="T84" fmla="*/ 454 w 641"/>
                <a:gd name="T85" fmla="*/ 121 h 169"/>
                <a:gd name="T86" fmla="*/ 482 w 641"/>
                <a:gd name="T87" fmla="*/ 124 h 169"/>
                <a:gd name="T88" fmla="*/ 496 w 641"/>
                <a:gd name="T89" fmla="*/ 141 h 169"/>
                <a:gd name="T90" fmla="*/ 513 w 641"/>
                <a:gd name="T91" fmla="*/ 141 h 169"/>
                <a:gd name="T92" fmla="*/ 527 w 641"/>
                <a:gd name="T93" fmla="*/ 124 h 169"/>
                <a:gd name="T94" fmla="*/ 527 w 641"/>
                <a:gd name="T95" fmla="*/ 91 h 169"/>
                <a:gd name="T96" fmla="*/ 513 w 641"/>
                <a:gd name="T97" fmla="*/ 72 h 169"/>
                <a:gd name="T98" fmla="*/ 496 w 641"/>
                <a:gd name="T99" fmla="*/ 72 h 169"/>
                <a:gd name="T100" fmla="*/ 482 w 641"/>
                <a:gd name="T101" fmla="*/ 91 h 169"/>
                <a:gd name="T102" fmla="*/ 577 w 641"/>
                <a:gd name="T103" fmla="*/ 167 h 169"/>
                <a:gd name="T104" fmla="*/ 605 w 641"/>
                <a:gd name="T105" fmla="*/ 58 h 169"/>
                <a:gd name="T106" fmla="*/ 617 w 641"/>
                <a:gd name="T107" fmla="*/ 46 h 169"/>
                <a:gd name="T108" fmla="*/ 629 w 641"/>
                <a:gd name="T109" fmla="*/ 43 h 169"/>
                <a:gd name="T110" fmla="*/ 634 w 641"/>
                <a:gd name="T111" fmla="*/ 77 h 169"/>
                <a:gd name="T112" fmla="*/ 622 w 641"/>
                <a:gd name="T113" fmla="*/ 74 h 169"/>
                <a:gd name="T114" fmla="*/ 611 w 641"/>
                <a:gd name="T115" fmla="*/ 77 h 169"/>
                <a:gd name="T116" fmla="*/ 605 w 641"/>
                <a:gd name="T117" fmla="*/ 93 h 169"/>
                <a:gd name="T118" fmla="*/ 605 w 641"/>
                <a:gd name="T119" fmla="*/ 12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41" h="169">
                  <a:moveTo>
                    <a:pt x="0" y="167"/>
                  </a:moveTo>
                  <a:lnTo>
                    <a:pt x="0" y="0"/>
                  </a:lnTo>
                  <a:lnTo>
                    <a:pt x="26" y="0"/>
                  </a:lnTo>
                  <a:lnTo>
                    <a:pt x="83" y="112"/>
                  </a:lnTo>
                  <a:lnTo>
                    <a:pt x="83" y="0"/>
                  </a:lnTo>
                  <a:lnTo>
                    <a:pt x="111" y="0"/>
                  </a:lnTo>
                  <a:lnTo>
                    <a:pt x="111" y="167"/>
                  </a:lnTo>
                  <a:lnTo>
                    <a:pt x="81" y="167"/>
                  </a:lnTo>
                  <a:lnTo>
                    <a:pt x="26" y="58"/>
                  </a:lnTo>
                  <a:lnTo>
                    <a:pt x="26" y="167"/>
                  </a:lnTo>
                  <a:lnTo>
                    <a:pt x="0" y="167"/>
                  </a:lnTo>
                  <a:close/>
                  <a:moveTo>
                    <a:pt x="197" y="129"/>
                  </a:moveTo>
                  <a:lnTo>
                    <a:pt x="225" y="134"/>
                  </a:lnTo>
                  <a:lnTo>
                    <a:pt x="221" y="143"/>
                  </a:lnTo>
                  <a:lnTo>
                    <a:pt x="216" y="152"/>
                  </a:lnTo>
                  <a:lnTo>
                    <a:pt x="213" y="157"/>
                  </a:lnTo>
                  <a:lnTo>
                    <a:pt x="207" y="162"/>
                  </a:lnTo>
                  <a:lnTo>
                    <a:pt x="201" y="165"/>
                  </a:lnTo>
                  <a:lnTo>
                    <a:pt x="195" y="167"/>
                  </a:lnTo>
                  <a:lnTo>
                    <a:pt x="189" y="169"/>
                  </a:lnTo>
                  <a:lnTo>
                    <a:pt x="180" y="169"/>
                  </a:lnTo>
                  <a:lnTo>
                    <a:pt x="170" y="169"/>
                  </a:lnTo>
                  <a:lnTo>
                    <a:pt x="161" y="167"/>
                  </a:lnTo>
                  <a:lnTo>
                    <a:pt x="154" y="164"/>
                  </a:lnTo>
                  <a:lnTo>
                    <a:pt x="145" y="157"/>
                  </a:lnTo>
                  <a:lnTo>
                    <a:pt x="138" y="146"/>
                  </a:lnTo>
                  <a:lnTo>
                    <a:pt x="135" y="134"/>
                  </a:lnTo>
                  <a:lnTo>
                    <a:pt x="132" y="122"/>
                  </a:lnTo>
                  <a:lnTo>
                    <a:pt x="132" y="108"/>
                  </a:lnTo>
                  <a:lnTo>
                    <a:pt x="132" y="93"/>
                  </a:lnTo>
                  <a:lnTo>
                    <a:pt x="135" y="81"/>
                  </a:lnTo>
                  <a:lnTo>
                    <a:pt x="138" y="69"/>
                  </a:lnTo>
                  <a:lnTo>
                    <a:pt x="145" y="58"/>
                  </a:lnTo>
                  <a:lnTo>
                    <a:pt x="152" y="52"/>
                  </a:lnTo>
                  <a:lnTo>
                    <a:pt x="161" y="46"/>
                  </a:lnTo>
                  <a:lnTo>
                    <a:pt x="168" y="45"/>
                  </a:lnTo>
                  <a:lnTo>
                    <a:pt x="176" y="43"/>
                  </a:lnTo>
                  <a:lnTo>
                    <a:pt x="187" y="45"/>
                  </a:lnTo>
                  <a:lnTo>
                    <a:pt x="197" y="46"/>
                  </a:lnTo>
                  <a:lnTo>
                    <a:pt x="204" y="52"/>
                  </a:lnTo>
                  <a:lnTo>
                    <a:pt x="211" y="58"/>
                  </a:lnTo>
                  <a:lnTo>
                    <a:pt x="218" y="69"/>
                  </a:lnTo>
                  <a:lnTo>
                    <a:pt x="221" y="81"/>
                  </a:lnTo>
                  <a:lnTo>
                    <a:pt x="225" y="95"/>
                  </a:lnTo>
                  <a:lnTo>
                    <a:pt x="226" y="112"/>
                  </a:lnTo>
                  <a:lnTo>
                    <a:pt x="226" y="115"/>
                  </a:lnTo>
                  <a:lnTo>
                    <a:pt x="157" y="115"/>
                  </a:lnTo>
                  <a:lnTo>
                    <a:pt x="157" y="122"/>
                  </a:lnTo>
                  <a:lnTo>
                    <a:pt x="159" y="129"/>
                  </a:lnTo>
                  <a:lnTo>
                    <a:pt x="163" y="134"/>
                  </a:lnTo>
                  <a:lnTo>
                    <a:pt x="166" y="138"/>
                  </a:lnTo>
                  <a:lnTo>
                    <a:pt x="170" y="141"/>
                  </a:lnTo>
                  <a:lnTo>
                    <a:pt x="173" y="145"/>
                  </a:lnTo>
                  <a:lnTo>
                    <a:pt x="176" y="146"/>
                  </a:lnTo>
                  <a:lnTo>
                    <a:pt x="180" y="146"/>
                  </a:lnTo>
                  <a:lnTo>
                    <a:pt x="187" y="145"/>
                  </a:lnTo>
                  <a:lnTo>
                    <a:pt x="192" y="141"/>
                  </a:lnTo>
                  <a:lnTo>
                    <a:pt x="195" y="136"/>
                  </a:lnTo>
                  <a:lnTo>
                    <a:pt x="197" y="129"/>
                  </a:lnTo>
                  <a:close/>
                  <a:moveTo>
                    <a:pt x="197" y="95"/>
                  </a:moveTo>
                  <a:lnTo>
                    <a:pt x="197" y="89"/>
                  </a:lnTo>
                  <a:lnTo>
                    <a:pt x="195" y="84"/>
                  </a:lnTo>
                  <a:lnTo>
                    <a:pt x="194" y="79"/>
                  </a:lnTo>
                  <a:lnTo>
                    <a:pt x="192" y="74"/>
                  </a:lnTo>
                  <a:lnTo>
                    <a:pt x="189" y="72"/>
                  </a:lnTo>
                  <a:lnTo>
                    <a:pt x="187" y="71"/>
                  </a:lnTo>
                  <a:lnTo>
                    <a:pt x="183" y="69"/>
                  </a:lnTo>
                  <a:lnTo>
                    <a:pt x="178" y="69"/>
                  </a:lnTo>
                  <a:lnTo>
                    <a:pt x="175" y="69"/>
                  </a:lnTo>
                  <a:lnTo>
                    <a:pt x="171" y="71"/>
                  </a:lnTo>
                  <a:lnTo>
                    <a:pt x="168" y="72"/>
                  </a:lnTo>
                  <a:lnTo>
                    <a:pt x="166" y="76"/>
                  </a:lnTo>
                  <a:lnTo>
                    <a:pt x="163" y="79"/>
                  </a:lnTo>
                  <a:lnTo>
                    <a:pt x="161" y="84"/>
                  </a:lnTo>
                  <a:lnTo>
                    <a:pt x="159" y="89"/>
                  </a:lnTo>
                  <a:lnTo>
                    <a:pt x="159" y="95"/>
                  </a:lnTo>
                  <a:lnTo>
                    <a:pt x="197" y="95"/>
                  </a:lnTo>
                  <a:close/>
                  <a:moveTo>
                    <a:pt x="292" y="46"/>
                  </a:moveTo>
                  <a:lnTo>
                    <a:pt x="292" y="72"/>
                  </a:lnTo>
                  <a:lnTo>
                    <a:pt x="273" y="72"/>
                  </a:lnTo>
                  <a:lnTo>
                    <a:pt x="273" y="121"/>
                  </a:lnTo>
                  <a:lnTo>
                    <a:pt x="273" y="127"/>
                  </a:lnTo>
                  <a:lnTo>
                    <a:pt x="273" y="133"/>
                  </a:lnTo>
                  <a:lnTo>
                    <a:pt x="273" y="138"/>
                  </a:lnTo>
                  <a:lnTo>
                    <a:pt x="273" y="140"/>
                  </a:lnTo>
                  <a:lnTo>
                    <a:pt x="275" y="141"/>
                  </a:lnTo>
                  <a:lnTo>
                    <a:pt x="277" y="143"/>
                  </a:lnTo>
                  <a:lnTo>
                    <a:pt x="278" y="145"/>
                  </a:lnTo>
                  <a:lnTo>
                    <a:pt x="282" y="145"/>
                  </a:lnTo>
                  <a:lnTo>
                    <a:pt x="283" y="145"/>
                  </a:lnTo>
                  <a:lnTo>
                    <a:pt x="285" y="143"/>
                  </a:lnTo>
                  <a:lnTo>
                    <a:pt x="289" y="143"/>
                  </a:lnTo>
                  <a:lnTo>
                    <a:pt x="292" y="141"/>
                  </a:lnTo>
                  <a:lnTo>
                    <a:pt x="296" y="167"/>
                  </a:lnTo>
                  <a:lnTo>
                    <a:pt x="290" y="167"/>
                  </a:lnTo>
                  <a:lnTo>
                    <a:pt x="285" y="167"/>
                  </a:lnTo>
                  <a:lnTo>
                    <a:pt x="278" y="169"/>
                  </a:lnTo>
                  <a:lnTo>
                    <a:pt x="273" y="169"/>
                  </a:lnTo>
                  <a:lnTo>
                    <a:pt x="268" y="169"/>
                  </a:lnTo>
                  <a:lnTo>
                    <a:pt x="264" y="167"/>
                  </a:lnTo>
                  <a:lnTo>
                    <a:pt x="259" y="167"/>
                  </a:lnTo>
                  <a:lnTo>
                    <a:pt x="256" y="167"/>
                  </a:lnTo>
                  <a:lnTo>
                    <a:pt x="252" y="164"/>
                  </a:lnTo>
                  <a:lnTo>
                    <a:pt x="251" y="160"/>
                  </a:lnTo>
                  <a:lnTo>
                    <a:pt x="249" y="157"/>
                  </a:lnTo>
                  <a:lnTo>
                    <a:pt x="247" y="152"/>
                  </a:lnTo>
                  <a:lnTo>
                    <a:pt x="247" y="148"/>
                  </a:lnTo>
                  <a:lnTo>
                    <a:pt x="247" y="141"/>
                  </a:lnTo>
                  <a:lnTo>
                    <a:pt x="245" y="134"/>
                  </a:lnTo>
                  <a:lnTo>
                    <a:pt x="245" y="126"/>
                  </a:lnTo>
                  <a:lnTo>
                    <a:pt x="245" y="72"/>
                  </a:lnTo>
                  <a:lnTo>
                    <a:pt x="233" y="72"/>
                  </a:lnTo>
                  <a:lnTo>
                    <a:pt x="233" y="46"/>
                  </a:lnTo>
                  <a:lnTo>
                    <a:pt x="245" y="46"/>
                  </a:lnTo>
                  <a:lnTo>
                    <a:pt x="245" y="20"/>
                  </a:lnTo>
                  <a:lnTo>
                    <a:pt x="273" y="3"/>
                  </a:lnTo>
                  <a:lnTo>
                    <a:pt x="273" y="46"/>
                  </a:lnTo>
                  <a:lnTo>
                    <a:pt x="292" y="46"/>
                  </a:lnTo>
                  <a:close/>
                  <a:moveTo>
                    <a:pt x="328" y="167"/>
                  </a:moveTo>
                  <a:lnTo>
                    <a:pt x="296" y="46"/>
                  </a:lnTo>
                  <a:lnTo>
                    <a:pt x="321" y="46"/>
                  </a:lnTo>
                  <a:lnTo>
                    <a:pt x="342" y="127"/>
                  </a:lnTo>
                  <a:lnTo>
                    <a:pt x="361" y="46"/>
                  </a:lnTo>
                  <a:lnTo>
                    <a:pt x="384" y="46"/>
                  </a:lnTo>
                  <a:lnTo>
                    <a:pt x="401" y="127"/>
                  </a:lnTo>
                  <a:lnTo>
                    <a:pt x="420" y="46"/>
                  </a:lnTo>
                  <a:lnTo>
                    <a:pt x="446" y="46"/>
                  </a:lnTo>
                  <a:lnTo>
                    <a:pt x="415" y="167"/>
                  </a:lnTo>
                  <a:lnTo>
                    <a:pt x="390" y="167"/>
                  </a:lnTo>
                  <a:lnTo>
                    <a:pt x="373" y="89"/>
                  </a:lnTo>
                  <a:lnTo>
                    <a:pt x="352" y="167"/>
                  </a:lnTo>
                  <a:lnTo>
                    <a:pt x="328" y="167"/>
                  </a:lnTo>
                  <a:close/>
                  <a:moveTo>
                    <a:pt x="454" y="107"/>
                  </a:moveTo>
                  <a:lnTo>
                    <a:pt x="454" y="96"/>
                  </a:lnTo>
                  <a:lnTo>
                    <a:pt x="456" y="88"/>
                  </a:lnTo>
                  <a:lnTo>
                    <a:pt x="458" y="81"/>
                  </a:lnTo>
                  <a:lnTo>
                    <a:pt x="460" y="74"/>
                  </a:lnTo>
                  <a:lnTo>
                    <a:pt x="463" y="67"/>
                  </a:lnTo>
                  <a:lnTo>
                    <a:pt x="468" y="60"/>
                  </a:lnTo>
                  <a:lnTo>
                    <a:pt x="473" y="55"/>
                  </a:lnTo>
                  <a:lnTo>
                    <a:pt x="479" y="52"/>
                  </a:lnTo>
                  <a:lnTo>
                    <a:pt x="484" y="48"/>
                  </a:lnTo>
                  <a:lnTo>
                    <a:pt x="491" y="45"/>
                  </a:lnTo>
                  <a:lnTo>
                    <a:pt x="498" y="43"/>
                  </a:lnTo>
                  <a:lnTo>
                    <a:pt x="504" y="43"/>
                  </a:lnTo>
                  <a:lnTo>
                    <a:pt x="515" y="45"/>
                  </a:lnTo>
                  <a:lnTo>
                    <a:pt x="525" y="48"/>
                  </a:lnTo>
                  <a:lnTo>
                    <a:pt x="534" y="53"/>
                  </a:lnTo>
                  <a:lnTo>
                    <a:pt x="542" y="62"/>
                  </a:lnTo>
                  <a:lnTo>
                    <a:pt x="548" y="72"/>
                  </a:lnTo>
                  <a:lnTo>
                    <a:pt x="553" y="83"/>
                  </a:lnTo>
                  <a:lnTo>
                    <a:pt x="554" y="95"/>
                  </a:lnTo>
                  <a:lnTo>
                    <a:pt x="556" y="107"/>
                  </a:lnTo>
                  <a:lnTo>
                    <a:pt x="556" y="115"/>
                  </a:lnTo>
                  <a:lnTo>
                    <a:pt x="554" y="124"/>
                  </a:lnTo>
                  <a:lnTo>
                    <a:pt x="551" y="131"/>
                  </a:lnTo>
                  <a:lnTo>
                    <a:pt x="548" y="140"/>
                  </a:lnTo>
                  <a:lnTo>
                    <a:pt x="544" y="146"/>
                  </a:lnTo>
                  <a:lnTo>
                    <a:pt x="541" y="153"/>
                  </a:lnTo>
                  <a:lnTo>
                    <a:pt x="535" y="159"/>
                  </a:lnTo>
                  <a:lnTo>
                    <a:pt x="529" y="164"/>
                  </a:lnTo>
                  <a:lnTo>
                    <a:pt x="523" y="165"/>
                  </a:lnTo>
                  <a:lnTo>
                    <a:pt x="518" y="167"/>
                  </a:lnTo>
                  <a:lnTo>
                    <a:pt x="511" y="169"/>
                  </a:lnTo>
                  <a:lnTo>
                    <a:pt x="506" y="169"/>
                  </a:lnTo>
                  <a:lnTo>
                    <a:pt x="494" y="169"/>
                  </a:lnTo>
                  <a:lnTo>
                    <a:pt x="485" y="165"/>
                  </a:lnTo>
                  <a:lnTo>
                    <a:pt x="475" y="160"/>
                  </a:lnTo>
                  <a:lnTo>
                    <a:pt x="468" y="153"/>
                  </a:lnTo>
                  <a:lnTo>
                    <a:pt x="461" y="145"/>
                  </a:lnTo>
                  <a:lnTo>
                    <a:pt x="456" y="134"/>
                  </a:lnTo>
                  <a:lnTo>
                    <a:pt x="454" y="121"/>
                  </a:lnTo>
                  <a:lnTo>
                    <a:pt x="454" y="107"/>
                  </a:lnTo>
                  <a:close/>
                  <a:moveTo>
                    <a:pt x="480" y="108"/>
                  </a:moveTo>
                  <a:lnTo>
                    <a:pt x="480" y="115"/>
                  </a:lnTo>
                  <a:lnTo>
                    <a:pt x="482" y="124"/>
                  </a:lnTo>
                  <a:lnTo>
                    <a:pt x="485" y="129"/>
                  </a:lnTo>
                  <a:lnTo>
                    <a:pt x="487" y="134"/>
                  </a:lnTo>
                  <a:lnTo>
                    <a:pt x="491" y="140"/>
                  </a:lnTo>
                  <a:lnTo>
                    <a:pt x="496" y="141"/>
                  </a:lnTo>
                  <a:lnTo>
                    <a:pt x="501" y="145"/>
                  </a:lnTo>
                  <a:lnTo>
                    <a:pt x="506" y="145"/>
                  </a:lnTo>
                  <a:lnTo>
                    <a:pt x="510" y="145"/>
                  </a:lnTo>
                  <a:lnTo>
                    <a:pt x="513" y="141"/>
                  </a:lnTo>
                  <a:lnTo>
                    <a:pt x="518" y="140"/>
                  </a:lnTo>
                  <a:lnTo>
                    <a:pt x="522" y="134"/>
                  </a:lnTo>
                  <a:lnTo>
                    <a:pt x="525" y="129"/>
                  </a:lnTo>
                  <a:lnTo>
                    <a:pt x="527" y="124"/>
                  </a:lnTo>
                  <a:lnTo>
                    <a:pt x="529" y="115"/>
                  </a:lnTo>
                  <a:lnTo>
                    <a:pt x="529" y="108"/>
                  </a:lnTo>
                  <a:lnTo>
                    <a:pt x="529" y="100"/>
                  </a:lnTo>
                  <a:lnTo>
                    <a:pt x="527" y="91"/>
                  </a:lnTo>
                  <a:lnTo>
                    <a:pt x="525" y="84"/>
                  </a:lnTo>
                  <a:lnTo>
                    <a:pt x="522" y="79"/>
                  </a:lnTo>
                  <a:lnTo>
                    <a:pt x="518" y="76"/>
                  </a:lnTo>
                  <a:lnTo>
                    <a:pt x="513" y="72"/>
                  </a:lnTo>
                  <a:lnTo>
                    <a:pt x="508" y="71"/>
                  </a:lnTo>
                  <a:lnTo>
                    <a:pt x="504" y="71"/>
                  </a:lnTo>
                  <a:lnTo>
                    <a:pt x="499" y="71"/>
                  </a:lnTo>
                  <a:lnTo>
                    <a:pt x="496" y="72"/>
                  </a:lnTo>
                  <a:lnTo>
                    <a:pt x="491" y="76"/>
                  </a:lnTo>
                  <a:lnTo>
                    <a:pt x="487" y="77"/>
                  </a:lnTo>
                  <a:lnTo>
                    <a:pt x="485" y="84"/>
                  </a:lnTo>
                  <a:lnTo>
                    <a:pt x="482" y="91"/>
                  </a:lnTo>
                  <a:lnTo>
                    <a:pt x="480" y="100"/>
                  </a:lnTo>
                  <a:lnTo>
                    <a:pt x="480" y="108"/>
                  </a:lnTo>
                  <a:close/>
                  <a:moveTo>
                    <a:pt x="605" y="167"/>
                  </a:moveTo>
                  <a:lnTo>
                    <a:pt x="577" y="167"/>
                  </a:lnTo>
                  <a:lnTo>
                    <a:pt x="577" y="46"/>
                  </a:lnTo>
                  <a:lnTo>
                    <a:pt x="603" y="46"/>
                  </a:lnTo>
                  <a:lnTo>
                    <a:pt x="603" y="64"/>
                  </a:lnTo>
                  <a:lnTo>
                    <a:pt x="605" y="58"/>
                  </a:lnTo>
                  <a:lnTo>
                    <a:pt x="608" y="53"/>
                  </a:lnTo>
                  <a:lnTo>
                    <a:pt x="610" y="50"/>
                  </a:lnTo>
                  <a:lnTo>
                    <a:pt x="613" y="48"/>
                  </a:lnTo>
                  <a:lnTo>
                    <a:pt x="617" y="46"/>
                  </a:lnTo>
                  <a:lnTo>
                    <a:pt x="618" y="45"/>
                  </a:lnTo>
                  <a:lnTo>
                    <a:pt x="622" y="43"/>
                  </a:lnTo>
                  <a:lnTo>
                    <a:pt x="624" y="43"/>
                  </a:lnTo>
                  <a:lnTo>
                    <a:pt x="629" y="43"/>
                  </a:lnTo>
                  <a:lnTo>
                    <a:pt x="632" y="45"/>
                  </a:lnTo>
                  <a:lnTo>
                    <a:pt x="637" y="48"/>
                  </a:lnTo>
                  <a:lnTo>
                    <a:pt x="641" y="50"/>
                  </a:lnTo>
                  <a:lnTo>
                    <a:pt x="634" y="77"/>
                  </a:lnTo>
                  <a:lnTo>
                    <a:pt x="629" y="76"/>
                  </a:lnTo>
                  <a:lnTo>
                    <a:pt x="625" y="76"/>
                  </a:lnTo>
                  <a:lnTo>
                    <a:pt x="624" y="74"/>
                  </a:lnTo>
                  <a:lnTo>
                    <a:pt x="622" y="74"/>
                  </a:lnTo>
                  <a:lnTo>
                    <a:pt x="618" y="74"/>
                  </a:lnTo>
                  <a:lnTo>
                    <a:pt x="617" y="74"/>
                  </a:lnTo>
                  <a:lnTo>
                    <a:pt x="613" y="76"/>
                  </a:lnTo>
                  <a:lnTo>
                    <a:pt x="611" y="77"/>
                  </a:lnTo>
                  <a:lnTo>
                    <a:pt x="610" y="79"/>
                  </a:lnTo>
                  <a:lnTo>
                    <a:pt x="608" y="83"/>
                  </a:lnTo>
                  <a:lnTo>
                    <a:pt x="606" y="88"/>
                  </a:lnTo>
                  <a:lnTo>
                    <a:pt x="605" y="93"/>
                  </a:lnTo>
                  <a:lnTo>
                    <a:pt x="605" y="98"/>
                  </a:lnTo>
                  <a:lnTo>
                    <a:pt x="605" y="107"/>
                  </a:lnTo>
                  <a:lnTo>
                    <a:pt x="605" y="117"/>
                  </a:lnTo>
                  <a:lnTo>
                    <a:pt x="605" y="129"/>
                  </a:lnTo>
                  <a:lnTo>
                    <a:pt x="605" y="1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4" name="Freeform 1792"/>
            <p:cNvSpPr>
              <a:spLocks noEditPoints="1"/>
            </p:cNvSpPr>
            <p:nvPr/>
          </p:nvSpPr>
          <p:spPr bwMode="auto">
            <a:xfrm>
              <a:off x="3378" y="2871"/>
              <a:ext cx="331" cy="108"/>
            </a:xfrm>
            <a:custGeom>
              <a:avLst/>
              <a:gdLst>
                <a:gd name="T0" fmla="*/ 55 w 661"/>
                <a:gd name="T1" fmla="*/ 46 h 215"/>
                <a:gd name="T2" fmla="*/ 38 w 661"/>
                <a:gd name="T3" fmla="*/ 114 h 215"/>
                <a:gd name="T4" fmla="*/ 159 w 661"/>
                <a:gd name="T5" fmla="*/ 0 h 215"/>
                <a:gd name="T6" fmla="*/ 159 w 661"/>
                <a:gd name="T7" fmla="*/ 167 h 215"/>
                <a:gd name="T8" fmla="*/ 281 w 661"/>
                <a:gd name="T9" fmla="*/ 57 h 215"/>
                <a:gd name="T10" fmla="*/ 314 w 661"/>
                <a:gd name="T11" fmla="*/ 43 h 215"/>
                <a:gd name="T12" fmla="*/ 345 w 661"/>
                <a:gd name="T13" fmla="*/ 52 h 215"/>
                <a:gd name="T14" fmla="*/ 355 w 661"/>
                <a:gd name="T15" fmla="*/ 72 h 215"/>
                <a:gd name="T16" fmla="*/ 357 w 661"/>
                <a:gd name="T17" fmla="*/ 141 h 215"/>
                <a:gd name="T18" fmla="*/ 362 w 661"/>
                <a:gd name="T19" fmla="*/ 164 h 215"/>
                <a:gd name="T20" fmla="*/ 326 w 661"/>
                <a:gd name="T21" fmla="*/ 162 h 215"/>
                <a:gd name="T22" fmla="*/ 307 w 661"/>
                <a:gd name="T23" fmla="*/ 169 h 215"/>
                <a:gd name="T24" fmla="*/ 280 w 661"/>
                <a:gd name="T25" fmla="*/ 160 h 215"/>
                <a:gd name="T26" fmla="*/ 269 w 661"/>
                <a:gd name="T27" fmla="*/ 129 h 215"/>
                <a:gd name="T28" fmla="*/ 278 w 661"/>
                <a:gd name="T29" fmla="*/ 110 h 215"/>
                <a:gd name="T30" fmla="*/ 299 w 661"/>
                <a:gd name="T31" fmla="*/ 98 h 215"/>
                <a:gd name="T32" fmla="*/ 330 w 661"/>
                <a:gd name="T33" fmla="*/ 88 h 215"/>
                <a:gd name="T34" fmla="*/ 328 w 661"/>
                <a:gd name="T35" fmla="*/ 74 h 215"/>
                <a:gd name="T36" fmla="*/ 319 w 661"/>
                <a:gd name="T37" fmla="*/ 69 h 215"/>
                <a:gd name="T38" fmla="*/ 305 w 661"/>
                <a:gd name="T39" fmla="*/ 71 h 215"/>
                <a:gd name="T40" fmla="*/ 297 w 661"/>
                <a:gd name="T41" fmla="*/ 84 h 215"/>
                <a:gd name="T42" fmla="*/ 314 w 661"/>
                <a:gd name="T43" fmla="*/ 115 h 215"/>
                <a:gd name="T44" fmla="*/ 300 w 661"/>
                <a:gd name="T45" fmla="*/ 124 h 215"/>
                <a:gd name="T46" fmla="*/ 299 w 661"/>
                <a:gd name="T47" fmla="*/ 138 h 215"/>
                <a:gd name="T48" fmla="*/ 307 w 661"/>
                <a:gd name="T49" fmla="*/ 148 h 215"/>
                <a:gd name="T50" fmla="*/ 323 w 661"/>
                <a:gd name="T51" fmla="*/ 145 h 215"/>
                <a:gd name="T52" fmla="*/ 330 w 661"/>
                <a:gd name="T53" fmla="*/ 131 h 215"/>
                <a:gd name="T54" fmla="*/ 369 w 661"/>
                <a:gd name="T55" fmla="*/ 46 h 215"/>
                <a:gd name="T56" fmla="*/ 437 w 661"/>
                <a:gd name="T57" fmla="*/ 164 h 215"/>
                <a:gd name="T58" fmla="*/ 421 w 661"/>
                <a:gd name="T59" fmla="*/ 203 h 215"/>
                <a:gd name="T60" fmla="*/ 407 w 661"/>
                <a:gd name="T61" fmla="*/ 212 h 215"/>
                <a:gd name="T62" fmla="*/ 387 w 661"/>
                <a:gd name="T63" fmla="*/ 214 h 215"/>
                <a:gd name="T64" fmla="*/ 383 w 661"/>
                <a:gd name="T65" fmla="*/ 188 h 215"/>
                <a:gd name="T66" fmla="*/ 397 w 661"/>
                <a:gd name="T67" fmla="*/ 186 h 215"/>
                <a:gd name="T68" fmla="*/ 407 w 661"/>
                <a:gd name="T69" fmla="*/ 167 h 215"/>
                <a:gd name="T70" fmla="*/ 566 w 661"/>
                <a:gd name="T71" fmla="*/ 152 h 215"/>
                <a:gd name="T72" fmla="*/ 538 w 661"/>
                <a:gd name="T73" fmla="*/ 169 h 215"/>
                <a:gd name="T74" fmla="*/ 495 w 661"/>
                <a:gd name="T75" fmla="*/ 157 h 215"/>
                <a:gd name="T76" fmla="*/ 483 w 661"/>
                <a:gd name="T77" fmla="*/ 93 h 215"/>
                <a:gd name="T78" fmla="*/ 509 w 661"/>
                <a:gd name="T79" fmla="*/ 46 h 215"/>
                <a:gd name="T80" fmla="*/ 554 w 661"/>
                <a:gd name="T81" fmla="*/ 52 h 215"/>
                <a:gd name="T82" fmla="*/ 575 w 661"/>
                <a:gd name="T83" fmla="*/ 112 h 215"/>
                <a:gd name="T84" fmla="*/ 513 w 661"/>
                <a:gd name="T85" fmla="*/ 134 h 215"/>
                <a:gd name="T86" fmla="*/ 532 w 661"/>
                <a:gd name="T87" fmla="*/ 146 h 215"/>
                <a:gd name="T88" fmla="*/ 549 w 661"/>
                <a:gd name="T89" fmla="*/ 95 h 215"/>
                <a:gd name="T90" fmla="*/ 540 w 661"/>
                <a:gd name="T91" fmla="*/ 72 h 215"/>
                <a:gd name="T92" fmla="*/ 521 w 661"/>
                <a:gd name="T93" fmla="*/ 71 h 215"/>
                <a:gd name="T94" fmla="*/ 511 w 661"/>
                <a:gd name="T95" fmla="*/ 89 h 215"/>
                <a:gd name="T96" fmla="*/ 595 w 661"/>
                <a:gd name="T97" fmla="*/ 46 h 215"/>
                <a:gd name="T98" fmla="*/ 628 w 661"/>
                <a:gd name="T99" fmla="*/ 50 h 215"/>
                <a:gd name="T100" fmla="*/ 644 w 661"/>
                <a:gd name="T101" fmla="*/ 43 h 215"/>
                <a:gd name="T102" fmla="*/ 652 w 661"/>
                <a:gd name="T103" fmla="*/ 77 h 215"/>
                <a:gd name="T104" fmla="*/ 637 w 661"/>
                <a:gd name="T105" fmla="*/ 74 h 215"/>
                <a:gd name="T106" fmla="*/ 627 w 661"/>
                <a:gd name="T107" fmla="*/ 83 h 215"/>
                <a:gd name="T108" fmla="*/ 623 w 661"/>
                <a:gd name="T109" fmla="*/ 11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1" h="215">
                  <a:moveTo>
                    <a:pt x="0" y="167"/>
                  </a:moveTo>
                  <a:lnTo>
                    <a:pt x="0" y="0"/>
                  </a:lnTo>
                  <a:lnTo>
                    <a:pt x="26" y="0"/>
                  </a:lnTo>
                  <a:lnTo>
                    <a:pt x="26" y="88"/>
                  </a:lnTo>
                  <a:lnTo>
                    <a:pt x="55" y="46"/>
                  </a:lnTo>
                  <a:lnTo>
                    <a:pt x="88" y="46"/>
                  </a:lnTo>
                  <a:lnTo>
                    <a:pt x="53" y="91"/>
                  </a:lnTo>
                  <a:lnTo>
                    <a:pt x="91" y="167"/>
                  </a:lnTo>
                  <a:lnTo>
                    <a:pt x="64" y="167"/>
                  </a:lnTo>
                  <a:lnTo>
                    <a:pt x="38" y="114"/>
                  </a:lnTo>
                  <a:lnTo>
                    <a:pt x="26" y="129"/>
                  </a:lnTo>
                  <a:lnTo>
                    <a:pt x="26" y="167"/>
                  </a:lnTo>
                  <a:lnTo>
                    <a:pt x="0" y="167"/>
                  </a:lnTo>
                  <a:close/>
                  <a:moveTo>
                    <a:pt x="159" y="167"/>
                  </a:moveTo>
                  <a:lnTo>
                    <a:pt x="159" y="0"/>
                  </a:lnTo>
                  <a:lnTo>
                    <a:pt x="186" y="0"/>
                  </a:lnTo>
                  <a:lnTo>
                    <a:pt x="186" y="140"/>
                  </a:lnTo>
                  <a:lnTo>
                    <a:pt x="255" y="140"/>
                  </a:lnTo>
                  <a:lnTo>
                    <a:pt x="255" y="167"/>
                  </a:lnTo>
                  <a:lnTo>
                    <a:pt x="159" y="167"/>
                  </a:lnTo>
                  <a:close/>
                  <a:moveTo>
                    <a:pt x="297" y="84"/>
                  </a:moveTo>
                  <a:lnTo>
                    <a:pt x="273" y="77"/>
                  </a:lnTo>
                  <a:lnTo>
                    <a:pt x="274" y="71"/>
                  </a:lnTo>
                  <a:lnTo>
                    <a:pt x="278" y="62"/>
                  </a:lnTo>
                  <a:lnTo>
                    <a:pt x="281" y="57"/>
                  </a:lnTo>
                  <a:lnTo>
                    <a:pt x="286" y="52"/>
                  </a:lnTo>
                  <a:lnTo>
                    <a:pt x="292" y="48"/>
                  </a:lnTo>
                  <a:lnTo>
                    <a:pt x="299" y="45"/>
                  </a:lnTo>
                  <a:lnTo>
                    <a:pt x="307" y="43"/>
                  </a:lnTo>
                  <a:lnTo>
                    <a:pt x="314" y="43"/>
                  </a:lnTo>
                  <a:lnTo>
                    <a:pt x="321" y="43"/>
                  </a:lnTo>
                  <a:lnTo>
                    <a:pt x="330" y="45"/>
                  </a:lnTo>
                  <a:lnTo>
                    <a:pt x="336" y="46"/>
                  </a:lnTo>
                  <a:lnTo>
                    <a:pt x="342" y="48"/>
                  </a:lnTo>
                  <a:lnTo>
                    <a:pt x="345" y="52"/>
                  </a:lnTo>
                  <a:lnTo>
                    <a:pt x="349" y="53"/>
                  </a:lnTo>
                  <a:lnTo>
                    <a:pt x="350" y="57"/>
                  </a:lnTo>
                  <a:lnTo>
                    <a:pt x="354" y="60"/>
                  </a:lnTo>
                  <a:lnTo>
                    <a:pt x="355" y="65"/>
                  </a:lnTo>
                  <a:lnTo>
                    <a:pt x="355" y="72"/>
                  </a:lnTo>
                  <a:lnTo>
                    <a:pt x="357" y="81"/>
                  </a:lnTo>
                  <a:lnTo>
                    <a:pt x="357" y="91"/>
                  </a:lnTo>
                  <a:lnTo>
                    <a:pt x="357" y="127"/>
                  </a:lnTo>
                  <a:lnTo>
                    <a:pt x="357" y="134"/>
                  </a:lnTo>
                  <a:lnTo>
                    <a:pt x="357" y="141"/>
                  </a:lnTo>
                  <a:lnTo>
                    <a:pt x="357" y="146"/>
                  </a:lnTo>
                  <a:lnTo>
                    <a:pt x="359" y="150"/>
                  </a:lnTo>
                  <a:lnTo>
                    <a:pt x="359" y="155"/>
                  </a:lnTo>
                  <a:lnTo>
                    <a:pt x="361" y="159"/>
                  </a:lnTo>
                  <a:lnTo>
                    <a:pt x="362" y="164"/>
                  </a:lnTo>
                  <a:lnTo>
                    <a:pt x="362" y="167"/>
                  </a:lnTo>
                  <a:lnTo>
                    <a:pt x="336" y="167"/>
                  </a:lnTo>
                  <a:lnTo>
                    <a:pt x="333" y="155"/>
                  </a:lnTo>
                  <a:lnTo>
                    <a:pt x="330" y="159"/>
                  </a:lnTo>
                  <a:lnTo>
                    <a:pt x="326" y="162"/>
                  </a:lnTo>
                  <a:lnTo>
                    <a:pt x="323" y="165"/>
                  </a:lnTo>
                  <a:lnTo>
                    <a:pt x="319" y="167"/>
                  </a:lnTo>
                  <a:lnTo>
                    <a:pt x="316" y="167"/>
                  </a:lnTo>
                  <a:lnTo>
                    <a:pt x="311" y="167"/>
                  </a:lnTo>
                  <a:lnTo>
                    <a:pt x="307" y="169"/>
                  </a:lnTo>
                  <a:lnTo>
                    <a:pt x="304" y="169"/>
                  </a:lnTo>
                  <a:lnTo>
                    <a:pt x="297" y="169"/>
                  </a:lnTo>
                  <a:lnTo>
                    <a:pt x="290" y="167"/>
                  </a:lnTo>
                  <a:lnTo>
                    <a:pt x="285" y="164"/>
                  </a:lnTo>
                  <a:lnTo>
                    <a:pt x="280" y="160"/>
                  </a:lnTo>
                  <a:lnTo>
                    <a:pt x="274" y="155"/>
                  </a:lnTo>
                  <a:lnTo>
                    <a:pt x="273" y="150"/>
                  </a:lnTo>
                  <a:lnTo>
                    <a:pt x="269" y="143"/>
                  </a:lnTo>
                  <a:lnTo>
                    <a:pt x="269" y="134"/>
                  </a:lnTo>
                  <a:lnTo>
                    <a:pt x="269" y="129"/>
                  </a:lnTo>
                  <a:lnTo>
                    <a:pt x="271" y="126"/>
                  </a:lnTo>
                  <a:lnTo>
                    <a:pt x="273" y="121"/>
                  </a:lnTo>
                  <a:lnTo>
                    <a:pt x="274" y="117"/>
                  </a:lnTo>
                  <a:lnTo>
                    <a:pt x="276" y="112"/>
                  </a:lnTo>
                  <a:lnTo>
                    <a:pt x="278" y="110"/>
                  </a:lnTo>
                  <a:lnTo>
                    <a:pt x="281" y="107"/>
                  </a:lnTo>
                  <a:lnTo>
                    <a:pt x="285" y="105"/>
                  </a:lnTo>
                  <a:lnTo>
                    <a:pt x="288" y="103"/>
                  </a:lnTo>
                  <a:lnTo>
                    <a:pt x="293" y="100"/>
                  </a:lnTo>
                  <a:lnTo>
                    <a:pt x="299" y="98"/>
                  </a:lnTo>
                  <a:lnTo>
                    <a:pt x="305" y="96"/>
                  </a:lnTo>
                  <a:lnTo>
                    <a:pt x="314" y="95"/>
                  </a:lnTo>
                  <a:lnTo>
                    <a:pt x="321" y="91"/>
                  </a:lnTo>
                  <a:lnTo>
                    <a:pt x="326" y="89"/>
                  </a:lnTo>
                  <a:lnTo>
                    <a:pt x="330" y="88"/>
                  </a:lnTo>
                  <a:lnTo>
                    <a:pt x="330" y="83"/>
                  </a:lnTo>
                  <a:lnTo>
                    <a:pt x="330" y="79"/>
                  </a:lnTo>
                  <a:lnTo>
                    <a:pt x="330" y="77"/>
                  </a:lnTo>
                  <a:lnTo>
                    <a:pt x="328" y="74"/>
                  </a:lnTo>
                  <a:lnTo>
                    <a:pt x="328" y="74"/>
                  </a:lnTo>
                  <a:lnTo>
                    <a:pt x="326" y="72"/>
                  </a:lnTo>
                  <a:lnTo>
                    <a:pt x="324" y="72"/>
                  </a:lnTo>
                  <a:lnTo>
                    <a:pt x="324" y="71"/>
                  </a:lnTo>
                  <a:lnTo>
                    <a:pt x="323" y="69"/>
                  </a:lnTo>
                  <a:lnTo>
                    <a:pt x="319" y="69"/>
                  </a:lnTo>
                  <a:lnTo>
                    <a:pt x="318" y="69"/>
                  </a:lnTo>
                  <a:lnTo>
                    <a:pt x="314" y="69"/>
                  </a:lnTo>
                  <a:lnTo>
                    <a:pt x="311" y="69"/>
                  </a:lnTo>
                  <a:lnTo>
                    <a:pt x="307" y="69"/>
                  </a:lnTo>
                  <a:lnTo>
                    <a:pt x="305" y="71"/>
                  </a:lnTo>
                  <a:lnTo>
                    <a:pt x="304" y="72"/>
                  </a:lnTo>
                  <a:lnTo>
                    <a:pt x="302" y="74"/>
                  </a:lnTo>
                  <a:lnTo>
                    <a:pt x="300" y="76"/>
                  </a:lnTo>
                  <a:lnTo>
                    <a:pt x="299" y="79"/>
                  </a:lnTo>
                  <a:lnTo>
                    <a:pt x="297" y="84"/>
                  </a:lnTo>
                  <a:close/>
                  <a:moveTo>
                    <a:pt x="330" y="110"/>
                  </a:moveTo>
                  <a:lnTo>
                    <a:pt x="326" y="110"/>
                  </a:lnTo>
                  <a:lnTo>
                    <a:pt x="324" y="112"/>
                  </a:lnTo>
                  <a:lnTo>
                    <a:pt x="319" y="114"/>
                  </a:lnTo>
                  <a:lnTo>
                    <a:pt x="314" y="115"/>
                  </a:lnTo>
                  <a:lnTo>
                    <a:pt x="309" y="117"/>
                  </a:lnTo>
                  <a:lnTo>
                    <a:pt x="305" y="119"/>
                  </a:lnTo>
                  <a:lnTo>
                    <a:pt x="304" y="121"/>
                  </a:lnTo>
                  <a:lnTo>
                    <a:pt x="302" y="122"/>
                  </a:lnTo>
                  <a:lnTo>
                    <a:pt x="300" y="124"/>
                  </a:lnTo>
                  <a:lnTo>
                    <a:pt x="299" y="126"/>
                  </a:lnTo>
                  <a:lnTo>
                    <a:pt x="297" y="129"/>
                  </a:lnTo>
                  <a:lnTo>
                    <a:pt x="297" y="131"/>
                  </a:lnTo>
                  <a:lnTo>
                    <a:pt x="297" y="134"/>
                  </a:lnTo>
                  <a:lnTo>
                    <a:pt x="299" y="138"/>
                  </a:lnTo>
                  <a:lnTo>
                    <a:pt x="300" y="140"/>
                  </a:lnTo>
                  <a:lnTo>
                    <a:pt x="302" y="143"/>
                  </a:lnTo>
                  <a:lnTo>
                    <a:pt x="304" y="146"/>
                  </a:lnTo>
                  <a:lnTo>
                    <a:pt x="305" y="148"/>
                  </a:lnTo>
                  <a:lnTo>
                    <a:pt x="307" y="148"/>
                  </a:lnTo>
                  <a:lnTo>
                    <a:pt x="311" y="148"/>
                  </a:lnTo>
                  <a:lnTo>
                    <a:pt x="314" y="148"/>
                  </a:lnTo>
                  <a:lnTo>
                    <a:pt x="316" y="148"/>
                  </a:lnTo>
                  <a:lnTo>
                    <a:pt x="319" y="146"/>
                  </a:lnTo>
                  <a:lnTo>
                    <a:pt x="323" y="145"/>
                  </a:lnTo>
                  <a:lnTo>
                    <a:pt x="324" y="141"/>
                  </a:lnTo>
                  <a:lnTo>
                    <a:pt x="326" y="140"/>
                  </a:lnTo>
                  <a:lnTo>
                    <a:pt x="326" y="136"/>
                  </a:lnTo>
                  <a:lnTo>
                    <a:pt x="328" y="134"/>
                  </a:lnTo>
                  <a:lnTo>
                    <a:pt x="330" y="131"/>
                  </a:lnTo>
                  <a:lnTo>
                    <a:pt x="330" y="127"/>
                  </a:lnTo>
                  <a:lnTo>
                    <a:pt x="330" y="122"/>
                  </a:lnTo>
                  <a:lnTo>
                    <a:pt x="330" y="117"/>
                  </a:lnTo>
                  <a:lnTo>
                    <a:pt x="330" y="110"/>
                  </a:lnTo>
                  <a:close/>
                  <a:moveTo>
                    <a:pt x="369" y="46"/>
                  </a:moveTo>
                  <a:lnTo>
                    <a:pt x="397" y="46"/>
                  </a:lnTo>
                  <a:lnTo>
                    <a:pt x="421" y="133"/>
                  </a:lnTo>
                  <a:lnTo>
                    <a:pt x="444" y="46"/>
                  </a:lnTo>
                  <a:lnTo>
                    <a:pt x="473" y="46"/>
                  </a:lnTo>
                  <a:lnTo>
                    <a:pt x="437" y="164"/>
                  </a:lnTo>
                  <a:lnTo>
                    <a:pt x="431" y="184"/>
                  </a:lnTo>
                  <a:lnTo>
                    <a:pt x="430" y="190"/>
                  </a:lnTo>
                  <a:lnTo>
                    <a:pt x="426" y="195"/>
                  </a:lnTo>
                  <a:lnTo>
                    <a:pt x="425" y="200"/>
                  </a:lnTo>
                  <a:lnTo>
                    <a:pt x="421" y="203"/>
                  </a:lnTo>
                  <a:lnTo>
                    <a:pt x="419" y="205"/>
                  </a:lnTo>
                  <a:lnTo>
                    <a:pt x="418" y="207"/>
                  </a:lnTo>
                  <a:lnTo>
                    <a:pt x="414" y="209"/>
                  </a:lnTo>
                  <a:lnTo>
                    <a:pt x="411" y="210"/>
                  </a:lnTo>
                  <a:lnTo>
                    <a:pt x="407" y="212"/>
                  </a:lnTo>
                  <a:lnTo>
                    <a:pt x="402" y="214"/>
                  </a:lnTo>
                  <a:lnTo>
                    <a:pt x="399" y="215"/>
                  </a:lnTo>
                  <a:lnTo>
                    <a:pt x="393" y="215"/>
                  </a:lnTo>
                  <a:lnTo>
                    <a:pt x="390" y="215"/>
                  </a:lnTo>
                  <a:lnTo>
                    <a:pt x="387" y="214"/>
                  </a:lnTo>
                  <a:lnTo>
                    <a:pt x="383" y="214"/>
                  </a:lnTo>
                  <a:lnTo>
                    <a:pt x="380" y="212"/>
                  </a:lnTo>
                  <a:lnTo>
                    <a:pt x="376" y="186"/>
                  </a:lnTo>
                  <a:lnTo>
                    <a:pt x="380" y="188"/>
                  </a:lnTo>
                  <a:lnTo>
                    <a:pt x="383" y="188"/>
                  </a:lnTo>
                  <a:lnTo>
                    <a:pt x="385" y="188"/>
                  </a:lnTo>
                  <a:lnTo>
                    <a:pt x="387" y="188"/>
                  </a:lnTo>
                  <a:lnTo>
                    <a:pt x="392" y="188"/>
                  </a:lnTo>
                  <a:lnTo>
                    <a:pt x="395" y="186"/>
                  </a:lnTo>
                  <a:lnTo>
                    <a:pt x="397" y="186"/>
                  </a:lnTo>
                  <a:lnTo>
                    <a:pt x="400" y="184"/>
                  </a:lnTo>
                  <a:lnTo>
                    <a:pt x="402" y="181"/>
                  </a:lnTo>
                  <a:lnTo>
                    <a:pt x="404" y="177"/>
                  </a:lnTo>
                  <a:lnTo>
                    <a:pt x="406" y="172"/>
                  </a:lnTo>
                  <a:lnTo>
                    <a:pt x="407" y="167"/>
                  </a:lnTo>
                  <a:lnTo>
                    <a:pt x="369" y="46"/>
                  </a:lnTo>
                  <a:close/>
                  <a:moveTo>
                    <a:pt x="549" y="129"/>
                  </a:moveTo>
                  <a:lnTo>
                    <a:pt x="575" y="134"/>
                  </a:lnTo>
                  <a:lnTo>
                    <a:pt x="571" y="143"/>
                  </a:lnTo>
                  <a:lnTo>
                    <a:pt x="566" y="152"/>
                  </a:lnTo>
                  <a:lnTo>
                    <a:pt x="563" y="157"/>
                  </a:lnTo>
                  <a:lnTo>
                    <a:pt x="557" y="162"/>
                  </a:lnTo>
                  <a:lnTo>
                    <a:pt x="551" y="165"/>
                  </a:lnTo>
                  <a:lnTo>
                    <a:pt x="545" y="167"/>
                  </a:lnTo>
                  <a:lnTo>
                    <a:pt x="538" y="169"/>
                  </a:lnTo>
                  <a:lnTo>
                    <a:pt x="532" y="169"/>
                  </a:lnTo>
                  <a:lnTo>
                    <a:pt x="519" y="169"/>
                  </a:lnTo>
                  <a:lnTo>
                    <a:pt x="511" y="167"/>
                  </a:lnTo>
                  <a:lnTo>
                    <a:pt x="502" y="164"/>
                  </a:lnTo>
                  <a:lnTo>
                    <a:pt x="495" y="157"/>
                  </a:lnTo>
                  <a:lnTo>
                    <a:pt x="490" y="146"/>
                  </a:lnTo>
                  <a:lnTo>
                    <a:pt x="485" y="134"/>
                  </a:lnTo>
                  <a:lnTo>
                    <a:pt x="483" y="122"/>
                  </a:lnTo>
                  <a:lnTo>
                    <a:pt x="481" y="108"/>
                  </a:lnTo>
                  <a:lnTo>
                    <a:pt x="483" y="93"/>
                  </a:lnTo>
                  <a:lnTo>
                    <a:pt x="485" y="81"/>
                  </a:lnTo>
                  <a:lnTo>
                    <a:pt x="490" y="69"/>
                  </a:lnTo>
                  <a:lnTo>
                    <a:pt x="495" y="58"/>
                  </a:lnTo>
                  <a:lnTo>
                    <a:pt x="502" y="52"/>
                  </a:lnTo>
                  <a:lnTo>
                    <a:pt x="509" y="46"/>
                  </a:lnTo>
                  <a:lnTo>
                    <a:pt x="518" y="45"/>
                  </a:lnTo>
                  <a:lnTo>
                    <a:pt x="528" y="43"/>
                  </a:lnTo>
                  <a:lnTo>
                    <a:pt x="538" y="45"/>
                  </a:lnTo>
                  <a:lnTo>
                    <a:pt x="547" y="46"/>
                  </a:lnTo>
                  <a:lnTo>
                    <a:pt x="554" y="52"/>
                  </a:lnTo>
                  <a:lnTo>
                    <a:pt x="561" y="58"/>
                  </a:lnTo>
                  <a:lnTo>
                    <a:pt x="566" y="69"/>
                  </a:lnTo>
                  <a:lnTo>
                    <a:pt x="571" y="81"/>
                  </a:lnTo>
                  <a:lnTo>
                    <a:pt x="573" y="95"/>
                  </a:lnTo>
                  <a:lnTo>
                    <a:pt x="575" y="112"/>
                  </a:lnTo>
                  <a:lnTo>
                    <a:pt x="575" y="115"/>
                  </a:lnTo>
                  <a:lnTo>
                    <a:pt x="509" y="115"/>
                  </a:lnTo>
                  <a:lnTo>
                    <a:pt x="509" y="122"/>
                  </a:lnTo>
                  <a:lnTo>
                    <a:pt x="511" y="129"/>
                  </a:lnTo>
                  <a:lnTo>
                    <a:pt x="513" y="134"/>
                  </a:lnTo>
                  <a:lnTo>
                    <a:pt x="514" y="138"/>
                  </a:lnTo>
                  <a:lnTo>
                    <a:pt x="518" y="141"/>
                  </a:lnTo>
                  <a:lnTo>
                    <a:pt x="523" y="145"/>
                  </a:lnTo>
                  <a:lnTo>
                    <a:pt x="526" y="146"/>
                  </a:lnTo>
                  <a:lnTo>
                    <a:pt x="532" y="146"/>
                  </a:lnTo>
                  <a:lnTo>
                    <a:pt x="537" y="145"/>
                  </a:lnTo>
                  <a:lnTo>
                    <a:pt x="542" y="141"/>
                  </a:lnTo>
                  <a:lnTo>
                    <a:pt x="545" y="136"/>
                  </a:lnTo>
                  <a:lnTo>
                    <a:pt x="549" y="129"/>
                  </a:lnTo>
                  <a:close/>
                  <a:moveTo>
                    <a:pt x="549" y="95"/>
                  </a:moveTo>
                  <a:lnTo>
                    <a:pt x="549" y="89"/>
                  </a:lnTo>
                  <a:lnTo>
                    <a:pt x="547" y="84"/>
                  </a:lnTo>
                  <a:lnTo>
                    <a:pt x="545" y="79"/>
                  </a:lnTo>
                  <a:lnTo>
                    <a:pt x="544" y="74"/>
                  </a:lnTo>
                  <a:lnTo>
                    <a:pt x="540" y="72"/>
                  </a:lnTo>
                  <a:lnTo>
                    <a:pt x="537" y="71"/>
                  </a:lnTo>
                  <a:lnTo>
                    <a:pt x="533" y="69"/>
                  </a:lnTo>
                  <a:lnTo>
                    <a:pt x="530" y="69"/>
                  </a:lnTo>
                  <a:lnTo>
                    <a:pt x="526" y="69"/>
                  </a:lnTo>
                  <a:lnTo>
                    <a:pt x="521" y="71"/>
                  </a:lnTo>
                  <a:lnTo>
                    <a:pt x="518" y="72"/>
                  </a:lnTo>
                  <a:lnTo>
                    <a:pt x="514" y="76"/>
                  </a:lnTo>
                  <a:lnTo>
                    <a:pt x="513" y="79"/>
                  </a:lnTo>
                  <a:lnTo>
                    <a:pt x="513" y="84"/>
                  </a:lnTo>
                  <a:lnTo>
                    <a:pt x="511" y="89"/>
                  </a:lnTo>
                  <a:lnTo>
                    <a:pt x="511" y="95"/>
                  </a:lnTo>
                  <a:lnTo>
                    <a:pt x="549" y="95"/>
                  </a:lnTo>
                  <a:close/>
                  <a:moveTo>
                    <a:pt x="623" y="167"/>
                  </a:moveTo>
                  <a:lnTo>
                    <a:pt x="595" y="167"/>
                  </a:lnTo>
                  <a:lnTo>
                    <a:pt x="595" y="46"/>
                  </a:lnTo>
                  <a:lnTo>
                    <a:pt x="621" y="46"/>
                  </a:lnTo>
                  <a:lnTo>
                    <a:pt x="621" y="64"/>
                  </a:lnTo>
                  <a:lnTo>
                    <a:pt x="623" y="58"/>
                  </a:lnTo>
                  <a:lnTo>
                    <a:pt x="627" y="53"/>
                  </a:lnTo>
                  <a:lnTo>
                    <a:pt x="628" y="50"/>
                  </a:lnTo>
                  <a:lnTo>
                    <a:pt x="632" y="48"/>
                  </a:lnTo>
                  <a:lnTo>
                    <a:pt x="635" y="46"/>
                  </a:lnTo>
                  <a:lnTo>
                    <a:pt x="637" y="45"/>
                  </a:lnTo>
                  <a:lnTo>
                    <a:pt x="640" y="43"/>
                  </a:lnTo>
                  <a:lnTo>
                    <a:pt x="644" y="43"/>
                  </a:lnTo>
                  <a:lnTo>
                    <a:pt x="647" y="43"/>
                  </a:lnTo>
                  <a:lnTo>
                    <a:pt x="651" y="45"/>
                  </a:lnTo>
                  <a:lnTo>
                    <a:pt x="656" y="48"/>
                  </a:lnTo>
                  <a:lnTo>
                    <a:pt x="661" y="50"/>
                  </a:lnTo>
                  <a:lnTo>
                    <a:pt x="652" y="77"/>
                  </a:lnTo>
                  <a:lnTo>
                    <a:pt x="649" y="76"/>
                  </a:lnTo>
                  <a:lnTo>
                    <a:pt x="645" y="76"/>
                  </a:lnTo>
                  <a:lnTo>
                    <a:pt x="642" y="74"/>
                  </a:lnTo>
                  <a:lnTo>
                    <a:pt x="640" y="74"/>
                  </a:lnTo>
                  <a:lnTo>
                    <a:pt x="637" y="74"/>
                  </a:lnTo>
                  <a:lnTo>
                    <a:pt x="635" y="74"/>
                  </a:lnTo>
                  <a:lnTo>
                    <a:pt x="632" y="76"/>
                  </a:lnTo>
                  <a:lnTo>
                    <a:pt x="630" y="77"/>
                  </a:lnTo>
                  <a:lnTo>
                    <a:pt x="628" y="79"/>
                  </a:lnTo>
                  <a:lnTo>
                    <a:pt x="627" y="83"/>
                  </a:lnTo>
                  <a:lnTo>
                    <a:pt x="625" y="88"/>
                  </a:lnTo>
                  <a:lnTo>
                    <a:pt x="625" y="93"/>
                  </a:lnTo>
                  <a:lnTo>
                    <a:pt x="625" y="98"/>
                  </a:lnTo>
                  <a:lnTo>
                    <a:pt x="625" y="107"/>
                  </a:lnTo>
                  <a:lnTo>
                    <a:pt x="623" y="117"/>
                  </a:lnTo>
                  <a:lnTo>
                    <a:pt x="623" y="129"/>
                  </a:lnTo>
                  <a:lnTo>
                    <a:pt x="623" y="1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5" name="Freeform 1793"/>
            <p:cNvSpPr>
              <a:spLocks noEditPoints="1"/>
            </p:cNvSpPr>
            <p:nvPr/>
          </p:nvSpPr>
          <p:spPr bwMode="auto">
            <a:xfrm>
              <a:off x="3052" y="3298"/>
              <a:ext cx="708" cy="108"/>
            </a:xfrm>
            <a:custGeom>
              <a:avLst/>
              <a:gdLst>
                <a:gd name="T0" fmla="*/ 102 w 1418"/>
                <a:gd name="T1" fmla="*/ 24 h 216"/>
                <a:gd name="T2" fmla="*/ 111 w 1418"/>
                <a:gd name="T3" fmla="*/ 124 h 216"/>
                <a:gd name="T4" fmla="*/ 61 w 1418"/>
                <a:gd name="T5" fmla="*/ 166 h 216"/>
                <a:gd name="T6" fmla="*/ 71 w 1418"/>
                <a:gd name="T7" fmla="*/ 134 h 216"/>
                <a:gd name="T8" fmla="*/ 87 w 1418"/>
                <a:gd name="T9" fmla="*/ 84 h 216"/>
                <a:gd name="T10" fmla="*/ 66 w 1418"/>
                <a:gd name="T11" fmla="*/ 31 h 216"/>
                <a:gd name="T12" fmla="*/ 144 w 1418"/>
                <a:gd name="T13" fmla="*/ 55 h 216"/>
                <a:gd name="T14" fmla="*/ 211 w 1418"/>
                <a:gd name="T15" fmla="*/ 53 h 216"/>
                <a:gd name="T16" fmla="*/ 221 w 1418"/>
                <a:gd name="T17" fmla="*/ 150 h 216"/>
                <a:gd name="T18" fmla="*/ 178 w 1418"/>
                <a:gd name="T19" fmla="*/ 166 h 216"/>
                <a:gd name="T20" fmla="*/ 133 w 1418"/>
                <a:gd name="T21" fmla="*/ 134 h 216"/>
                <a:gd name="T22" fmla="*/ 161 w 1418"/>
                <a:gd name="T23" fmla="*/ 96 h 216"/>
                <a:gd name="T24" fmla="*/ 190 w 1418"/>
                <a:gd name="T25" fmla="*/ 72 h 216"/>
                <a:gd name="T26" fmla="*/ 164 w 1418"/>
                <a:gd name="T27" fmla="*/ 74 h 216"/>
                <a:gd name="T28" fmla="*/ 166 w 1418"/>
                <a:gd name="T29" fmla="*/ 121 h 216"/>
                <a:gd name="T30" fmla="*/ 168 w 1418"/>
                <a:gd name="T31" fmla="*/ 147 h 216"/>
                <a:gd name="T32" fmla="*/ 192 w 1418"/>
                <a:gd name="T33" fmla="*/ 131 h 216"/>
                <a:gd name="T34" fmla="*/ 273 w 1418"/>
                <a:gd name="T35" fmla="*/ 136 h 216"/>
                <a:gd name="T36" fmla="*/ 290 w 1418"/>
                <a:gd name="T37" fmla="*/ 166 h 216"/>
                <a:gd name="T38" fmla="*/ 247 w 1418"/>
                <a:gd name="T39" fmla="*/ 152 h 216"/>
                <a:gd name="T40" fmla="*/ 273 w 1418"/>
                <a:gd name="T41" fmla="*/ 45 h 216"/>
                <a:gd name="T42" fmla="*/ 347 w 1418"/>
                <a:gd name="T43" fmla="*/ 43 h 216"/>
                <a:gd name="T44" fmla="*/ 390 w 1418"/>
                <a:gd name="T45" fmla="*/ 81 h 216"/>
                <a:gd name="T46" fmla="*/ 370 w 1418"/>
                <a:gd name="T47" fmla="*/ 166 h 216"/>
                <a:gd name="T48" fmla="*/ 323 w 1418"/>
                <a:gd name="T49" fmla="*/ 166 h 216"/>
                <a:gd name="T50" fmla="*/ 308 w 1418"/>
                <a:gd name="T51" fmla="*/ 112 h 216"/>
                <a:gd name="T52" fmla="*/ 363 w 1418"/>
                <a:gd name="T53" fmla="*/ 88 h 216"/>
                <a:gd name="T54" fmla="*/ 349 w 1418"/>
                <a:gd name="T55" fmla="*/ 67 h 216"/>
                <a:gd name="T56" fmla="*/ 361 w 1418"/>
                <a:gd name="T57" fmla="*/ 110 h 216"/>
                <a:gd name="T58" fmla="*/ 330 w 1418"/>
                <a:gd name="T59" fmla="*/ 131 h 216"/>
                <a:gd name="T60" fmla="*/ 352 w 1418"/>
                <a:gd name="T61" fmla="*/ 147 h 216"/>
                <a:gd name="T62" fmla="*/ 470 w 1418"/>
                <a:gd name="T63" fmla="*/ 166 h 216"/>
                <a:gd name="T64" fmla="*/ 587 w 1418"/>
                <a:gd name="T65" fmla="*/ 29 h 216"/>
                <a:gd name="T66" fmla="*/ 703 w 1418"/>
                <a:gd name="T67" fmla="*/ 84 h 216"/>
                <a:gd name="T68" fmla="*/ 682 w 1418"/>
                <a:gd name="T69" fmla="*/ 69 h 216"/>
                <a:gd name="T70" fmla="*/ 667 w 1418"/>
                <a:gd name="T71" fmla="*/ 166 h 216"/>
                <a:gd name="T72" fmla="*/ 693 w 1418"/>
                <a:gd name="T73" fmla="*/ 43 h 216"/>
                <a:gd name="T74" fmla="*/ 729 w 1418"/>
                <a:gd name="T75" fmla="*/ 76 h 216"/>
                <a:gd name="T76" fmla="*/ 848 w 1418"/>
                <a:gd name="T77" fmla="*/ 166 h 216"/>
                <a:gd name="T78" fmla="*/ 1015 w 1418"/>
                <a:gd name="T79" fmla="*/ 166 h 216"/>
                <a:gd name="T80" fmla="*/ 1072 w 1418"/>
                <a:gd name="T81" fmla="*/ 43 h 216"/>
                <a:gd name="T82" fmla="*/ 1116 w 1418"/>
                <a:gd name="T83" fmla="*/ 81 h 216"/>
                <a:gd name="T84" fmla="*/ 1095 w 1418"/>
                <a:gd name="T85" fmla="*/ 166 h 216"/>
                <a:gd name="T86" fmla="*/ 1048 w 1418"/>
                <a:gd name="T87" fmla="*/ 166 h 216"/>
                <a:gd name="T88" fmla="*/ 1034 w 1418"/>
                <a:gd name="T89" fmla="*/ 112 h 216"/>
                <a:gd name="T90" fmla="*/ 1088 w 1418"/>
                <a:gd name="T91" fmla="*/ 88 h 216"/>
                <a:gd name="T92" fmla="*/ 1076 w 1418"/>
                <a:gd name="T93" fmla="*/ 67 h 216"/>
                <a:gd name="T94" fmla="*/ 1086 w 1418"/>
                <a:gd name="T95" fmla="*/ 110 h 216"/>
                <a:gd name="T96" fmla="*/ 1055 w 1418"/>
                <a:gd name="T97" fmla="*/ 131 h 216"/>
                <a:gd name="T98" fmla="*/ 1078 w 1418"/>
                <a:gd name="T99" fmla="*/ 147 h 216"/>
                <a:gd name="T100" fmla="*/ 1128 w 1418"/>
                <a:gd name="T101" fmla="*/ 45 h 216"/>
                <a:gd name="T102" fmla="*/ 1178 w 1418"/>
                <a:gd name="T103" fmla="*/ 205 h 216"/>
                <a:gd name="T104" fmla="*/ 1138 w 1418"/>
                <a:gd name="T105" fmla="*/ 212 h 216"/>
                <a:gd name="T106" fmla="*/ 1164 w 1418"/>
                <a:gd name="T107" fmla="*/ 178 h 216"/>
                <a:gd name="T108" fmla="*/ 1302 w 1418"/>
                <a:gd name="T109" fmla="*/ 166 h 216"/>
                <a:gd name="T110" fmla="*/ 1242 w 1418"/>
                <a:gd name="T111" fmla="*/ 93 h 216"/>
                <a:gd name="T112" fmla="*/ 1317 w 1418"/>
                <a:gd name="T113" fmla="*/ 59 h 216"/>
                <a:gd name="T114" fmla="*/ 1278 w 1418"/>
                <a:gd name="T115" fmla="*/ 141 h 216"/>
                <a:gd name="T116" fmla="*/ 1304 w 1418"/>
                <a:gd name="T117" fmla="*/ 78 h 216"/>
                <a:gd name="T118" fmla="*/ 1269 w 1418"/>
                <a:gd name="T119" fmla="*/ 83 h 216"/>
                <a:gd name="T120" fmla="*/ 1387 w 1418"/>
                <a:gd name="T121" fmla="*/ 50 h 216"/>
                <a:gd name="T122" fmla="*/ 1406 w 1418"/>
                <a:gd name="T123" fmla="*/ 76 h 216"/>
                <a:gd name="T124" fmla="*/ 1381 w 1418"/>
                <a:gd name="T125" fmla="*/ 93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18" h="216">
                  <a:moveTo>
                    <a:pt x="0" y="0"/>
                  </a:moveTo>
                  <a:lnTo>
                    <a:pt x="50" y="0"/>
                  </a:lnTo>
                  <a:lnTo>
                    <a:pt x="61" y="0"/>
                  </a:lnTo>
                  <a:lnTo>
                    <a:pt x="68" y="2"/>
                  </a:lnTo>
                  <a:lnTo>
                    <a:pt x="75" y="3"/>
                  </a:lnTo>
                  <a:lnTo>
                    <a:pt x="80" y="5"/>
                  </a:lnTo>
                  <a:lnTo>
                    <a:pt x="85" y="7"/>
                  </a:lnTo>
                  <a:lnTo>
                    <a:pt x="90" y="10"/>
                  </a:lnTo>
                  <a:lnTo>
                    <a:pt x="94" y="14"/>
                  </a:lnTo>
                  <a:lnTo>
                    <a:pt x="99" y="17"/>
                  </a:lnTo>
                  <a:lnTo>
                    <a:pt x="102" y="24"/>
                  </a:lnTo>
                  <a:lnTo>
                    <a:pt x="106" y="31"/>
                  </a:lnTo>
                  <a:lnTo>
                    <a:pt x="107" y="38"/>
                  </a:lnTo>
                  <a:lnTo>
                    <a:pt x="111" y="45"/>
                  </a:lnTo>
                  <a:lnTo>
                    <a:pt x="114" y="53"/>
                  </a:lnTo>
                  <a:lnTo>
                    <a:pt x="116" y="64"/>
                  </a:lnTo>
                  <a:lnTo>
                    <a:pt x="116" y="74"/>
                  </a:lnTo>
                  <a:lnTo>
                    <a:pt x="116" y="84"/>
                  </a:lnTo>
                  <a:lnTo>
                    <a:pt x="116" y="95"/>
                  </a:lnTo>
                  <a:lnTo>
                    <a:pt x="116" y="105"/>
                  </a:lnTo>
                  <a:lnTo>
                    <a:pt x="114" y="115"/>
                  </a:lnTo>
                  <a:lnTo>
                    <a:pt x="111" y="124"/>
                  </a:lnTo>
                  <a:lnTo>
                    <a:pt x="107" y="131"/>
                  </a:lnTo>
                  <a:lnTo>
                    <a:pt x="106" y="138"/>
                  </a:lnTo>
                  <a:lnTo>
                    <a:pt x="102" y="143"/>
                  </a:lnTo>
                  <a:lnTo>
                    <a:pt x="99" y="148"/>
                  </a:lnTo>
                  <a:lnTo>
                    <a:pt x="95" y="153"/>
                  </a:lnTo>
                  <a:lnTo>
                    <a:pt x="90" y="157"/>
                  </a:lnTo>
                  <a:lnTo>
                    <a:pt x="85" y="160"/>
                  </a:lnTo>
                  <a:lnTo>
                    <a:pt x="80" y="164"/>
                  </a:lnTo>
                  <a:lnTo>
                    <a:pt x="75" y="166"/>
                  </a:lnTo>
                  <a:lnTo>
                    <a:pt x="69" y="166"/>
                  </a:lnTo>
                  <a:lnTo>
                    <a:pt x="61" y="166"/>
                  </a:lnTo>
                  <a:lnTo>
                    <a:pt x="54" y="166"/>
                  </a:lnTo>
                  <a:lnTo>
                    <a:pt x="0" y="166"/>
                  </a:lnTo>
                  <a:lnTo>
                    <a:pt x="0" y="0"/>
                  </a:lnTo>
                  <a:close/>
                  <a:moveTo>
                    <a:pt x="26" y="27"/>
                  </a:moveTo>
                  <a:lnTo>
                    <a:pt x="26" y="140"/>
                  </a:lnTo>
                  <a:lnTo>
                    <a:pt x="49" y="140"/>
                  </a:lnTo>
                  <a:lnTo>
                    <a:pt x="56" y="140"/>
                  </a:lnTo>
                  <a:lnTo>
                    <a:pt x="61" y="138"/>
                  </a:lnTo>
                  <a:lnTo>
                    <a:pt x="64" y="138"/>
                  </a:lnTo>
                  <a:lnTo>
                    <a:pt x="68" y="136"/>
                  </a:lnTo>
                  <a:lnTo>
                    <a:pt x="71" y="134"/>
                  </a:lnTo>
                  <a:lnTo>
                    <a:pt x="75" y="133"/>
                  </a:lnTo>
                  <a:lnTo>
                    <a:pt x="76" y="131"/>
                  </a:lnTo>
                  <a:lnTo>
                    <a:pt x="78" y="129"/>
                  </a:lnTo>
                  <a:lnTo>
                    <a:pt x="80" y="126"/>
                  </a:lnTo>
                  <a:lnTo>
                    <a:pt x="81" y="122"/>
                  </a:lnTo>
                  <a:lnTo>
                    <a:pt x="83" y="119"/>
                  </a:lnTo>
                  <a:lnTo>
                    <a:pt x="85" y="114"/>
                  </a:lnTo>
                  <a:lnTo>
                    <a:pt x="85" y="107"/>
                  </a:lnTo>
                  <a:lnTo>
                    <a:pt x="87" y="100"/>
                  </a:lnTo>
                  <a:lnTo>
                    <a:pt x="87" y="91"/>
                  </a:lnTo>
                  <a:lnTo>
                    <a:pt x="87" y="84"/>
                  </a:lnTo>
                  <a:lnTo>
                    <a:pt x="87" y="76"/>
                  </a:lnTo>
                  <a:lnTo>
                    <a:pt x="87" y="67"/>
                  </a:lnTo>
                  <a:lnTo>
                    <a:pt x="85" y="60"/>
                  </a:lnTo>
                  <a:lnTo>
                    <a:pt x="85" y="55"/>
                  </a:lnTo>
                  <a:lnTo>
                    <a:pt x="83" y="50"/>
                  </a:lnTo>
                  <a:lnTo>
                    <a:pt x="81" y="45"/>
                  </a:lnTo>
                  <a:lnTo>
                    <a:pt x="78" y="40"/>
                  </a:lnTo>
                  <a:lnTo>
                    <a:pt x="76" y="36"/>
                  </a:lnTo>
                  <a:lnTo>
                    <a:pt x="73" y="34"/>
                  </a:lnTo>
                  <a:lnTo>
                    <a:pt x="69" y="33"/>
                  </a:lnTo>
                  <a:lnTo>
                    <a:pt x="66" y="31"/>
                  </a:lnTo>
                  <a:lnTo>
                    <a:pt x="62" y="29"/>
                  </a:lnTo>
                  <a:lnTo>
                    <a:pt x="61" y="29"/>
                  </a:lnTo>
                  <a:lnTo>
                    <a:pt x="56" y="27"/>
                  </a:lnTo>
                  <a:lnTo>
                    <a:pt x="49" y="27"/>
                  </a:lnTo>
                  <a:lnTo>
                    <a:pt x="42" y="27"/>
                  </a:lnTo>
                  <a:lnTo>
                    <a:pt x="26" y="27"/>
                  </a:lnTo>
                  <a:close/>
                  <a:moveTo>
                    <a:pt x="159" y="84"/>
                  </a:moveTo>
                  <a:lnTo>
                    <a:pt x="135" y="78"/>
                  </a:lnTo>
                  <a:lnTo>
                    <a:pt x="137" y="69"/>
                  </a:lnTo>
                  <a:lnTo>
                    <a:pt x="140" y="62"/>
                  </a:lnTo>
                  <a:lnTo>
                    <a:pt x="144" y="55"/>
                  </a:lnTo>
                  <a:lnTo>
                    <a:pt x="149" y="52"/>
                  </a:lnTo>
                  <a:lnTo>
                    <a:pt x="154" y="48"/>
                  </a:lnTo>
                  <a:lnTo>
                    <a:pt x="161" y="45"/>
                  </a:lnTo>
                  <a:lnTo>
                    <a:pt x="170" y="43"/>
                  </a:lnTo>
                  <a:lnTo>
                    <a:pt x="176" y="43"/>
                  </a:lnTo>
                  <a:lnTo>
                    <a:pt x="185" y="43"/>
                  </a:lnTo>
                  <a:lnTo>
                    <a:pt x="192" y="45"/>
                  </a:lnTo>
                  <a:lnTo>
                    <a:pt x="199" y="46"/>
                  </a:lnTo>
                  <a:lnTo>
                    <a:pt x="204" y="48"/>
                  </a:lnTo>
                  <a:lnTo>
                    <a:pt x="207" y="52"/>
                  </a:lnTo>
                  <a:lnTo>
                    <a:pt x="211" y="53"/>
                  </a:lnTo>
                  <a:lnTo>
                    <a:pt x="213" y="57"/>
                  </a:lnTo>
                  <a:lnTo>
                    <a:pt x="216" y="60"/>
                  </a:lnTo>
                  <a:lnTo>
                    <a:pt x="218" y="65"/>
                  </a:lnTo>
                  <a:lnTo>
                    <a:pt x="218" y="72"/>
                  </a:lnTo>
                  <a:lnTo>
                    <a:pt x="220" y="81"/>
                  </a:lnTo>
                  <a:lnTo>
                    <a:pt x="220" y="91"/>
                  </a:lnTo>
                  <a:lnTo>
                    <a:pt x="220" y="128"/>
                  </a:lnTo>
                  <a:lnTo>
                    <a:pt x="220" y="134"/>
                  </a:lnTo>
                  <a:lnTo>
                    <a:pt x="220" y="141"/>
                  </a:lnTo>
                  <a:lnTo>
                    <a:pt x="220" y="147"/>
                  </a:lnTo>
                  <a:lnTo>
                    <a:pt x="221" y="150"/>
                  </a:lnTo>
                  <a:lnTo>
                    <a:pt x="221" y="153"/>
                  </a:lnTo>
                  <a:lnTo>
                    <a:pt x="223" y="159"/>
                  </a:lnTo>
                  <a:lnTo>
                    <a:pt x="225" y="162"/>
                  </a:lnTo>
                  <a:lnTo>
                    <a:pt x="226" y="166"/>
                  </a:lnTo>
                  <a:lnTo>
                    <a:pt x="199" y="166"/>
                  </a:lnTo>
                  <a:lnTo>
                    <a:pt x="195" y="155"/>
                  </a:lnTo>
                  <a:lnTo>
                    <a:pt x="192" y="159"/>
                  </a:lnTo>
                  <a:lnTo>
                    <a:pt x="189" y="162"/>
                  </a:lnTo>
                  <a:lnTo>
                    <a:pt x="185" y="164"/>
                  </a:lnTo>
                  <a:lnTo>
                    <a:pt x="182" y="166"/>
                  </a:lnTo>
                  <a:lnTo>
                    <a:pt x="178" y="166"/>
                  </a:lnTo>
                  <a:lnTo>
                    <a:pt x="175" y="166"/>
                  </a:lnTo>
                  <a:lnTo>
                    <a:pt x="170" y="167"/>
                  </a:lnTo>
                  <a:lnTo>
                    <a:pt x="166" y="167"/>
                  </a:lnTo>
                  <a:lnTo>
                    <a:pt x="159" y="167"/>
                  </a:lnTo>
                  <a:lnTo>
                    <a:pt x="152" y="166"/>
                  </a:lnTo>
                  <a:lnTo>
                    <a:pt x="147" y="164"/>
                  </a:lnTo>
                  <a:lnTo>
                    <a:pt x="142" y="160"/>
                  </a:lnTo>
                  <a:lnTo>
                    <a:pt x="138" y="155"/>
                  </a:lnTo>
                  <a:lnTo>
                    <a:pt x="135" y="150"/>
                  </a:lnTo>
                  <a:lnTo>
                    <a:pt x="133" y="141"/>
                  </a:lnTo>
                  <a:lnTo>
                    <a:pt x="133" y="134"/>
                  </a:lnTo>
                  <a:lnTo>
                    <a:pt x="133" y="129"/>
                  </a:lnTo>
                  <a:lnTo>
                    <a:pt x="135" y="124"/>
                  </a:lnTo>
                  <a:lnTo>
                    <a:pt x="135" y="121"/>
                  </a:lnTo>
                  <a:lnTo>
                    <a:pt x="135" y="115"/>
                  </a:lnTo>
                  <a:lnTo>
                    <a:pt x="137" y="112"/>
                  </a:lnTo>
                  <a:lnTo>
                    <a:pt x="140" y="109"/>
                  </a:lnTo>
                  <a:lnTo>
                    <a:pt x="142" y="107"/>
                  </a:lnTo>
                  <a:lnTo>
                    <a:pt x="145" y="105"/>
                  </a:lnTo>
                  <a:lnTo>
                    <a:pt x="149" y="102"/>
                  </a:lnTo>
                  <a:lnTo>
                    <a:pt x="154" y="100"/>
                  </a:lnTo>
                  <a:lnTo>
                    <a:pt x="161" y="96"/>
                  </a:lnTo>
                  <a:lnTo>
                    <a:pt x="168" y="95"/>
                  </a:lnTo>
                  <a:lnTo>
                    <a:pt x="176" y="93"/>
                  </a:lnTo>
                  <a:lnTo>
                    <a:pt x="183" y="91"/>
                  </a:lnTo>
                  <a:lnTo>
                    <a:pt x="189" y="90"/>
                  </a:lnTo>
                  <a:lnTo>
                    <a:pt x="192" y="88"/>
                  </a:lnTo>
                  <a:lnTo>
                    <a:pt x="192" y="83"/>
                  </a:lnTo>
                  <a:lnTo>
                    <a:pt x="192" y="79"/>
                  </a:lnTo>
                  <a:lnTo>
                    <a:pt x="192" y="76"/>
                  </a:lnTo>
                  <a:lnTo>
                    <a:pt x="192" y="74"/>
                  </a:lnTo>
                  <a:lnTo>
                    <a:pt x="192" y="74"/>
                  </a:lnTo>
                  <a:lnTo>
                    <a:pt x="190" y="72"/>
                  </a:lnTo>
                  <a:lnTo>
                    <a:pt x="189" y="72"/>
                  </a:lnTo>
                  <a:lnTo>
                    <a:pt x="187" y="71"/>
                  </a:lnTo>
                  <a:lnTo>
                    <a:pt x="185" y="69"/>
                  </a:lnTo>
                  <a:lnTo>
                    <a:pt x="182" y="69"/>
                  </a:lnTo>
                  <a:lnTo>
                    <a:pt x="180" y="67"/>
                  </a:lnTo>
                  <a:lnTo>
                    <a:pt x="176" y="67"/>
                  </a:lnTo>
                  <a:lnTo>
                    <a:pt x="173" y="67"/>
                  </a:lnTo>
                  <a:lnTo>
                    <a:pt x="171" y="69"/>
                  </a:lnTo>
                  <a:lnTo>
                    <a:pt x="168" y="71"/>
                  </a:lnTo>
                  <a:lnTo>
                    <a:pt x="166" y="72"/>
                  </a:lnTo>
                  <a:lnTo>
                    <a:pt x="164" y="74"/>
                  </a:lnTo>
                  <a:lnTo>
                    <a:pt x="163" y="76"/>
                  </a:lnTo>
                  <a:lnTo>
                    <a:pt x="161" y="79"/>
                  </a:lnTo>
                  <a:lnTo>
                    <a:pt x="159" y="84"/>
                  </a:lnTo>
                  <a:close/>
                  <a:moveTo>
                    <a:pt x="192" y="110"/>
                  </a:moveTo>
                  <a:lnTo>
                    <a:pt x="190" y="110"/>
                  </a:lnTo>
                  <a:lnTo>
                    <a:pt x="187" y="112"/>
                  </a:lnTo>
                  <a:lnTo>
                    <a:pt x="182" y="114"/>
                  </a:lnTo>
                  <a:lnTo>
                    <a:pt x="176" y="115"/>
                  </a:lnTo>
                  <a:lnTo>
                    <a:pt x="173" y="115"/>
                  </a:lnTo>
                  <a:lnTo>
                    <a:pt x="170" y="117"/>
                  </a:lnTo>
                  <a:lnTo>
                    <a:pt x="166" y="121"/>
                  </a:lnTo>
                  <a:lnTo>
                    <a:pt x="164" y="122"/>
                  </a:lnTo>
                  <a:lnTo>
                    <a:pt x="163" y="124"/>
                  </a:lnTo>
                  <a:lnTo>
                    <a:pt x="161" y="126"/>
                  </a:lnTo>
                  <a:lnTo>
                    <a:pt x="159" y="129"/>
                  </a:lnTo>
                  <a:lnTo>
                    <a:pt x="159" y="131"/>
                  </a:lnTo>
                  <a:lnTo>
                    <a:pt x="159" y="134"/>
                  </a:lnTo>
                  <a:lnTo>
                    <a:pt x="161" y="136"/>
                  </a:lnTo>
                  <a:lnTo>
                    <a:pt x="163" y="140"/>
                  </a:lnTo>
                  <a:lnTo>
                    <a:pt x="164" y="143"/>
                  </a:lnTo>
                  <a:lnTo>
                    <a:pt x="166" y="145"/>
                  </a:lnTo>
                  <a:lnTo>
                    <a:pt x="168" y="147"/>
                  </a:lnTo>
                  <a:lnTo>
                    <a:pt x="171" y="148"/>
                  </a:lnTo>
                  <a:lnTo>
                    <a:pt x="175" y="148"/>
                  </a:lnTo>
                  <a:lnTo>
                    <a:pt x="176" y="148"/>
                  </a:lnTo>
                  <a:lnTo>
                    <a:pt x="178" y="147"/>
                  </a:lnTo>
                  <a:lnTo>
                    <a:pt x="182" y="147"/>
                  </a:lnTo>
                  <a:lnTo>
                    <a:pt x="185" y="145"/>
                  </a:lnTo>
                  <a:lnTo>
                    <a:pt x="187" y="141"/>
                  </a:lnTo>
                  <a:lnTo>
                    <a:pt x="189" y="140"/>
                  </a:lnTo>
                  <a:lnTo>
                    <a:pt x="190" y="136"/>
                  </a:lnTo>
                  <a:lnTo>
                    <a:pt x="192" y="134"/>
                  </a:lnTo>
                  <a:lnTo>
                    <a:pt x="192" y="131"/>
                  </a:lnTo>
                  <a:lnTo>
                    <a:pt x="192" y="128"/>
                  </a:lnTo>
                  <a:lnTo>
                    <a:pt x="192" y="122"/>
                  </a:lnTo>
                  <a:lnTo>
                    <a:pt x="192" y="115"/>
                  </a:lnTo>
                  <a:lnTo>
                    <a:pt x="192" y="110"/>
                  </a:lnTo>
                  <a:close/>
                  <a:moveTo>
                    <a:pt x="292" y="45"/>
                  </a:moveTo>
                  <a:lnTo>
                    <a:pt x="292" y="72"/>
                  </a:lnTo>
                  <a:lnTo>
                    <a:pt x="273" y="72"/>
                  </a:lnTo>
                  <a:lnTo>
                    <a:pt x="273" y="121"/>
                  </a:lnTo>
                  <a:lnTo>
                    <a:pt x="273" y="128"/>
                  </a:lnTo>
                  <a:lnTo>
                    <a:pt x="273" y="133"/>
                  </a:lnTo>
                  <a:lnTo>
                    <a:pt x="273" y="136"/>
                  </a:lnTo>
                  <a:lnTo>
                    <a:pt x="273" y="140"/>
                  </a:lnTo>
                  <a:lnTo>
                    <a:pt x="275" y="141"/>
                  </a:lnTo>
                  <a:lnTo>
                    <a:pt x="277" y="143"/>
                  </a:lnTo>
                  <a:lnTo>
                    <a:pt x="278" y="145"/>
                  </a:lnTo>
                  <a:lnTo>
                    <a:pt x="282" y="145"/>
                  </a:lnTo>
                  <a:lnTo>
                    <a:pt x="283" y="145"/>
                  </a:lnTo>
                  <a:lnTo>
                    <a:pt x="285" y="143"/>
                  </a:lnTo>
                  <a:lnTo>
                    <a:pt x="289" y="143"/>
                  </a:lnTo>
                  <a:lnTo>
                    <a:pt x="292" y="141"/>
                  </a:lnTo>
                  <a:lnTo>
                    <a:pt x="296" y="166"/>
                  </a:lnTo>
                  <a:lnTo>
                    <a:pt x="290" y="166"/>
                  </a:lnTo>
                  <a:lnTo>
                    <a:pt x="285" y="166"/>
                  </a:lnTo>
                  <a:lnTo>
                    <a:pt x="278" y="167"/>
                  </a:lnTo>
                  <a:lnTo>
                    <a:pt x="273" y="167"/>
                  </a:lnTo>
                  <a:lnTo>
                    <a:pt x="268" y="167"/>
                  </a:lnTo>
                  <a:lnTo>
                    <a:pt x="264" y="166"/>
                  </a:lnTo>
                  <a:lnTo>
                    <a:pt x="259" y="166"/>
                  </a:lnTo>
                  <a:lnTo>
                    <a:pt x="256" y="166"/>
                  </a:lnTo>
                  <a:lnTo>
                    <a:pt x="252" y="164"/>
                  </a:lnTo>
                  <a:lnTo>
                    <a:pt x="251" y="160"/>
                  </a:lnTo>
                  <a:lnTo>
                    <a:pt x="249" y="155"/>
                  </a:lnTo>
                  <a:lnTo>
                    <a:pt x="247" y="152"/>
                  </a:lnTo>
                  <a:lnTo>
                    <a:pt x="247" y="148"/>
                  </a:lnTo>
                  <a:lnTo>
                    <a:pt x="247" y="141"/>
                  </a:lnTo>
                  <a:lnTo>
                    <a:pt x="245" y="134"/>
                  </a:lnTo>
                  <a:lnTo>
                    <a:pt x="245" y="126"/>
                  </a:lnTo>
                  <a:lnTo>
                    <a:pt x="245" y="72"/>
                  </a:lnTo>
                  <a:lnTo>
                    <a:pt x="233" y="72"/>
                  </a:lnTo>
                  <a:lnTo>
                    <a:pt x="233" y="45"/>
                  </a:lnTo>
                  <a:lnTo>
                    <a:pt x="245" y="45"/>
                  </a:lnTo>
                  <a:lnTo>
                    <a:pt x="245" y="21"/>
                  </a:lnTo>
                  <a:lnTo>
                    <a:pt x="273" y="3"/>
                  </a:lnTo>
                  <a:lnTo>
                    <a:pt x="273" y="45"/>
                  </a:lnTo>
                  <a:lnTo>
                    <a:pt x="292" y="45"/>
                  </a:lnTo>
                  <a:close/>
                  <a:moveTo>
                    <a:pt x="330" y="84"/>
                  </a:moveTo>
                  <a:lnTo>
                    <a:pt x="306" y="78"/>
                  </a:lnTo>
                  <a:lnTo>
                    <a:pt x="308" y="69"/>
                  </a:lnTo>
                  <a:lnTo>
                    <a:pt x="311" y="62"/>
                  </a:lnTo>
                  <a:lnTo>
                    <a:pt x="315" y="55"/>
                  </a:lnTo>
                  <a:lnTo>
                    <a:pt x="320" y="52"/>
                  </a:lnTo>
                  <a:lnTo>
                    <a:pt x="325" y="48"/>
                  </a:lnTo>
                  <a:lnTo>
                    <a:pt x="332" y="45"/>
                  </a:lnTo>
                  <a:lnTo>
                    <a:pt x="339" y="43"/>
                  </a:lnTo>
                  <a:lnTo>
                    <a:pt x="347" y="43"/>
                  </a:lnTo>
                  <a:lnTo>
                    <a:pt x="356" y="43"/>
                  </a:lnTo>
                  <a:lnTo>
                    <a:pt x="363" y="45"/>
                  </a:lnTo>
                  <a:lnTo>
                    <a:pt x="370" y="46"/>
                  </a:lnTo>
                  <a:lnTo>
                    <a:pt x="375" y="48"/>
                  </a:lnTo>
                  <a:lnTo>
                    <a:pt x="378" y="52"/>
                  </a:lnTo>
                  <a:lnTo>
                    <a:pt x="380" y="53"/>
                  </a:lnTo>
                  <a:lnTo>
                    <a:pt x="384" y="57"/>
                  </a:lnTo>
                  <a:lnTo>
                    <a:pt x="385" y="60"/>
                  </a:lnTo>
                  <a:lnTo>
                    <a:pt x="387" y="65"/>
                  </a:lnTo>
                  <a:lnTo>
                    <a:pt x="389" y="72"/>
                  </a:lnTo>
                  <a:lnTo>
                    <a:pt x="390" y="81"/>
                  </a:lnTo>
                  <a:lnTo>
                    <a:pt x="390" y="91"/>
                  </a:lnTo>
                  <a:lnTo>
                    <a:pt x="390" y="128"/>
                  </a:lnTo>
                  <a:lnTo>
                    <a:pt x="390" y="134"/>
                  </a:lnTo>
                  <a:lnTo>
                    <a:pt x="390" y="141"/>
                  </a:lnTo>
                  <a:lnTo>
                    <a:pt x="390" y="147"/>
                  </a:lnTo>
                  <a:lnTo>
                    <a:pt x="392" y="150"/>
                  </a:lnTo>
                  <a:lnTo>
                    <a:pt x="392" y="153"/>
                  </a:lnTo>
                  <a:lnTo>
                    <a:pt x="394" y="159"/>
                  </a:lnTo>
                  <a:lnTo>
                    <a:pt x="396" y="162"/>
                  </a:lnTo>
                  <a:lnTo>
                    <a:pt x="396" y="166"/>
                  </a:lnTo>
                  <a:lnTo>
                    <a:pt x="370" y="166"/>
                  </a:lnTo>
                  <a:lnTo>
                    <a:pt x="366" y="155"/>
                  </a:lnTo>
                  <a:lnTo>
                    <a:pt x="363" y="159"/>
                  </a:lnTo>
                  <a:lnTo>
                    <a:pt x="359" y="162"/>
                  </a:lnTo>
                  <a:lnTo>
                    <a:pt x="356" y="164"/>
                  </a:lnTo>
                  <a:lnTo>
                    <a:pt x="352" y="166"/>
                  </a:lnTo>
                  <a:lnTo>
                    <a:pt x="347" y="166"/>
                  </a:lnTo>
                  <a:lnTo>
                    <a:pt x="344" y="166"/>
                  </a:lnTo>
                  <a:lnTo>
                    <a:pt x="340" y="167"/>
                  </a:lnTo>
                  <a:lnTo>
                    <a:pt x="335" y="167"/>
                  </a:lnTo>
                  <a:lnTo>
                    <a:pt x="328" y="167"/>
                  </a:lnTo>
                  <a:lnTo>
                    <a:pt x="323" y="166"/>
                  </a:lnTo>
                  <a:lnTo>
                    <a:pt x="318" y="164"/>
                  </a:lnTo>
                  <a:lnTo>
                    <a:pt x="313" y="160"/>
                  </a:lnTo>
                  <a:lnTo>
                    <a:pt x="309" y="155"/>
                  </a:lnTo>
                  <a:lnTo>
                    <a:pt x="306" y="150"/>
                  </a:lnTo>
                  <a:lnTo>
                    <a:pt x="304" y="141"/>
                  </a:lnTo>
                  <a:lnTo>
                    <a:pt x="304" y="134"/>
                  </a:lnTo>
                  <a:lnTo>
                    <a:pt x="304" y="129"/>
                  </a:lnTo>
                  <a:lnTo>
                    <a:pt x="306" y="124"/>
                  </a:lnTo>
                  <a:lnTo>
                    <a:pt x="306" y="121"/>
                  </a:lnTo>
                  <a:lnTo>
                    <a:pt x="306" y="115"/>
                  </a:lnTo>
                  <a:lnTo>
                    <a:pt x="308" y="112"/>
                  </a:lnTo>
                  <a:lnTo>
                    <a:pt x="311" y="109"/>
                  </a:lnTo>
                  <a:lnTo>
                    <a:pt x="313" y="107"/>
                  </a:lnTo>
                  <a:lnTo>
                    <a:pt x="316" y="105"/>
                  </a:lnTo>
                  <a:lnTo>
                    <a:pt x="320" y="102"/>
                  </a:lnTo>
                  <a:lnTo>
                    <a:pt x="325" y="100"/>
                  </a:lnTo>
                  <a:lnTo>
                    <a:pt x="332" y="96"/>
                  </a:lnTo>
                  <a:lnTo>
                    <a:pt x="339" y="95"/>
                  </a:lnTo>
                  <a:lnTo>
                    <a:pt x="347" y="93"/>
                  </a:lnTo>
                  <a:lnTo>
                    <a:pt x="354" y="91"/>
                  </a:lnTo>
                  <a:lnTo>
                    <a:pt x="359" y="90"/>
                  </a:lnTo>
                  <a:lnTo>
                    <a:pt x="363" y="88"/>
                  </a:lnTo>
                  <a:lnTo>
                    <a:pt x="363" y="83"/>
                  </a:lnTo>
                  <a:lnTo>
                    <a:pt x="363" y="79"/>
                  </a:lnTo>
                  <a:lnTo>
                    <a:pt x="363" y="76"/>
                  </a:lnTo>
                  <a:lnTo>
                    <a:pt x="361" y="74"/>
                  </a:lnTo>
                  <a:lnTo>
                    <a:pt x="361" y="74"/>
                  </a:lnTo>
                  <a:lnTo>
                    <a:pt x="359" y="72"/>
                  </a:lnTo>
                  <a:lnTo>
                    <a:pt x="359" y="72"/>
                  </a:lnTo>
                  <a:lnTo>
                    <a:pt x="358" y="71"/>
                  </a:lnTo>
                  <a:lnTo>
                    <a:pt x="356" y="69"/>
                  </a:lnTo>
                  <a:lnTo>
                    <a:pt x="352" y="69"/>
                  </a:lnTo>
                  <a:lnTo>
                    <a:pt x="349" y="67"/>
                  </a:lnTo>
                  <a:lnTo>
                    <a:pt x="346" y="67"/>
                  </a:lnTo>
                  <a:lnTo>
                    <a:pt x="344" y="67"/>
                  </a:lnTo>
                  <a:lnTo>
                    <a:pt x="340" y="69"/>
                  </a:lnTo>
                  <a:lnTo>
                    <a:pt x="339" y="71"/>
                  </a:lnTo>
                  <a:lnTo>
                    <a:pt x="337" y="72"/>
                  </a:lnTo>
                  <a:lnTo>
                    <a:pt x="335" y="74"/>
                  </a:lnTo>
                  <a:lnTo>
                    <a:pt x="334" y="76"/>
                  </a:lnTo>
                  <a:lnTo>
                    <a:pt x="332" y="79"/>
                  </a:lnTo>
                  <a:lnTo>
                    <a:pt x="330" y="84"/>
                  </a:lnTo>
                  <a:close/>
                  <a:moveTo>
                    <a:pt x="363" y="110"/>
                  </a:moveTo>
                  <a:lnTo>
                    <a:pt x="361" y="110"/>
                  </a:lnTo>
                  <a:lnTo>
                    <a:pt x="358" y="112"/>
                  </a:lnTo>
                  <a:lnTo>
                    <a:pt x="352" y="114"/>
                  </a:lnTo>
                  <a:lnTo>
                    <a:pt x="347" y="115"/>
                  </a:lnTo>
                  <a:lnTo>
                    <a:pt x="344" y="115"/>
                  </a:lnTo>
                  <a:lnTo>
                    <a:pt x="339" y="117"/>
                  </a:lnTo>
                  <a:lnTo>
                    <a:pt x="337" y="121"/>
                  </a:lnTo>
                  <a:lnTo>
                    <a:pt x="335" y="122"/>
                  </a:lnTo>
                  <a:lnTo>
                    <a:pt x="334" y="124"/>
                  </a:lnTo>
                  <a:lnTo>
                    <a:pt x="332" y="126"/>
                  </a:lnTo>
                  <a:lnTo>
                    <a:pt x="330" y="129"/>
                  </a:lnTo>
                  <a:lnTo>
                    <a:pt x="330" y="131"/>
                  </a:lnTo>
                  <a:lnTo>
                    <a:pt x="330" y="134"/>
                  </a:lnTo>
                  <a:lnTo>
                    <a:pt x="332" y="136"/>
                  </a:lnTo>
                  <a:lnTo>
                    <a:pt x="334" y="140"/>
                  </a:lnTo>
                  <a:lnTo>
                    <a:pt x="335" y="143"/>
                  </a:lnTo>
                  <a:lnTo>
                    <a:pt x="337" y="145"/>
                  </a:lnTo>
                  <a:lnTo>
                    <a:pt x="339" y="147"/>
                  </a:lnTo>
                  <a:lnTo>
                    <a:pt x="342" y="148"/>
                  </a:lnTo>
                  <a:lnTo>
                    <a:pt x="344" y="148"/>
                  </a:lnTo>
                  <a:lnTo>
                    <a:pt x="346" y="148"/>
                  </a:lnTo>
                  <a:lnTo>
                    <a:pt x="349" y="147"/>
                  </a:lnTo>
                  <a:lnTo>
                    <a:pt x="352" y="147"/>
                  </a:lnTo>
                  <a:lnTo>
                    <a:pt x="356" y="145"/>
                  </a:lnTo>
                  <a:lnTo>
                    <a:pt x="358" y="141"/>
                  </a:lnTo>
                  <a:lnTo>
                    <a:pt x="359" y="140"/>
                  </a:lnTo>
                  <a:lnTo>
                    <a:pt x="361" y="136"/>
                  </a:lnTo>
                  <a:lnTo>
                    <a:pt x="361" y="134"/>
                  </a:lnTo>
                  <a:lnTo>
                    <a:pt x="363" y="131"/>
                  </a:lnTo>
                  <a:lnTo>
                    <a:pt x="363" y="128"/>
                  </a:lnTo>
                  <a:lnTo>
                    <a:pt x="363" y="122"/>
                  </a:lnTo>
                  <a:lnTo>
                    <a:pt x="363" y="115"/>
                  </a:lnTo>
                  <a:lnTo>
                    <a:pt x="363" y="110"/>
                  </a:lnTo>
                  <a:close/>
                  <a:moveTo>
                    <a:pt x="470" y="166"/>
                  </a:moveTo>
                  <a:lnTo>
                    <a:pt x="470" y="0"/>
                  </a:lnTo>
                  <a:lnTo>
                    <a:pt x="496" y="0"/>
                  </a:lnTo>
                  <a:lnTo>
                    <a:pt x="496" y="140"/>
                  </a:lnTo>
                  <a:lnTo>
                    <a:pt x="567" y="140"/>
                  </a:lnTo>
                  <a:lnTo>
                    <a:pt x="567" y="166"/>
                  </a:lnTo>
                  <a:lnTo>
                    <a:pt x="470" y="166"/>
                  </a:lnTo>
                  <a:close/>
                  <a:moveTo>
                    <a:pt x="587" y="29"/>
                  </a:moveTo>
                  <a:lnTo>
                    <a:pt x="587" y="0"/>
                  </a:lnTo>
                  <a:lnTo>
                    <a:pt x="613" y="0"/>
                  </a:lnTo>
                  <a:lnTo>
                    <a:pt x="613" y="29"/>
                  </a:lnTo>
                  <a:lnTo>
                    <a:pt x="587" y="29"/>
                  </a:lnTo>
                  <a:close/>
                  <a:moveTo>
                    <a:pt x="587" y="166"/>
                  </a:moveTo>
                  <a:lnTo>
                    <a:pt x="587" y="45"/>
                  </a:lnTo>
                  <a:lnTo>
                    <a:pt x="613" y="45"/>
                  </a:lnTo>
                  <a:lnTo>
                    <a:pt x="613" y="166"/>
                  </a:lnTo>
                  <a:lnTo>
                    <a:pt x="587" y="166"/>
                  </a:lnTo>
                  <a:close/>
                  <a:moveTo>
                    <a:pt x="731" y="166"/>
                  </a:moveTo>
                  <a:lnTo>
                    <a:pt x="705" y="166"/>
                  </a:lnTo>
                  <a:lnTo>
                    <a:pt x="705" y="105"/>
                  </a:lnTo>
                  <a:lnTo>
                    <a:pt x="705" y="96"/>
                  </a:lnTo>
                  <a:lnTo>
                    <a:pt x="705" y="90"/>
                  </a:lnTo>
                  <a:lnTo>
                    <a:pt x="703" y="84"/>
                  </a:lnTo>
                  <a:lnTo>
                    <a:pt x="703" y="81"/>
                  </a:lnTo>
                  <a:lnTo>
                    <a:pt x="701" y="78"/>
                  </a:lnTo>
                  <a:lnTo>
                    <a:pt x="699" y="76"/>
                  </a:lnTo>
                  <a:lnTo>
                    <a:pt x="698" y="74"/>
                  </a:lnTo>
                  <a:lnTo>
                    <a:pt x="696" y="72"/>
                  </a:lnTo>
                  <a:lnTo>
                    <a:pt x="696" y="71"/>
                  </a:lnTo>
                  <a:lnTo>
                    <a:pt x="693" y="69"/>
                  </a:lnTo>
                  <a:lnTo>
                    <a:pt x="691" y="67"/>
                  </a:lnTo>
                  <a:lnTo>
                    <a:pt x="687" y="67"/>
                  </a:lnTo>
                  <a:lnTo>
                    <a:pt x="684" y="67"/>
                  </a:lnTo>
                  <a:lnTo>
                    <a:pt x="682" y="69"/>
                  </a:lnTo>
                  <a:lnTo>
                    <a:pt x="679" y="71"/>
                  </a:lnTo>
                  <a:lnTo>
                    <a:pt x="677" y="72"/>
                  </a:lnTo>
                  <a:lnTo>
                    <a:pt x="675" y="74"/>
                  </a:lnTo>
                  <a:lnTo>
                    <a:pt x="672" y="78"/>
                  </a:lnTo>
                  <a:lnTo>
                    <a:pt x="670" y="79"/>
                  </a:lnTo>
                  <a:lnTo>
                    <a:pt x="668" y="84"/>
                  </a:lnTo>
                  <a:lnTo>
                    <a:pt x="667" y="90"/>
                  </a:lnTo>
                  <a:lnTo>
                    <a:pt x="667" y="95"/>
                  </a:lnTo>
                  <a:lnTo>
                    <a:pt x="667" y="103"/>
                  </a:lnTo>
                  <a:lnTo>
                    <a:pt x="667" y="112"/>
                  </a:lnTo>
                  <a:lnTo>
                    <a:pt x="667" y="166"/>
                  </a:lnTo>
                  <a:lnTo>
                    <a:pt x="641" y="166"/>
                  </a:lnTo>
                  <a:lnTo>
                    <a:pt x="641" y="45"/>
                  </a:lnTo>
                  <a:lnTo>
                    <a:pt x="665" y="45"/>
                  </a:lnTo>
                  <a:lnTo>
                    <a:pt x="665" y="64"/>
                  </a:lnTo>
                  <a:lnTo>
                    <a:pt x="668" y="59"/>
                  </a:lnTo>
                  <a:lnTo>
                    <a:pt x="672" y="55"/>
                  </a:lnTo>
                  <a:lnTo>
                    <a:pt x="675" y="52"/>
                  </a:lnTo>
                  <a:lnTo>
                    <a:pt x="679" y="48"/>
                  </a:lnTo>
                  <a:lnTo>
                    <a:pt x="682" y="46"/>
                  </a:lnTo>
                  <a:lnTo>
                    <a:pt x="687" y="45"/>
                  </a:lnTo>
                  <a:lnTo>
                    <a:pt x="693" y="43"/>
                  </a:lnTo>
                  <a:lnTo>
                    <a:pt x="696" y="43"/>
                  </a:lnTo>
                  <a:lnTo>
                    <a:pt x="703" y="43"/>
                  </a:lnTo>
                  <a:lnTo>
                    <a:pt x="708" y="45"/>
                  </a:lnTo>
                  <a:lnTo>
                    <a:pt x="713" y="46"/>
                  </a:lnTo>
                  <a:lnTo>
                    <a:pt x="717" y="50"/>
                  </a:lnTo>
                  <a:lnTo>
                    <a:pt x="720" y="53"/>
                  </a:lnTo>
                  <a:lnTo>
                    <a:pt x="724" y="57"/>
                  </a:lnTo>
                  <a:lnTo>
                    <a:pt x="725" y="60"/>
                  </a:lnTo>
                  <a:lnTo>
                    <a:pt x="727" y="65"/>
                  </a:lnTo>
                  <a:lnTo>
                    <a:pt x="729" y="71"/>
                  </a:lnTo>
                  <a:lnTo>
                    <a:pt x="729" y="76"/>
                  </a:lnTo>
                  <a:lnTo>
                    <a:pt x="731" y="84"/>
                  </a:lnTo>
                  <a:lnTo>
                    <a:pt x="731" y="93"/>
                  </a:lnTo>
                  <a:lnTo>
                    <a:pt x="731" y="166"/>
                  </a:lnTo>
                  <a:close/>
                  <a:moveTo>
                    <a:pt x="756" y="166"/>
                  </a:moveTo>
                  <a:lnTo>
                    <a:pt x="756" y="0"/>
                  </a:lnTo>
                  <a:lnTo>
                    <a:pt x="784" y="0"/>
                  </a:lnTo>
                  <a:lnTo>
                    <a:pt x="784" y="86"/>
                  </a:lnTo>
                  <a:lnTo>
                    <a:pt x="813" y="45"/>
                  </a:lnTo>
                  <a:lnTo>
                    <a:pt x="846" y="45"/>
                  </a:lnTo>
                  <a:lnTo>
                    <a:pt x="812" y="91"/>
                  </a:lnTo>
                  <a:lnTo>
                    <a:pt x="848" y="166"/>
                  </a:lnTo>
                  <a:lnTo>
                    <a:pt x="822" y="166"/>
                  </a:lnTo>
                  <a:lnTo>
                    <a:pt x="796" y="114"/>
                  </a:lnTo>
                  <a:lnTo>
                    <a:pt x="784" y="129"/>
                  </a:lnTo>
                  <a:lnTo>
                    <a:pt x="784" y="166"/>
                  </a:lnTo>
                  <a:lnTo>
                    <a:pt x="756" y="166"/>
                  </a:lnTo>
                  <a:close/>
                  <a:moveTo>
                    <a:pt x="917" y="166"/>
                  </a:moveTo>
                  <a:lnTo>
                    <a:pt x="917" y="0"/>
                  </a:lnTo>
                  <a:lnTo>
                    <a:pt x="945" y="0"/>
                  </a:lnTo>
                  <a:lnTo>
                    <a:pt x="945" y="140"/>
                  </a:lnTo>
                  <a:lnTo>
                    <a:pt x="1015" y="140"/>
                  </a:lnTo>
                  <a:lnTo>
                    <a:pt x="1015" y="166"/>
                  </a:lnTo>
                  <a:lnTo>
                    <a:pt x="917" y="166"/>
                  </a:lnTo>
                  <a:close/>
                  <a:moveTo>
                    <a:pt x="1055" y="84"/>
                  </a:moveTo>
                  <a:lnTo>
                    <a:pt x="1031" y="78"/>
                  </a:lnTo>
                  <a:lnTo>
                    <a:pt x="1034" y="69"/>
                  </a:lnTo>
                  <a:lnTo>
                    <a:pt x="1036" y="62"/>
                  </a:lnTo>
                  <a:lnTo>
                    <a:pt x="1040" y="55"/>
                  </a:lnTo>
                  <a:lnTo>
                    <a:pt x="1045" y="52"/>
                  </a:lnTo>
                  <a:lnTo>
                    <a:pt x="1050" y="48"/>
                  </a:lnTo>
                  <a:lnTo>
                    <a:pt x="1057" y="45"/>
                  </a:lnTo>
                  <a:lnTo>
                    <a:pt x="1064" y="43"/>
                  </a:lnTo>
                  <a:lnTo>
                    <a:pt x="1072" y="43"/>
                  </a:lnTo>
                  <a:lnTo>
                    <a:pt x="1081" y="43"/>
                  </a:lnTo>
                  <a:lnTo>
                    <a:pt x="1088" y="45"/>
                  </a:lnTo>
                  <a:lnTo>
                    <a:pt x="1093" y="46"/>
                  </a:lnTo>
                  <a:lnTo>
                    <a:pt x="1098" y="48"/>
                  </a:lnTo>
                  <a:lnTo>
                    <a:pt x="1103" y="52"/>
                  </a:lnTo>
                  <a:lnTo>
                    <a:pt x="1107" y="53"/>
                  </a:lnTo>
                  <a:lnTo>
                    <a:pt x="1109" y="57"/>
                  </a:lnTo>
                  <a:lnTo>
                    <a:pt x="1110" y="60"/>
                  </a:lnTo>
                  <a:lnTo>
                    <a:pt x="1112" y="65"/>
                  </a:lnTo>
                  <a:lnTo>
                    <a:pt x="1114" y="72"/>
                  </a:lnTo>
                  <a:lnTo>
                    <a:pt x="1116" y="81"/>
                  </a:lnTo>
                  <a:lnTo>
                    <a:pt x="1116" y="91"/>
                  </a:lnTo>
                  <a:lnTo>
                    <a:pt x="1116" y="128"/>
                  </a:lnTo>
                  <a:lnTo>
                    <a:pt x="1116" y="134"/>
                  </a:lnTo>
                  <a:lnTo>
                    <a:pt x="1116" y="141"/>
                  </a:lnTo>
                  <a:lnTo>
                    <a:pt x="1116" y="147"/>
                  </a:lnTo>
                  <a:lnTo>
                    <a:pt x="1117" y="150"/>
                  </a:lnTo>
                  <a:lnTo>
                    <a:pt x="1117" y="153"/>
                  </a:lnTo>
                  <a:lnTo>
                    <a:pt x="1119" y="159"/>
                  </a:lnTo>
                  <a:lnTo>
                    <a:pt x="1119" y="162"/>
                  </a:lnTo>
                  <a:lnTo>
                    <a:pt x="1121" y="166"/>
                  </a:lnTo>
                  <a:lnTo>
                    <a:pt x="1095" y="166"/>
                  </a:lnTo>
                  <a:lnTo>
                    <a:pt x="1090" y="155"/>
                  </a:lnTo>
                  <a:lnTo>
                    <a:pt x="1088" y="159"/>
                  </a:lnTo>
                  <a:lnTo>
                    <a:pt x="1084" y="162"/>
                  </a:lnTo>
                  <a:lnTo>
                    <a:pt x="1081" y="164"/>
                  </a:lnTo>
                  <a:lnTo>
                    <a:pt x="1078" y="166"/>
                  </a:lnTo>
                  <a:lnTo>
                    <a:pt x="1074" y="166"/>
                  </a:lnTo>
                  <a:lnTo>
                    <a:pt x="1069" y="166"/>
                  </a:lnTo>
                  <a:lnTo>
                    <a:pt x="1065" y="167"/>
                  </a:lnTo>
                  <a:lnTo>
                    <a:pt x="1060" y="167"/>
                  </a:lnTo>
                  <a:lnTo>
                    <a:pt x="1053" y="167"/>
                  </a:lnTo>
                  <a:lnTo>
                    <a:pt x="1048" y="166"/>
                  </a:lnTo>
                  <a:lnTo>
                    <a:pt x="1043" y="164"/>
                  </a:lnTo>
                  <a:lnTo>
                    <a:pt x="1038" y="160"/>
                  </a:lnTo>
                  <a:lnTo>
                    <a:pt x="1033" y="155"/>
                  </a:lnTo>
                  <a:lnTo>
                    <a:pt x="1031" y="150"/>
                  </a:lnTo>
                  <a:lnTo>
                    <a:pt x="1027" y="141"/>
                  </a:lnTo>
                  <a:lnTo>
                    <a:pt x="1027" y="134"/>
                  </a:lnTo>
                  <a:lnTo>
                    <a:pt x="1027" y="129"/>
                  </a:lnTo>
                  <a:lnTo>
                    <a:pt x="1029" y="124"/>
                  </a:lnTo>
                  <a:lnTo>
                    <a:pt x="1031" y="121"/>
                  </a:lnTo>
                  <a:lnTo>
                    <a:pt x="1033" y="115"/>
                  </a:lnTo>
                  <a:lnTo>
                    <a:pt x="1034" y="112"/>
                  </a:lnTo>
                  <a:lnTo>
                    <a:pt x="1036" y="109"/>
                  </a:lnTo>
                  <a:lnTo>
                    <a:pt x="1040" y="107"/>
                  </a:lnTo>
                  <a:lnTo>
                    <a:pt x="1041" y="105"/>
                  </a:lnTo>
                  <a:lnTo>
                    <a:pt x="1045" y="102"/>
                  </a:lnTo>
                  <a:lnTo>
                    <a:pt x="1050" y="100"/>
                  </a:lnTo>
                  <a:lnTo>
                    <a:pt x="1057" y="96"/>
                  </a:lnTo>
                  <a:lnTo>
                    <a:pt x="1064" y="95"/>
                  </a:lnTo>
                  <a:lnTo>
                    <a:pt x="1072" y="93"/>
                  </a:lnTo>
                  <a:lnTo>
                    <a:pt x="1079" y="91"/>
                  </a:lnTo>
                  <a:lnTo>
                    <a:pt x="1084" y="90"/>
                  </a:lnTo>
                  <a:lnTo>
                    <a:pt x="1088" y="88"/>
                  </a:lnTo>
                  <a:lnTo>
                    <a:pt x="1088" y="83"/>
                  </a:lnTo>
                  <a:lnTo>
                    <a:pt x="1088" y="79"/>
                  </a:lnTo>
                  <a:lnTo>
                    <a:pt x="1088" y="76"/>
                  </a:lnTo>
                  <a:lnTo>
                    <a:pt x="1088" y="74"/>
                  </a:lnTo>
                  <a:lnTo>
                    <a:pt x="1088" y="74"/>
                  </a:lnTo>
                  <a:lnTo>
                    <a:pt x="1086" y="72"/>
                  </a:lnTo>
                  <a:lnTo>
                    <a:pt x="1084" y="72"/>
                  </a:lnTo>
                  <a:lnTo>
                    <a:pt x="1083" y="71"/>
                  </a:lnTo>
                  <a:lnTo>
                    <a:pt x="1081" y="69"/>
                  </a:lnTo>
                  <a:lnTo>
                    <a:pt x="1078" y="69"/>
                  </a:lnTo>
                  <a:lnTo>
                    <a:pt x="1076" y="67"/>
                  </a:lnTo>
                  <a:lnTo>
                    <a:pt x="1072" y="67"/>
                  </a:lnTo>
                  <a:lnTo>
                    <a:pt x="1069" y="67"/>
                  </a:lnTo>
                  <a:lnTo>
                    <a:pt x="1065" y="69"/>
                  </a:lnTo>
                  <a:lnTo>
                    <a:pt x="1064" y="71"/>
                  </a:lnTo>
                  <a:lnTo>
                    <a:pt x="1062" y="72"/>
                  </a:lnTo>
                  <a:lnTo>
                    <a:pt x="1060" y="74"/>
                  </a:lnTo>
                  <a:lnTo>
                    <a:pt x="1059" y="76"/>
                  </a:lnTo>
                  <a:lnTo>
                    <a:pt x="1057" y="79"/>
                  </a:lnTo>
                  <a:lnTo>
                    <a:pt x="1055" y="84"/>
                  </a:lnTo>
                  <a:close/>
                  <a:moveTo>
                    <a:pt x="1088" y="110"/>
                  </a:moveTo>
                  <a:lnTo>
                    <a:pt x="1086" y="110"/>
                  </a:lnTo>
                  <a:lnTo>
                    <a:pt x="1083" y="112"/>
                  </a:lnTo>
                  <a:lnTo>
                    <a:pt x="1078" y="114"/>
                  </a:lnTo>
                  <a:lnTo>
                    <a:pt x="1072" y="115"/>
                  </a:lnTo>
                  <a:lnTo>
                    <a:pt x="1069" y="115"/>
                  </a:lnTo>
                  <a:lnTo>
                    <a:pt x="1064" y="117"/>
                  </a:lnTo>
                  <a:lnTo>
                    <a:pt x="1060" y="121"/>
                  </a:lnTo>
                  <a:lnTo>
                    <a:pt x="1059" y="122"/>
                  </a:lnTo>
                  <a:lnTo>
                    <a:pt x="1057" y="124"/>
                  </a:lnTo>
                  <a:lnTo>
                    <a:pt x="1057" y="126"/>
                  </a:lnTo>
                  <a:lnTo>
                    <a:pt x="1055" y="129"/>
                  </a:lnTo>
                  <a:lnTo>
                    <a:pt x="1055" y="131"/>
                  </a:lnTo>
                  <a:lnTo>
                    <a:pt x="1055" y="134"/>
                  </a:lnTo>
                  <a:lnTo>
                    <a:pt x="1057" y="136"/>
                  </a:lnTo>
                  <a:lnTo>
                    <a:pt x="1057" y="140"/>
                  </a:lnTo>
                  <a:lnTo>
                    <a:pt x="1059" y="143"/>
                  </a:lnTo>
                  <a:lnTo>
                    <a:pt x="1062" y="145"/>
                  </a:lnTo>
                  <a:lnTo>
                    <a:pt x="1064" y="147"/>
                  </a:lnTo>
                  <a:lnTo>
                    <a:pt x="1067" y="148"/>
                  </a:lnTo>
                  <a:lnTo>
                    <a:pt x="1069" y="148"/>
                  </a:lnTo>
                  <a:lnTo>
                    <a:pt x="1072" y="148"/>
                  </a:lnTo>
                  <a:lnTo>
                    <a:pt x="1074" y="147"/>
                  </a:lnTo>
                  <a:lnTo>
                    <a:pt x="1078" y="147"/>
                  </a:lnTo>
                  <a:lnTo>
                    <a:pt x="1079" y="145"/>
                  </a:lnTo>
                  <a:lnTo>
                    <a:pt x="1081" y="141"/>
                  </a:lnTo>
                  <a:lnTo>
                    <a:pt x="1084" y="140"/>
                  </a:lnTo>
                  <a:lnTo>
                    <a:pt x="1086" y="136"/>
                  </a:lnTo>
                  <a:lnTo>
                    <a:pt x="1088" y="134"/>
                  </a:lnTo>
                  <a:lnTo>
                    <a:pt x="1088" y="131"/>
                  </a:lnTo>
                  <a:lnTo>
                    <a:pt x="1088" y="128"/>
                  </a:lnTo>
                  <a:lnTo>
                    <a:pt x="1088" y="122"/>
                  </a:lnTo>
                  <a:lnTo>
                    <a:pt x="1088" y="115"/>
                  </a:lnTo>
                  <a:lnTo>
                    <a:pt x="1088" y="110"/>
                  </a:lnTo>
                  <a:close/>
                  <a:moveTo>
                    <a:pt x="1128" y="45"/>
                  </a:moveTo>
                  <a:lnTo>
                    <a:pt x="1155" y="45"/>
                  </a:lnTo>
                  <a:lnTo>
                    <a:pt x="1179" y="133"/>
                  </a:lnTo>
                  <a:lnTo>
                    <a:pt x="1202" y="45"/>
                  </a:lnTo>
                  <a:lnTo>
                    <a:pt x="1229" y="45"/>
                  </a:lnTo>
                  <a:lnTo>
                    <a:pt x="1197" y="164"/>
                  </a:lnTo>
                  <a:lnTo>
                    <a:pt x="1188" y="184"/>
                  </a:lnTo>
                  <a:lnTo>
                    <a:pt x="1186" y="190"/>
                  </a:lnTo>
                  <a:lnTo>
                    <a:pt x="1185" y="195"/>
                  </a:lnTo>
                  <a:lnTo>
                    <a:pt x="1183" y="200"/>
                  </a:lnTo>
                  <a:lnTo>
                    <a:pt x="1179" y="203"/>
                  </a:lnTo>
                  <a:lnTo>
                    <a:pt x="1178" y="205"/>
                  </a:lnTo>
                  <a:lnTo>
                    <a:pt x="1176" y="207"/>
                  </a:lnTo>
                  <a:lnTo>
                    <a:pt x="1172" y="209"/>
                  </a:lnTo>
                  <a:lnTo>
                    <a:pt x="1167" y="210"/>
                  </a:lnTo>
                  <a:lnTo>
                    <a:pt x="1166" y="212"/>
                  </a:lnTo>
                  <a:lnTo>
                    <a:pt x="1162" y="214"/>
                  </a:lnTo>
                  <a:lnTo>
                    <a:pt x="1157" y="216"/>
                  </a:lnTo>
                  <a:lnTo>
                    <a:pt x="1152" y="216"/>
                  </a:lnTo>
                  <a:lnTo>
                    <a:pt x="1148" y="216"/>
                  </a:lnTo>
                  <a:lnTo>
                    <a:pt x="1145" y="214"/>
                  </a:lnTo>
                  <a:lnTo>
                    <a:pt x="1141" y="214"/>
                  </a:lnTo>
                  <a:lnTo>
                    <a:pt x="1138" y="212"/>
                  </a:lnTo>
                  <a:lnTo>
                    <a:pt x="1134" y="184"/>
                  </a:lnTo>
                  <a:lnTo>
                    <a:pt x="1138" y="186"/>
                  </a:lnTo>
                  <a:lnTo>
                    <a:pt x="1141" y="186"/>
                  </a:lnTo>
                  <a:lnTo>
                    <a:pt x="1143" y="186"/>
                  </a:lnTo>
                  <a:lnTo>
                    <a:pt x="1147" y="186"/>
                  </a:lnTo>
                  <a:lnTo>
                    <a:pt x="1150" y="186"/>
                  </a:lnTo>
                  <a:lnTo>
                    <a:pt x="1152" y="184"/>
                  </a:lnTo>
                  <a:lnTo>
                    <a:pt x="1155" y="184"/>
                  </a:lnTo>
                  <a:lnTo>
                    <a:pt x="1157" y="184"/>
                  </a:lnTo>
                  <a:lnTo>
                    <a:pt x="1160" y="181"/>
                  </a:lnTo>
                  <a:lnTo>
                    <a:pt x="1164" y="178"/>
                  </a:lnTo>
                  <a:lnTo>
                    <a:pt x="1166" y="172"/>
                  </a:lnTo>
                  <a:lnTo>
                    <a:pt x="1166" y="166"/>
                  </a:lnTo>
                  <a:lnTo>
                    <a:pt x="1128" y="45"/>
                  </a:lnTo>
                  <a:close/>
                  <a:moveTo>
                    <a:pt x="1307" y="129"/>
                  </a:moveTo>
                  <a:lnTo>
                    <a:pt x="1333" y="134"/>
                  </a:lnTo>
                  <a:lnTo>
                    <a:pt x="1330" y="143"/>
                  </a:lnTo>
                  <a:lnTo>
                    <a:pt x="1324" y="150"/>
                  </a:lnTo>
                  <a:lnTo>
                    <a:pt x="1321" y="157"/>
                  </a:lnTo>
                  <a:lnTo>
                    <a:pt x="1316" y="162"/>
                  </a:lnTo>
                  <a:lnTo>
                    <a:pt x="1309" y="164"/>
                  </a:lnTo>
                  <a:lnTo>
                    <a:pt x="1302" y="166"/>
                  </a:lnTo>
                  <a:lnTo>
                    <a:pt x="1295" y="167"/>
                  </a:lnTo>
                  <a:lnTo>
                    <a:pt x="1288" y="167"/>
                  </a:lnTo>
                  <a:lnTo>
                    <a:pt x="1278" y="167"/>
                  </a:lnTo>
                  <a:lnTo>
                    <a:pt x="1269" y="166"/>
                  </a:lnTo>
                  <a:lnTo>
                    <a:pt x="1262" y="162"/>
                  </a:lnTo>
                  <a:lnTo>
                    <a:pt x="1255" y="155"/>
                  </a:lnTo>
                  <a:lnTo>
                    <a:pt x="1248" y="147"/>
                  </a:lnTo>
                  <a:lnTo>
                    <a:pt x="1243" y="134"/>
                  </a:lnTo>
                  <a:lnTo>
                    <a:pt x="1242" y="122"/>
                  </a:lnTo>
                  <a:lnTo>
                    <a:pt x="1240" y="107"/>
                  </a:lnTo>
                  <a:lnTo>
                    <a:pt x="1242" y="93"/>
                  </a:lnTo>
                  <a:lnTo>
                    <a:pt x="1243" y="79"/>
                  </a:lnTo>
                  <a:lnTo>
                    <a:pt x="1248" y="69"/>
                  </a:lnTo>
                  <a:lnTo>
                    <a:pt x="1255" y="59"/>
                  </a:lnTo>
                  <a:lnTo>
                    <a:pt x="1261" y="52"/>
                  </a:lnTo>
                  <a:lnTo>
                    <a:pt x="1269" y="46"/>
                  </a:lnTo>
                  <a:lnTo>
                    <a:pt x="1276" y="45"/>
                  </a:lnTo>
                  <a:lnTo>
                    <a:pt x="1286" y="43"/>
                  </a:lnTo>
                  <a:lnTo>
                    <a:pt x="1295" y="45"/>
                  </a:lnTo>
                  <a:lnTo>
                    <a:pt x="1305" y="46"/>
                  </a:lnTo>
                  <a:lnTo>
                    <a:pt x="1312" y="52"/>
                  </a:lnTo>
                  <a:lnTo>
                    <a:pt x="1317" y="59"/>
                  </a:lnTo>
                  <a:lnTo>
                    <a:pt x="1324" y="69"/>
                  </a:lnTo>
                  <a:lnTo>
                    <a:pt x="1330" y="81"/>
                  </a:lnTo>
                  <a:lnTo>
                    <a:pt x="1331" y="95"/>
                  </a:lnTo>
                  <a:lnTo>
                    <a:pt x="1333" y="112"/>
                  </a:lnTo>
                  <a:lnTo>
                    <a:pt x="1333" y="115"/>
                  </a:lnTo>
                  <a:lnTo>
                    <a:pt x="1267" y="115"/>
                  </a:lnTo>
                  <a:lnTo>
                    <a:pt x="1267" y="122"/>
                  </a:lnTo>
                  <a:lnTo>
                    <a:pt x="1269" y="129"/>
                  </a:lnTo>
                  <a:lnTo>
                    <a:pt x="1271" y="134"/>
                  </a:lnTo>
                  <a:lnTo>
                    <a:pt x="1274" y="138"/>
                  </a:lnTo>
                  <a:lnTo>
                    <a:pt x="1278" y="141"/>
                  </a:lnTo>
                  <a:lnTo>
                    <a:pt x="1281" y="143"/>
                  </a:lnTo>
                  <a:lnTo>
                    <a:pt x="1285" y="145"/>
                  </a:lnTo>
                  <a:lnTo>
                    <a:pt x="1288" y="145"/>
                  </a:lnTo>
                  <a:lnTo>
                    <a:pt x="1295" y="143"/>
                  </a:lnTo>
                  <a:lnTo>
                    <a:pt x="1300" y="141"/>
                  </a:lnTo>
                  <a:lnTo>
                    <a:pt x="1304" y="136"/>
                  </a:lnTo>
                  <a:lnTo>
                    <a:pt x="1307" y="129"/>
                  </a:lnTo>
                  <a:close/>
                  <a:moveTo>
                    <a:pt x="1307" y="95"/>
                  </a:moveTo>
                  <a:lnTo>
                    <a:pt x="1307" y="88"/>
                  </a:lnTo>
                  <a:lnTo>
                    <a:pt x="1305" y="83"/>
                  </a:lnTo>
                  <a:lnTo>
                    <a:pt x="1304" y="78"/>
                  </a:lnTo>
                  <a:lnTo>
                    <a:pt x="1300" y="74"/>
                  </a:lnTo>
                  <a:lnTo>
                    <a:pt x="1297" y="72"/>
                  </a:lnTo>
                  <a:lnTo>
                    <a:pt x="1295" y="69"/>
                  </a:lnTo>
                  <a:lnTo>
                    <a:pt x="1292" y="67"/>
                  </a:lnTo>
                  <a:lnTo>
                    <a:pt x="1288" y="67"/>
                  </a:lnTo>
                  <a:lnTo>
                    <a:pt x="1283" y="67"/>
                  </a:lnTo>
                  <a:lnTo>
                    <a:pt x="1280" y="69"/>
                  </a:lnTo>
                  <a:lnTo>
                    <a:pt x="1278" y="72"/>
                  </a:lnTo>
                  <a:lnTo>
                    <a:pt x="1274" y="76"/>
                  </a:lnTo>
                  <a:lnTo>
                    <a:pt x="1271" y="79"/>
                  </a:lnTo>
                  <a:lnTo>
                    <a:pt x="1269" y="83"/>
                  </a:lnTo>
                  <a:lnTo>
                    <a:pt x="1267" y="88"/>
                  </a:lnTo>
                  <a:lnTo>
                    <a:pt x="1267" y="95"/>
                  </a:lnTo>
                  <a:lnTo>
                    <a:pt x="1307" y="95"/>
                  </a:lnTo>
                  <a:close/>
                  <a:moveTo>
                    <a:pt x="1380" y="166"/>
                  </a:moveTo>
                  <a:lnTo>
                    <a:pt x="1354" y="166"/>
                  </a:lnTo>
                  <a:lnTo>
                    <a:pt x="1354" y="45"/>
                  </a:lnTo>
                  <a:lnTo>
                    <a:pt x="1378" y="45"/>
                  </a:lnTo>
                  <a:lnTo>
                    <a:pt x="1378" y="64"/>
                  </a:lnTo>
                  <a:lnTo>
                    <a:pt x="1381" y="59"/>
                  </a:lnTo>
                  <a:lnTo>
                    <a:pt x="1385" y="53"/>
                  </a:lnTo>
                  <a:lnTo>
                    <a:pt x="1387" y="50"/>
                  </a:lnTo>
                  <a:lnTo>
                    <a:pt x="1390" y="46"/>
                  </a:lnTo>
                  <a:lnTo>
                    <a:pt x="1392" y="45"/>
                  </a:lnTo>
                  <a:lnTo>
                    <a:pt x="1395" y="45"/>
                  </a:lnTo>
                  <a:lnTo>
                    <a:pt x="1397" y="43"/>
                  </a:lnTo>
                  <a:lnTo>
                    <a:pt x="1400" y="43"/>
                  </a:lnTo>
                  <a:lnTo>
                    <a:pt x="1406" y="43"/>
                  </a:lnTo>
                  <a:lnTo>
                    <a:pt x="1409" y="45"/>
                  </a:lnTo>
                  <a:lnTo>
                    <a:pt x="1414" y="46"/>
                  </a:lnTo>
                  <a:lnTo>
                    <a:pt x="1418" y="50"/>
                  </a:lnTo>
                  <a:lnTo>
                    <a:pt x="1409" y="78"/>
                  </a:lnTo>
                  <a:lnTo>
                    <a:pt x="1406" y="76"/>
                  </a:lnTo>
                  <a:lnTo>
                    <a:pt x="1404" y="76"/>
                  </a:lnTo>
                  <a:lnTo>
                    <a:pt x="1400" y="74"/>
                  </a:lnTo>
                  <a:lnTo>
                    <a:pt x="1399" y="74"/>
                  </a:lnTo>
                  <a:lnTo>
                    <a:pt x="1395" y="74"/>
                  </a:lnTo>
                  <a:lnTo>
                    <a:pt x="1392" y="74"/>
                  </a:lnTo>
                  <a:lnTo>
                    <a:pt x="1390" y="74"/>
                  </a:lnTo>
                  <a:lnTo>
                    <a:pt x="1388" y="76"/>
                  </a:lnTo>
                  <a:lnTo>
                    <a:pt x="1387" y="79"/>
                  </a:lnTo>
                  <a:lnTo>
                    <a:pt x="1385" y="83"/>
                  </a:lnTo>
                  <a:lnTo>
                    <a:pt x="1383" y="88"/>
                  </a:lnTo>
                  <a:lnTo>
                    <a:pt x="1381" y="93"/>
                  </a:lnTo>
                  <a:lnTo>
                    <a:pt x="1381" y="98"/>
                  </a:lnTo>
                  <a:lnTo>
                    <a:pt x="1381" y="107"/>
                  </a:lnTo>
                  <a:lnTo>
                    <a:pt x="1380" y="117"/>
                  </a:lnTo>
                  <a:lnTo>
                    <a:pt x="1380" y="129"/>
                  </a:lnTo>
                  <a:lnTo>
                    <a:pt x="1380" y="16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6" name="Freeform 1794"/>
            <p:cNvSpPr>
              <a:spLocks noEditPoints="1"/>
            </p:cNvSpPr>
            <p:nvPr/>
          </p:nvSpPr>
          <p:spPr bwMode="auto">
            <a:xfrm>
              <a:off x="3046" y="2410"/>
              <a:ext cx="91" cy="83"/>
            </a:xfrm>
            <a:custGeom>
              <a:avLst/>
              <a:gdLst>
                <a:gd name="T0" fmla="*/ 40 w 181"/>
                <a:gd name="T1" fmla="*/ 167 h 167"/>
                <a:gd name="T2" fmla="*/ 40 w 181"/>
                <a:gd name="T3" fmla="*/ 29 h 167"/>
                <a:gd name="T4" fmla="*/ 0 w 181"/>
                <a:gd name="T5" fmla="*/ 29 h 167"/>
                <a:gd name="T6" fmla="*/ 0 w 181"/>
                <a:gd name="T7" fmla="*/ 0 h 167"/>
                <a:gd name="T8" fmla="*/ 109 w 181"/>
                <a:gd name="T9" fmla="*/ 0 h 167"/>
                <a:gd name="T10" fmla="*/ 109 w 181"/>
                <a:gd name="T11" fmla="*/ 29 h 167"/>
                <a:gd name="T12" fmla="*/ 69 w 181"/>
                <a:gd name="T13" fmla="*/ 29 h 167"/>
                <a:gd name="T14" fmla="*/ 69 w 181"/>
                <a:gd name="T15" fmla="*/ 167 h 167"/>
                <a:gd name="T16" fmla="*/ 40 w 181"/>
                <a:gd name="T17" fmla="*/ 167 h 167"/>
                <a:gd name="T18" fmla="*/ 143 w 181"/>
                <a:gd name="T19" fmla="*/ 167 h 167"/>
                <a:gd name="T20" fmla="*/ 116 w 181"/>
                <a:gd name="T21" fmla="*/ 167 h 167"/>
                <a:gd name="T22" fmla="*/ 116 w 181"/>
                <a:gd name="T23" fmla="*/ 46 h 167"/>
                <a:gd name="T24" fmla="*/ 142 w 181"/>
                <a:gd name="T25" fmla="*/ 46 h 167"/>
                <a:gd name="T26" fmla="*/ 142 w 181"/>
                <a:gd name="T27" fmla="*/ 63 h 167"/>
                <a:gd name="T28" fmla="*/ 143 w 181"/>
                <a:gd name="T29" fmla="*/ 58 h 167"/>
                <a:gd name="T30" fmla="*/ 147 w 181"/>
                <a:gd name="T31" fmla="*/ 53 h 167"/>
                <a:gd name="T32" fmla="*/ 148 w 181"/>
                <a:gd name="T33" fmla="*/ 50 h 167"/>
                <a:gd name="T34" fmla="*/ 152 w 181"/>
                <a:gd name="T35" fmla="*/ 48 h 167"/>
                <a:gd name="T36" fmla="*/ 155 w 181"/>
                <a:gd name="T37" fmla="*/ 46 h 167"/>
                <a:gd name="T38" fmla="*/ 157 w 181"/>
                <a:gd name="T39" fmla="*/ 44 h 167"/>
                <a:gd name="T40" fmla="*/ 161 w 181"/>
                <a:gd name="T41" fmla="*/ 43 h 167"/>
                <a:gd name="T42" fmla="*/ 164 w 181"/>
                <a:gd name="T43" fmla="*/ 43 h 167"/>
                <a:gd name="T44" fmla="*/ 167 w 181"/>
                <a:gd name="T45" fmla="*/ 43 h 167"/>
                <a:gd name="T46" fmla="*/ 173 w 181"/>
                <a:gd name="T47" fmla="*/ 44 h 167"/>
                <a:gd name="T48" fmla="*/ 176 w 181"/>
                <a:gd name="T49" fmla="*/ 48 h 167"/>
                <a:gd name="T50" fmla="*/ 181 w 181"/>
                <a:gd name="T51" fmla="*/ 50 h 167"/>
                <a:gd name="T52" fmla="*/ 173 w 181"/>
                <a:gd name="T53" fmla="*/ 79 h 167"/>
                <a:gd name="T54" fmla="*/ 169 w 181"/>
                <a:gd name="T55" fmla="*/ 77 h 167"/>
                <a:gd name="T56" fmla="*/ 166 w 181"/>
                <a:gd name="T57" fmla="*/ 76 h 167"/>
                <a:gd name="T58" fmla="*/ 162 w 181"/>
                <a:gd name="T59" fmla="*/ 74 h 167"/>
                <a:gd name="T60" fmla="*/ 161 w 181"/>
                <a:gd name="T61" fmla="*/ 74 h 167"/>
                <a:gd name="T62" fmla="*/ 157 w 181"/>
                <a:gd name="T63" fmla="*/ 74 h 167"/>
                <a:gd name="T64" fmla="*/ 155 w 181"/>
                <a:gd name="T65" fmla="*/ 74 h 167"/>
                <a:gd name="T66" fmla="*/ 152 w 181"/>
                <a:gd name="T67" fmla="*/ 76 h 167"/>
                <a:gd name="T68" fmla="*/ 150 w 181"/>
                <a:gd name="T69" fmla="*/ 77 h 167"/>
                <a:gd name="T70" fmla="*/ 148 w 181"/>
                <a:gd name="T71" fmla="*/ 81 h 167"/>
                <a:gd name="T72" fmla="*/ 147 w 181"/>
                <a:gd name="T73" fmla="*/ 84 h 167"/>
                <a:gd name="T74" fmla="*/ 145 w 181"/>
                <a:gd name="T75" fmla="*/ 88 h 167"/>
                <a:gd name="T76" fmla="*/ 145 w 181"/>
                <a:gd name="T77" fmla="*/ 93 h 167"/>
                <a:gd name="T78" fmla="*/ 145 w 181"/>
                <a:gd name="T79" fmla="*/ 100 h 167"/>
                <a:gd name="T80" fmla="*/ 145 w 181"/>
                <a:gd name="T81" fmla="*/ 107 h 167"/>
                <a:gd name="T82" fmla="*/ 143 w 181"/>
                <a:gd name="T83" fmla="*/ 117 h 167"/>
                <a:gd name="T84" fmla="*/ 143 w 181"/>
                <a:gd name="T85" fmla="*/ 131 h 167"/>
                <a:gd name="T86" fmla="*/ 143 w 181"/>
                <a:gd name="T87" fmla="*/ 167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81" h="167">
                  <a:moveTo>
                    <a:pt x="40" y="167"/>
                  </a:moveTo>
                  <a:lnTo>
                    <a:pt x="40" y="29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09" y="0"/>
                  </a:lnTo>
                  <a:lnTo>
                    <a:pt x="109" y="29"/>
                  </a:lnTo>
                  <a:lnTo>
                    <a:pt x="69" y="29"/>
                  </a:lnTo>
                  <a:lnTo>
                    <a:pt x="69" y="167"/>
                  </a:lnTo>
                  <a:lnTo>
                    <a:pt x="40" y="167"/>
                  </a:lnTo>
                  <a:close/>
                  <a:moveTo>
                    <a:pt x="143" y="167"/>
                  </a:moveTo>
                  <a:lnTo>
                    <a:pt x="116" y="167"/>
                  </a:lnTo>
                  <a:lnTo>
                    <a:pt x="116" y="46"/>
                  </a:lnTo>
                  <a:lnTo>
                    <a:pt x="142" y="46"/>
                  </a:lnTo>
                  <a:lnTo>
                    <a:pt x="142" y="63"/>
                  </a:lnTo>
                  <a:lnTo>
                    <a:pt x="143" y="58"/>
                  </a:lnTo>
                  <a:lnTo>
                    <a:pt x="147" y="53"/>
                  </a:lnTo>
                  <a:lnTo>
                    <a:pt x="148" y="50"/>
                  </a:lnTo>
                  <a:lnTo>
                    <a:pt x="152" y="48"/>
                  </a:lnTo>
                  <a:lnTo>
                    <a:pt x="155" y="46"/>
                  </a:lnTo>
                  <a:lnTo>
                    <a:pt x="157" y="44"/>
                  </a:lnTo>
                  <a:lnTo>
                    <a:pt x="161" y="43"/>
                  </a:lnTo>
                  <a:lnTo>
                    <a:pt x="164" y="43"/>
                  </a:lnTo>
                  <a:lnTo>
                    <a:pt x="167" y="43"/>
                  </a:lnTo>
                  <a:lnTo>
                    <a:pt x="173" y="44"/>
                  </a:lnTo>
                  <a:lnTo>
                    <a:pt x="176" y="48"/>
                  </a:lnTo>
                  <a:lnTo>
                    <a:pt x="181" y="50"/>
                  </a:lnTo>
                  <a:lnTo>
                    <a:pt x="173" y="79"/>
                  </a:lnTo>
                  <a:lnTo>
                    <a:pt x="169" y="77"/>
                  </a:lnTo>
                  <a:lnTo>
                    <a:pt x="166" y="76"/>
                  </a:lnTo>
                  <a:lnTo>
                    <a:pt x="162" y="74"/>
                  </a:lnTo>
                  <a:lnTo>
                    <a:pt x="161" y="74"/>
                  </a:lnTo>
                  <a:lnTo>
                    <a:pt x="157" y="74"/>
                  </a:lnTo>
                  <a:lnTo>
                    <a:pt x="155" y="74"/>
                  </a:lnTo>
                  <a:lnTo>
                    <a:pt x="152" y="76"/>
                  </a:lnTo>
                  <a:lnTo>
                    <a:pt x="150" y="77"/>
                  </a:lnTo>
                  <a:lnTo>
                    <a:pt x="148" y="81"/>
                  </a:lnTo>
                  <a:lnTo>
                    <a:pt x="147" y="84"/>
                  </a:lnTo>
                  <a:lnTo>
                    <a:pt x="145" y="88"/>
                  </a:lnTo>
                  <a:lnTo>
                    <a:pt x="145" y="93"/>
                  </a:lnTo>
                  <a:lnTo>
                    <a:pt x="145" y="100"/>
                  </a:lnTo>
                  <a:lnTo>
                    <a:pt x="145" y="107"/>
                  </a:lnTo>
                  <a:lnTo>
                    <a:pt x="143" y="117"/>
                  </a:lnTo>
                  <a:lnTo>
                    <a:pt x="143" y="131"/>
                  </a:lnTo>
                  <a:lnTo>
                    <a:pt x="143" y="1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7" name="Freeform 1795"/>
            <p:cNvSpPr>
              <a:spLocks noEditPoints="1"/>
            </p:cNvSpPr>
            <p:nvPr/>
          </p:nvSpPr>
          <p:spPr bwMode="auto">
            <a:xfrm>
              <a:off x="3139" y="2431"/>
              <a:ext cx="317" cy="85"/>
            </a:xfrm>
            <a:custGeom>
              <a:avLst/>
              <a:gdLst>
                <a:gd name="T0" fmla="*/ 22 w 635"/>
                <a:gd name="T1" fmla="*/ 5 h 169"/>
                <a:gd name="T2" fmla="*/ 70 w 635"/>
                <a:gd name="T3" fmla="*/ 7 h 169"/>
                <a:gd name="T4" fmla="*/ 88 w 635"/>
                <a:gd name="T5" fmla="*/ 38 h 169"/>
                <a:gd name="T6" fmla="*/ 89 w 635"/>
                <a:gd name="T7" fmla="*/ 112 h 169"/>
                <a:gd name="T8" fmla="*/ 57 w 635"/>
                <a:gd name="T9" fmla="*/ 119 h 169"/>
                <a:gd name="T10" fmla="*/ 26 w 635"/>
                <a:gd name="T11" fmla="*/ 126 h 169"/>
                <a:gd name="T12" fmla="*/ 0 w 635"/>
                <a:gd name="T13" fmla="*/ 91 h 169"/>
                <a:gd name="T14" fmla="*/ 10 w 635"/>
                <a:gd name="T15" fmla="*/ 64 h 169"/>
                <a:gd name="T16" fmla="*/ 51 w 635"/>
                <a:gd name="T17" fmla="*/ 50 h 169"/>
                <a:gd name="T18" fmla="*/ 58 w 635"/>
                <a:gd name="T19" fmla="*/ 31 h 169"/>
                <a:gd name="T20" fmla="*/ 43 w 635"/>
                <a:gd name="T21" fmla="*/ 26 h 169"/>
                <a:gd name="T22" fmla="*/ 29 w 635"/>
                <a:gd name="T23" fmla="*/ 36 h 169"/>
                <a:gd name="T24" fmla="*/ 39 w 635"/>
                <a:gd name="T25" fmla="*/ 74 h 169"/>
                <a:gd name="T26" fmla="*/ 27 w 635"/>
                <a:gd name="T27" fmla="*/ 88 h 169"/>
                <a:gd name="T28" fmla="*/ 38 w 635"/>
                <a:gd name="T29" fmla="*/ 107 h 169"/>
                <a:gd name="T30" fmla="*/ 55 w 635"/>
                <a:gd name="T31" fmla="*/ 96 h 169"/>
                <a:gd name="T32" fmla="*/ 60 w 635"/>
                <a:gd name="T33" fmla="*/ 67 h 169"/>
                <a:gd name="T34" fmla="*/ 176 w 635"/>
                <a:gd name="T35" fmla="*/ 38 h 169"/>
                <a:gd name="T36" fmla="*/ 162 w 635"/>
                <a:gd name="T37" fmla="*/ 26 h 169"/>
                <a:gd name="T38" fmla="*/ 145 w 635"/>
                <a:gd name="T39" fmla="*/ 34 h 169"/>
                <a:gd name="T40" fmla="*/ 140 w 635"/>
                <a:gd name="T41" fmla="*/ 124 h 169"/>
                <a:gd name="T42" fmla="*/ 148 w 635"/>
                <a:gd name="T43" fmla="*/ 10 h 169"/>
                <a:gd name="T44" fmla="*/ 181 w 635"/>
                <a:gd name="T45" fmla="*/ 1 h 169"/>
                <a:gd name="T46" fmla="*/ 202 w 635"/>
                <a:gd name="T47" fmla="*/ 27 h 169"/>
                <a:gd name="T48" fmla="*/ 252 w 635"/>
                <a:gd name="T49" fmla="*/ 95 h 169"/>
                <a:gd name="T50" fmla="*/ 281 w 635"/>
                <a:gd name="T51" fmla="*/ 102 h 169"/>
                <a:gd name="T52" fmla="*/ 285 w 635"/>
                <a:gd name="T53" fmla="*/ 88 h 169"/>
                <a:gd name="T54" fmla="*/ 250 w 635"/>
                <a:gd name="T55" fmla="*/ 72 h 169"/>
                <a:gd name="T56" fmla="*/ 224 w 635"/>
                <a:gd name="T57" fmla="*/ 31 h 169"/>
                <a:gd name="T58" fmla="*/ 266 w 635"/>
                <a:gd name="T59" fmla="*/ 0 h 169"/>
                <a:gd name="T60" fmla="*/ 309 w 635"/>
                <a:gd name="T61" fmla="*/ 24 h 169"/>
                <a:gd name="T62" fmla="*/ 262 w 635"/>
                <a:gd name="T63" fmla="*/ 24 h 169"/>
                <a:gd name="T64" fmla="*/ 248 w 635"/>
                <a:gd name="T65" fmla="*/ 34 h 169"/>
                <a:gd name="T66" fmla="*/ 266 w 635"/>
                <a:gd name="T67" fmla="*/ 48 h 169"/>
                <a:gd name="T68" fmla="*/ 312 w 635"/>
                <a:gd name="T69" fmla="*/ 74 h 169"/>
                <a:gd name="T70" fmla="*/ 295 w 635"/>
                <a:gd name="T71" fmla="*/ 121 h 169"/>
                <a:gd name="T72" fmla="*/ 238 w 635"/>
                <a:gd name="T73" fmla="*/ 119 h 169"/>
                <a:gd name="T74" fmla="*/ 362 w 635"/>
                <a:gd name="T75" fmla="*/ 20 h 169"/>
                <a:gd name="T76" fmla="*/ 388 w 635"/>
                <a:gd name="T77" fmla="*/ 0 h 169"/>
                <a:gd name="T78" fmla="*/ 430 w 635"/>
                <a:gd name="T79" fmla="*/ 36 h 169"/>
                <a:gd name="T80" fmla="*/ 414 w 635"/>
                <a:gd name="T81" fmla="*/ 117 h 169"/>
                <a:gd name="T82" fmla="*/ 378 w 635"/>
                <a:gd name="T83" fmla="*/ 124 h 169"/>
                <a:gd name="T84" fmla="*/ 336 w 635"/>
                <a:gd name="T85" fmla="*/ 3 h 169"/>
                <a:gd name="T86" fmla="*/ 376 w 635"/>
                <a:gd name="T87" fmla="*/ 98 h 169"/>
                <a:gd name="T88" fmla="*/ 402 w 635"/>
                <a:gd name="T89" fmla="*/ 88 h 169"/>
                <a:gd name="T90" fmla="*/ 400 w 635"/>
                <a:gd name="T91" fmla="*/ 34 h 169"/>
                <a:gd name="T92" fmla="*/ 373 w 635"/>
                <a:gd name="T93" fmla="*/ 31 h 169"/>
                <a:gd name="T94" fmla="*/ 449 w 635"/>
                <a:gd name="T95" fmla="*/ 53 h 169"/>
                <a:gd name="T96" fmla="*/ 473 w 635"/>
                <a:gd name="T97" fmla="*/ 8 h 169"/>
                <a:gd name="T98" fmla="*/ 528 w 635"/>
                <a:gd name="T99" fmla="*/ 10 h 169"/>
                <a:gd name="T100" fmla="*/ 549 w 635"/>
                <a:gd name="T101" fmla="*/ 83 h 169"/>
                <a:gd name="T102" fmla="*/ 518 w 635"/>
                <a:gd name="T103" fmla="*/ 122 h 169"/>
                <a:gd name="T104" fmla="*/ 462 w 635"/>
                <a:gd name="T105" fmla="*/ 110 h 169"/>
                <a:gd name="T106" fmla="*/ 476 w 635"/>
                <a:gd name="T107" fmla="*/ 81 h 169"/>
                <a:gd name="T108" fmla="*/ 504 w 635"/>
                <a:gd name="T109" fmla="*/ 102 h 169"/>
                <a:gd name="T110" fmla="*/ 521 w 635"/>
                <a:gd name="T111" fmla="*/ 65 h 169"/>
                <a:gd name="T112" fmla="*/ 502 w 635"/>
                <a:gd name="T113" fmla="*/ 27 h 169"/>
                <a:gd name="T114" fmla="*/ 476 w 635"/>
                <a:gd name="T115" fmla="*/ 48 h 169"/>
                <a:gd name="T116" fmla="*/ 597 w 635"/>
                <a:gd name="T117" fmla="*/ 20 h 169"/>
                <a:gd name="T118" fmla="*/ 616 w 635"/>
                <a:gd name="T119" fmla="*/ 0 h 169"/>
                <a:gd name="T120" fmla="*/ 623 w 635"/>
                <a:gd name="T121" fmla="*/ 34 h 169"/>
                <a:gd name="T122" fmla="*/ 606 w 635"/>
                <a:gd name="T123" fmla="*/ 34 h 169"/>
                <a:gd name="T124" fmla="*/ 597 w 635"/>
                <a:gd name="T125" fmla="*/ 7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635" h="169">
                  <a:moveTo>
                    <a:pt x="27" y="41"/>
                  </a:moveTo>
                  <a:lnTo>
                    <a:pt x="1" y="36"/>
                  </a:lnTo>
                  <a:lnTo>
                    <a:pt x="5" y="27"/>
                  </a:lnTo>
                  <a:lnTo>
                    <a:pt x="8" y="19"/>
                  </a:lnTo>
                  <a:lnTo>
                    <a:pt x="12" y="14"/>
                  </a:lnTo>
                  <a:lnTo>
                    <a:pt x="17" y="8"/>
                  </a:lnTo>
                  <a:lnTo>
                    <a:pt x="22" y="5"/>
                  </a:lnTo>
                  <a:lnTo>
                    <a:pt x="29" y="1"/>
                  </a:lnTo>
                  <a:lnTo>
                    <a:pt x="36" y="0"/>
                  </a:lnTo>
                  <a:lnTo>
                    <a:pt x="45" y="0"/>
                  </a:lnTo>
                  <a:lnTo>
                    <a:pt x="51" y="0"/>
                  </a:lnTo>
                  <a:lnTo>
                    <a:pt x="60" y="1"/>
                  </a:lnTo>
                  <a:lnTo>
                    <a:pt x="65" y="3"/>
                  </a:lnTo>
                  <a:lnTo>
                    <a:pt x="70" y="7"/>
                  </a:lnTo>
                  <a:lnTo>
                    <a:pt x="74" y="8"/>
                  </a:lnTo>
                  <a:lnTo>
                    <a:pt x="77" y="10"/>
                  </a:lnTo>
                  <a:lnTo>
                    <a:pt x="81" y="14"/>
                  </a:lnTo>
                  <a:lnTo>
                    <a:pt x="83" y="17"/>
                  </a:lnTo>
                  <a:lnTo>
                    <a:pt x="84" y="22"/>
                  </a:lnTo>
                  <a:lnTo>
                    <a:pt x="86" y="29"/>
                  </a:lnTo>
                  <a:lnTo>
                    <a:pt x="88" y="38"/>
                  </a:lnTo>
                  <a:lnTo>
                    <a:pt x="88" y="48"/>
                  </a:lnTo>
                  <a:lnTo>
                    <a:pt x="88" y="86"/>
                  </a:lnTo>
                  <a:lnTo>
                    <a:pt x="88" y="93"/>
                  </a:lnTo>
                  <a:lnTo>
                    <a:pt x="88" y="100"/>
                  </a:lnTo>
                  <a:lnTo>
                    <a:pt x="88" y="105"/>
                  </a:lnTo>
                  <a:lnTo>
                    <a:pt x="89" y="107"/>
                  </a:lnTo>
                  <a:lnTo>
                    <a:pt x="89" y="112"/>
                  </a:lnTo>
                  <a:lnTo>
                    <a:pt x="91" y="115"/>
                  </a:lnTo>
                  <a:lnTo>
                    <a:pt x="91" y="121"/>
                  </a:lnTo>
                  <a:lnTo>
                    <a:pt x="91" y="124"/>
                  </a:lnTo>
                  <a:lnTo>
                    <a:pt x="67" y="124"/>
                  </a:lnTo>
                  <a:lnTo>
                    <a:pt x="62" y="112"/>
                  </a:lnTo>
                  <a:lnTo>
                    <a:pt x="58" y="115"/>
                  </a:lnTo>
                  <a:lnTo>
                    <a:pt x="57" y="119"/>
                  </a:lnTo>
                  <a:lnTo>
                    <a:pt x="53" y="122"/>
                  </a:lnTo>
                  <a:lnTo>
                    <a:pt x="50" y="124"/>
                  </a:lnTo>
                  <a:lnTo>
                    <a:pt x="45" y="124"/>
                  </a:lnTo>
                  <a:lnTo>
                    <a:pt x="41" y="124"/>
                  </a:lnTo>
                  <a:lnTo>
                    <a:pt x="36" y="126"/>
                  </a:lnTo>
                  <a:lnTo>
                    <a:pt x="32" y="126"/>
                  </a:lnTo>
                  <a:lnTo>
                    <a:pt x="26" y="126"/>
                  </a:lnTo>
                  <a:lnTo>
                    <a:pt x="19" y="124"/>
                  </a:lnTo>
                  <a:lnTo>
                    <a:pt x="14" y="121"/>
                  </a:lnTo>
                  <a:lnTo>
                    <a:pt x="10" y="117"/>
                  </a:lnTo>
                  <a:lnTo>
                    <a:pt x="5" y="112"/>
                  </a:lnTo>
                  <a:lnTo>
                    <a:pt x="1" y="107"/>
                  </a:lnTo>
                  <a:lnTo>
                    <a:pt x="0" y="100"/>
                  </a:lnTo>
                  <a:lnTo>
                    <a:pt x="0" y="91"/>
                  </a:lnTo>
                  <a:lnTo>
                    <a:pt x="0" y="88"/>
                  </a:lnTo>
                  <a:lnTo>
                    <a:pt x="1" y="83"/>
                  </a:lnTo>
                  <a:lnTo>
                    <a:pt x="1" y="77"/>
                  </a:lnTo>
                  <a:lnTo>
                    <a:pt x="3" y="74"/>
                  </a:lnTo>
                  <a:lnTo>
                    <a:pt x="5" y="69"/>
                  </a:lnTo>
                  <a:lnTo>
                    <a:pt x="8" y="67"/>
                  </a:lnTo>
                  <a:lnTo>
                    <a:pt x="10" y="64"/>
                  </a:lnTo>
                  <a:lnTo>
                    <a:pt x="14" y="62"/>
                  </a:lnTo>
                  <a:lnTo>
                    <a:pt x="17" y="60"/>
                  </a:lnTo>
                  <a:lnTo>
                    <a:pt x="22" y="57"/>
                  </a:lnTo>
                  <a:lnTo>
                    <a:pt x="29" y="55"/>
                  </a:lnTo>
                  <a:lnTo>
                    <a:pt x="36" y="53"/>
                  </a:lnTo>
                  <a:lnTo>
                    <a:pt x="45" y="52"/>
                  </a:lnTo>
                  <a:lnTo>
                    <a:pt x="51" y="50"/>
                  </a:lnTo>
                  <a:lnTo>
                    <a:pt x="57" y="48"/>
                  </a:lnTo>
                  <a:lnTo>
                    <a:pt x="60" y="46"/>
                  </a:lnTo>
                  <a:lnTo>
                    <a:pt x="60" y="41"/>
                  </a:lnTo>
                  <a:lnTo>
                    <a:pt x="60" y="36"/>
                  </a:lnTo>
                  <a:lnTo>
                    <a:pt x="60" y="34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57" y="29"/>
                  </a:lnTo>
                  <a:lnTo>
                    <a:pt x="55" y="29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50" y="26"/>
                  </a:lnTo>
                  <a:lnTo>
                    <a:pt x="46" y="26"/>
                  </a:lnTo>
                  <a:lnTo>
                    <a:pt x="43" y="26"/>
                  </a:lnTo>
                  <a:lnTo>
                    <a:pt x="41" y="26"/>
                  </a:lnTo>
                  <a:lnTo>
                    <a:pt x="38" y="27"/>
                  </a:lnTo>
                  <a:lnTo>
                    <a:pt x="36" y="27"/>
                  </a:lnTo>
                  <a:lnTo>
                    <a:pt x="34" y="29"/>
                  </a:lnTo>
                  <a:lnTo>
                    <a:pt x="32" y="31"/>
                  </a:lnTo>
                  <a:lnTo>
                    <a:pt x="31" y="33"/>
                  </a:lnTo>
                  <a:lnTo>
                    <a:pt x="29" y="36"/>
                  </a:lnTo>
                  <a:lnTo>
                    <a:pt x="27" y="41"/>
                  </a:lnTo>
                  <a:close/>
                  <a:moveTo>
                    <a:pt x="60" y="67"/>
                  </a:moveTo>
                  <a:lnTo>
                    <a:pt x="57" y="67"/>
                  </a:lnTo>
                  <a:lnTo>
                    <a:pt x="53" y="69"/>
                  </a:lnTo>
                  <a:lnTo>
                    <a:pt x="50" y="71"/>
                  </a:lnTo>
                  <a:lnTo>
                    <a:pt x="45" y="72"/>
                  </a:lnTo>
                  <a:lnTo>
                    <a:pt x="39" y="74"/>
                  </a:lnTo>
                  <a:lnTo>
                    <a:pt x="36" y="76"/>
                  </a:lnTo>
                  <a:lnTo>
                    <a:pt x="32" y="77"/>
                  </a:lnTo>
                  <a:lnTo>
                    <a:pt x="31" y="79"/>
                  </a:lnTo>
                  <a:lnTo>
                    <a:pt x="29" y="81"/>
                  </a:lnTo>
                  <a:lnTo>
                    <a:pt x="29" y="84"/>
                  </a:lnTo>
                  <a:lnTo>
                    <a:pt x="27" y="86"/>
                  </a:lnTo>
                  <a:lnTo>
                    <a:pt x="27" y="88"/>
                  </a:lnTo>
                  <a:lnTo>
                    <a:pt x="27" y="91"/>
                  </a:lnTo>
                  <a:lnTo>
                    <a:pt x="29" y="95"/>
                  </a:lnTo>
                  <a:lnTo>
                    <a:pt x="29" y="96"/>
                  </a:lnTo>
                  <a:lnTo>
                    <a:pt x="31" y="100"/>
                  </a:lnTo>
                  <a:lnTo>
                    <a:pt x="32" y="103"/>
                  </a:lnTo>
                  <a:lnTo>
                    <a:pt x="36" y="105"/>
                  </a:lnTo>
                  <a:lnTo>
                    <a:pt x="38" y="107"/>
                  </a:lnTo>
                  <a:lnTo>
                    <a:pt x="41" y="107"/>
                  </a:lnTo>
                  <a:lnTo>
                    <a:pt x="43" y="107"/>
                  </a:lnTo>
                  <a:lnTo>
                    <a:pt x="46" y="105"/>
                  </a:lnTo>
                  <a:lnTo>
                    <a:pt x="48" y="103"/>
                  </a:lnTo>
                  <a:lnTo>
                    <a:pt x="51" y="102"/>
                  </a:lnTo>
                  <a:lnTo>
                    <a:pt x="53" y="100"/>
                  </a:lnTo>
                  <a:lnTo>
                    <a:pt x="55" y="96"/>
                  </a:lnTo>
                  <a:lnTo>
                    <a:pt x="57" y="95"/>
                  </a:lnTo>
                  <a:lnTo>
                    <a:pt x="58" y="91"/>
                  </a:lnTo>
                  <a:lnTo>
                    <a:pt x="60" y="88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4"/>
                  </a:lnTo>
                  <a:lnTo>
                    <a:pt x="60" y="67"/>
                  </a:lnTo>
                  <a:close/>
                  <a:moveTo>
                    <a:pt x="203" y="124"/>
                  </a:moveTo>
                  <a:lnTo>
                    <a:pt x="177" y="124"/>
                  </a:lnTo>
                  <a:lnTo>
                    <a:pt x="177" y="64"/>
                  </a:lnTo>
                  <a:lnTo>
                    <a:pt x="177" y="55"/>
                  </a:lnTo>
                  <a:lnTo>
                    <a:pt x="177" y="48"/>
                  </a:lnTo>
                  <a:lnTo>
                    <a:pt x="176" y="41"/>
                  </a:lnTo>
                  <a:lnTo>
                    <a:pt x="176" y="38"/>
                  </a:lnTo>
                  <a:lnTo>
                    <a:pt x="174" y="36"/>
                  </a:lnTo>
                  <a:lnTo>
                    <a:pt x="172" y="33"/>
                  </a:lnTo>
                  <a:lnTo>
                    <a:pt x="171" y="31"/>
                  </a:lnTo>
                  <a:lnTo>
                    <a:pt x="169" y="29"/>
                  </a:lnTo>
                  <a:lnTo>
                    <a:pt x="167" y="27"/>
                  </a:lnTo>
                  <a:lnTo>
                    <a:pt x="165" y="27"/>
                  </a:lnTo>
                  <a:lnTo>
                    <a:pt x="162" y="26"/>
                  </a:lnTo>
                  <a:lnTo>
                    <a:pt x="160" y="26"/>
                  </a:lnTo>
                  <a:lnTo>
                    <a:pt x="157" y="26"/>
                  </a:lnTo>
                  <a:lnTo>
                    <a:pt x="155" y="27"/>
                  </a:lnTo>
                  <a:lnTo>
                    <a:pt x="152" y="27"/>
                  </a:lnTo>
                  <a:lnTo>
                    <a:pt x="148" y="29"/>
                  </a:lnTo>
                  <a:lnTo>
                    <a:pt x="146" y="33"/>
                  </a:lnTo>
                  <a:lnTo>
                    <a:pt x="145" y="34"/>
                  </a:lnTo>
                  <a:lnTo>
                    <a:pt x="143" y="38"/>
                  </a:lnTo>
                  <a:lnTo>
                    <a:pt x="141" y="41"/>
                  </a:lnTo>
                  <a:lnTo>
                    <a:pt x="141" y="46"/>
                  </a:lnTo>
                  <a:lnTo>
                    <a:pt x="141" y="52"/>
                  </a:lnTo>
                  <a:lnTo>
                    <a:pt x="140" y="60"/>
                  </a:lnTo>
                  <a:lnTo>
                    <a:pt x="140" y="69"/>
                  </a:lnTo>
                  <a:lnTo>
                    <a:pt x="140" y="124"/>
                  </a:lnTo>
                  <a:lnTo>
                    <a:pt x="112" y="124"/>
                  </a:lnTo>
                  <a:lnTo>
                    <a:pt x="112" y="3"/>
                  </a:lnTo>
                  <a:lnTo>
                    <a:pt x="138" y="3"/>
                  </a:lnTo>
                  <a:lnTo>
                    <a:pt x="138" y="20"/>
                  </a:lnTo>
                  <a:lnTo>
                    <a:pt x="141" y="15"/>
                  </a:lnTo>
                  <a:lnTo>
                    <a:pt x="145" y="12"/>
                  </a:lnTo>
                  <a:lnTo>
                    <a:pt x="148" y="10"/>
                  </a:lnTo>
                  <a:lnTo>
                    <a:pt x="152" y="7"/>
                  </a:lnTo>
                  <a:lnTo>
                    <a:pt x="155" y="3"/>
                  </a:lnTo>
                  <a:lnTo>
                    <a:pt x="160" y="1"/>
                  </a:lnTo>
                  <a:lnTo>
                    <a:pt x="165" y="0"/>
                  </a:lnTo>
                  <a:lnTo>
                    <a:pt x="171" y="0"/>
                  </a:lnTo>
                  <a:lnTo>
                    <a:pt x="176" y="0"/>
                  </a:lnTo>
                  <a:lnTo>
                    <a:pt x="181" y="1"/>
                  </a:lnTo>
                  <a:lnTo>
                    <a:pt x="186" y="5"/>
                  </a:lnTo>
                  <a:lnTo>
                    <a:pt x="190" y="7"/>
                  </a:lnTo>
                  <a:lnTo>
                    <a:pt x="193" y="10"/>
                  </a:lnTo>
                  <a:lnTo>
                    <a:pt x="196" y="14"/>
                  </a:lnTo>
                  <a:lnTo>
                    <a:pt x="198" y="17"/>
                  </a:lnTo>
                  <a:lnTo>
                    <a:pt x="202" y="22"/>
                  </a:lnTo>
                  <a:lnTo>
                    <a:pt x="202" y="27"/>
                  </a:lnTo>
                  <a:lnTo>
                    <a:pt x="203" y="34"/>
                  </a:lnTo>
                  <a:lnTo>
                    <a:pt x="203" y="41"/>
                  </a:lnTo>
                  <a:lnTo>
                    <a:pt x="203" y="50"/>
                  </a:lnTo>
                  <a:lnTo>
                    <a:pt x="203" y="124"/>
                  </a:lnTo>
                  <a:close/>
                  <a:moveTo>
                    <a:pt x="221" y="89"/>
                  </a:moveTo>
                  <a:lnTo>
                    <a:pt x="248" y="88"/>
                  </a:lnTo>
                  <a:lnTo>
                    <a:pt x="252" y="95"/>
                  </a:lnTo>
                  <a:lnTo>
                    <a:pt x="255" y="102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2" y="107"/>
                  </a:lnTo>
                  <a:lnTo>
                    <a:pt x="276" y="105"/>
                  </a:lnTo>
                  <a:lnTo>
                    <a:pt x="279" y="103"/>
                  </a:lnTo>
                  <a:lnTo>
                    <a:pt x="281" y="102"/>
                  </a:lnTo>
                  <a:lnTo>
                    <a:pt x="283" y="100"/>
                  </a:lnTo>
                  <a:lnTo>
                    <a:pt x="285" y="96"/>
                  </a:lnTo>
                  <a:lnTo>
                    <a:pt x="286" y="95"/>
                  </a:lnTo>
                  <a:lnTo>
                    <a:pt x="286" y="91"/>
                  </a:lnTo>
                  <a:lnTo>
                    <a:pt x="286" y="89"/>
                  </a:lnTo>
                  <a:lnTo>
                    <a:pt x="285" y="88"/>
                  </a:lnTo>
                  <a:lnTo>
                    <a:pt x="285" y="88"/>
                  </a:lnTo>
                  <a:lnTo>
                    <a:pt x="283" y="86"/>
                  </a:lnTo>
                  <a:lnTo>
                    <a:pt x="281" y="84"/>
                  </a:lnTo>
                  <a:lnTo>
                    <a:pt x="281" y="84"/>
                  </a:lnTo>
                  <a:lnTo>
                    <a:pt x="279" y="83"/>
                  </a:lnTo>
                  <a:lnTo>
                    <a:pt x="278" y="83"/>
                  </a:lnTo>
                  <a:lnTo>
                    <a:pt x="262" y="77"/>
                  </a:lnTo>
                  <a:lnTo>
                    <a:pt x="250" y="72"/>
                  </a:lnTo>
                  <a:lnTo>
                    <a:pt x="241" y="69"/>
                  </a:lnTo>
                  <a:lnTo>
                    <a:pt x="234" y="65"/>
                  </a:lnTo>
                  <a:lnTo>
                    <a:pt x="229" y="60"/>
                  </a:lnTo>
                  <a:lnTo>
                    <a:pt x="226" y="53"/>
                  </a:lnTo>
                  <a:lnTo>
                    <a:pt x="224" y="46"/>
                  </a:lnTo>
                  <a:lnTo>
                    <a:pt x="222" y="38"/>
                  </a:lnTo>
                  <a:lnTo>
                    <a:pt x="224" y="31"/>
                  </a:lnTo>
                  <a:lnTo>
                    <a:pt x="226" y="22"/>
                  </a:lnTo>
                  <a:lnTo>
                    <a:pt x="229" y="17"/>
                  </a:lnTo>
                  <a:lnTo>
                    <a:pt x="234" y="12"/>
                  </a:lnTo>
                  <a:lnTo>
                    <a:pt x="240" y="7"/>
                  </a:lnTo>
                  <a:lnTo>
                    <a:pt x="248" y="3"/>
                  </a:lnTo>
                  <a:lnTo>
                    <a:pt x="255" y="1"/>
                  </a:lnTo>
                  <a:lnTo>
                    <a:pt x="266" y="0"/>
                  </a:lnTo>
                  <a:lnTo>
                    <a:pt x="276" y="0"/>
                  </a:lnTo>
                  <a:lnTo>
                    <a:pt x="285" y="1"/>
                  </a:lnTo>
                  <a:lnTo>
                    <a:pt x="291" y="5"/>
                  </a:lnTo>
                  <a:lnTo>
                    <a:pt x="297" y="8"/>
                  </a:lnTo>
                  <a:lnTo>
                    <a:pt x="300" y="12"/>
                  </a:lnTo>
                  <a:lnTo>
                    <a:pt x="305" y="17"/>
                  </a:lnTo>
                  <a:lnTo>
                    <a:pt x="309" y="24"/>
                  </a:lnTo>
                  <a:lnTo>
                    <a:pt x="310" y="33"/>
                  </a:lnTo>
                  <a:lnTo>
                    <a:pt x="286" y="38"/>
                  </a:lnTo>
                  <a:lnTo>
                    <a:pt x="283" y="33"/>
                  </a:lnTo>
                  <a:lnTo>
                    <a:pt x="279" y="27"/>
                  </a:lnTo>
                  <a:lnTo>
                    <a:pt x="274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59" y="26"/>
                  </a:lnTo>
                  <a:lnTo>
                    <a:pt x="255" y="26"/>
                  </a:lnTo>
                  <a:lnTo>
                    <a:pt x="252" y="27"/>
                  </a:lnTo>
                  <a:lnTo>
                    <a:pt x="250" y="27"/>
                  </a:lnTo>
                  <a:lnTo>
                    <a:pt x="250" y="29"/>
                  </a:lnTo>
                  <a:lnTo>
                    <a:pt x="248" y="33"/>
                  </a:lnTo>
                  <a:lnTo>
                    <a:pt x="248" y="34"/>
                  </a:lnTo>
                  <a:lnTo>
                    <a:pt x="248" y="36"/>
                  </a:lnTo>
                  <a:lnTo>
                    <a:pt x="250" y="38"/>
                  </a:lnTo>
                  <a:lnTo>
                    <a:pt x="250" y="39"/>
                  </a:lnTo>
                  <a:lnTo>
                    <a:pt x="252" y="41"/>
                  </a:lnTo>
                  <a:lnTo>
                    <a:pt x="253" y="43"/>
                  </a:lnTo>
                  <a:lnTo>
                    <a:pt x="259" y="45"/>
                  </a:lnTo>
                  <a:lnTo>
                    <a:pt x="266" y="48"/>
                  </a:lnTo>
                  <a:lnTo>
                    <a:pt x="276" y="50"/>
                  </a:lnTo>
                  <a:lnTo>
                    <a:pt x="286" y="53"/>
                  </a:lnTo>
                  <a:lnTo>
                    <a:pt x="295" y="55"/>
                  </a:lnTo>
                  <a:lnTo>
                    <a:pt x="300" y="58"/>
                  </a:lnTo>
                  <a:lnTo>
                    <a:pt x="305" y="64"/>
                  </a:lnTo>
                  <a:lnTo>
                    <a:pt x="309" y="69"/>
                  </a:lnTo>
                  <a:lnTo>
                    <a:pt x="312" y="74"/>
                  </a:lnTo>
                  <a:lnTo>
                    <a:pt x="314" y="81"/>
                  </a:lnTo>
                  <a:lnTo>
                    <a:pt x="314" y="88"/>
                  </a:lnTo>
                  <a:lnTo>
                    <a:pt x="314" y="95"/>
                  </a:lnTo>
                  <a:lnTo>
                    <a:pt x="310" y="103"/>
                  </a:lnTo>
                  <a:lnTo>
                    <a:pt x="307" y="110"/>
                  </a:lnTo>
                  <a:lnTo>
                    <a:pt x="302" y="117"/>
                  </a:lnTo>
                  <a:lnTo>
                    <a:pt x="295" y="121"/>
                  </a:lnTo>
                  <a:lnTo>
                    <a:pt x="286" y="124"/>
                  </a:lnTo>
                  <a:lnTo>
                    <a:pt x="278" y="126"/>
                  </a:lnTo>
                  <a:lnTo>
                    <a:pt x="269" y="126"/>
                  </a:lnTo>
                  <a:lnTo>
                    <a:pt x="259" y="126"/>
                  </a:lnTo>
                  <a:lnTo>
                    <a:pt x="250" y="124"/>
                  </a:lnTo>
                  <a:lnTo>
                    <a:pt x="243" y="122"/>
                  </a:lnTo>
                  <a:lnTo>
                    <a:pt x="238" y="119"/>
                  </a:lnTo>
                  <a:lnTo>
                    <a:pt x="231" y="114"/>
                  </a:lnTo>
                  <a:lnTo>
                    <a:pt x="228" y="107"/>
                  </a:lnTo>
                  <a:lnTo>
                    <a:pt x="222" y="98"/>
                  </a:lnTo>
                  <a:lnTo>
                    <a:pt x="221" y="89"/>
                  </a:lnTo>
                  <a:close/>
                  <a:moveTo>
                    <a:pt x="336" y="3"/>
                  </a:moveTo>
                  <a:lnTo>
                    <a:pt x="362" y="3"/>
                  </a:lnTo>
                  <a:lnTo>
                    <a:pt x="362" y="20"/>
                  </a:lnTo>
                  <a:lnTo>
                    <a:pt x="364" y="17"/>
                  </a:lnTo>
                  <a:lnTo>
                    <a:pt x="367" y="14"/>
                  </a:lnTo>
                  <a:lnTo>
                    <a:pt x="369" y="10"/>
                  </a:lnTo>
                  <a:lnTo>
                    <a:pt x="373" y="7"/>
                  </a:lnTo>
                  <a:lnTo>
                    <a:pt x="378" y="3"/>
                  </a:lnTo>
                  <a:lnTo>
                    <a:pt x="383" y="1"/>
                  </a:lnTo>
                  <a:lnTo>
                    <a:pt x="388" y="0"/>
                  </a:lnTo>
                  <a:lnTo>
                    <a:pt x="392" y="0"/>
                  </a:lnTo>
                  <a:lnTo>
                    <a:pt x="400" y="1"/>
                  </a:lnTo>
                  <a:lnTo>
                    <a:pt x="407" y="5"/>
                  </a:lnTo>
                  <a:lnTo>
                    <a:pt x="414" y="10"/>
                  </a:lnTo>
                  <a:lnTo>
                    <a:pt x="421" y="17"/>
                  </a:lnTo>
                  <a:lnTo>
                    <a:pt x="426" y="26"/>
                  </a:lnTo>
                  <a:lnTo>
                    <a:pt x="430" y="36"/>
                  </a:lnTo>
                  <a:lnTo>
                    <a:pt x="433" y="50"/>
                  </a:lnTo>
                  <a:lnTo>
                    <a:pt x="433" y="64"/>
                  </a:lnTo>
                  <a:lnTo>
                    <a:pt x="433" y="77"/>
                  </a:lnTo>
                  <a:lnTo>
                    <a:pt x="430" y="91"/>
                  </a:lnTo>
                  <a:lnTo>
                    <a:pt x="426" y="102"/>
                  </a:lnTo>
                  <a:lnTo>
                    <a:pt x="421" y="110"/>
                  </a:lnTo>
                  <a:lnTo>
                    <a:pt x="414" y="117"/>
                  </a:lnTo>
                  <a:lnTo>
                    <a:pt x="407" y="122"/>
                  </a:lnTo>
                  <a:lnTo>
                    <a:pt x="400" y="126"/>
                  </a:lnTo>
                  <a:lnTo>
                    <a:pt x="392" y="126"/>
                  </a:lnTo>
                  <a:lnTo>
                    <a:pt x="388" y="126"/>
                  </a:lnTo>
                  <a:lnTo>
                    <a:pt x="385" y="124"/>
                  </a:lnTo>
                  <a:lnTo>
                    <a:pt x="381" y="124"/>
                  </a:lnTo>
                  <a:lnTo>
                    <a:pt x="378" y="124"/>
                  </a:lnTo>
                  <a:lnTo>
                    <a:pt x="374" y="122"/>
                  </a:lnTo>
                  <a:lnTo>
                    <a:pt x="371" y="119"/>
                  </a:lnTo>
                  <a:lnTo>
                    <a:pt x="367" y="114"/>
                  </a:lnTo>
                  <a:lnTo>
                    <a:pt x="362" y="108"/>
                  </a:lnTo>
                  <a:lnTo>
                    <a:pt x="362" y="169"/>
                  </a:lnTo>
                  <a:lnTo>
                    <a:pt x="336" y="169"/>
                  </a:lnTo>
                  <a:lnTo>
                    <a:pt x="336" y="3"/>
                  </a:lnTo>
                  <a:close/>
                  <a:moveTo>
                    <a:pt x="362" y="62"/>
                  </a:moveTo>
                  <a:lnTo>
                    <a:pt x="362" y="72"/>
                  </a:lnTo>
                  <a:lnTo>
                    <a:pt x="364" y="79"/>
                  </a:lnTo>
                  <a:lnTo>
                    <a:pt x="367" y="86"/>
                  </a:lnTo>
                  <a:lnTo>
                    <a:pt x="371" y="91"/>
                  </a:lnTo>
                  <a:lnTo>
                    <a:pt x="373" y="96"/>
                  </a:lnTo>
                  <a:lnTo>
                    <a:pt x="376" y="98"/>
                  </a:lnTo>
                  <a:lnTo>
                    <a:pt x="381" y="102"/>
                  </a:lnTo>
                  <a:lnTo>
                    <a:pt x="385" y="102"/>
                  </a:lnTo>
                  <a:lnTo>
                    <a:pt x="390" y="102"/>
                  </a:lnTo>
                  <a:lnTo>
                    <a:pt x="393" y="98"/>
                  </a:lnTo>
                  <a:lnTo>
                    <a:pt x="397" y="96"/>
                  </a:lnTo>
                  <a:lnTo>
                    <a:pt x="400" y="91"/>
                  </a:lnTo>
                  <a:lnTo>
                    <a:pt x="402" y="88"/>
                  </a:lnTo>
                  <a:lnTo>
                    <a:pt x="405" y="81"/>
                  </a:lnTo>
                  <a:lnTo>
                    <a:pt x="407" y="74"/>
                  </a:lnTo>
                  <a:lnTo>
                    <a:pt x="407" y="64"/>
                  </a:lnTo>
                  <a:lnTo>
                    <a:pt x="407" y="55"/>
                  </a:lnTo>
                  <a:lnTo>
                    <a:pt x="405" y="46"/>
                  </a:lnTo>
                  <a:lnTo>
                    <a:pt x="402" y="39"/>
                  </a:lnTo>
                  <a:lnTo>
                    <a:pt x="400" y="34"/>
                  </a:lnTo>
                  <a:lnTo>
                    <a:pt x="397" y="31"/>
                  </a:lnTo>
                  <a:lnTo>
                    <a:pt x="393" y="27"/>
                  </a:lnTo>
                  <a:lnTo>
                    <a:pt x="390" y="26"/>
                  </a:lnTo>
                  <a:lnTo>
                    <a:pt x="385" y="26"/>
                  </a:lnTo>
                  <a:lnTo>
                    <a:pt x="379" y="26"/>
                  </a:lnTo>
                  <a:lnTo>
                    <a:pt x="376" y="27"/>
                  </a:lnTo>
                  <a:lnTo>
                    <a:pt x="373" y="31"/>
                  </a:lnTo>
                  <a:lnTo>
                    <a:pt x="369" y="34"/>
                  </a:lnTo>
                  <a:lnTo>
                    <a:pt x="366" y="39"/>
                  </a:lnTo>
                  <a:lnTo>
                    <a:pt x="364" y="45"/>
                  </a:lnTo>
                  <a:lnTo>
                    <a:pt x="362" y="53"/>
                  </a:lnTo>
                  <a:lnTo>
                    <a:pt x="362" y="62"/>
                  </a:lnTo>
                  <a:close/>
                  <a:moveTo>
                    <a:pt x="449" y="64"/>
                  </a:moveTo>
                  <a:lnTo>
                    <a:pt x="449" y="53"/>
                  </a:lnTo>
                  <a:lnTo>
                    <a:pt x="450" y="45"/>
                  </a:lnTo>
                  <a:lnTo>
                    <a:pt x="452" y="38"/>
                  </a:lnTo>
                  <a:lnTo>
                    <a:pt x="454" y="31"/>
                  </a:lnTo>
                  <a:lnTo>
                    <a:pt x="457" y="24"/>
                  </a:lnTo>
                  <a:lnTo>
                    <a:pt x="462" y="17"/>
                  </a:lnTo>
                  <a:lnTo>
                    <a:pt x="468" y="12"/>
                  </a:lnTo>
                  <a:lnTo>
                    <a:pt x="473" y="8"/>
                  </a:lnTo>
                  <a:lnTo>
                    <a:pt x="480" y="5"/>
                  </a:lnTo>
                  <a:lnTo>
                    <a:pt x="485" y="1"/>
                  </a:lnTo>
                  <a:lnTo>
                    <a:pt x="492" y="0"/>
                  </a:lnTo>
                  <a:lnTo>
                    <a:pt x="499" y="0"/>
                  </a:lnTo>
                  <a:lnTo>
                    <a:pt x="509" y="1"/>
                  </a:lnTo>
                  <a:lnTo>
                    <a:pt x="519" y="5"/>
                  </a:lnTo>
                  <a:lnTo>
                    <a:pt x="528" y="10"/>
                  </a:lnTo>
                  <a:lnTo>
                    <a:pt x="537" y="19"/>
                  </a:lnTo>
                  <a:lnTo>
                    <a:pt x="542" y="29"/>
                  </a:lnTo>
                  <a:lnTo>
                    <a:pt x="547" y="39"/>
                  </a:lnTo>
                  <a:lnTo>
                    <a:pt x="549" y="52"/>
                  </a:lnTo>
                  <a:lnTo>
                    <a:pt x="550" y="64"/>
                  </a:lnTo>
                  <a:lnTo>
                    <a:pt x="550" y="74"/>
                  </a:lnTo>
                  <a:lnTo>
                    <a:pt x="549" y="83"/>
                  </a:lnTo>
                  <a:lnTo>
                    <a:pt x="545" y="89"/>
                  </a:lnTo>
                  <a:lnTo>
                    <a:pt x="542" y="96"/>
                  </a:lnTo>
                  <a:lnTo>
                    <a:pt x="538" y="103"/>
                  </a:lnTo>
                  <a:lnTo>
                    <a:pt x="535" y="110"/>
                  </a:lnTo>
                  <a:lnTo>
                    <a:pt x="530" y="115"/>
                  </a:lnTo>
                  <a:lnTo>
                    <a:pt x="523" y="121"/>
                  </a:lnTo>
                  <a:lnTo>
                    <a:pt x="518" y="122"/>
                  </a:lnTo>
                  <a:lnTo>
                    <a:pt x="512" y="124"/>
                  </a:lnTo>
                  <a:lnTo>
                    <a:pt x="505" y="126"/>
                  </a:lnTo>
                  <a:lnTo>
                    <a:pt x="500" y="126"/>
                  </a:lnTo>
                  <a:lnTo>
                    <a:pt x="488" y="126"/>
                  </a:lnTo>
                  <a:lnTo>
                    <a:pt x="480" y="122"/>
                  </a:lnTo>
                  <a:lnTo>
                    <a:pt x="469" y="117"/>
                  </a:lnTo>
                  <a:lnTo>
                    <a:pt x="462" y="110"/>
                  </a:lnTo>
                  <a:lnTo>
                    <a:pt x="455" y="102"/>
                  </a:lnTo>
                  <a:lnTo>
                    <a:pt x="452" y="91"/>
                  </a:lnTo>
                  <a:lnTo>
                    <a:pt x="449" y="77"/>
                  </a:lnTo>
                  <a:lnTo>
                    <a:pt x="449" y="64"/>
                  </a:lnTo>
                  <a:close/>
                  <a:moveTo>
                    <a:pt x="474" y="65"/>
                  </a:moveTo>
                  <a:lnTo>
                    <a:pt x="474" y="74"/>
                  </a:lnTo>
                  <a:lnTo>
                    <a:pt x="476" y="81"/>
                  </a:lnTo>
                  <a:lnTo>
                    <a:pt x="480" y="88"/>
                  </a:lnTo>
                  <a:lnTo>
                    <a:pt x="481" y="91"/>
                  </a:lnTo>
                  <a:lnTo>
                    <a:pt x="485" y="96"/>
                  </a:lnTo>
                  <a:lnTo>
                    <a:pt x="490" y="98"/>
                  </a:lnTo>
                  <a:lnTo>
                    <a:pt x="495" y="102"/>
                  </a:lnTo>
                  <a:lnTo>
                    <a:pt x="500" y="102"/>
                  </a:lnTo>
                  <a:lnTo>
                    <a:pt x="504" y="102"/>
                  </a:lnTo>
                  <a:lnTo>
                    <a:pt x="507" y="98"/>
                  </a:lnTo>
                  <a:lnTo>
                    <a:pt x="512" y="96"/>
                  </a:lnTo>
                  <a:lnTo>
                    <a:pt x="516" y="91"/>
                  </a:lnTo>
                  <a:lnTo>
                    <a:pt x="519" y="88"/>
                  </a:lnTo>
                  <a:lnTo>
                    <a:pt x="521" y="81"/>
                  </a:lnTo>
                  <a:lnTo>
                    <a:pt x="521" y="74"/>
                  </a:lnTo>
                  <a:lnTo>
                    <a:pt x="521" y="65"/>
                  </a:lnTo>
                  <a:lnTo>
                    <a:pt x="521" y="57"/>
                  </a:lnTo>
                  <a:lnTo>
                    <a:pt x="521" y="48"/>
                  </a:lnTo>
                  <a:lnTo>
                    <a:pt x="519" y="43"/>
                  </a:lnTo>
                  <a:lnTo>
                    <a:pt x="516" y="38"/>
                  </a:lnTo>
                  <a:lnTo>
                    <a:pt x="512" y="33"/>
                  </a:lnTo>
                  <a:lnTo>
                    <a:pt x="507" y="29"/>
                  </a:lnTo>
                  <a:lnTo>
                    <a:pt x="502" y="27"/>
                  </a:lnTo>
                  <a:lnTo>
                    <a:pt x="499" y="27"/>
                  </a:lnTo>
                  <a:lnTo>
                    <a:pt x="493" y="27"/>
                  </a:lnTo>
                  <a:lnTo>
                    <a:pt x="490" y="29"/>
                  </a:lnTo>
                  <a:lnTo>
                    <a:pt x="485" y="33"/>
                  </a:lnTo>
                  <a:lnTo>
                    <a:pt x="481" y="36"/>
                  </a:lnTo>
                  <a:lnTo>
                    <a:pt x="480" y="41"/>
                  </a:lnTo>
                  <a:lnTo>
                    <a:pt x="476" y="48"/>
                  </a:lnTo>
                  <a:lnTo>
                    <a:pt x="474" y="57"/>
                  </a:lnTo>
                  <a:lnTo>
                    <a:pt x="474" y="65"/>
                  </a:lnTo>
                  <a:close/>
                  <a:moveTo>
                    <a:pt x="597" y="124"/>
                  </a:moveTo>
                  <a:lnTo>
                    <a:pt x="571" y="124"/>
                  </a:lnTo>
                  <a:lnTo>
                    <a:pt x="571" y="3"/>
                  </a:lnTo>
                  <a:lnTo>
                    <a:pt x="597" y="3"/>
                  </a:lnTo>
                  <a:lnTo>
                    <a:pt x="597" y="20"/>
                  </a:lnTo>
                  <a:lnTo>
                    <a:pt x="599" y="15"/>
                  </a:lnTo>
                  <a:lnTo>
                    <a:pt x="602" y="10"/>
                  </a:lnTo>
                  <a:lnTo>
                    <a:pt x="604" y="7"/>
                  </a:lnTo>
                  <a:lnTo>
                    <a:pt x="607" y="5"/>
                  </a:lnTo>
                  <a:lnTo>
                    <a:pt x="611" y="3"/>
                  </a:lnTo>
                  <a:lnTo>
                    <a:pt x="613" y="1"/>
                  </a:lnTo>
                  <a:lnTo>
                    <a:pt x="616" y="0"/>
                  </a:lnTo>
                  <a:lnTo>
                    <a:pt x="618" y="0"/>
                  </a:lnTo>
                  <a:lnTo>
                    <a:pt x="623" y="0"/>
                  </a:lnTo>
                  <a:lnTo>
                    <a:pt x="626" y="1"/>
                  </a:lnTo>
                  <a:lnTo>
                    <a:pt x="632" y="5"/>
                  </a:lnTo>
                  <a:lnTo>
                    <a:pt x="635" y="7"/>
                  </a:lnTo>
                  <a:lnTo>
                    <a:pt x="628" y="36"/>
                  </a:lnTo>
                  <a:lnTo>
                    <a:pt x="623" y="34"/>
                  </a:lnTo>
                  <a:lnTo>
                    <a:pt x="619" y="33"/>
                  </a:lnTo>
                  <a:lnTo>
                    <a:pt x="618" y="31"/>
                  </a:lnTo>
                  <a:lnTo>
                    <a:pt x="616" y="31"/>
                  </a:lnTo>
                  <a:lnTo>
                    <a:pt x="614" y="31"/>
                  </a:lnTo>
                  <a:lnTo>
                    <a:pt x="611" y="31"/>
                  </a:lnTo>
                  <a:lnTo>
                    <a:pt x="609" y="33"/>
                  </a:lnTo>
                  <a:lnTo>
                    <a:pt x="606" y="34"/>
                  </a:lnTo>
                  <a:lnTo>
                    <a:pt x="604" y="38"/>
                  </a:lnTo>
                  <a:lnTo>
                    <a:pt x="602" y="41"/>
                  </a:lnTo>
                  <a:lnTo>
                    <a:pt x="600" y="45"/>
                  </a:lnTo>
                  <a:lnTo>
                    <a:pt x="599" y="50"/>
                  </a:lnTo>
                  <a:lnTo>
                    <a:pt x="599" y="57"/>
                  </a:lnTo>
                  <a:lnTo>
                    <a:pt x="599" y="64"/>
                  </a:lnTo>
                  <a:lnTo>
                    <a:pt x="597" y="74"/>
                  </a:lnTo>
                  <a:lnTo>
                    <a:pt x="597" y="88"/>
                  </a:lnTo>
                  <a:lnTo>
                    <a:pt x="597" y="1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8" name="Freeform 1796"/>
            <p:cNvSpPr>
              <a:spLocks noEditPoints="1"/>
            </p:cNvSpPr>
            <p:nvPr/>
          </p:nvSpPr>
          <p:spPr bwMode="auto">
            <a:xfrm>
              <a:off x="3456" y="2410"/>
              <a:ext cx="316" cy="108"/>
            </a:xfrm>
            <a:custGeom>
              <a:avLst/>
              <a:gdLst>
                <a:gd name="T0" fmla="*/ 38 w 630"/>
                <a:gd name="T1" fmla="*/ 127 h 215"/>
                <a:gd name="T2" fmla="*/ 41 w 630"/>
                <a:gd name="T3" fmla="*/ 143 h 215"/>
                <a:gd name="T4" fmla="*/ 55 w 630"/>
                <a:gd name="T5" fmla="*/ 143 h 215"/>
                <a:gd name="T6" fmla="*/ 45 w 630"/>
                <a:gd name="T7" fmla="*/ 169 h 215"/>
                <a:gd name="T8" fmla="*/ 22 w 630"/>
                <a:gd name="T9" fmla="*/ 167 h 215"/>
                <a:gd name="T10" fmla="*/ 14 w 630"/>
                <a:gd name="T11" fmla="*/ 148 h 215"/>
                <a:gd name="T12" fmla="*/ 0 w 630"/>
                <a:gd name="T13" fmla="*/ 72 h 215"/>
                <a:gd name="T14" fmla="*/ 38 w 630"/>
                <a:gd name="T15" fmla="*/ 46 h 215"/>
                <a:gd name="T16" fmla="*/ 157 w 630"/>
                <a:gd name="T17" fmla="*/ 139 h 215"/>
                <a:gd name="T18" fmla="*/ 243 w 630"/>
                <a:gd name="T19" fmla="*/ 79 h 215"/>
                <a:gd name="T20" fmla="*/ 262 w 630"/>
                <a:gd name="T21" fmla="*/ 48 h 215"/>
                <a:gd name="T22" fmla="*/ 300 w 630"/>
                <a:gd name="T23" fmla="*/ 44 h 215"/>
                <a:gd name="T24" fmla="*/ 321 w 630"/>
                <a:gd name="T25" fmla="*/ 57 h 215"/>
                <a:gd name="T26" fmla="*/ 328 w 630"/>
                <a:gd name="T27" fmla="*/ 91 h 215"/>
                <a:gd name="T28" fmla="*/ 328 w 630"/>
                <a:gd name="T29" fmla="*/ 150 h 215"/>
                <a:gd name="T30" fmla="*/ 307 w 630"/>
                <a:gd name="T31" fmla="*/ 167 h 215"/>
                <a:gd name="T32" fmla="*/ 288 w 630"/>
                <a:gd name="T33" fmla="*/ 167 h 215"/>
                <a:gd name="T34" fmla="*/ 266 w 630"/>
                <a:gd name="T35" fmla="*/ 169 h 215"/>
                <a:gd name="T36" fmla="*/ 242 w 630"/>
                <a:gd name="T37" fmla="*/ 150 h 215"/>
                <a:gd name="T38" fmla="*/ 242 w 630"/>
                <a:gd name="T39" fmla="*/ 120 h 215"/>
                <a:gd name="T40" fmla="*/ 254 w 630"/>
                <a:gd name="T41" fmla="*/ 105 h 215"/>
                <a:gd name="T42" fmla="*/ 283 w 630"/>
                <a:gd name="T43" fmla="*/ 95 h 215"/>
                <a:gd name="T44" fmla="*/ 299 w 630"/>
                <a:gd name="T45" fmla="*/ 79 h 215"/>
                <a:gd name="T46" fmla="*/ 297 w 630"/>
                <a:gd name="T47" fmla="*/ 72 h 215"/>
                <a:gd name="T48" fmla="*/ 283 w 630"/>
                <a:gd name="T49" fmla="*/ 69 h 215"/>
                <a:gd name="T50" fmla="*/ 273 w 630"/>
                <a:gd name="T51" fmla="*/ 74 h 215"/>
                <a:gd name="T52" fmla="*/ 297 w 630"/>
                <a:gd name="T53" fmla="*/ 110 h 215"/>
                <a:gd name="T54" fmla="*/ 276 w 630"/>
                <a:gd name="T55" fmla="*/ 119 h 215"/>
                <a:gd name="T56" fmla="*/ 268 w 630"/>
                <a:gd name="T57" fmla="*/ 129 h 215"/>
                <a:gd name="T58" fmla="*/ 271 w 630"/>
                <a:gd name="T59" fmla="*/ 143 h 215"/>
                <a:gd name="T60" fmla="*/ 283 w 630"/>
                <a:gd name="T61" fmla="*/ 150 h 215"/>
                <a:gd name="T62" fmla="*/ 295 w 630"/>
                <a:gd name="T63" fmla="*/ 139 h 215"/>
                <a:gd name="T64" fmla="*/ 299 w 630"/>
                <a:gd name="T65" fmla="*/ 122 h 215"/>
                <a:gd name="T66" fmla="*/ 392 w 630"/>
                <a:gd name="T67" fmla="*/ 132 h 215"/>
                <a:gd name="T68" fmla="*/ 399 w 630"/>
                <a:gd name="T69" fmla="*/ 189 h 215"/>
                <a:gd name="T70" fmla="*/ 387 w 630"/>
                <a:gd name="T71" fmla="*/ 208 h 215"/>
                <a:gd name="T72" fmla="*/ 369 w 630"/>
                <a:gd name="T73" fmla="*/ 215 h 215"/>
                <a:gd name="T74" fmla="*/ 349 w 630"/>
                <a:gd name="T75" fmla="*/ 212 h 215"/>
                <a:gd name="T76" fmla="*/ 357 w 630"/>
                <a:gd name="T77" fmla="*/ 188 h 215"/>
                <a:gd name="T78" fmla="*/ 373 w 630"/>
                <a:gd name="T79" fmla="*/ 181 h 215"/>
                <a:gd name="T80" fmla="*/ 518 w 630"/>
                <a:gd name="T81" fmla="*/ 131 h 215"/>
                <a:gd name="T82" fmla="*/ 528 w 630"/>
                <a:gd name="T83" fmla="*/ 162 h 215"/>
                <a:gd name="T84" fmla="*/ 490 w 630"/>
                <a:gd name="T85" fmla="*/ 169 h 215"/>
                <a:gd name="T86" fmla="*/ 456 w 630"/>
                <a:gd name="T87" fmla="*/ 136 h 215"/>
                <a:gd name="T88" fmla="*/ 461 w 630"/>
                <a:gd name="T89" fmla="*/ 69 h 215"/>
                <a:gd name="T90" fmla="*/ 497 w 630"/>
                <a:gd name="T91" fmla="*/ 43 h 215"/>
                <a:gd name="T92" fmla="*/ 537 w 630"/>
                <a:gd name="T93" fmla="*/ 69 h 215"/>
                <a:gd name="T94" fmla="*/ 478 w 630"/>
                <a:gd name="T95" fmla="*/ 115 h 215"/>
                <a:gd name="T96" fmla="*/ 488 w 630"/>
                <a:gd name="T97" fmla="*/ 141 h 215"/>
                <a:gd name="T98" fmla="*/ 511 w 630"/>
                <a:gd name="T99" fmla="*/ 141 h 215"/>
                <a:gd name="T100" fmla="*/ 518 w 630"/>
                <a:gd name="T101" fmla="*/ 84 h 215"/>
                <a:gd name="T102" fmla="*/ 504 w 630"/>
                <a:gd name="T103" fmla="*/ 69 h 215"/>
                <a:gd name="T104" fmla="*/ 487 w 630"/>
                <a:gd name="T105" fmla="*/ 76 h 215"/>
                <a:gd name="T106" fmla="*/ 518 w 630"/>
                <a:gd name="T107" fmla="*/ 95 h 215"/>
                <a:gd name="T108" fmla="*/ 590 w 630"/>
                <a:gd name="T109" fmla="*/ 63 h 215"/>
                <a:gd name="T110" fmla="*/ 604 w 630"/>
                <a:gd name="T111" fmla="*/ 46 h 215"/>
                <a:gd name="T112" fmla="*/ 621 w 630"/>
                <a:gd name="T113" fmla="*/ 44 h 215"/>
                <a:gd name="T114" fmla="*/ 616 w 630"/>
                <a:gd name="T115" fmla="*/ 76 h 215"/>
                <a:gd name="T116" fmla="*/ 602 w 630"/>
                <a:gd name="T117" fmla="*/ 76 h 215"/>
                <a:gd name="T118" fmla="*/ 594 w 630"/>
                <a:gd name="T119" fmla="*/ 93 h 215"/>
                <a:gd name="T120" fmla="*/ 592 w 630"/>
                <a:gd name="T121" fmla="*/ 167 h 2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630" h="215">
                  <a:moveTo>
                    <a:pt x="57" y="46"/>
                  </a:moveTo>
                  <a:lnTo>
                    <a:pt x="57" y="72"/>
                  </a:lnTo>
                  <a:lnTo>
                    <a:pt x="38" y="72"/>
                  </a:lnTo>
                  <a:lnTo>
                    <a:pt x="38" y="120"/>
                  </a:lnTo>
                  <a:lnTo>
                    <a:pt x="38" y="127"/>
                  </a:lnTo>
                  <a:lnTo>
                    <a:pt x="38" y="132"/>
                  </a:lnTo>
                  <a:lnTo>
                    <a:pt x="38" y="138"/>
                  </a:lnTo>
                  <a:lnTo>
                    <a:pt x="38" y="139"/>
                  </a:lnTo>
                  <a:lnTo>
                    <a:pt x="40" y="141"/>
                  </a:lnTo>
                  <a:lnTo>
                    <a:pt x="41" y="143"/>
                  </a:lnTo>
                  <a:lnTo>
                    <a:pt x="45" y="145"/>
                  </a:lnTo>
                  <a:lnTo>
                    <a:pt x="47" y="145"/>
                  </a:lnTo>
                  <a:lnTo>
                    <a:pt x="50" y="145"/>
                  </a:lnTo>
                  <a:lnTo>
                    <a:pt x="52" y="143"/>
                  </a:lnTo>
                  <a:lnTo>
                    <a:pt x="55" y="143"/>
                  </a:lnTo>
                  <a:lnTo>
                    <a:pt x="57" y="141"/>
                  </a:lnTo>
                  <a:lnTo>
                    <a:pt x="60" y="167"/>
                  </a:lnTo>
                  <a:lnTo>
                    <a:pt x="55" y="167"/>
                  </a:lnTo>
                  <a:lnTo>
                    <a:pt x="50" y="167"/>
                  </a:lnTo>
                  <a:lnTo>
                    <a:pt x="45" y="169"/>
                  </a:lnTo>
                  <a:lnTo>
                    <a:pt x="38" y="169"/>
                  </a:lnTo>
                  <a:lnTo>
                    <a:pt x="34" y="169"/>
                  </a:lnTo>
                  <a:lnTo>
                    <a:pt x="31" y="167"/>
                  </a:lnTo>
                  <a:lnTo>
                    <a:pt x="26" y="167"/>
                  </a:lnTo>
                  <a:lnTo>
                    <a:pt x="22" y="167"/>
                  </a:lnTo>
                  <a:lnTo>
                    <a:pt x="19" y="164"/>
                  </a:lnTo>
                  <a:lnTo>
                    <a:pt x="17" y="160"/>
                  </a:lnTo>
                  <a:lnTo>
                    <a:pt x="15" y="157"/>
                  </a:lnTo>
                  <a:lnTo>
                    <a:pt x="14" y="151"/>
                  </a:lnTo>
                  <a:lnTo>
                    <a:pt x="14" y="148"/>
                  </a:lnTo>
                  <a:lnTo>
                    <a:pt x="14" y="143"/>
                  </a:lnTo>
                  <a:lnTo>
                    <a:pt x="12" y="136"/>
                  </a:lnTo>
                  <a:lnTo>
                    <a:pt x="12" y="126"/>
                  </a:lnTo>
                  <a:lnTo>
                    <a:pt x="12" y="72"/>
                  </a:lnTo>
                  <a:lnTo>
                    <a:pt x="0" y="72"/>
                  </a:lnTo>
                  <a:lnTo>
                    <a:pt x="0" y="46"/>
                  </a:lnTo>
                  <a:lnTo>
                    <a:pt x="12" y="46"/>
                  </a:lnTo>
                  <a:lnTo>
                    <a:pt x="12" y="20"/>
                  </a:lnTo>
                  <a:lnTo>
                    <a:pt x="38" y="3"/>
                  </a:lnTo>
                  <a:lnTo>
                    <a:pt x="38" y="46"/>
                  </a:lnTo>
                  <a:lnTo>
                    <a:pt x="57" y="46"/>
                  </a:lnTo>
                  <a:close/>
                  <a:moveTo>
                    <a:pt x="129" y="167"/>
                  </a:moveTo>
                  <a:lnTo>
                    <a:pt x="129" y="0"/>
                  </a:lnTo>
                  <a:lnTo>
                    <a:pt x="157" y="0"/>
                  </a:lnTo>
                  <a:lnTo>
                    <a:pt x="157" y="139"/>
                  </a:lnTo>
                  <a:lnTo>
                    <a:pt x="226" y="139"/>
                  </a:lnTo>
                  <a:lnTo>
                    <a:pt x="226" y="167"/>
                  </a:lnTo>
                  <a:lnTo>
                    <a:pt x="129" y="167"/>
                  </a:lnTo>
                  <a:close/>
                  <a:moveTo>
                    <a:pt x="268" y="84"/>
                  </a:moveTo>
                  <a:lnTo>
                    <a:pt x="243" y="79"/>
                  </a:lnTo>
                  <a:lnTo>
                    <a:pt x="245" y="70"/>
                  </a:lnTo>
                  <a:lnTo>
                    <a:pt x="249" y="62"/>
                  </a:lnTo>
                  <a:lnTo>
                    <a:pt x="252" y="57"/>
                  </a:lnTo>
                  <a:lnTo>
                    <a:pt x="257" y="51"/>
                  </a:lnTo>
                  <a:lnTo>
                    <a:pt x="262" y="48"/>
                  </a:lnTo>
                  <a:lnTo>
                    <a:pt x="269" y="44"/>
                  </a:lnTo>
                  <a:lnTo>
                    <a:pt x="276" y="43"/>
                  </a:lnTo>
                  <a:lnTo>
                    <a:pt x="285" y="43"/>
                  </a:lnTo>
                  <a:lnTo>
                    <a:pt x="293" y="43"/>
                  </a:lnTo>
                  <a:lnTo>
                    <a:pt x="300" y="44"/>
                  </a:lnTo>
                  <a:lnTo>
                    <a:pt x="306" y="46"/>
                  </a:lnTo>
                  <a:lnTo>
                    <a:pt x="311" y="50"/>
                  </a:lnTo>
                  <a:lnTo>
                    <a:pt x="316" y="51"/>
                  </a:lnTo>
                  <a:lnTo>
                    <a:pt x="318" y="53"/>
                  </a:lnTo>
                  <a:lnTo>
                    <a:pt x="321" y="57"/>
                  </a:lnTo>
                  <a:lnTo>
                    <a:pt x="323" y="60"/>
                  </a:lnTo>
                  <a:lnTo>
                    <a:pt x="324" y="65"/>
                  </a:lnTo>
                  <a:lnTo>
                    <a:pt x="326" y="72"/>
                  </a:lnTo>
                  <a:lnTo>
                    <a:pt x="328" y="81"/>
                  </a:lnTo>
                  <a:lnTo>
                    <a:pt x="328" y="91"/>
                  </a:lnTo>
                  <a:lnTo>
                    <a:pt x="328" y="129"/>
                  </a:lnTo>
                  <a:lnTo>
                    <a:pt x="328" y="136"/>
                  </a:lnTo>
                  <a:lnTo>
                    <a:pt x="328" y="143"/>
                  </a:lnTo>
                  <a:lnTo>
                    <a:pt x="328" y="148"/>
                  </a:lnTo>
                  <a:lnTo>
                    <a:pt x="328" y="150"/>
                  </a:lnTo>
                  <a:lnTo>
                    <a:pt x="328" y="155"/>
                  </a:lnTo>
                  <a:lnTo>
                    <a:pt x="330" y="158"/>
                  </a:lnTo>
                  <a:lnTo>
                    <a:pt x="331" y="164"/>
                  </a:lnTo>
                  <a:lnTo>
                    <a:pt x="333" y="167"/>
                  </a:lnTo>
                  <a:lnTo>
                    <a:pt x="307" y="167"/>
                  </a:lnTo>
                  <a:lnTo>
                    <a:pt x="302" y="155"/>
                  </a:lnTo>
                  <a:lnTo>
                    <a:pt x="299" y="158"/>
                  </a:lnTo>
                  <a:lnTo>
                    <a:pt x="297" y="162"/>
                  </a:lnTo>
                  <a:lnTo>
                    <a:pt x="293" y="165"/>
                  </a:lnTo>
                  <a:lnTo>
                    <a:pt x="288" y="167"/>
                  </a:lnTo>
                  <a:lnTo>
                    <a:pt x="285" y="167"/>
                  </a:lnTo>
                  <a:lnTo>
                    <a:pt x="281" y="167"/>
                  </a:lnTo>
                  <a:lnTo>
                    <a:pt x="276" y="169"/>
                  </a:lnTo>
                  <a:lnTo>
                    <a:pt x="273" y="169"/>
                  </a:lnTo>
                  <a:lnTo>
                    <a:pt x="266" y="169"/>
                  </a:lnTo>
                  <a:lnTo>
                    <a:pt x="259" y="167"/>
                  </a:lnTo>
                  <a:lnTo>
                    <a:pt x="254" y="164"/>
                  </a:lnTo>
                  <a:lnTo>
                    <a:pt x="249" y="160"/>
                  </a:lnTo>
                  <a:lnTo>
                    <a:pt x="245" y="155"/>
                  </a:lnTo>
                  <a:lnTo>
                    <a:pt x="242" y="150"/>
                  </a:lnTo>
                  <a:lnTo>
                    <a:pt x="240" y="143"/>
                  </a:lnTo>
                  <a:lnTo>
                    <a:pt x="240" y="134"/>
                  </a:lnTo>
                  <a:lnTo>
                    <a:pt x="240" y="131"/>
                  </a:lnTo>
                  <a:lnTo>
                    <a:pt x="242" y="126"/>
                  </a:lnTo>
                  <a:lnTo>
                    <a:pt x="242" y="120"/>
                  </a:lnTo>
                  <a:lnTo>
                    <a:pt x="243" y="117"/>
                  </a:lnTo>
                  <a:lnTo>
                    <a:pt x="245" y="112"/>
                  </a:lnTo>
                  <a:lnTo>
                    <a:pt x="247" y="110"/>
                  </a:lnTo>
                  <a:lnTo>
                    <a:pt x="250" y="107"/>
                  </a:lnTo>
                  <a:lnTo>
                    <a:pt x="254" y="105"/>
                  </a:lnTo>
                  <a:lnTo>
                    <a:pt x="257" y="103"/>
                  </a:lnTo>
                  <a:lnTo>
                    <a:pt x="262" y="100"/>
                  </a:lnTo>
                  <a:lnTo>
                    <a:pt x="269" y="98"/>
                  </a:lnTo>
                  <a:lnTo>
                    <a:pt x="276" y="96"/>
                  </a:lnTo>
                  <a:lnTo>
                    <a:pt x="283" y="95"/>
                  </a:lnTo>
                  <a:lnTo>
                    <a:pt x="290" y="93"/>
                  </a:lnTo>
                  <a:lnTo>
                    <a:pt x="295" y="91"/>
                  </a:lnTo>
                  <a:lnTo>
                    <a:pt x="299" y="89"/>
                  </a:lnTo>
                  <a:lnTo>
                    <a:pt x="299" y="84"/>
                  </a:lnTo>
                  <a:lnTo>
                    <a:pt x="299" y="79"/>
                  </a:lnTo>
                  <a:lnTo>
                    <a:pt x="299" y="77"/>
                  </a:lnTo>
                  <a:lnTo>
                    <a:pt x="299" y="74"/>
                  </a:lnTo>
                  <a:lnTo>
                    <a:pt x="299" y="74"/>
                  </a:lnTo>
                  <a:lnTo>
                    <a:pt x="297" y="72"/>
                  </a:lnTo>
                  <a:lnTo>
                    <a:pt x="297" y="72"/>
                  </a:lnTo>
                  <a:lnTo>
                    <a:pt x="295" y="70"/>
                  </a:lnTo>
                  <a:lnTo>
                    <a:pt x="292" y="70"/>
                  </a:lnTo>
                  <a:lnTo>
                    <a:pt x="290" y="69"/>
                  </a:lnTo>
                  <a:lnTo>
                    <a:pt x="287" y="69"/>
                  </a:lnTo>
                  <a:lnTo>
                    <a:pt x="283" y="69"/>
                  </a:lnTo>
                  <a:lnTo>
                    <a:pt x="281" y="69"/>
                  </a:lnTo>
                  <a:lnTo>
                    <a:pt x="278" y="70"/>
                  </a:lnTo>
                  <a:lnTo>
                    <a:pt x="276" y="70"/>
                  </a:lnTo>
                  <a:lnTo>
                    <a:pt x="274" y="72"/>
                  </a:lnTo>
                  <a:lnTo>
                    <a:pt x="273" y="74"/>
                  </a:lnTo>
                  <a:lnTo>
                    <a:pt x="269" y="76"/>
                  </a:lnTo>
                  <a:lnTo>
                    <a:pt x="268" y="79"/>
                  </a:lnTo>
                  <a:lnTo>
                    <a:pt x="268" y="84"/>
                  </a:lnTo>
                  <a:close/>
                  <a:moveTo>
                    <a:pt x="299" y="110"/>
                  </a:moveTo>
                  <a:lnTo>
                    <a:pt x="297" y="110"/>
                  </a:lnTo>
                  <a:lnTo>
                    <a:pt x="293" y="112"/>
                  </a:lnTo>
                  <a:lnTo>
                    <a:pt x="290" y="114"/>
                  </a:lnTo>
                  <a:lnTo>
                    <a:pt x="285" y="115"/>
                  </a:lnTo>
                  <a:lnTo>
                    <a:pt x="280" y="117"/>
                  </a:lnTo>
                  <a:lnTo>
                    <a:pt x="276" y="119"/>
                  </a:lnTo>
                  <a:lnTo>
                    <a:pt x="273" y="120"/>
                  </a:lnTo>
                  <a:lnTo>
                    <a:pt x="271" y="122"/>
                  </a:lnTo>
                  <a:lnTo>
                    <a:pt x="269" y="124"/>
                  </a:lnTo>
                  <a:lnTo>
                    <a:pt x="268" y="127"/>
                  </a:lnTo>
                  <a:lnTo>
                    <a:pt x="268" y="129"/>
                  </a:lnTo>
                  <a:lnTo>
                    <a:pt x="268" y="131"/>
                  </a:lnTo>
                  <a:lnTo>
                    <a:pt x="268" y="134"/>
                  </a:lnTo>
                  <a:lnTo>
                    <a:pt x="268" y="138"/>
                  </a:lnTo>
                  <a:lnTo>
                    <a:pt x="269" y="139"/>
                  </a:lnTo>
                  <a:lnTo>
                    <a:pt x="271" y="143"/>
                  </a:lnTo>
                  <a:lnTo>
                    <a:pt x="273" y="146"/>
                  </a:lnTo>
                  <a:lnTo>
                    <a:pt x="276" y="148"/>
                  </a:lnTo>
                  <a:lnTo>
                    <a:pt x="278" y="150"/>
                  </a:lnTo>
                  <a:lnTo>
                    <a:pt x="280" y="150"/>
                  </a:lnTo>
                  <a:lnTo>
                    <a:pt x="283" y="150"/>
                  </a:lnTo>
                  <a:lnTo>
                    <a:pt x="285" y="148"/>
                  </a:lnTo>
                  <a:lnTo>
                    <a:pt x="288" y="146"/>
                  </a:lnTo>
                  <a:lnTo>
                    <a:pt x="292" y="145"/>
                  </a:lnTo>
                  <a:lnTo>
                    <a:pt x="293" y="143"/>
                  </a:lnTo>
                  <a:lnTo>
                    <a:pt x="295" y="139"/>
                  </a:lnTo>
                  <a:lnTo>
                    <a:pt x="297" y="138"/>
                  </a:lnTo>
                  <a:lnTo>
                    <a:pt x="299" y="134"/>
                  </a:lnTo>
                  <a:lnTo>
                    <a:pt x="299" y="131"/>
                  </a:lnTo>
                  <a:lnTo>
                    <a:pt x="299" y="127"/>
                  </a:lnTo>
                  <a:lnTo>
                    <a:pt x="299" y="122"/>
                  </a:lnTo>
                  <a:lnTo>
                    <a:pt x="299" y="117"/>
                  </a:lnTo>
                  <a:lnTo>
                    <a:pt x="299" y="110"/>
                  </a:lnTo>
                  <a:close/>
                  <a:moveTo>
                    <a:pt x="338" y="46"/>
                  </a:moveTo>
                  <a:lnTo>
                    <a:pt x="368" y="46"/>
                  </a:lnTo>
                  <a:lnTo>
                    <a:pt x="392" y="132"/>
                  </a:lnTo>
                  <a:lnTo>
                    <a:pt x="414" y="46"/>
                  </a:lnTo>
                  <a:lnTo>
                    <a:pt x="442" y="46"/>
                  </a:lnTo>
                  <a:lnTo>
                    <a:pt x="407" y="164"/>
                  </a:lnTo>
                  <a:lnTo>
                    <a:pt x="400" y="184"/>
                  </a:lnTo>
                  <a:lnTo>
                    <a:pt x="399" y="189"/>
                  </a:lnTo>
                  <a:lnTo>
                    <a:pt x="397" y="195"/>
                  </a:lnTo>
                  <a:lnTo>
                    <a:pt x="394" y="200"/>
                  </a:lnTo>
                  <a:lnTo>
                    <a:pt x="392" y="203"/>
                  </a:lnTo>
                  <a:lnTo>
                    <a:pt x="390" y="205"/>
                  </a:lnTo>
                  <a:lnTo>
                    <a:pt x="387" y="208"/>
                  </a:lnTo>
                  <a:lnTo>
                    <a:pt x="385" y="210"/>
                  </a:lnTo>
                  <a:lnTo>
                    <a:pt x="380" y="210"/>
                  </a:lnTo>
                  <a:lnTo>
                    <a:pt x="376" y="212"/>
                  </a:lnTo>
                  <a:lnTo>
                    <a:pt x="373" y="214"/>
                  </a:lnTo>
                  <a:lnTo>
                    <a:pt x="369" y="215"/>
                  </a:lnTo>
                  <a:lnTo>
                    <a:pt x="364" y="215"/>
                  </a:lnTo>
                  <a:lnTo>
                    <a:pt x="359" y="215"/>
                  </a:lnTo>
                  <a:lnTo>
                    <a:pt x="356" y="214"/>
                  </a:lnTo>
                  <a:lnTo>
                    <a:pt x="352" y="214"/>
                  </a:lnTo>
                  <a:lnTo>
                    <a:pt x="349" y="212"/>
                  </a:lnTo>
                  <a:lnTo>
                    <a:pt x="347" y="186"/>
                  </a:lnTo>
                  <a:lnTo>
                    <a:pt x="350" y="188"/>
                  </a:lnTo>
                  <a:lnTo>
                    <a:pt x="352" y="188"/>
                  </a:lnTo>
                  <a:lnTo>
                    <a:pt x="356" y="188"/>
                  </a:lnTo>
                  <a:lnTo>
                    <a:pt x="357" y="188"/>
                  </a:lnTo>
                  <a:lnTo>
                    <a:pt x="361" y="188"/>
                  </a:lnTo>
                  <a:lnTo>
                    <a:pt x="364" y="186"/>
                  </a:lnTo>
                  <a:lnTo>
                    <a:pt x="368" y="186"/>
                  </a:lnTo>
                  <a:lnTo>
                    <a:pt x="369" y="184"/>
                  </a:lnTo>
                  <a:lnTo>
                    <a:pt x="373" y="181"/>
                  </a:lnTo>
                  <a:lnTo>
                    <a:pt x="375" y="177"/>
                  </a:lnTo>
                  <a:lnTo>
                    <a:pt x="376" y="172"/>
                  </a:lnTo>
                  <a:lnTo>
                    <a:pt x="378" y="167"/>
                  </a:lnTo>
                  <a:lnTo>
                    <a:pt x="338" y="46"/>
                  </a:lnTo>
                  <a:close/>
                  <a:moveTo>
                    <a:pt x="518" y="131"/>
                  </a:moveTo>
                  <a:lnTo>
                    <a:pt x="544" y="134"/>
                  </a:lnTo>
                  <a:lnTo>
                    <a:pt x="540" y="143"/>
                  </a:lnTo>
                  <a:lnTo>
                    <a:pt x="537" y="151"/>
                  </a:lnTo>
                  <a:lnTo>
                    <a:pt x="533" y="157"/>
                  </a:lnTo>
                  <a:lnTo>
                    <a:pt x="528" y="162"/>
                  </a:lnTo>
                  <a:lnTo>
                    <a:pt x="521" y="165"/>
                  </a:lnTo>
                  <a:lnTo>
                    <a:pt x="514" y="167"/>
                  </a:lnTo>
                  <a:lnTo>
                    <a:pt x="507" y="169"/>
                  </a:lnTo>
                  <a:lnTo>
                    <a:pt x="501" y="169"/>
                  </a:lnTo>
                  <a:lnTo>
                    <a:pt x="490" y="169"/>
                  </a:lnTo>
                  <a:lnTo>
                    <a:pt x="482" y="167"/>
                  </a:lnTo>
                  <a:lnTo>
                    <a:pt x="475" y="164"/>
                  </a:lnTo>
                  <a:lnTo>
                    <a:pt x="468" y="157"/>
                  </a:lnTo>
                  <a:lnTo>
                    <a:pt x="461" y="146"/>
                  </a:lnTo>
                  <a:lnTo>
                    <a:pt x="456" y="136"/>
                  </a:lnTo>
                  <a:lnTo>
                    <a:pt x="452" y="122"/>
                  </a:lnTo>
                  <a:lnTo>
                    <a:pt x="451" y="108"/>
                  </a:lnTo>
                  <a:lnTo>
                    <a:pt x="452" y="93"/>
                  </a:lnTo>
                  <a:lnTo>
                    <a:pt x="456" y="81"/>
                  </a:lnTo>
                  <a:lnTo>
                    <a:pt x="461" y="69"/>
                  </a:lnTo>
                  <a:lnTo>
                    <a:pt x="468" y="60"/>
                  </a:lnTo>
                  <a:lnTo>
                    <a:pt x="473" y="53"/>
                  </a:lnTo>
                  <a:lnTo>
                    <a:pt x="480" y="48"/>
                  </a:lnTo>
                  <a:lnTo>
                    <a:pt x="488" y="44"/>
                  </a:lnTo>
                  <a:lnTo>
                    <a:pt x="497" y="43"/>
                  </a:lnTo>
                  <a:lnTo>
                    <a:pt x="507" y="44"/>
                  </a:lnTo>
                  <a:lnTo>
                    <a:pt x="516" y="48"/>
                  </a:lnTo>
                  <a:lnTo>
                    <a:pt x="523" y="53"/>
                  </a:lnTo>
                  <a:lnTo>
                    <a:pt x="530" y="60"/>
                  </a:lnTo>
                  <a:lnTo>
                    <a:pt x="537" y="69"/>
                  </a:lnTo>
                  <a:lnTo>
                    <a:pt x="542" y="81"/>
                  </a:lnTo>
                  <a:lnTo>
                    <a:pt x="544" y="96"/>
                  </a:lnTo>
                  <a:lnTo>
                    <a:pt x="545" y="112"/>
                  </a:lnTo>
                  <a:lnTo>
                    <a:pt x="545" y="115"/>
                  </a:lnTo>
                  <a:lnTo>
                    <a:pt x="478" y="115"/>
                  </a:lnTo>
                  <a:lnTo>
                    <a:pt x="478" y="122"/>
                  </a:lnTo>
                  <a:lnTo>
                    <a:pt x="480" y="129"/>
                  </a:lnTo>
                  <a:lnTo>
                    <a:pt x="483" y="134"/>
                  </a:lnTo>
                  <a:lnTo>
                    <a:pt x="487" y="139"/>
                  </a:lnTo>
                  <a:lnTo>
                    <a:pt x="488" y="141"/>
                  </a:lnTo>
                  <a:lnTo>
                    <a:pt x="492" y="145"/>
                  </a:lnTo>
                  <a:lnTo>
                    <a:pt x="497" y="146"/>
                  </a:lnTo>
                  <a:lnTo>
                    <a:pt x="501" y="146"/>
                  </a:lnTo>
                  <a:lnTo>
                    <a:pt x="506" y="145"/>
                  </a:lnTo>
                  <a:lnTo>
                    <a:pt x="511" y="141"/>
                  </a:lnTo>
                  <a:lnTo>
                    <a:pt x="516" y="138"/>
                  </a:lnTo>
                  <a:lnTo>
                    <a:pt x="518" y="131"/>
                  </a:lnTo>
                  <a:close/>
                  <a:moveTo>
                    <a:pt x="518" y="95"/>
                  </a:moveTo>
                  <a:lnTo>
                    <a:pt x="518" y="89"/>
                  </a:lnTo>
                  <a:lnTo>
                    <a:pt x="518" y="84"/>
                  </a:lnTo>
                  <a:lnTo>
                    <a:pt x="516" y="79"/>
                  </a:lnTo>
                  <a:lnTo>
                    <a:pt x="513" y="74"/>
                  </a:lnTo>
                  <a:lnTo>
                    <a:pt x="509" y="72"/>
                  </a:lnTo>
                  <a:lnTo>
                    <a:pt x="506" y="70"/>
                  </a:lnTo>
                  <a:lnTo>
                    <a:pt x="504" y="69"/>
                  </a:lnTo>
                  <a:lnTo>
                    <a:pt x="499" y="69"/>
                  </a:lnTo>
                  <a:lnTo>
                    <a:pt x="495" y="69"/>
                  </a:lnTo>
                  <a:lnTo>
                    <a:pt x="490" y="70"/>
                  </a:lnTo>
                  <a:lnTo>
                    <a:pt x="488" y="72"/>
                  </a:lnTo>
                  <a:lnTo>
                    <a:pt x="487" y="76"/>
                  </a:lnTo>
                  <a:lnTo>
                    <a:pt x="483" y="79"/>
                  </a:lnTo>
                  <a:lnTo>
                    <a:pt x="482" y="84"/>
                  </a:lnTo>
                  <a:lnTo>
                    <a:pt x="480" y="89"/>
                  </a:lnTo>
                  <a:lnTo>
                    <a:pt x="480" y="95"/>
                  </a:lnTo>
                  <a:lnTo>
                    <a:pt x="518" y="95"/>
                  </a:lnTo>
                  <a:close/>
                  <a:moveTo>
                    <a:pt x="592" y="167"/>
                  </a:moveTo>
                  <a:lnTo>
                    <a:pt x="566" y="167"/>
                  </a:lnTo>
                  <a:lnTo>
                    <a:pt x="566" y="46"/>
                  </a:lnTo>
                  <a:lnTo>
                    <a:pt x="590" y="46"/>
                  </a:lnTo>
                  <a:lnTo>
                    <a:pt x="590" y="63"/>
                  </a:lnTo>
                  <a:lnTo>
                    <a:pt x="594" y="58"/>
                  </a:lnTo>
                  <a:lnTo>
                    <a:pt x="596" y="53"/>
                  </a:lnTo>
                  <a:lnTo>
                    <a:pt x="599" y="50"/>
                  </a:lnTo>
                  <a:lnTo>
                    <a:pt x="601" y="48"/>
                  </a:lnTo>
                  <a:lnTo>
                    <a:pt x="604" y="46"/>
                  </a:lnTo>
                  <a:lnTo>
                    <a:pt x="606" y="44"/>
                  </a:lnTo>
                  <a:lnTo>
                    <a:pt x="609" y="43"/>
                  </a:lnTo>
                  <a:lnTo>
                    <a:pt x="613" y="43"/>
                  </a:lnTo>
                  <a:lnTo>
                    <a:pt x="616" y="43"/>
                  </a:lnTo>
                  <a:lnTo>
                    <a:pt x="621" y="44"/>
                  </a:lnTo>
                  <a:lnTo>
                    <a:pt x="627" y="48"/>
                  </a:lnTo>
                  <a:lnTo>
                    <a:pt x="630" y="50"/>
                  </a:lnTo>
                  <a:lnTo>
                    <a:pt x="621" y="79"/>
                  </a:lnTo>
                  <a:lnTo>
                    <a:pt x="618" y="77"/>
                  </a:lnTo>
                  <a:lnTo>
                    <a:pt x="616" y="76"/>
                  </a:lnTo>
                  <a:lnTo>
                    <a:pt x="613" y="74"/>
                  </a:lnTo>
                  <a:lnTo>
                    <a:pt x="609" y="74"/>
                  </a:lnTo>
                  <a:lnTo>
                    <a:pt x="608" y="74"/>
                  </a:lnTo>
                  <a:lnTo>
                    <a:pt x="604" y="74"/>
                  </a:lnTo>
                  <a:lnTo>
                    <a:pt x="602" y="76"/>
                  </a:lnTo>
                  <a:lnTo>
                    <a:pt x="599" y="77"/>
                  </a:lnTo>
                  <a:lnTo>
                    <a:pt x="597" y="81"/>
                  </a:lnTo>
                  <a:lnTo>
                    <a:pt x="597" y="84"/>
                  </a:lnTo>
                  <a:lnTo>
                    <a:pt x="596" y="88"/>
                  </a:lnTo>
                  <a:lnTo>
                    <a:pt x="594" y="93"/>
                  </a:lnTo>
                  <a:lnTo>
                    <a:pt x="594" y="100"/>
                  </a:lnTo>
                  <a:lnTo>
                    <a:pt x="594" y="107"/>
                  </a:lnTo>
                  <a:lnTo>
                    <a:pt x="592" y="117"/>
                  </a:lnTo>
                  <a:lnTo>
                    <a:pt x="592" y="131"/>
                  </a:lnTo>
                  <a:lnTo>
                    <a:pt x="592" y="1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09" name="Freeform 1797"/>
            <p:cNvSpPr>
              <a:spLocks/>
            </p:cNvSpPr>
            <p:nvPr/>
          </p:nvSpPr>
          <p:spPr bwMode="auto">
            <a:xfrm>
              <a:off x="754" y="1161"/>
              <a:ext cx="245" cy="2636"/>
            </a:xfrm>
            <a:custGeom>
              <a:avLst/>
              <a:gdLst>
                <a:gd name="T0" fmla="*/ 371 w 490"/>
                <a:gd name="T1" fmla="*/ 60 h 5271"/>
                <a:gd name="T2" fmla="*/ 371 w 490"/>
                <a:gd name="T3" fmla="*/ 4966 h 5271"/>
                <a:gd name="T4" fmla="*/ 490 w 490"/>
                <a:gd name="T5" fmla="*/ 4966 h 5271"/>
                <a:gd name="T6" fmla="*/ 247 w 490"/>
                <a:gd name="T7" fmla="*/ 5271 h 5271"/>
                <a:gd name="T8" fmla="*/ 0 w 490"/>
                <a:gd name="T9" fmla="*/ 4966 h 5271"/>
                <a:gd name="T10" fmla="*/ 124 w 490"/>
                <a:gd name="T11" fmla="*/ 4966 h 5271"/>
                <a:gd name="T12" fmla="*/ 124 w 490"/>
                <a:gd name="T13" fmla="*/ 0 h 5271"/>
                <a:gd name="T14" fmla="*/ 371 w 490"/>
                <a:gd name="T15" fmla="*/ 60 h 52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0" h="5271">
                  <a:moveTo>
                    <a:pt x="371" y="60"/>
                  </a:moveTo>
                  <a:lnTo>
                    <a:pt x="371" y="4966"/>
                  </a:lnTo>
                  <a:lnTo>
                    <a:pt x="490" y="4966"/>
                  </a:lnTo>
                  <a:lnTo>
                    <a:pt x="247" y="5271"/>
                  </a:lnTo>
                  <a:lnTo>
                    <a:pt x="0" y="4966"/>
                  </a:lnTo>
                  <a:lnTo>
                    <a:pt x="124" y="4966"/>
                  </a:lnTo>
                  <a:lnTo>
                    <a:pt x="124" y="0"/>
                  </a:lnTo>
                  <a:lnTo>
                    <a:pt x="371" y="60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110" name="Freeform 1798"/>
            <p:cNvSpPr>
              <a:spLocks/>
            </p:cNvSpPr>
            <p:nvPr/>
          </p:nvSpPr>
          <p:spPr bwMode="auto">
            <a:xfrm>
              <a:off x="4747" y="1162"/>
              <a:ext cx="245" cy="2638"/>
            </a:xfrm>
            <a:custGeom>
              <a:avLst/>
              <a:gdLst>
                <a:gd name="T0" fmla="*/ 371 w 490"/>
                <a:gd name="T1" fmla="*/ 5212 h 5274"/>
                <a:gd name="T2" fmla="*/ 371 w 490"/>
                <a:gd name="T3" fmla="*/ 305 h 5274"/>
                <a:gd name="T4" fmla="*/ 490 w 490"/>
                <a:gd name="T5" fmla="*/ 305 h 5274"/>
                <a:gd name="T6" fmla="*/ 247 w 490"/>
                <a:gd name="T7" fmla="*/ 0 h 5274"/>
                <a:gd name="T8" fmla="*/ 0 w 490"/>
                <a:gd name="T9" fmla="*/ 305 h 5274"/>
                <a:gd name="T10" fmla="*/ 124 w 490"/>
                <a:gd name="T11" fmla="*/ 305 h 5274"/>
                <a:gd name="T12" fmla="*/ 124 w 490"/>
                <a:gd name="T13" fmla="*/ 5274 h 5274"/>
                <a:gd name="T14" fmla="*/ 371 w 490"/>
                <a:gd name="T15" fmla="*/ 5212 h 52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90" h="5274">
                  <a:moveTo>
                    <a:pt x="371" y="5212"/>
                  </a:moveTo>
                  <a:lnTo>
                    <a:pt x="371" y="305"/>
                  </a:lnTo>
                  <a:lnTo>
                    <a:pt x="490" y="305"/>
                  </a:lnTo>
                  <a:lnTo>
                    <a:pt x="247" y="0"/>
                  </a:lnTo>
                  <a:lnTo>
                    <a:pt x="0" y="305"/>
                  </a:lnTo>
                  <a:lnTo>
                    <a:pt x="124" y="305"/>
                  </a:lnTo>
                  <a:lnTo>
                    <a:pt x="124" y="5274"/>
                  </a:lnTo>
                  <a:lnTo>
                    <a:pt x="371" y="5212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pic>
          <p:nvPicPr>
            <p:cNvPr id="143111" name="Picture 1799"/>
            <p:cNvPicPr>
              <a:picLocks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38" y="769"/>
              <a:ext cx="2726" cy="324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43112" name="Rectangle 1800"/>
            <p:cNvSpPr>
              <a:spLocks noChangeArrowheads="1"/>
            </p:cNvSpPr>
            <p:nvPr/>
          </p:nvSpPr>
          <p:spPr bwMode="auto">
            <a:xfrm>
              <a:off x="1811" y="726"/>
              <a:ext cx="4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b="1">
                  <a:latin typeface="Arial" panose="020B0604020202020204" pitchFamily="34" charset="0"/>
                </a:rPr>
                <a:t>Data</a:t>
              </a:r>
            </a:p>
          </p:txBody>
        </p:sp>
        <p:sp>
          <p:nvSpPr>
            <p:cNvPr id="143113" name="Rectangle 1801"/>
            <p:cNvSpPr>
              <a:spLocks noChangeArrowheads="1"/>
            </p:cNvSpPr>
            <p:nvPr/>
          </p:nvSpPr>
          <p:spPr bwMode="auto">
            <a:xfrm>
              <a:off x="3659" y="750"/>
              <a:ext cx="426" cy="2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699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488" tIns="44450" rIns="90488" bIns="44450">
              <a:spAutoFit/>
            </a:bodyPr>
            <a:lstStyle/>
            <a:p>
              <a:r>
                <a:rPr lang="en-US" altLang="en-US" sz="1800" b="1">
                  <a:latin typeface="Arial" panose="020B0604020202020204" pitchFamily="34" charset="0"/>
                </a:rPr>
                <a:t>Data</a:t>
              </a:r>
            </a:p>
          </p:txBody>
        </p:sp>
      </p:grpSp>
      <p:sp>
        <p:nvSpPr>
          <p:cNvPr id="143114" name="Freeform 1802"/>
          <p:cNvSpPr>
            <a:spLocks/>
          </p:cNvSpPr>
          <p:nvPr/>
        </p:nvSpPr>
        <p:spPr bwMode="auto">
          <a:xfrm>
            <a:off x="2716213" y="6191250"/>
            <a:ext cx="2735262" cy="263525"/>
          </a:xfrm>
          <a:custGeom>
            <a:avLst/>
            <a:gdLst>
              <a:gd name="T0" fmla="*/ 0 w 1723"/>
              <a:gd name="T1" fmla="*/ 0 h 166"/>
              <a:gd name="T2" fmla="*/ 0 w 1723"/>
              <a:gd name="T3" fmla="*/ 166 h 166"/>
              <a:gd name="T4" fmla="*/ 1723 w 1723"/>
              <a:gd name="T5" fmla="*/ 166 h 166"/>
              <a:gd name="T6" fmla="*/ 1723 w 1723"/>
              <a:gd name="T7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723" h="166">
                <a:moveTo>
                  <a:pt x="0" y="0"/>
                </a:moveTo>
                <a:lnTo>
                  <a:pt x="0" y="166"/>
                </a:lnTo>
                <a:lnTo>
                  <a:pt x="1723" y="166"/>
                </a:lnTo>
                <a:lnTo>
                  <a:pt x="1723" y="0"/>
                </a:lnTo>
              </a:path>
            </a:pathLst>
          </a:custGeom>
          <a:noFill/>
          <a:ln w="38100" cmpd="sng">
            <a:solidFill>
              <a:schemeClr val="tx1"/>
            </a:solidFill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115" name="AutoShape 1803"/>
          <p:cNvSpPr>
            <a:spLocks noChangeArrowheads="1"/>
          </p:cNvSpPr>
          <p:nvPr/>
        </p:nvSpPr>
        <p:spPr bwMode="auto">
          <a:xfrm>
            <a:off x="3267075" y="6000750"/>
            <a:ext cx="74613" cy="341313"/>
          </a:xfrm>
          <a:prstGeom prst="moon">
            <a:avLst>
              <a:gd name="adj" fmla="val 71431"/>
            </a:avLst>
          </a:prstGeom>
          <a:gradFill rotWithShape="0">
            <a:gsLst>
              <a:gs pos="0">
                <a:srgbClr val="6666FF"/>
              </a:gs>
              <a:gs pos="100000">
                <a:srgbClr val="6666FF">
                  <a:gamma/>
                  <a:shade val="48627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3116" name="AutoShape 1804"/>
          <p:cNvSpPr>
            <a:spLocks noChangeArrowheads="1"/>
          </p:cNvSpPr>
          <p:nvPr/>
        </p:nvSpPr>
        <p:spPr bwMode="auto">
          <a:xfrm>
            <a:off x="6243638" y="6000750"/>
            <a:ext cx="107950" cy="341313"/>
          </a:xfrm>
          <a:prstGeom prst="moon">
            <a:avLst>
              <a:gd name="adj" fmla="val 58065"/>
            </a:avLst>
          </a:prstGeom>
          <a:gradFill rotWithShape="0">
            <a:gsLst>
              <a:gs pos="0">
                <a:srgbClr val="6666FF"/>
              </a:gs>
              <a:gs pos="100000">
                <a:srgbClr val="6666FF">
                  <a:gamma/>
                  <a:shade val="48627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021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AutoShape 2"/>
          <p:cNvSpPr>
            <a:spLocks noGrp="1" noChangeArrowheads="1"/>
          </p:cNvSpPr>
          <p:nvPr>
            <p:ph type="title"/>
          </p:nvPr>
        </p:nvSpPr>
        <p:spPr>
          <a:xfrm>
            <a:off x="609599" y="609600"/>
            <a:ext cx="6781801" cy="1320800"/>
          </a:xfrm>
        </p:spPr>
        <p:txBody>
          <a:bodyPr/>
          <a:lstStyle/>
          <a:p>
            <a:r>
              <a:rPr lang="en-US" altLang="en-US" dirty="0"/>
              <a:t>Encapsulation example: </a:t>
            </a:r>
            <a:r>
              <a:rPr lang="en-US" altLang="en-US" dirty="0">
                <a:solidFill>
                  <a:schemeClr val="accent2"/>
                </a:solidFill>
              </a:rPr>
              <a:t>E-mail</a:t>
            </a:r>
          </a:p>
        </p:txBody>
      </p:sp>
      <p:grpSp>
        <p:nvGrpSpPr>
          <p:cNvPr id="115715" name="Group 3"/>
          <p:cNvGrpSpPr>
            <a:grpSpLocks/>
          </p:cNvGrpSpPr>
          <p:nvPr/>
        </p:nvGrpSpPr>
        <p:grpSpPr bwMode="auto">
          <a:xfrm>
            <a:off x="755650" y="2133600"/>
            <a:ext cx="6886575" cy="5130800"/>
            <a:chOff x="521" y="1434"/>
            <a:chExt cx="4338" cy="3232"/>
          </a:xfrm>
        </p:grpSpPr>
        <p:pic>
          <p:nvPicPr>
            <p:cNvPr id="115716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" y="1434"/>
              <a:ext cx="2981" cy="9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17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1" y="1962"/>
              <a:ext cx="2882" cy="4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18" name="Picture 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7" y="2838"/>
              <a:ext cx="3743" cy="4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19" name="Picture 7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3" y="3306"/>
              <a:ext cx="4290" cy="4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20" name="Picture 8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29" y="2442"/>
              <a:ext cx="3306" cy="4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15721" name="Picture 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" y="3756"/>
              <a:ext cx="4320" cy="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33176402"/>
      </p:ext>
    </p:extLst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AutoShape 2"/>
          <p:cNvSpPr>
            <a:spLocks noGrp="1" noChangeArrowheads="1"/>
          </p:cNvSpPr>
          <p:nvPr>
            <p:ph type="title"/>
          </p:nvPr>
        </p:nvSpPr>
        <p:spPr>
          <a:xfrm>
            <a:off x="755650" y="549275"/>
            <a:ext cx="7924800" cy="1143000"/>
          </a:xfrm>
        </p:spPr>
        <p:txBody>
          <a:bodyPr/>
          <a:lstStyle/>
          <a:p>
            <a:r>
              <a:rPr lang="en-US" altLang="en-US"/>
              <a:t>Encapsulation</a:t>
            </a:r>
          </a:p>
        </p:txBody>
      </p:sp>
      <p:pic>
        <p:nvPicPr>
          <p:cNvPr id="11776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73238"/>
            <a:ext cx="6946900" cy="544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764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3" y="2301875"/>
            <a:ext cx="164941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76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1413" y="2835275"/>
            <a:ext cx="164941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76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063" y="3352800"/>
            <a:ext cx="1649412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767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5063" y="3881438"/>
            <a:ext cx="1649412" cy="546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768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4300" y="4397375"/>
            <a:ext cx="1395413" cy="585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769" name="Picture 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6113" y="4968875"/>
            <a:ext cx="2800350" cy="595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7770" name="Picture 1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4050" y="5649913"/>
            <a:ext cx="282892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68521004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7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7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7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77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77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77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77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77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Figure 2.3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b="1" i="1">
                <a:latin typeface="Times New Roman" panose="02020603050405020304" pitchFamily="18" charset="0"/>
              </a:rPr>
              <a:t>An exchange using the OSI model</a:t>
            </a:r>
          </a:p>
        </p:txBody>
      </p:sp>
      <p:sp>
        <p:nvSpPr>
          <p:cNvPr id="101379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101380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101381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101382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101383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101384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101385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pic>
        <p:nvPicPr>
          <p:cNvPr id="101386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1203325"/>
            <a:ext cx="8089900" cy="4897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11041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ext Box 2"/>
          <p:cNvSpPr txBox="1">
            <a:spLocks noChangeArrowheads="1"/>
          </p:cNvSpPr>
          <p:nvPr/>
        </p:nvSpPr>
        <p:spPr bwMode="auto">
          <a:xfrm>
            <a:off x="990600" y="90488"/>
            <a:ext cx="57150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CC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b="1">
                <a:solidFill>
                  <a:srgbClr val="0000FF"/>
                </a:solidFill>
                <a:latin typeface="Times New Roman" panose="02020603050405020304" pitchFamily="18" charset="0"/>
              </a:rPr>
              <a:t>Figure 2.14</a:t>
            </a:r>
            <a:r>
              <a:rPr lang="en-US" altLang="en-US" b="1">
                <a:solidFill>
                  <a:schemeClr val="accent2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en-US" b="1" i="1">
                <a:latin typeface="Times New Roman" panose="02020603050405020304" pitchFamily="18" charset="0"/>
              </a:rPr>
              <a:t>Summary of layers</a:t>
            </a:r>
          </a:p>
        </p:txBody>
      </p:sp>
      <p:sp>
        <p:nvSpPr>
          <p:cNvPr id="99331" name="Rectangle 3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99332" name="Rectangle 4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99333" name="Rectangle 5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99334" name="Rectangle 6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99335" name="Rectangle 7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99336" name="Rectangle 8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sp>
        <p:nvSpPr>
          <p:cNvPr id="99337" name="Rectangle 9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kumimoji="1" lang="en-US" altLang="en-US" sz="2400">
              <a:latin typeface="Tahoma" panose="020B0604030504040204" pitchFamily="34" charset="0"/>
            </a:endParaRPr>
          </a:p>
        </p:txBody>
      </p:sp>
      <p:pic>
        <p:nvPicPr>
          <p:cNvPr id="9933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898650"/>
            <a:ext cx="8447088" cy="3435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1914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reeze">
  <a:themeElements>
    <a:clrScheme name="Breeze">
      <a:dk1>
        <a:sysClr val="windowText" lastClr="000000"/>
      </a:dk1>
      <a:lt1>
        <a:sysClr val="window" lastClr="FFFFFF"/>
      </a:lt1>
      <a:dk2>
        <a:srgbClr val="09213B"/>
      </a:dk2>
      <a:lt2>
        <a:srgbClr val="D5EDF4"/>
      </a:lt2>
      <a:accent1>
        <a:srgbClr val="2C7C9F"/>
      </a:accent1>
      <a:accent2>
        <a:srgbClr val="244A58"/>
      </a:accent2>
      <a:accent3>
        <a:srgbClr val="E2751D"/>
      </a:accent3>
      <a:accent4>
        <a:srgbClr val="FFB400"/>
      </a:accent4>
      <a:accent5>
        <a:srgbClr val="7EB606"/>
      </a:accent5>
      <a:accent6>
        <a:srgbClr val="C00000"/>
      </a:accent6>
      <a:hlink>
        <a:srgbClr val="7030A0"/>
      </a:hlink>
      <a:folHlink>
        <a:srgbClr val="00B0F0"/>
      </a:folHlink>
    </a:clrScheme>
    <a:fontScheme name="Breeze">
      <a:maj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ajorFont>
      <a:minorFont>
        <a:latin typeface="News Gothic MT"/>
        <a:ea typeface=""/>
        <a:cs typeface=""/>
        <a:font script="Jpan" typeface="ＭＳ Ｐゴシック"/>
        <a:font script="Hans" typeface="宋体"/>
        <a:font script="Hant" typeface="新細明體"/>
      </a:minorFont>
    </a:fontScheme>
    <a:fmtScheme name="Breeze">
      <a:fillStyleLst>
        <a:solidFill>
          <a:schemeClr val="phClr"/>
        </a:solidFill>
        <a:gradFill rotWithShape="1">
          <a:gsLst>
            <a:gs pos="31000">
              <a:schemeClr val="phClr">
                <a:tint val="100000"/>
                <a:shade val="100000"/>
                <a:satMod val="120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shade val="100000"/>
                <a:satMod val="120000"/>
              </a:schemeClr>
            </a:gs>
            <a:gs pos="69000">
              <a:schemeClr val="phClr">
                <a:tint val="80000"/>
                <a:shade val="100000"/>
                <a:satMod val="150000"/>
              </a:schemeClr>
            </a:gs>
            <a:gs pos="100000">
              <a:schemeClr val="phClr">
                <a:tint val="50000"/>
                <a:shade val="100000"/>
                <a:satMod val="15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dbl" algn="ctr">
          <a:solidFill>
            <a:schemeClr val="phClr"/>
          </a:solidFill>
          <a:prstDash val="solid"/>
        </a:ln>
        <a:ln w="31750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sx="101000" sy="101000" rotWithShape="0">
              <a:srgbClr val="000000">
                <a:alpha val="40000"/>
              </a:srgbClr>
            </a:outerShdw>
          </a:effectLst>
        </a:effectStyle>
        <a:effectStyle>
          <a:effectLst>
            <a:innerShdw blurRad="127000" dist="25400" dir="13500000">
              <a:srgbClr val="C0C0C0">
                <a:alpha val="75000"/>
              </a:srgbClr>
            </a:innerShdw>
            <a:outerShdw blurRad="88900" dist="25400" dir="5400000" sx="102000" sy="102000" algn="ctr" rotWithShape="0">
              <a:srgbClr val="C0C0C0">
                <a:alpha val="40000"/>
              </a:srgbClr>
            </a:outerShdw>
          </a:effectLst>
          <a:scene3d>
            <a:camera prst="perspectiveLeft" fov="300000"/>
            <a:lightRig rig="soft" dir="l">
              <a:rot lat="0" lon="0" rev="4200000"/>
            </a:lightRig>
          </a:scene3d>
          <a:sp3d extrusionH="38100" prstMaterial="powder">
            <a:bevelT w="50800" h="88900" prst="convex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0000"/>
                <a:satMod val="400000"/>
              </a:schemeClr>
              <a:schemeClr val="phClr">
                <a:tint val="10000"/>
                <a:satMod val="20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Breeze.thmx</Template>
  <TotalTime>2839</TotalTime>
  <Words>907</Words>
  <Application>Microsoft Office PowerPoint</Application>
  <PresentationFormat>On-screen Show (4:3)</PresentationFormat>
  <Paragraphs>163</Paragraphs>
  <Slides>27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Calibri</vt:lpstr>
      <vt:lpstr>News Gothic MT</vt:lpstr>
      <vt:lpstr>Tahoma</vt:lpstr>
      <vt:lpstr>Times New Roman</vt:lpstr>
      <vt:lpstr>Wingdings</vt:lpstr>
      <vt:lpstr>Wingdings 2</vt:lpstr>
      <vt:lpstr>Breeze</vt:lpstr>
      <vt:lpstr>OSI &amp; Data Transmission</vt:lpstr>
      <vt:lpstr>Network Packets (Frames)</vt:lpstr>
      <vt:lpstr>Packet Structure</vt:lpstr>
      <vt:lpstr>A simple data packet</vt:lpstr>
      <vt:lpstr>Packets and OSI</vt:lpstr>
      <vt:lpstr>Transmission</vt:lpstr>
      <vt:lpstr>Application Layer</vt:lpstr>
      <vt:lpstr>The Application Layer</vt:lpstr>
      <vt:lpstr>Presentation Layer</vt:lpstr>
      <vt:lpstr>Presentation Layer</vt:lpstr>
      <vt:lpstr>Session Layer</vt:lpstr>
      <vt:lpstr>Session Layer</vt:lpstr>
      <vt:lpstr>Transport Layer</vt:lpstr>
      <vt:lpstr>Transport Layer</vt:lpstr>
      <vt:lpstr>Network Layer</vt:lpstr>
      <vt:lpstr>Network Layer</vt:lpstr>
      <vt:lpstr>Data Link Layer</vt:lpstr>
      <vt:lpstr>Data Link Layer</vt:lpstr>
      <vt:lpstr>Data Link Layer</vt:lpstr>
      <vt:lpstr>Physical Layer</vt:lpstr>
      <vt:lpstr>How Does It All Work Together</vt:lpstr>
      <vt:lpstr>Packet Creation Process I</vt:lpstr>
      <vt:lpstr>Packet Creation Process II</vt:lpstr>
      <vt:lpstr>Encapsulation example: E-mail</vt:lpstr>
      <vt:lpstr>Encapsulation</vt:lpstr>
      <vt:lpstr>PowerPoint Presentation</vt:lpstr>
      <vt:lpstr>PowerPoint Presentation</vt:lpstr>
    </vt:vector>
  </TitlesOfParts>
  <Company>Legend Developments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CS370 Networking</dc:title>
  <dc:creator>Janett Williams</dc:creator>
  <cp:lastModifiedBy>Janett Williams</cp:lastModifiedBy>
  <cp:revision>81</cp:revision>
  <dcterms:created xsi:type="dcterms:W3CDTF">2016-07-21T21:54:39Z</dcterms:created>
  <dcterms:modified xsi:type="dcterms:W3CDTF">2018-09-06T19:41:15Z</dcterms:modified>
</cp:coreProperties>
</file>